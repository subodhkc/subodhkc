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73152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HAIEC TECHNICAL BRIEF  |  v1.0  |  CONFIDENTIAL</a:t>
            </a:r>
            <a:endParaRPr lang="en-US" sz="800" dirty="0"/>
          </a:p>
        </p:txBody>
      </p:sp>
      <p:sp>
        <p:nvSpPr>
          <p:cNvPr id="3" name="Shape 1"/>
          <p:cNvSpPr/>
          <p:nvPr/>
        </p:nvSpPr>
        <p:spPr>
          <a:xfrm>
            <a:off x="457200" y="731520"/>
            <a:ext cx="11277295" cy="0"/>
          </a:xfrm>
          <a:prstGeom prst="line">
            <a:avLst/>
          </a:prstGeom>
          <a:noFill/>
          <a:ln w="12700">
            <a:solidFill>
              <a:srgbClr val="1A2B4A"/>
            </a:solidFill>
            <a:prstDash val="solid"/>
          </a:ln>
        </p:spPr>
      </p:sp>
      <p:sp>
        <p:nvSpPr>
          <p:cNvPr id="4" name="Text 2"/>
          <p:cNvSpPr/>
          <p:nvPr/>
        </p:nvSpPr>
        <p:spPr>
          <a:xfrm>
            <a:off x="457200" y="1371600"/>
            <a:ext cx="10972800" cy="914400"/>
          </a:xfrm>
          <a:prstGeom prst="rect">
            <a:avLst/>
          </a:prstGeom>
          <a:noFill/>
          <a:ln/>
        </p:spPr>
        <p:txBody>
          <a:bodyPr wrap="square" rtlCol="0" anchor="ctr"/>
          <a:lstStyle/>
          <a:p>
            <a:pPr algn="l" indent="0" marL="0">
              <a:buNone/>
            </a:pPr>
            <a:r>
              <a:rPr lang="en-US" sz="4800" b="1" dirty="0">
                <a:solidFill>
                  <a:srgbClr val="1A2B4A"/>
                </a:solidFill>
                <a:latin typeface="Arial" pitchFamily="34" charset="0"/>
                <a:ea typeface="Arial" pitchFamily="34" charset="-122"/>
                <a:cs typeface="Arial" pitchFamily="34" charset="-120"/>
              </a:rPr>
              <a:t>HAIEC</a:t>
            </a:r>
            <a:endParaRPr lang="en-US" sz="4800" dirty="0"/>
          </a:p>
        </p:txBody>
      </p:sp>
      <p:sp>
        <p:nvSpPr>
          <p:cNvPr id="5" name="Text 3"/>
          <p:cNvSpPr/>
          <p:nvPr/>
        </p:nvSpPr>
        <p:spPr>
          <a:xfrm>
            <a:off x="457200" y="2377440"/>
            <a:ext cx="10058400" cy="457200"/>
          </a:xfrm>
          <a:prstGeom prst="rect">
            <a:avLst/>
          </a:prstGeom>
          <a:noFill/>
          <a:ln/>
        </p:spPr>
        <p:txBody>
          <a:bodyPr wrap="square" rtlCol="0" anchor="ctr"/>
          <a:lstStyle/>
          <a:p>
            <a:pPr algn="l" indent="0" marL="0">
              <a:buNone/>
            </a:pPr>
            <a:r>
              <a:rPr lang="en-US" sz="2000" dirty="0">
                <a:solidFill>
                  <a:srgbClr val="4A4A4A"/>
                </a:solidFill>
                <a:latin typeface="Arial" pitchFamily="34" charset="0"/>
                <a:ea typeface="Arial" pitchFamily="34" charset="-122"/>
                <a:cs typeface="Arial" pitchFamily="34" charset="-120"/>
              </a:rPr>
              <a:t>Evidence-Native Validation Infrastructure for AI Applications</a:t>
            </a:r>
            <a:endParaRPr lang="en-US" sz="2000" dirty="0"/>
          </a:p>
        </p:txBody>
      </p:sp>
      <p:sp>
        <p:nvSpPr>
          <p:cNvPr id="6" name="Text 4"/>
          <p:cNvSpPr/>
          <p:nvPr/>
        </p:nvSpPr>
        <p:spPr>
          <a:xfrm>
            <a:off x="457200" y="2926080"/>
            <a:ext cx="10058400" cy="365760"/>
          </a:xfrm>
          <a:prstGeom prst="rect">
            <a:avLst/>
          </a:prstGeom>
          <a:noFill/>
          <a:ln/>
        </p:spPr>
        <p:txBody>
          <a:bodyPr wrap="square" rtlCol="0" anchor="ctr"/>
          <a:lstStyle/>
          <a:p>
            <a:pPr algn="l" indent="0" marL="0">
              <a:buNone/>
            </a:pPr>
            <a:r>
              <a:rPr lang="en-US" sz="1400" dirty="0">
                <a:solidFill>
                  <a:srgbClr val="6B6B6B"/>
                </a:solidFill>
                <a:latin typeface="Arial" pitchFamily="34" charset="0"/>
                <a:ea typeface="Arial" pitchFamily="34" charset="-122"/>
                <a:cs typeface="Arial" pitchFamily="34" charset="-120"/>
              </a:rPr>
              <a:t>How HAIEC connects code security, runtime testing, control mapping and audit evidence</a:t>
            </a:r>
            <a:endParaRPr lang="en-US" sz="1400" dirty="0"/>
          </a:p>
        </p:txBody>
      </p:sp>
      <p:sp>
        <p:nvSpPr>
          <p:cNvPr id="7" name="Shape 5"/>
          <p:cNvSpPr/>
          <p:nvPr/>
        </p:nvSpPr>
        <p:spPr>
          <a:xfrm>
            <a:off x="457200" y="4389120"/>
            <a:ext cx="2286000" cy="457200"/>
          </a:xfrm>
          <a:prstGeom prst="rect">
            <a:avLst/>
          </a:prstGeom>
          <a:solidFill>
            <a:srgbClr val="F5F5F5"/>
          </a:solidFill>
          <a:ln w="6350">
            <a:solidFill>
              <a:srgbClr val="D0D0D0"/>
            </a:solidFill>
            <a:prstDash val="solid"/>
          </a:ln>
        </p:spPr>
      </p:sp>
      <p:sp>
        <p:nvSpPr>
          <p:cNvPr id="8" name="Text 6"/>
          <p:cNvSpPr/>
          <p:nvPr/>
        </p:nvSpPr>
        <p:spPr>
          <a:xfrm>
            <a:off x="45720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AI System</a:t>
            </a:r>
            <a:endParaRPr lang="en-US" sz="1000" dirty="0"/>
          </a:p>
        </p:txBody>
      </p:sp>
      <p:sp>
        <p:nvSpPr>
          <p:cNvPr id="9" name="Shape 7"/>
          <p:cNvSpPr/>
          <p:nvPr/>
        </p:nvSpPr>
        <p:spPr>
          <a:xfrm>
            <a:off x="2788920" y="4617720"/>
            <a:ext cx="274320" cy="0"/>
          </a:xfrm>
          <a:prstGeom prst="line">
            <a:avLst/>
          </a:prstGeom>
          <a:noFill/>
          <a:ln w="12700">
            <a:solidFill>
              <a:srgbClr val="999999"/>
            </a:solidFill>
            <a:prstDash val="solid"/>
            <a:tailEnd type="triangle"/>
          </a:ln>
        </p:spPr>
      </p:sp>
      <p:sp>
        <p:nvSpPr>
          <p:cNvPr id="10" name="Shape 8"/>
          <p:cNvSpPr/>
          <p:nvPr/>
        </p:nvSpPr>
        <p:spPr>
          <a:xfrm>
            <a:off x="3108960" y="4389120"/>
            <a:ext cx="2286000" cy="457200"/>
          </a:xfrm>
          <a:prstGeom prst="rect">
            <a:avLst/>
          </a:prstGeom>
          <a:solidFill>
            <a:srgbClr val="F5F5F5"/>
          </a:solidFill>
          <a:ln w="6350">
            <a:solidFill>
              <a:srgbClr val="D0D0D0"/>
            </a:solidFill>
            <a:prstDash val="solid"/>
          </a:ln>
        </p:spPr>
      </p:sp>
      <p:sp>
        <p:nvSpPr>
          <p:cNvPr id="11" name="Text 9"/>
          <p:cNvSpPr/>
          <p:nvPr/>
        </p:nvSpPr>
        <p:spPr>
          <a:xfrm>
            <a:off x="310896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Security Validation</a:t>
            </a:r>
            <a:endParaRPr lang="en-US" sz="1000" dirty="0"/>
          </a:p>
        </p:txBody>
      </p:sp>
      <p:sp>
        <p:nvSpPr>
          <p:cNvPr id="12" name="Shape 10"/>
          <p:cNvSpPr/>
          <p:nvPr/>
        </p:nvSpPr>
        <p:spPr>
          <a:xfrm>
            <a:off x="5440680" y="4617720"/>
            <a:ext cx="274320" cy="0"/>
          </a:xfrm>
          <a:prstGeom prst="line">
            <a:avLst/>
          </a:prstGeom>
          <a:noFill/>
          <a:ln w="12700">
            <a:solidFill>
              <a:srgbClr val="999999"/>
            </a:solidFill>
            <a:prstDash val="solid"/>
            <a:tailEnd type="triangle"/>
          </a:ln>
        </p:spPr>
      </p:sp>
      <p:sp>
        <p:nvSpPr>
          <p:cNvPr id="13" name="Shape 11"/>
          <p:cNvSpPr/>
          <p:nvPr/>
        </p:nvSpPr>
        <p:spPr>
          <a:xfrm>
            <a:off x="5760720" y="4389120"/>
            <a:ext cx="2286000" cy="457200"/>
          </a:xfrm>
          <a:prstGeom prst="rect">
            <a:avLst/>
          </a:prstGeom>
          <a:solidFill>
            <a:srgbClr val="F5F5F5"/>
          </a:solidFill>
          <a:ln w="6350">
            <a:solidFill>
              <a:srgbClr val="D0D0D0"/>
            </a:solidFill>
            <a:prstDash val="solid"/>
          </a:ln>
        </p:spPr>
      </p:sp>
      <p:sp>
        <p:nvSpPr>
          <p:cNvPr id="14" name="Text 12"/>
          <p:cNvSpPr/>
          <p:nvPr/>
        </p:nvSpPr>
        <p:spPr>
          <a:xfrm>
            <a:off x="576072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Control Mapping</a:t>
            </a:r>
            <a:endParaRPr lang="en-US" sz="1000" dirty="0"/>
          </a:p>
        </p:txBody>
      </p:sp>
      <p:sp>
        <p:nvSpPr>
          <p:cNvPr id="15" name="Shape 13"/>
          <p:cNvSpPr/>
          <p:nvPr/>
        </p:nvSpPr>
        <p:spPr>
          <a:xfrm>
            <a:off x="8092440" y="4617720"/>
            <a:ext cx="274320" cy="0"/>
          </a:xfrm>
          <a:prstGeom prst="line">
            <a:avLst/>
          </a:prstGeom>
          <a:noFill/>
          <a:ln w="12700">
            <a:solidFill>
              <a:srgbClr val="999999"/>
            </a:solidFill>
            <a:prstDash val="solid"/>
            <a:tailEnd type="triangle"/>
          </a:ln>
        </p:spPr>
      </p:sp>
      <p:sp>
        <p:nvSpPr>
          <p:cNvPr id="16" name="Shape 14"/>
          <p:cNvSpPr/>
          <p:nvPr/>
        </p:nvSpPr>
        <p:spPr>
          <a:xfrm>
            <a:off x="8412480" y="4389120"/>
            <a:ext cx="2286000" cy="457200"/>
          </a:xfrm>
          <a:prstGeom prst="rect">
            <a:avLst/>
          </a:prstGeom>
          <a:solidFill>
            <a:srgbClr val="F5F5F5"/>
          </a:solidFill>
          <a:ln w="6350">
            <a:solidFill>
              <a:srgbClr val="D0D0D0"/>
            </a:solidFill>
            <a:prstDash val="solid"/>
          </a:ln>
        </p:spPr>
      </p:sp>
      <p:sp>
        <p:nvSpPr>
          <p:cNvPr id="17" name="Text 15"/>
          <p:cNvSpPr/>
          <p:nvPr/>
        </p:nvSpPr>
        <p:spPr>
          <a:xfrm>
            <a:off x="8412480" y="4389120"/>
            <a:ext cx="2286000" cy="45720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Verifiable Evidence</a:t>
            </a:r>
            <a:endParaRPr lang="en-US" sz="1000" dirty="0"/>
          </a:p>
        </p:txBody>
      </p:sp>
      <p:sp>
        <p:nvSpPr>
          <p:cNvPr id="18" name="Text 16"/>
          <p:cNvSpPr/>
          <p:nvPr/>
        </p:nvSpPr>
        <p:spPr>
          <a:xfrm>
            <a:off x="457200" y="5943600"/>
            <a:ext cx="5486400" cy="274320"/>
          </a:xfrm>
          <a:prstGeom prst="rect">
            <a:avLst/>
          </a:prstGeom>
          <a:noFill/>
          <a:ln/>
        </p:spPr>
        <p:txBody>
          <a:bodyPr wrap="square" rtlCol="0" anchor="ctr"/>
          <a:lstStyle/>
          <a:p>
            <a:pPr indent="0" marL="0">
              <a:buNone/>
            </a:pPr>
            <a:r>
              <a:rPr lang="en-US" sz="1000" dirty="0">
                <a:solidFill>
                  <a:srgbClr val="6B6B6B"/>
                </a:solidFill>
                <a:latin typeface="Arial" pitchFamily="34" charset="0"/>
                <a:ea typeface="Arial" pitchFamily="34" charset="-122"/>
                <a:cs typeface="Arial" pitchFamily="34" charset="-120"/>
              </a:rPr>
              <a:t>Confidential Discussion Brief</a:t>
            </a:r>
            <a:endParaRPr lang="en-US" sz="1000" dirty="0"/>
          </a:p>
        </p:txBody>
      </p:sp>
      <p:sp>
        <p:nvSpPr>
          <p:cNvPr id="19" name="Shape 17"/>
          <p:cNvSpPr/>
          <p:nvPr/>
        </p:nvSpPr>
        <p:spPr>
          <a:xfrm>
            <a:off x="457200" y="6473952"/>
            <a:ext cx="11277295" cy="0"/>
          </a:xfrm>
          <a:prstGeom prst="line">
            <a:avLst/>
          </a:prstGeom>
          <a:noFill/>
          <a:ln w="6350">
            <a:solidFill>
              <a:srgbClr val="CCCCCC"/>
            </a:solidFill>
            <a:prstDash val="solid"/>
          </a:ln>
        </p:spPr>
      </p:sp>
      <p:sp>
        <p:nvSpPr>
          <p:cNvPr id="20" name="Text 18"/>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1/15</a:t>
            </a:r>
            <a:endParaRPr lang="en-US" sz="800" dirty="0"/>
          </a:p>
        </p:txBody>
      </p:sp>
      <p:sp>
        <p:nvSpPr>
          <p:cNvPr id="21" name="Text 19"/>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AI assurance has a proof problem.</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188720"/>
            <a:ext cx="10972800" cy="731520"/>
          </a:xfrm>
          <a:prstGeom prst="rect">
            <a:avLst/>
          </a:prstGeom>
          <a:noFill/>
          <a:ln/>
        </p:spPr>
        <p:txBody>
          <a:bodyPr wrap="square" rtlCol="0" anchor="t"/>
          <a:lstStyle/>
          <a:p>
            <a:pPr algn="l" indent="0" marL="0">
              <a:lnSpc>
                <a:spcPct val="115000"/>
              </a:lnSpc>
              <a:buNone/>
            </a:pPr>
            <a:r>
              <a:rPr lang="en-US" sz="1300" dirty="0">
                <a:solidFill>
                  <a:srgbClr val="4A4A4A"/>
                </a:solidFill>
                <a:latin typeface="Arial" pitchFamily="34" charset="0"/>
                <a:ea typeface="Arial" pitchFamily="34" charset="-122"/>
                <a:cs typeface="Arial" pitchFamily="34" charset="-120"/>
              </a:rPr>
              <a:t>Security tools find vulnerabilities. Governance tools collect questionnaires. Audit teams chase evidence across disconnected systems. The gap between what was tested, what was found, what was remediated, and what can be proven is where assurance claims lose traction.</a:t>
            </a:r>
            <a:endParaRPr lang="en-US" sz="1300" dirty="0"/>
          </a:p>
        </p:txBody>
      </p:sp>
      <p:sp>
        <p:nvSpPr>
          <p:cNvPr id="5" name="Text 3"/>
          <p:cNvSpPr/>
          <p:nvPr/>
        </p:nvSpPr>
        <p:spPr>
          <a:xfrm>
            <a:off x="548640" y="2011680"/>
            <a:ext cx="10972800" cy="457200"/>
          </a:xfrm>
          <a:prstGeom prst="rect">
            <a:avLst/>
          </a:prstGeom>
          <a:noFill/>
          <a:ln/>
        </p:spPr>
        <p:txBody>
          <a:bodyPr wrap="square" rtlCol="0" anchor="t"/>
          <a:lstStyle/>
          <a:p>
            <a:pPr algn="l" indent="0" marL="0">
              <a:lnSpc>
                <a:spcPct val="115000"/>
              </a:lnSpc>
              <a:buNone/>
            </a:pPr>
            <a:r>
              <a:rPr lang="en-US" sz="1300" b="1" dirty="0">
                <a:solidFill>
                  <a:srgbClr val="1A2B4A"/>
                </a:solidFill>
                <a:latin typeface="Arial" pitchFamily="34" charset="0"/>
                <a:ea typeface="Arial" pitchFamily="34" charset="-122"/>
                <a:cs typeface="Arial" pitchFamily="34" charset="-120"/>
              </a:rPr>
              <a:t>HAIEC closes this gap by making evidence the central artifact — not a byproduct.</a:t>
            </a:r>
            <a:endParaRPr lang="en-US" sz="1300" dirty="0"/>
          </a:p>
        </p:txBody>
      </p:sp>
      <p:sp>
        <p:nvSpPr>
          <p:cNvPr id="6" name="Shape 4"/>
          <p:cNvSpPr/>
          <p:nvPr/>
        </p:nvSpPr>
        <p:spPr>
          <a:xfrm>
            <a:off x="731520" y="2926080"/>
            <a:ext cx="2743200" cy="1188720"/>
          </a:xfrm>
          <a:prstGeom prst="rect">
            <a:avLst/>
          </a:prstGeom>
          <a:solidFill>
            <a:srgbClr val="F5F5F5"/>
          </a:solidFill>
          <a:ln w="6350">
            <a:solidFill>
              <a:srgbClr val="D0D0D0"/>
            </a:solidFill>
            <a:prstDash val="solid"/>
          </a:ln>
        </p:spPr>
      </p:sp>
      <p:sp>
        <p:nvSpPr>
          <p:cNvPr id="7" name="Text 5"/>
          <p:cNvSpPr/>
          <p:nvPr/>
        </p:nvSpPr>
        <p:spPr>
          <a:xfrm>
            <a:off x="868680" y="301752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ENGINEERING</a:t>
            </a:r>
            <a:endParaRPr lang="en-US" sz="800" dirty="0"/>
          </a:p>
        </p:txBody>
      </p:sp>
      <p:sp>
        <p:nvSpPr>
          <p:cNvPr id="8" name="Text 6"/>
          <p:cNvSpPr/>
          <p:nvPr/>
        </p:nvSpPr>
        <p:spPr>
          <a:xfrm>
            <a:off x="868680" y="324612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analysis, runtime testing, CI integration</a:t>
            </a:r>
            <a:endParaRPr lang="en-US" sz="900" dirty="0"/>
          </a:p>
        </p:txBody>
      </p:sp>
      <p:sp>
        <p:nvSpPr>
          <p:cNvPr id="9" name="Shape 7"/>
          <p:cNvSpPr/>
          <p:nvPr/>
        </p:nvSpPr>
        <p:spPr>
          <a:xfrm>
            <a:off x="8686800" y="2926080"/>
            <a:ext cx="2743200" cy="1188720"/>
          </a:xfrm>
          <a:prstGeom prst="rect">
            <a:avLst/>
          </a:prstGeom>
          <a:solidFill>
            <a:srgbClr val="F5F5F5"/>
          </a:solidFill>
          <a:ln w="6350">
            <a:solidFill>
              <a:srgbClr val="D0D0D0"/>
            </a:solidFill>
            <a:prstDash val="solid"/>
          </a:ln>
        </p:spPr>
      </p:sp>
      <p:sp>
        <p:nvSpPr>
          <p:cNvPr id="10" name="Text 8"/>
          <p:cNvSpPr/>
          <p:nvPr/>
        </p:nvSpPr>
        <p:spPr>
          <a:xfrm>
            <a:off x="8823960" y="301752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SECURITY</a:t>
            </a:r>
            <a:endParaRPr lang="en-US" sz="800" dirty="0"/>
          </a:p>
        </p:txBody>
      </p:sp>
      <p:sp>
        <p:nvSpPr>
          <p:cNvPr id="11" name="Text 9"/>
          <p:cNvSpPr/>
          <p:nvPr/>
        </p:nvSpPr>
        <p:spPr>
          <a:xfrm>
            <a:off x="8823960" y="324612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Adversarial testing, attack templates, safety properties</a:t>
            </a:r>
            <a:endParaRPr lang="en-US" sz="900" dirty="0"/>
          </a:p>
        </p:txBody>
      </p:sp>
      <p:sp>
        <p:nvSpPr>
          <p:cNvPr id="12" name="Shape 10"/>
          <p:cNvSpPr/>
          <p:nvPr/>
        </p:nvSpPr>
        <p:spPr>
          <a:xfrm>
            <a:off x="731520" y="4572000"/>
            <a:ext cx="2743200" cy="1188720"/>
          </a:xfrm>
          <a:prstGeom prst="rect">
            <a:avLst/>
          </a:prstGeom>
          <a:solidFill>
            <a:srgbClr val="F5F5F5"/>
          </a:solidFill>
          <a:ln w="6350">
            <a:solidFill>
              <a:srgbClr val="D0D0D0"/>
            </a:solidFill>
            <a:prstDash val="solid"/>
          </a:ln>
        </p:spPr>
      </p:sp>
      <p:sp>
        <p:nvSpPr>
          <p:cNvPr id="13" name="Text 11"/>
          <p:cNvSpPr/>
          <p:nvPr/>
        </p:nvSpPr>
        <p:spPr>
          <a:xfrm>
            <a:off x="868680" y="466344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GOVERNANCE</a:t>
            </a:r>
            <a:endParaRPr lang="en-US" sz="800" dirty="0"/>
          </a:p>
        </p:txBody>
      </p:sp>
      <p:sp>
        <p:nvSpPr>
          <p:cNvPr id="14" name="Text 12"/>
          <p:cNvSpPr/>
          <p:nvPr/>
        </p:nvSpPr>
        <p:spPr>
          <a:xfrm>
            <a:off x="868680" y="489204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Framework mapping, compliance twin, jurisdiction registry</a:t>
            </a:r>
            <a:endParaRPr lang="en-US" sz="900" dirty="0"/>
          </a:p>
        </p:txBody>
      </p:sp>
      <p:sp>
        <p:nvSpPr>
          <p:cNvPr id="15" name="Shape 13"/>
          <p:cNvSpPr/>
          <p:nvPr/>
        </p:nvSpPr>
        <p:spPr>
          <a:xfrm>
            <a:off x="8686800" y="4572000"/>
            <a:ext cx="2743200" cy="1188720"/>
          </a:xfrm>
          <a:prstGeom prst="rect">
            <a:avLst/>
          </a:prstGeom>
          <a:solidFill>
            <a:srgbClr val="F5F5F5"/>
          </a:solidFill>
          <a:ln w="6350">
            <a:solidFill>
              <a:srgbClr val="D0D0D0"/>
            </a:solidFill>
            <a:prstDash val="solid"/>
          </a:ln>
        </p:spPr>
      </p:sp>
      <p:sp>
        <p:nvSpPr>
          <p:cNvPr id="16" name="Text 14"/>
          <p:cNvSpPr/>
          <p:nvPr/>
        </p:nvSpPr>
        <p:spPr>
          <a:xfrm>
            <a:off x="8823960" y="466344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ASSURANCE</a:t>
            </a:r>
            <a:endParaRPr lang="en-US" sz="800" dirty="0"/>
          </a:p>
        </p:txBody>
      </p:sp>
      <p:sp>
        <p:nvSpPr>
          <p:cNvPr id="17" name="Text 15"/>
          <p:cNvSpPr/>
          <p:nvPr/>
        </p:nvSpPr>
        <p:spPr>
          <a:xfrm>
            <a:off x="8823960" y="4892040"/>
            <a:ext cx="24688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Audit orchestrator, evidence manifests, trust artifacts</a:t>
            </a:r>
            <a:endParaRPr lang="en-US" sz="900" dirty="0"/>
          </a:p>
        </p:txBody>
      </p:sp>
      <p:sp>
        <p:nvSpPr>
          <p:cNvPr id="18" name="Shape 16"/>
          <p:cNvSpPr/>
          <p:nvPr/>
        </p:nvSpPr>
        <p:spPr>
          <a:xfrm>
            <a:off x="4754880" y="3474720"/>
            <a:ext cx="2743200" cy="1645920"/>
          </a:xfrm>
          <a:prstGeom prst="rect">
            <a:avLst/>
          </a:prstGeom>
          <a:solidFill>
            <a:srgbClr val="F5F5F5"/>
          </a:solidFill>
          <a:ln w="6350">
            <a:solidFill>
              <a:srgbClr val="1A2B4A"/>
            </a:solidFill>
            <a:prstDash val="solid"/>
          </a:ln>
        </p:spPr>
      </p:sp>
      <p:sp>
        <p:nvSpPr>
          <p:cNvPr id="19" name="Text 17"/>
          <p:cNvSpPr/>
          <p:nvPr/>
        </p:nvSpPr>
        <p:spPr>
          <a:xfrm>
            <a:off x="4754880" y="3566160"/>
            <a:ext cx="2743200" cy="457200"/>
          </a:xfrm>
          <a:prstGeom prst="rect">
            <a:avLst/>
          </a:prstGeom>
          <a:noFill/>
          <a:ln/>
        </p:spPr>
        <p:txBody>
          <a:bodyPr wrap="square" rtlCol="0" anchor="ctr"/>
          <a:lstStyle/>
          <a:p>
            <a:pPr algn="ctr" indent="0" marL="0">
              <a:buNone/>
            </a:pPr>
            <a:r>
              <a:rPr lang="en-US" sz="2200" b="1" dirty="0">
                <a:solidFill>
                  <a:srgbClr val="1A2B4A"/>
                </a:solidFill>
                <a:latin typeface="Arial" pitchFamily="34" charset="0"/>
                <a:ea typeface="Arial" pitchFamily="34" charset="-122"/>
                <a:cs typeface="Arial" pitchFamily="34" charset="-120"/>
              </a:rPr>
              <a:t>HAIEC</a:t>
            </a:r>
            <a:endParaRPr lang="en-US" sz="2200" dirty="0"/>
          </a:p>
        </p:txBody>
      </p:sp>
      <p:sp>
        <p:nvSpPr>
          <p:cNvPr id="20" name="Text 18"/>
          <p:cNvSpPr/>
          <p:nvPr/>
        </p:nvSpPr>
        <p:spPr>
          <a:xfrm>
            <a:off x="4754880" y="4023360"/>
            <a:ext cx="2743200" cy="731520"/>
          </a:xfrm>
          <a:prstGeom prst="rect">
            <a:avLst/>
          </a:prstGeom>
          <a:noFill/>
          <a:ln/>
        </p:spPr>
        <p:txBody>
          <a:bodyPr wrap="square" rtlCol="0" anchor="ctr"/>
          <a:lstStyle/>
          <a:p>
            <a:pPr algn="ctr" indent="0" marL="0">
              <a:buNone/>
            </a:pPr>
            <a:r>
              <a:rPr lang="en-US" sz="1000" dirty="0">
                <a:solidFill>
                  <a:srgbClr val="4A4A4A"/>
                </a:solidFill>
                <a:latin typeface="Arial" pitchFamily="34" charset="0"/>
                <a:ea typeface="Arial" pitchFamily="34" charset="-122"/>
                <a:cs typeface="Arial" pitchFamily="34" charset="-120"/>
              </a:rPr>
              <a:t>Evidence-Native</a:t>
            </a:r>
            <a:endParaRPr lang="en-US" sz="1000" dirty="0"/>
          </a:p>
          <a:p>
            <a:pPr algn="ctr" indent="0" marL="0">
              <a:buNone/>
            </a:pPr>
            <a:r>
              <a:rPr lang="en-US" sz="1000" dirty="0">
                <a:solidFill>
                  <a:srgbClr val="4A4A4A"/>
                </a:solidFill>
                <a:latin typeface="Arial" pitchFamily="34" charset="0"/>
                <a:ea typeface="Arial" pitchFamily="34" charset="-122"/>
                <a:cs typeface="Arial" pitchFamily="34" charset="-120"/>
              </a:rPr>
              <a:t>AI Security Platform</a:t>
            </a:r>
            <a:endParaRPr lang="en-US" sz="1000" dirty="0"/>
          </a:p>
        </p:txBody>
      </p:sp>
      <p:sp>
        <p:nvSpPr>
          <p:cNvPr id="21" name="Shape 19"/>
          <p:cNvSpPr/>
          <p:nvPr/>
        </p:nvSpPr>
        <p:spPr>
          <a:xfrm>
            <a:off x="5669280" y="3977640"/>
            <a:ext cx="914400" cy="0"/>
          </a:xfrm>
          <a:prstGeom prst="line">
            <a:avLst/>
          </a:prstGeom>
          <a:noFill/>
          <a:ln w="6350">
            <a:solidFill>
              <a:srgbClr val="1A2B4A"/>
            </a:solidFill>
            <a:prstDash val="solid"/>
          </a:ln>
        </p:spPr>
      </p:sp>
      <p:sp>
        <p:nvSpPr>
          <p:cNvPr id="22" name="Shape 20"/>
          <p:cNvSpPr/>
          <p:nvPr/>
        </p:nvSpPr>
        <p:spPr>
          <a:xfrm>
            <a:off x="3474720" y="3520440"/>
            <a:ext cx="1280160" cy="411480"/>
          </a:xfrm>
          <a:prstGeom prst="line">
            <a:avLst/>
          </a:prstGeom>
          <a:noFill/>
          <a:ln w="12700">
            <a:solidFill>
              <a:srgbClr val="999999"/>
            </a:solidFill>
            <a:prstDash val="solid"/>
            <a:tailEnd type="triangle"/>
          </a:ln>
        </p:spPr>
      </p:sp>
      <p:sp>
        <p:nvSpPr>
          <p:cNvPr id="23" name="Shape 21"/>
          <p:cNvSpPr/>
          <p:nvPr/>
        </p:nvSpPr>
        <p:spPr>
          <a:xfrm>
            <a:off x="8686800" y="3520440"/>
            <a:ext cx="-1188720" cy="411480"/>
          </a:xfrm>
          <a:prstGeom prst="line">
            <a:avLst/>
          </a:prstGeom>
          <a:noFill/>
          <a:ln w="12700">
            <a:solidFill>
              <a:srgbClr val="999999"/>
            </a:solidFill>
            <a:prstDash val="solid"/>
            <a:tailEnd type="triangle"/>
          </a:ln>
        </p:spPr>
      </p:sp>
      <p:sp>
        <p:nvSpPr>
          <p:cNvPr id="24" name="Shape 22"/>
          <p:cNvSpPr/>
          <p:nvPr/>
        </p:nvSpPr>
        <p:spPr>
          <a:xfrm>
            <a:off x="3474720" y="5166360"/>
            <a:ext cx="1280160" cy="-411480"/>
          </a:xfrm>
          <a:prstGeom prst="line">
            <a:avLst/>
          </a:prstGeom>
          <a:noFill/>
          <a:ln w="12700">
            <a:solidFill>
              <a:srgbClr val="999999"/>
            </a:solidFill>
            <a:prstDash val="solid"/>
            <a:tailEnd type="triangle"/>
          </a:ln>
        </p:spPr>
      </p:sp>
      <p:sp>
        <p:nvSpPr>
          <p:cNvPr id="25" name="Shape 23"/>
          <p:cNvSpPr/>
          <p:nvPr/>
        </p:nvSpPr>
        <p:spPr>
          <a:xfrm>
            <a:off x="8686800" y="5166360"/>
            <a:ext cx="-1188720" cy="-411480"/>
          </a:xfrm>
          <a:prstGeom prst="line">
            <a:avLst/>
          </a:prstGeom>
          <a:noFill/>
          <a:ln w="12700">
            <a:solidFill>
              <a:srgbClr val="999999"/>
            </a:solidFill>
            <a:prstDash val="solid"/>
            <a:tailEnd type="triangle"/>
          </a:ln>
        </p:spPr>
      </p:sp>
      <p:sp>
        <p:nvSpPr>
          <p:cNvPr id="26" name="Text 24"/>
          <p:cNvSpPr/>
          <p:nvPr/>
        </p:nvSpPr>
        <p:spPr>
          <a:xfrm>
            <a:off x="548640" y="594360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The strategic asset is not one scanner or one report. It is the evidence relationship connecting system, test, finding, control, remediation and verification.</a:t>
            </a:r>
            <a:endParaRPr lang="en-US" sz="1100" dirty="0"/>
          </a:p>
        </p:txBody>
      </p:sp>
      <p:sp>
        <p:nvSpPr>
          <p:cNvPr id="27" name="Shape 25"/>
          <p:cNvSpPr/>
          <p:nvPr/>
        </p:nvSpPr>
        <p:spPr>
          <a:xfrm>
            <a:off x="457200" y="6473952"/>
            <a:ext cx="11277295" cy="0"/>
          </a:xfrm>
          <a:prstGeom prst="line">
            <a:avLst/>
          </a:prstGeom>
          <a:noFill/>
          <a:ln w="6350">
            <a:solidFill>
              <a:srgbClr val="CCCCCC"/>
            </a:solidFill>
            <a:prstDash val="solid"/>
          </a:ln>
        </p:spPr>
      </p:sp>
      <p:sp>
        <p:nvSpPr>
          <p:cNvPr id="28" name="Text 2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2/15</a:t>
            </a:r>
            <a:endParaRPr lang="en-US" sz="800" dirty="0"/>
          </a:p>
        </p:txBody>
      </p:sp>
      <p:sp>
        <p:nvSpPr>
          <p:cNvPr id="29" name="Text 2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Security tools find risk. Governance tools collect answers.</a:t>
            </a:r>
            <a:endParaRPr lang="en-US" sz="2200" dirty="0"/>
          </a:p>
          <a:p>
            <a:pPr algn="l" indent="0" marL="0">
              <a:buNone/>
            </a:pPr>
            <a:r>
              <a:rPr lang="en-US" sz="2200" b="1" dirty="0">
                <a:solidFill>
                  <a:srgbClr val="1A2B4A"/>
                </a:solidFill>
                <a:latin typeface="Arial" pitchFamily="34" charset="0"/>
                <a:ea typeface="Arial" pitchFamily="34" charset="-122"/>
                <a:cs typeface="Arial" pitchFamily="34" charset="-120"/>
              </a:rPr>
              <a:t>Audit teams still chase evidence.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645920"/>
            <a:ext cx="3474720" cy="3474720"/>
          </a:xfrm>
          <a:prstGeom prst="rect">
            <a:avLst/>
          </a:prstGeom>
          <a:solidFill>
            <a:srgbClr val="F5F5F5"/>
          </a:solidFill>
          <a:ln w="6350">
            <a:solidFill>
              <a:srgbClr val="D0D0D0"/>
            </a:solidFill>
            <a:prstDash val="solid"/>
          </a:ln>
        </p:spPr>
      </p:sp>
      <p:sp>
        <p:nvSpPr>
          <p:cNvPr id="5" name="Text 3"/>
          <p:cNvSpPr/>
          <p:nvPr/>
        </p:nvSpPr>
        <p:spPr>
          <a:xfrm>
            <a:off x="73152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AI Security Tools</a:t>
            </a:r>
            <a:endParaRPr lang="en-US" sz="1300" dirty="0"/>
          </a:p>
        </p:txBody>
      </p:sp>
      <p:sp>
        <p:nvSpPr>
          <p:cNvPr id="6" name="Text 4"/>
          <p:cNvSpPr/>
          <p:nvPr/>
        </p:nvSpPr>
        <p:spPr>
          <a:xfrm>
            <a:off x="73152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Find vulnerabilities in code</a:t>
            </a:r>
            <a:endParaRPr lang="en-US" sz="1000" dirty="0"/>
          </a:p>
        </p:txBody>
      </p:sp>
      <p:sp>
        <p:nvSpPr>
          <p:cNvPr id="7" name="Text 5"/>
          <p:cNvSpPr/>
          <p:nvPr/>
        </p:nvSpPr>
        <p:spPr>
          <a:xfrm>
            <a:off x="73152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Generate findings and alerts</a:t>
            </a:r>
            <a:endParaRPr lang="en-US" sz="1000" dirty="0"/>
          </a:p>
        </p:txBody>
      </p:sp>
      <p:sp>
        <p:nvSpPr>
          <p:cNvPr id="8" name="Text 6"/>
          <p:cNvSpPr/>
          <p:nvPr/>
        </p:nvSpPr>
        <p:spPr>
          <a:xfrm>
            <a:off x="73152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Security findings often require separate evidence assembly and control mapping</a:t>
            </a:r>
            <a:endParaRPr lang="en-US" sz="1000" dirty="0"/>
          </a:p>
        </p:txBody>
      </p:sp>
      <p:sp>
        <p:nvSpPr>
          <p:cNvPr id="9" name="Text 7"/>
          <p:cNvSpPr/>
          <p:nvPr/>
        </p:nvSpPr>
        <p:spPr>
          <a:xfrm>
            <a:off x="73152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Evidence is typically assembled downstream</a:t>
            </a:r>
            <a:endParaRPr lang="en-US" sz="1000" dirty="0"/>
          </a:p>
        </p:txBody>
      </p:sp>
      <p:sp>
        <p:nvSpPr>
          <p:cNvPr id="10" name="Shape 8"/>
          <p:cNvSpPr/>
          <p:nvPr/>
        </p:nvSpPr>
        <p:spPr>
          <a:xfrm>
            <a:off x="731520" y="4206240"/>
            <a:ext cx="3108960" cy="36576"/>
          </a:xfrm>
          <a:prstGeom prst="rect">
            <a:avLst/>
          </a:prstGeom>
          <a:solidFill>
            <a:srgbClr val="1A2B4A"/>
          </a:solidFill>
          <a:ln/>
        </p:spPr>
      </p:sp>
      <p:sp>
        <p:nvSpPr>
          <p:cNvPr id="11" name="Text 9"/>
          <p:cNvSpPr/>
          <p:nvPr/>
        </p:nvSpPr>
        <p:spPr>
          <a:xfrm>
            <a:off x="73152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Output stops at the finding. Evidence chain requires manual assembly.</a:t>
            </a:r>
            <a:endParaRPr lang="en-US" sz="900" dirty="0"/>
          </a:p>
        </p:txBody>
      </p:sp>
      <p:sp>
        <p:nvSpPr>
          <p:cNvPr id="12" name="Shape 10"/>
          <p:cNvSpPr/>
          <p:nvPr/>
        </p:nvSpPr>
        <p:spPr>
          <a:xfrm>
            <a:off x="4297680" y="1645920"/>
            <a:ext cx="3474720" cy="3474720"/>
          </a:xfrm>
          <a:prstGeom prst="rect">
            <a:avLst/>
          </a:prstGeom>
          <a:solidFill>
            <a:srgbClr val="F5F5F5"/>
          </a:solidFill>
          <a:ln w="6350">
            <a:solidFill>
              <a:srgbClr val="D0D0D0"/>
            </a:solidFill>
            <a:prstDash val="solid"/>
          </a:ln>
        </p:spPr>
      </p:sp>
      <p:sp>
        <p:nvSpPr>
          <p:cNvPr id="13" name="Text 11"/>
          <p:cNvSpPr/>
          <p:nvPr/>
        </p:nvSpPr>
        <p:spPr>
          <a:xfrm>
            <a:off x="448056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Governance &amp; GRC</a:t>
            </a:r>
            <a:endParaRPr lang="en-US" sz="1300" dirty="0"/>
          </a:p>
        </p:txBody>
      </p:sp>
      <p:sp>
        <p:nvSpPr>
          <p:cNvPr id="14" name="Text 12"/>
          <p:cNvSpPr/>
          <p:nvPr/>
        </p:nvSpPr>
        <p:spPr>
          <a:xfrm>
            <a:off x="448056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Collect questionnaire responses</a:t>
            </a:r>
            <a:endParaRPr lang="en-US" sz="1000" dirty="0"/>
          </a:p>
        </p:txBody>
      </p:sp>
      <p:sp>
        <p:nvSpPr>
          <p:cNvPr id="15" name="Text 13"/>
          <p:cNvSpPr/>
          <p:nvPr/>
        </p:nvSpPr>
        <p:spPr>
          <a:xfrm>
            <a:off x="448056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Track policy attestation</a:t>
            </a:r>
            <a:endParaRPr lang="en-US" sz="1000" dirty="0"/>
          </a:p>
        </p:txBody>
      </p:sp>
      <p:sp>
        <p:nvSpPr>
          <p:cNvPr id="16" name="Text 14"/>
          <p:cNvSpPr/>
          <p:nvPr/>
        </p:nvSpPr>
        <p:spPr>
          <a:xfrm>
            <a:off x="448056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Governance platforms frequently depend on questionnaires, integrations or imported evidence rather than generating the technical observation themselves</a:t>
            </a:r>
            <a:endParaRPr lang="en-US" sz="1000" dirty="0"/>
          </a:p>
        </p:txBody>
      </p:sp>
      <p:sp>
        <p:nvSpPr>
          <p:cNvPr id="17" name="Text 15"/>
          <p:cNvSpPr/>
          <p:nvPr/>
        </p:nvSpPr>
        <p:spPr>
          <a:xfrm>
            <a:off x="448056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Self-reported, not engine-generated</a:t>
            </a:r>
            <a:endParaRPr lang="en-US" sz="1000" dirty="0"/>
          </a:p>
        </p:txBody>
      </p:sp>
      <p:sp>
        <p:nvSpPr>
          <p:cNvPr id="18" name="Shape 16"/>
          <p:cNvSpPr/>
          <p:nvPr/>
        </p:nvSpPr>
        <p:spPr>
          <a:xfrm>
            <a:off x="4480560" y="4206240"/>
            <a:ext cx="3108960" cy="36576"/>
          </a:xfrm>
          <a:prstGeom prst="rect">
            <a:avLst/>
          </a:prstGeom>
          <a:solidFill>
            <a:srgbClr val="1A2B4A"/>
          </a:solidFill>
          <a:ln/>
        </p:spPr>
      </p:sp>
      <p:sp>
        <p:nvSpPr>
          <p:cNvPr id="19" name="Text 17"/>
          <p:cNvSpPr/>
          <p:nvPr/>
        </p:nvSpPr>
        <p:spPr>
          <a:xfrm>
            <a:off x="448056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Answers without verification. No technical proof.</a:t>
            </a:r>
            <a:endParaRPr lang="en-US" sz="900" dirty="0"/>
          </a:p>
        </p:txBody>
      </p:sp>
      <p:sp>
        <p:nvSpPr>
          <p:cNvPr id="20" name="Shape 18"/>
          <p:cNvSpPr/>
          <p:nvPr/>
        </p:nvSpPr>
        <p:spPr>
          <a:xfrm>
            <a:off x="8046720" y="1645920"/>
            <a:ext cx="3474720" cy="3474720"/>
          </a:xfrm>
          <a:prstGeom prst="rect">
            <a:avLst/>
          </a:prstGeom>
          <a:solidFill>
            <a:srgbClr val="F5F5F5"/>
          </a:solidFill>
          <a:ln w="6350">
            <a:solidFill>
              <a:srgbClr val="D0D0D0"/>
            </a:solidFill>
            <a:prstDash val="solid"/>
          </a:ln>
        </p:spPr>
      </p:sp>
      <p:sp>
        <p:nvSpPr>
          <p:cNvPr id="21" name="Text 19"/>
          <p:cNvSpPr/>
          <p:nvPr/>
        </p:nvSpPr>
        <p:spPr>
          <a:xfrm>
            <a:off x="8229600" y="1737360"/>
            <a:ext cx="3108960" cy="36576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Audit Preparation</a:t>
            </a:r>
            <a:endParaRPr lang="en-US" sz="1300" dirty="0"/>
          </a:p>
        </p:txBody>
      </p:sp>
      <p:sp>
        <p:nvSpPr>
          <p:cNvPr id="22" name="Text 20"/>
          <p:cNvSpPr/>
          <p:nvPr/>
        </p:nvSpPr>
        <p:spPr>
          <a:xfrm>
            <a:off x="8229600" y="219456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Manual evidence collection</a:t>
            </a:r>
            <a:endParaRPr lang="en-US" sz="1000" dirty="0"/>
          </a:p>
        </p:txBody>
      </p:sp>
      <p:sp>
        <p:nvSpPr>
          <p:cNvPr id="23" name="Text 21"/>
          <p:cNvSpPr/>
          <p:nvPr/>
        </p:nvSpPr>
        <p:spPr>
          <a:xfrm>
            <a:off x="8229600" y="256032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Cross-reference across tools</a:t>
            </a:r>
            <a:endParaRPr lang="en-US" sz="1000" dirty="0"/>
          </a:p>
        </p:txBody>
      </p:sp>
      <p:sp>
        <p:nvSpPr>
          <p:cNvPr id="24" name="Text 22"/>
          <p:cNvSpPr/>
          <p:nvPr/>
        </p:nvSpPr>
        <p:spPr>
          <a:xfrm>
            <a:off x="8229600" y="292608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Reconcile findings to controls</a:t>
            </a:r>
            <a:endParaRPr lang="en-US" sz="1000" dirty="0"/>
          </a:p>
        </p:txBody>
      </p:sp>
      <p:sp>
        <p:nvSpPr>
          <p:cNvPr id="25" name="Text 23"/>
          <p:cNvSpPr/>
          <p:nvPr/>
        </p:nvSpPr>
        <p:spPr>
          <a:xfrm>
            <a:off x="8229600" y="3291840"/>
            <a:ext cx="3108960" cy="320040"/>
          </a:xfrm>
          <a:prstGeom prst="rect">
            <a:avLst/>
          </a:prstGeom>
          <a:noFill/>
          <a:ln/>
        </p:spPr>
        <p:txBody>
          <a:bodyPr wrap="square" rtlCol="0" anchor="ctr"/>
          <a:lstStyle/>
          <a:p>
            <a:pPr indent="0" marL="0">
              <a:buNone/>
            </a:pPr>
            <a:r>
              <a:rPr lang="en-US" sz="1000" dirty="0">
                <a:solidFill>
                  <a:srgbClr val="4A4A4A"/>
                </a:solidFill>
                <a:latin typeface="Arial" pitchFamily="34" charset="0"/>
                <a:ea typeface="Arial" pitchFamily="34" charset="-122"/>
                <a:cs typeface="Arial" pitchFamily="34" charset="-120"/>
              </a:rPr>
              <a:t>•  Stale by the time audit begins</a:t>
            </a:r>
            <a:endParaRPr lang="en-US" sz="1000" dirty="0"/>
          </a:p>
        </p:txBody>
      </p:sp>
      <p:sp>
        <p:nvSpPr>
          <p:cNvPr id="26" name="Shape 24"/>
          <p:cNvSpPr/>
          <p:nvPr/>
        </p:nvSpPr>
        <p:spPr>
          <a:xfrm>
            <a:off x="8229600" y="4206240"/>
            <a:ext cx="3108960" cy="36576"/>
          </a:xfrm>
          <a:prstGeom prst="rect">
            <a:avLst/>
          </a:prstGeom>
          <a:solidFill>
            <a:srgbClr val="1A2B4A"/>
          </a:solidFill>
          <a:ln/>
        </p:spPr>
      </p:sp>
      <p:sp>
        <p:nvSpPr>
          <p:cNvPr id="27" name="Text 25"/>
          <p:cNvSpPr/>
          <p:nvPr/>
        </p:nvSpPr>
        <p:spPr>
          <a:xfrm>
            <a:off x="8229600" y="4297680"/>
            <a:ext cx="3108960" cy="548640"/>
          </a:xfrm>
          <a:prstGeom prst="rect">
            <a:avLst/>
          </a:prstGeom>
          <a:noFill/>
          <a:ln/>
        </p:spPr>
        <p:txBody>
          <a:bodyPr wrap="square" rtlCol="0" anchor="ctr"/>
          <a:lstStyle/>
          <a:p>
            <a:pPr indent="0" marL="0">
              <a:buNone/>
            </a:pPr>
            <a:r>
              <a:rPr lang="en-US" sz="900" i="1" dirty="0">
                <a:solidFill>
                  <a:srgbClr val="1A2B4A"/>
                </a:solidFill>
                <a:latin typeface="Arial" pitchFamily="34" charset="0"/>
                <a:ea typeface="Arial" pitchFamily="34" charset="-122"/>
                <a:cs typeface="Arial" pitchFamily="34" charset="-120"/>
              </a:rPr>
              <a:t>Labor-intensive. Disconnected from testing.</a:t>
            </a:r>
            <a:endParaRPr lang="en-US" sz="900" dirty="0"/>
          </a:p>
        </p:txBody>
      </p:sp>
      <p:sp>
        <p:nvSpPr>
          <p:cNvPr id="28" name="Shape 26"/>
          <p:cNvSpPr/>
          <p:nvPr/>
        </p:nvSpPr>
        <p:spPr>
          <a:xfrm>
            <a:off x="548640" y="5394960"/>
            <a:ext cx="11064240" cy="640080"/>
          </a:xfrm>
          <a:prstGeom prst="rect">
            <a:avLst/>
          </a:prstGeom>
          <a:solidFill>
            <a:srgbClr val="F5F5F5"/>
          </a:solidFill>
          <a:ln w="6350">
            <a:solidFill>
              <a:srgbClr val="1A2B4A"/>
            </a:solidFill>
            <a:prstDash val="solid"/>
          </a:ln>
        </p:spPr>
      </p:sp>
      <p:sp>
        <p:nvSpPr>
          <p:cNvPr id="29" name="Text 27"/>
          <p:cNvSpPr/>
          <p:nvPr/>
        </p:nvSpPr>
        <p:spPr>
          <a:xfrm>
            <a:off x="731520" y="5394960"/>
            <a:ext cx="1069848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HAIEC bridges all three: engine-generated evidence flows from test → finding → control mapping → audit package in one platform.</a:t>
            </a:r>
            <a:endParaRPr lang="en-US" sz="1100" dirty="0"/>
          </a:p>
        </p:txBody>
      </p:sp>
      <p:sp>
        <p:nvSpPr>
          <p:cNvPr id="30" name="Shape 28"/>
          <p:cNvSpPr/>
          <p:nvPr/>
        </p:nvSpPr>
        <p:spPr>
          <a:xfrm>
            <a:off x="457200" y="6473952"/>
            <a:ext cx="11277295" cy="0"/>
          </a:xfrm>
          <a:prstGeom prst="line">
            <a:avLst/>
          </a:prstGeom>
          <a:noFill/>
          <a:ln w="6350">
            <a:solidFill>
              <a:srgbClr val="CCCCCC"/>
            </a:solidFill>
            <a:prstDash val="solid"/>
          </a:ln>
        </p:spPr>
      </p:sp>
      <p:sp>
        <p:nvSpPr>
          <p:cNvPr id="31" name="Text 2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3/15</a:t>
            </a:r>
            <a:endParaRPr lang="en-US" sz="800" dirty="0"/>
          </a:p>
        </p:txBody>
      </p:sp>
      <p:sp>
        <p:nvSpPr>
          <p:cNvPr id="32" name="Text 3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One platform from code to audit evidence.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11064240" cy="777240"/>
          </a:xfrm>
          <a:prstGeom prst="rect">
            <a:avLst/>
          </a:prstGeom>
          <a:solidFill>
            <a:srgbClr val="F5F5F5"/>
          </a:solidFill>
          <a:ln w="6350">
            <a:solidFill>
              <a:srgbClr val="D0D0D0"/>
            </a:solidFill>
            <a:prstDash val="solid"/>
          </a:ln>
        </p:spPr>
      </p:sp>
      <p:sp>
        <p:nvSpPr>
          <p:cNvPr id="5" name="Text 3"/>
          <p:cNvSpPr/>
          <p:nvPr/>
        </p:nvSpPr>
        <p:spPr>
          <a:xfrm>
            <a:off x="731520" y="150876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INPUTS</a:t>
            </a:r>
            <a:endParaRPr lang="en-US" sz="900" dirty="0"/>
          </a:p>
        </p:txBody>
      </p:sp>
      <p:sp>
        <p:nvSpPr>
          <p:cNvPr id="6" name="Text 4"/>
          <p:cNvSpPr/>
          <p:nvPr/>
        </p:nvSpPr>
        <p:spPr>
          <a:xfrm>
            <a:off x="3474720" y="150876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Git repos · API keys · AI inventory · System registration</a:t>
            </a:r>
            <a:endParaRPr lang="en-US" sz="1100" dirty="0"/>
          </a:p>
        </p:txBody>
      </p:sp>
      <p:sp>
        <p:nvSpPr>
          <p:cNvPr id="7" name="Shape 5"/>
          <p:cNvSpPr/>
          <p:nvPr/>
        </p:nvSpPr>
        <p:spPr>
          <a:xfrm>
            <a:off x="548640" y="2331720"/>
            <a:ext cx="11064240" cy="777240"/>
          </a:xfrm>
          <a:prstGeom prst="rect">
            <a:avLst/>
          </a:prstGeom>
          <a:solidFill>
            <a:srgbClr val="F5F5F5"/>
          </a:solidFill>
          <a:ln w="6350">
            <a:solidFill>
              <a:srgbClr val="D0D0D0"/>
            </a:solidFill>
            <a:prstDash val="solid"/>
          </a:ln>
        </p:spPr>
      </p:sp>
      <p:sp>
        <p:nvSpPr>
          <p:cNvPr id="8" name="Text 6"/>
          <p:cNvSpPr/>
          <p:nvPr/>
        </p:nvSpPr>
        <p:spPr>
          <a:xfrm>
            <a:off x="731520" y="246888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EVALUATION</a:t>
            </a:r>
            <a:endParaRPr lang="en-US" sz="900" dirty="0"/>
          </a:p>
        </p:txBody>
      </p:sp>
      <p:sp>
        <p:nvSpPr>
          <p:cNvPr id="9" name="Text 7"/>
          <p:cNvSpPr/>
          <p:nvPr/>
        </p:nvSpPr>
        <p:spPr>
          <a:xfrm>
            <a:off x="3474720" y="246888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Static engine (91 Semgrep + 15 TS + 82 rulepack) · Runtime engine (269 templates) · Wizard</a:t>
            </a:r>
            <a:endParaRPr lang="en-US" sz="1100" dirty="0"/>
          </a:p>
        </p:txBody>
      </p:sp>
      <p:sp>
        <p:nvSpPr>
          <p:cNvPr id="10" name="Shape 8"/>
          <p:cNvSpPr/>
          <p:nvPr/>
        </p:nvSpPr>
        <p:spPr>
          <a:xfrm>
            <a:off x="548640" y="3291840"/>
            <a:ext cx="11064240" cy="777240"/>
          </a:xfrm>
          <a:prstGeom prst="rect">
            <a:avLst/>
          </a:prstGeom>
          <a:solidFill>
            <a:srgbClr val="F5F5F5"/>
          </a:solidFill>
          <a:ln w="6350">
            <a:solidFill>
              <a:srgbClr val="D0D0D0"/>
            </a:solidFill>
            <a:prstDash val="solid"/>
          </a:ln>
        </p:spPr>
      </p:sp>
      <p:sp>
        <p:nvSpPr>
          <p:cNvPr id="11" name="Text 9"/>
          <p:cNvSpPr/>
          <p:nvPr/>
        </p:nvSpPr>
        <p:spPr>
          <a:xfrm>
            <a:off x="731520" y="342900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COORDINATION</a:t>
            </a:r>
            <a:endParaRPr lang="en-US" sz="900" dirty="0"/>
          </a:p>
        </p:txBody>
      </p:sp>
      <p:sp>
        <p:nvSpPr>
          <p:cNvPr id="12" name="Text 10"/>
          <p:cNvSpPr/>
          <p:nvPr/>
        </p:nvSpPr>
        <p:spPr>
          <a:xfrm>
            <a:off x="3474720" y="342900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Audit Orchestrator · State machine · Hash-chained event log</a:t>
            </a:r>
            <a:endParaRPr lang="en-US" sz="1100" dirty="0"/>
          </a:p>
        </p:txBody>
      </p:sp>
      <p:sp>
        <p:nvSpPr>
          <p:cNvPr id="13" name="Shape 11"/>
          <p:cNvSpPr/>
          <p:nvPr/>
        </p:nvSpPr>
        <p:spPr>
          <a:xfrm>
            <a:off x="548640" y="4251960"/>
            <a:ext cx="11064240" cy="777240"/>
          </a:xfrm>
          <a:prstGeom prst="rect">
            <a:avLst/>
          </a:prstGeom>
          <a:solidFill>
            <a:srgbClr val="F5F5F5"/>
          </a:solidFill>
          <a:ln w="6350">
            <a:solidFill>
              <a:srgbClr val="D0D0D0"/>
            </a:solidFill>
            <a:prstDash val="solid"/>
          </a:ln>
        </p:spPr>
      </p:sp>
      <p:sp>
        <p:nvSpPr>
          <p:cNvPr id="14" name="Text 12"/>
          <p:cNvSpPr/>
          <p:nvPr/>
        </p:nvSpPr>
        <p:spPr>
          <a:xfrm>
            <a:off x="731520" y="438912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DECISION &amp; EVIDENCE</a:t>
            </a:r>
            <a:endParaRPr lang="en-US" sz="900" dirty="0"/>
          </a:p>
        </p:txBody>
      </p:sp>
      <p:sp>
        <p:nvSpPr>
          <p:cNvPr id="15" name="Text 13"/>
          <p:cNvSpPr/>
          <p:nvPr/>
        </p:nvSpPr>
        <p:spPr>
          <a:xfrm>
            <a:off x="3474720" y="438912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Decision Pipeline (6 nodes, DIS) · Evidence manifests · Framework mapping</a:t>
            </a:r>
            <a:endParaRPr lang="en-US" sz="1100" dirty="0"/>
          </a:p>
        </p:txBody>
      </p:sp>
      <p:sp>
        <p:nvSpPr>
          <p:cNvPr id="16" name="Shape 14"/>
          <p:cNvSpPr/>
          <p:nvPr/>
        </p:nvSpPr>
        <p:spPr>
          <a:xfrm>
            <a:off x="548640" y="5212080"/>
            <a:ext cx="11064240" cy="777240"/>
          </a:xfrm>
          <a:prstGeom prst="rect">
            <a:avLst/>
          </a:prstGeom>
          <a:solidFill>
            <a:srgbClr val="F5F5F5"/>
          </a:solidFill>
          <a:ln w="6350">
            <a:solidFill>
              <a:srgbClr val="D0D0D0"/>
            </a:solidFill>
            <a:prstDash val="solid"/>
          </a:ln>
        </p:spPr>
      </p:sp>
      <p:sp>
        <p:nvSpPr>
          <p:cNvPr id="17" name="Text 15"/>
          <p:cNvSpPr/>
          <p:nvPr/>
        </p:nvSpPr>
        <p:spPr>
          <a:xfrm>
            <a:off x="731520" y="5349240"/>
            <a:ext cx="2560320" cy="274320"/>
          </a:xfrm>
          <a:prstGeom prst="rect">
            <a:avLst/>
          </a:prstGeom>
          <a:noFill/>
          <a:ln/>
        </p:spPr>
        <p:txBody>
          <a:bodyPr wrap="square" rtlCol="0" anchor="ctr"/>
          <a:lstStyle/>
          <a:p>
            <a:pPr algn="l" indent="0" marL="0">
              <a:buNone/>
            </a:pPr>
            <a:r>
              <a:rPr lang="en-US" sz="900" b="1" dirty="0">
                <a:solidFill>
                  <a:srgbClr val="1A2B4A"/>
                </a:solidFill>
                <a:latin typeface="Arial" pitchFamily="34" charset="0"/>
                <a:ea typeface="Arial" pitchFamily="34" charset="-122"/>
                <a:cs typeface="Arial" pitchFamily="34" charset="-120"/>
              </a:rPr>
              <a:t>DISTRIBUTION</a:t>
            </a:r>
            <a:endParaRPr lang="en-US" sz="900" dirty="0"/>
          </a:p>
        </p:txBody>
      </p:sp>
      <p:sp>
        <p:nvSpPr>
          <p:cNvPr id="18" name="Text 16"/>
          <p:cNvSpPr/>
          <p:nvPr/>
        </p:nvSpPr>
        <p:spPr>
          <a:xfrm>
            <a:off x="3474720" y="5349240"/>
            <a:ext cx="7955280" cy="502920"/>
          </a:xfrm>
          <a:prstGeom prst="rect">
            <a:avLst/>
          </a:prstGeom>
          <a:noFill/>
          <a:ln/>
        </p:spPr>
        <p:txBody>
          <a:bodyPr wrap="square" rtlCol="0" anchor="t"/>
          <a:lstStyle/>
          <a:p>
            <a:pPr algn="l" indent="0" marL="0">
              <a:lnSpc>
                <a:spcPct val="115000"/>
              </a:lnSpc>
              <a:buNone/>
            </a:pPr>
            <a:r>
              <a:rPr lang="en-US" sz="1100" dirty="0">
                <a:solidFill>
                  <a:srgbClr val="4A4A4A"/>
                </a:solidFill>
                <a:latin typeface="Arial" pitchFamily="34" charset="0"/>
                <a:ea typeface="Arial" pitchFamily="34" charset="-122"/>
                <a:cs typeface="Arial" pitchFamily="34" charset="-120"/>
              </a:rPr>
              <a:t>Trust artifacts · Audit packages · Verification API · CI integration</a:t>
            </a:r>
            <a:endParaRPr lang="en-US" sz="1100" dirty="0"/>
          </a:p>
        </p:txBody>
      </p:sp>
      <p:sp>
        <p:nvSpPr>
          <p:cNvPr id="19" name="Shape 17"/>
          <p:cNvSpPr/>
          <p:nvPr/>
        </p:nvSpPr>
        <p:spPr>
          <a:xfrm>
            <a:off x="548640" y="5943600"/>
            <a:ext cx="11064240" cy="457200"/>
          </a:xfrm>
          <a:prstGeom prst="rect">
            <a:avLst/>
          </a:prstGeom>
          <a:solidFill>
            <a:srgbClr val="F5F5F5"/>
          </a:solidFill>
          <a:ln w="6350">
            <a:solidFill>
              <a:srgbClr val="D0D0D0"/>
            </a:solidFill>
            <a:prstDash val="solid"/>
          </a:ln>
        </p:spPr>
      </p:sp>
      <p:sp>
        <p:nvSpPr>
          <p:cNvPr id="20" name="Text 18"/>
          <p:cNvSpPr/>
          <p:nvPr/>
        </p:nvSpPr>
        <p:spPr>
          <a:xfrm>
            <a:off x="731520" y="5943600"/>
            <a:ext cx="10698480" cy="457200"/>
          </a:xfrm>
          <a:prstGeom prst="rect">
            <a:avLst/>
          </a:prstGeom>
          <a:noFill/>
          <a:ln/>
        </p:spPr>
        <p:txBody>
          <a:bodyPr wrap="square" rtlCol="0" anchor="ctr"/>
          <a:lstStyle/>
          <a:p>
            <a:pPr algn="ctr" indent="0" marL="0">
              <a:buNone/>
            </a:pPr>
            <a:r>
              <a:rPr lang="en-US" sz="1100" i="1" dirty="0">
                <a:solidFill>
                  <a:srgbClr val="1A2B4A"/>
                </a:solidFill>
                <a:latin typeface="Arial" pitchFamily="34" charset="0"/>
                <a:ea typeface="Arial" pitchFamily="34" charset="-122"/>
                <a:cs typeface="Arial" pitchFamily="34" charset="-120"/>
              </a:rPr>
              <a:t>Modal Python runs the computation. TypeScript runs the product.</a:t>
            </a:r>
            <a:endParaRPr lang="en-US" sz="1100" dirty="0"/>
          </a:p>
        </p:txBody>
      </p:sp>
      <p:sp>
        <p:nvSpPr>
          <p:cNvPr id="21" name="Shape 19"/>
          <p:cNvSpPr/>
          <p:nvPr/>
        </p:nvSpPr>
        <p:spPr>
          <a:xfrm>
            <a:off x="457200" y="6473952"/>
            <a:ext cx="11277295" cy="0"/>
          </a:xfrm>
          <a:prstGeom prst="line">
            <a:avLst/>
          </a:prstGeom>
          <a:noFill/>
          <a:ln w="6350">
            <a:solidFill>
              <a:srgbClr val="CCCCCC"/>
            </a:solidFill>
            <a:prstDash val="solid"/>
          </a:ln>
        </p:spPr>
      </p:sp>
      <p:sp>
        <p:nvSpPr>
          <p:cNvPr id="22" name="Text 2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4/15</a:t>
            </a:r>
            <a:endParaRPr lang="en-US" sz="800" dirty="0"/>
          </a:p>
        </p:txBody>
      </p:sp>
      <p:sp>
        <p:nvSpPr>
          <p:cNvPr id="23" name="Text 2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Discover. Scan. Attack-Test. Map. Prove. Monitor.</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1691640" cy="2286000"/>
          </a:xfrm>
          <a:prstGeom prst="rect">
            <a:avLst/>
          </a:prstGeom>
          <a:solidFill>
            <a:srgbClr val="FFFFFF"/>
          </a:solidFill>
          <a:ln w="6350">
            <a:solidFill>
              <a:srgbClr val="D0D0D0"/>
            </a:solidFill>
            <a:prstDash val="solid"/>
          </a:ln>
        </p:spPr>
      </p:sp>
      <p:sp>
        <p:nvSpPr>
          <p:cNvPr id="5" name="Text 3"/>
          <p:cNvSpPr/>
          <p:nvPr/>
        </p:nvSpPr>
        <p:spPr>
          <a:xfrm>
            <a:off x="640080"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01</a:t>
            </a:r>
            <a:endParaRPr lang="en-US" sz="1400" dirty="0"/>
          </a:p>
        </p:txBody>
      </p:sp>
      <p:sp>
        <p:nvSpPr>
          <p:cNvPr id="6" name="Text 4"/>
          <p:cNvSpPr/>
          <p:nvPr/>
        </p:nvSpPr>
        <p:spPr>
          <a:xfrm>
            <a:off x="640080"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Discover</a:t>
            </a:r>
            <a:endParaRPr lang="en-US" sz="1200" dirty="0"/>
          </a:p>
        </p:txBody>
      </p:sp>
      <p:sp>
        <p:nvSpPr>
          <p:cNvPr id="7" name="Text 5"/>
          <p:cNvSpPr/>
          <p:nvPr/>
        </p:nvSpPr>
        <p:spPr>
          <a:xfrm>
            <a:off x="640080"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Register AI system in inventory</a:t>
            </a:r>
            <a:endParaRPr lang="en-US" sz="900" dirty="0"/>
          </a:p>
        </p:txBody>
      </p:sp>
      <p:sp>
        <p:nvSpPr>
          <p:cNvPr id="8" name="Text 6"/>
          <p:cNvSpPr/>
          <p:nvPr/>
        </p:nvSpPr>
        <p:spPr>
          <a:xfrm>
            <a:off x="640080"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API key sync, system metadata</a:t>
            </a:r>
            <a:endParaRPr lang="en-US" sz="800" dirty="0"/>
          </a:p>
        </p:txBody>
      </p:sp>
      <p:sp>
        <p:nvSpPr>
          <p:cNvPr id="9" name="Shape 7"/>
          <p:cNvSpPr/>
          <p:nvPr/>
        </p:nvSpPr>
        <p:spPr>
          <a:xfrm>
            <a:off x="2267712" y="2514600"/>
            <a:ext cx="146304" cy="0"/>
          </a:xfrm>
          <a:prstGeom prst="line">
            <a:avLst/>
          </a:prstGeom>
          <a:noFill/>
          <a:ln w="12700">
            <a:solidFill>
              <a:srgbClr val="999999"/>
            </a:solidFill>
            <a:prstDash val="solid"/>
            <a:tailEnd type="triangle"/>
          </a:ln>
        </p:spPr>
      </p:sp>
      <p:sp>
        <p:nvSpPr>
          <p:cNvPr id="10" name="Shape 8"/>
          <p:cNvSpPr/>
          <p:nvPr/>
        </p:nvSpPr>
        <p:spPr>
          <a:xfrm>
            <a:off x="2441448" y="1371600"/>
            <a:ext cx="1691640" cy="2286000"/>
          </a:xfrm>
          <a:prstGeom prst="rect">
            <a:avLst/>
          </a:prstGeom>
          <a:solidFill>
            <a:srgbClr val="FFFFFF"/>
          </a:solidFill>
          <a:ln w="6350">
            <a:solidFill>
              <a:srgbClr val="D0D0D0"/>
            </a:solidFill>
            <a:prstDash val="solid"/>
          </a:ln>
        </p:spPr>
      </p:sp>
      <p:sp>
        <p:nvSpPr>
          <p:cNvPr id="11" name="Text 9"/>
          <p:cNvSpPr/>
          <p:nvPr/>
        </p:nvSpPr>
        <p:spPr>
          <a:xfrm>
            <a:off x="2532888"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02</a:t>
            </a:r>
            <a:endParaRPr lang="en-US" sz="1400" dirty="0"/>
          </a:p>
        </p:txBody>
      </p:sp>
      <p:sp>
        <p:nvSpPr>
          <p:cNvPr id="12" name="Text 10"/>
          <p:cNvSpPr/>
          <p:nvPr/>
        </p:nvSpPr>
        <p:spPr>
          <a:xfrm>
            <a:off x="2532888"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Scan</a:t>
            </a:r>
            <a:endParaRPr lang="en-US" sz="1200" dirty="0"/>
          </a:p>
        </p:txBody>
      </p:sp>
      <p:sp>
        <p:nvSpPr>
          <p:cNvPr id="13" name="Text 11"/>
          <p:cNvSpPr/>
          <p:nvPr/>
        </p:nvSpPr>
        <p:spPr>
          <a:xfrm>
            <a:off x="2532888"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analysis on codebase</a:t>
            </a:r>
            <a:endParaRPr lang="en-US" sz="900" dirty="0"/>
          </a:p>
        </p:txBody>
      </p:sp>
      <p:sp>
        <p:nvSpPr>
          <p:cNvPr id="14" name="Text 12"/>
          <p:cNvSpPr/>
          <p:nvPr/>
        </p:nvSpPr>
        <p:spPr>
          <a:xfrm>
            <a:off x="2532888"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91 Semgrep + 15 TS + 82 rulepack</a:t>
            </a:r>
            <a:endParaRPr lang="en-US" sz="800" dirty="0"/>
          </a:p>
        </p:txBody>
      </p:sp>
      <p:sp>
        <p:nvSpPr>
          <p:cNvPr id="15" name="Shape 13"/>
          <p:cNvSpPr/>
          <p:nvPr/>
        </p:nvSpPr>
        <p:spPr>
          <a:xfrm>
            <a:off x="4160520" y="2514600"/>
            <a:ext cx="146304" cy="0"/>
          </a:xfrm>
          <a:prstGeom prst="line">
            <a:avLst/>
          </a:prstGeom>
          <a:noFill/>
          <a:ln w="12700">
            <a:solidFill>
              <a:srgbClr val="999999"/>
            </a:solidFill>
            <a:prstDash val="solid"/>
            <a:tailEnd type="triangle"/>
          </a:ln>
        </p:spPr>
      </p:sp>
      <p:sp>
        <p:nvSpPr>
          <p:cNvPr id="16" name="Shape 14"/>
          <p:cNvSpPr/>
          <p:nvPr/>
        </p:nvSpPr>
        <p:spPr>
          <a:xfrm>
            <a:off x="4334256" y="1371600"/>
            <a:ext cx="1691640" cy="2286000"/>
          </a:xfrm>
          <a:prstGeom prst="rect">
            <a:avLst/>
          </a:prstGeom>
          <a:solidFill>
            <a:srgbClr val="FFFFFF"/>
          </a:solidFill>
          <a:ln w="6350">
            <a:solidFill>
              <a:srgbClr val="D0D0D0"/>
            </a:solidFill>
            <a:prstDash val="solid"/>
          </a:ln>
        </p:spPr>
      </p:sp>
      <p:sp>
        <p:nvSpPr>
          <p:cNvPr id="17" name="Text 15"/>
          <p:cNvSpPr/>
          <p:nvPr/>
        </p:nvSpPr>
        <p:spPr>
          <a:xfrm>
            <a:off x="4425696"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03</a:t>
            </a:r>
            <a:endParaRPr lang="en-US" sz="1400" dirty="0"/>
          </a:p>
        </p:txBody>
      </p:sp>
      <p:sp>
        <p:nvSpPr>
          <p:cNvPr id="18" name="Text 16"/>
          <p:cNvSpPr/>
          <p:nvPr/>
        </p:nvSpPr>
        <p:spPr>
          <a:xfrm>
            <a:off x="4425696"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Attack-Test</a:t>
            </a:r>
            <a:endParaRPr lang="en-US" sz="1200" dirty="0"/>
          </a:p>
        </p:txBody>
      </p:sp>
      <p:sp>
        <p:nvSpPr>
          <p:cNvPr id="19" name="Text 17"/>
          <p:cNvSpPr/>
          <p:nvPr/>
        </p:nvSpPr>
        <p:spPr>
          <a:xfrm>
            <a:off x="4425696"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Runtime adversarial testing</a:t>
            </a:r>
            <a:endParaRPr lang="en-US" sz="900" dirty="0"/>
          </a:p>
        </p:txBody>
      </p:sp>
      <p:sp>
        <p:nvSpPr>
          <p:cNvPr id="20" name="Text 18"/>
          <p:cNvSpPr/>
          <p:nvPr/>
        </p:nvSpPr>
        <p:spPr>
          <a:xfrm>
            <a:off x="4425696"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269 templates, 14 safety properties</a:t>
            </a:r>
            <a:endParaRPr lang="en-US" sz="800" dirty="0"/>
          </a:p>
        </p:txBody>
      </p:sp>
      <p:sp>
        <p:nvSpPr>
          <p:cNvPr id="21" name="Shape 19"/>
          <p:cNvSpPr/>
          <p:nvPr/>
        </p:nvSpPr>
        <p:spPr>
          <a:xfrm>
            <a:off x="6053328" y="2514600"/>
            <a:ext cx="146304" cy="0"/>
          </a:xfrm>
          <a:prstGeom prst="line">
            <a:avLst/>
          </a:prstGeom>
          <a:noFill/>
          <a:ln w="12700">
            <a:solidFill>
              <a:srgbClr val="999999"/>
            </a:solidFill>
            <a:prstDash val="solid"/>
            <a:tailEnd type="triangle"/>
          </a:ln>
        </p:spPr>
      </p:sp>
      <p:sp>
        <p:nvSpPr>
          <p:cNvPr id="22" name="Shape 20"/>
          <p:cNvSpPr/>
          <p:nvPr/>
        </p:nvSpPr>
        <p:spPr>
          <a:xfrm>
            <a:off x="6227064" y="1371600"/>
            <a:ext cx="1691640" cy="2286000"/>
          </a:xfrm>
          <a:prstGeom prst="rect">
            <a:avLst/>
          </a:prstGeom>
          <a:solidFill>
            <a:srgbClr val="FFFFFF"/>
          </a:solidFill>
          <a:ln w="6350">
            <a:solidFill>
              <a:srgbClr val="D0D0D0"/>
            </a:solidFill>
            <a:prstDash val="solid"/>
          </a:ln>
        </p:spPr>
      </p:sp>
      <p:sp>
        <p:nvSpPr>
          <p:cNvPr id="23" name="Text 21"/>
          <p:cNvSpPr/>
          <p:nvPr/>
        </p:nvSpPr>
        <p:spPr>
          <a:xfrm>
            <a:off x="6318504"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04</a:t>
            </a:r>
            <a:endParaRPr lang="en-US" sz="1400" dirty="0"/>
          </a:p>
        </p:txBody>
      </p:sp>
      <p:sp>
        <p:nvSpPr>
          <p:cNvPr id="24" name="Text 22"/>
          <p:cNvSpPr/>
          <p:nvPr/>
        </p:nvSpPr>
        <p:spPr>
          <a:xfrm>
            <a:off x="6318504"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Map</a:t>
            </a:r>
            <a:endParaRPr lang="en-US" sz="1200" dirty="0"/>
          </a:p>
        </p:txBody>
      </p:sp>
      <p:sp>
        <p:nvSpPr>
          <p:cNvPr id="25" name="Text 23"/>
          <p:cNvSpPr/>
          <p:nvPr/>
        </p:nvSpPr>
        <p:spPr>
          <a:xfrm>
            <a:off x="6318504"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Findings → control mappings</a:t>
            </a:r>
            <a:endParaRPr lang="en-US" sz="900" dirty="0"/>
          </a:p>
        </p:txBody>
      </p:sp>
      <p:sp>
        <p:nvSpPr>
          <p:cNvPr id="26" name="Text 24"/>
          <p:cNvSpPr/>
          <p:nvPr/>
        </p:nvSpPr>
        <p:spPr>
          <a:xfrm>
            <a:off x="6318504"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SOC2, ISO 27001:2022, OWASP, NIST AI RMF 1.0</a:t>
            </a:r>
            <a:endParaRPr lang="en-US" sz="800" dirty="0"/>
          </a:p>
        </p:txBody>
      </p:sp>
      <p:sp>
        <p:nvSpPr>
          <p:cNvPr id="27" name="Shape 25"/>
          <p:cNvSpPr/>
          <p:nvPr/>
        </p:nvSpPr>
        <p:spPr>
          <a:xfrm>
            <a:off x="7946136" y="2514600"/>
            <a:ext cx="146304" cy="0"/>
          </a:xfrm>
          <a:prstGeom prst="line">
            <a:avLst/>
          </a:prstGeom>
          <a:noFill/>
          <a:ln w="12700">
            <a:solidFill>
              <a:srgbClr val="999999"/>
            </a:solidFill>
            <a:prstDash val="solid"/>
            <a:tailEnd type="triangle"/>
          </a:ln>
        </p:spPr>
      </p:sp>
      <p:sp>
        <p:nvSpPr>
          <p:cNvPr id="28" name="Shape 26"/>
          <p:cNvSpPr/>
          <p:nvPr/>
        </p:nvSpPr>
        <p:spPr>
          <a:xfrm>
            <a:off x="8119872" y="1371600"/>
            <a:ext cx="1691640" cy="2286000"/>
          </a:xfrm>
          <a:prstGeom prst="rect">
            <a:avLst/>
          </a:prstGeom>
          <a:solidFill>
            <a:srgbClr val="FFFFFF"/>
          </a:solidFill>
          <a:ln w="6350">
            <a:solidFill>
              <a:srgbClr val="D0D0D0"/>
            </a:solidFill>
            <a:prstDash val="solid"/>
          </a:ln>
        </p:spPr>
      </p:sp>
      <p:sp>
        <p:nvSpPr>
          <p:cNvPr id="29" name="Text 27"/>
          <p:cNvSpPr/>
          <p:nvPr/>
        </p:nvSpPr>
        <p:spPr>
          <a:xfrm>
            <a:off x="8211312"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05</a:t>
            </a:r>
            <a:endParaRPr lang="en-US" sz="1400" dirty="0"/>
          </a:p>
        </p:txBody>
      </p:sp>
      <p:sp>
        <p:nvSpPr>
          <p:cNvPr id="30" name="Text 28"/>
          <p:cNvSpPr/>
          <p:nvPr/>
        </p:nvSpPr>
        <p:spPr>
          <a:xfrm>
            <a:off x="8211312"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Prove</a:t>
            </a:r>
            <a:endParaRPr lang="en-US" sz="1200" dirty="0"/>
          </a:p>
        </p:txBody>
      </p:sp>
      <p:sp>
        <p:nvSpPr>
          <p:cNvPr id="31" name="Text 29"/>
          <p:cNvSpPr/>
          <p:nvPr/>
        </p:nvSpPr>
        <p:spPr>
          <a:xfrm>
            <a:off x="8211312"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Evidence manifest + audit package</a:t>
            </a:r>
            <a:endParaRPr lang="en-US" sz="900" dirty="0"/>
          </a:p>
        </p:txBody>
      </p:sp>
      <p:sp>
        <p:nvSpPr>
          <p:cNvPr id="32" name="Text 30"/>
          <p:cNvSpPr/>
          <p:nvPr/>
        </p:nvSpPr>
        <p:spPr>
          <a:xfrm>
            <a:off x="8211312"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Hash-chained, fingerprinted</a:t>
            </a:r>
            <a:endParaRPr lang="en-US" sz="800" dirty="0"/>
          </a:p>
        </p:txBody>
      </p:sp>
      <p:sp>
        <p:nvSpPr>
          <p:cNvPr id="33" name="Shape 31"/>
          <p:cNvSpPr/>
          <p:nvPr/>
        </p:nvSpPr>
        <p:spPr>
          <a:xfrm>
            <a:off x="9838944" y="2514600"/>
            <a:ext cx="146304" cy="0"/>
          </a:xfrm>
          <a:prstGeom prst="line">
            <a:avLst/>
          </a:prstGeom>
          <a:noFill/>
          <a:ln w="12700">
            <a:solidFill>
              <a:srgbClr val="999999"/>
            </a:solidFill>
            <a:prstDash val="solid"/>
            <a:tailEnd type="triangle"/>
          </a:ln>
        </p:spPr>
      </p:sp>
      <p:sp>
        <p:nvSpPr>
          <p:cNvPr id="34" name="Shape 32"/>
          <p:cNvSpPr/>
          <p:nvPr/>
        </p:nvSpPr>
        <p:spPr>
          <a:xfrm>
            <a:off x="10012680" y="1371600"/>
            <a:ext cx="1691640" cy="2286000"/>
          </a:xfrm>
          <a:prstGeom prst="rect">
            <a:avLst/>
          </a:prstGeom>
          <a:solidFill>
            <a:srgbClr val="FFFFFF"/>
          </a:solidFill>
          <a:ln w="6350">
            <a:solidFill>
              <a:srgbClr val="D0D0D0"/>
            </a:solidFill>
            <a:prstDash val="solid"/>
          </a:ln>
        </p:spPr>
      </p:sp>
      <p:sp>
        <p:nvSpPr>
          <p:cNvPr id="35" name="Text 33"/>
          <p:cNvSpPr/>
          <p:nvPr/>
        </p:nvSpPr>
        <p:spPr>
          <a:xfrm>
            <a:off x="10104120" y="1463040"/>
            <a:ext cx="731520" cy="274320"/>
          </a:xfrm>
          <a:prstGeom prst="rect">
            <a:avLst/>
          </a:prstGeom>
          <a:noFill/>
          <a:ln/>
        </p:spPr>
        <p:txBody>
          <a:bodyPr wrap="square" rtlCol="0" anchor="ctr"/>
          <a:lstStyle/>
          <a:p>
            <a:pPr indent="0" marL="0">
              <a:buNone/>
            </a:pPr>
            <a:r>
              <a:rPr lang="en-US" sz="1400" b="1" dirty="0">
                <a:solidFill>
                  <a:srgbClr val="1A2B4A"/>
                </a:solidFill>
                <a:latin typeface="Arial" pitchFamily="34" charset="0"/>
                <a:ea typeface="Arial" pitchFamily="34" charset="-122"/>
                <a:cs typeface="Arial" pitchFamily="34" charset="-120"/>
              </a:rPr>
              <a:t>06</a:t>
            </a:r>
            <a:endParaRPr lang="en-US" sz="1400" dirty="0"/>
          </a:p>
        </p:txBody>
      </p:sp>
      <p:sp>
        <p:nvSpPr>
          <p:cNvPr id="36" name="Text 34"/>
          <p:cNvSpPr/>
          <p:nvPr/>
        </p:nvSpPr>
        <p:spPr>
          <a:xfrm>
            <a:off x="10104120" y="1783080"/>
            <a:ext cx="150876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Monitor</a:t>
            </a:r>
            <a:endParaRPr lang="en-US" sz="1200" dirty="0"/>
          </a:p>
        </p:txBody>
      </p:sp>
      <p:sp>
        <p:nvSpPr>
          <p:cNvPr id="37" name="Text 35"/>
          <p:cNvSpPr/>
          <p:nvPr/>
        </p:nvSpPr>
        <p:spPr>
          <a:xfrm>
            <a:off x="10104120" y="2148840"/>
            <a:ext cx="1508760" cy="54864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Compliance Twin drift detection</a:t>
            </a:r>
            <a:endParaRPr lang="en-US" sz="900" dirty="0"/>
          </a:p>
        </p:txBody>
      </p:sp>
      <p:sp>
        <p:nvSpPr>
          <p:cNvPr id="38" name="Text 36"/>
          <p:cNvSpPr/>
          <p:nvPr/>
        </p:nvSpPr>
        <p:spPr>
          <a:xfrm>
            <a:off x="10104120" y="2743200"/>
            <a:ext cx="150876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Delta engine, anomaly detection</a:t>
            </a:r>
            <a:endParaRPr lang="en-US" sz="800" dirty="0"/>
          </a:p>
        </p:txBody>
      </p:sp>
      <p:sp>
        <p:nvSpPr>
          <p:cNvPr id="39" name="Shape 37"/>
          <p:cNvSpPr/>
          <p:nvPr/>
        </p:nvSpPr>
        <p:spPr>
          <a:xfrm>
            <a:off x="5943600" y="3749040"/>
            <a:ext cx="0" cy="274320"/>
          </a:xfrm>
          <a:prstGeom prst="line">
            <a:avLst/>
          </a:prstGeom>
          <a:noFill/>
          <a:ln w="12700">
            <a:solidFill>
              <a:srgbClr val="999999"/>
            </a:solidFill>
            <a:prstDash val="solid"/>
            <a:tailEnd type="triangle"/>
          </a:ln>
        </p:spPr>
      </p:sp>
      <p:sp>
        <p:nvSpPr>
          <p:cNvPr id="40" name="Text 38"/>
          <p:cNvSpPr/>
          <p:nvPr/>
        </p:nvSpPr>
        <p:spPr>
          <a:xfrm>
            <a:off x="548640" y="3977640"/>
            <a:ext cx="54864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SUPPORTING LIFECYCLE ACTIONS</a:t>
            </a:r>
            <a:endParaRPr lang="en-US" sz="800" dirty="0"/>
          </a:p>
        </p:txBody>
      </p:sp>
      <p:sp>
        <p:nvSpPr>
          <p:cNvPr id="41" name="Shape 39"/>
          <p:cNvSpPr/>
          <p:nvPr/>
        </p:nvSpPr>
        <p:spPr>
          <a:xfrm>
            <a:off x="548640" y="4206240"/>
            <a:ext cx="2606040" cy="1280160"/>
          </a:xfrm>
          <a:prstGeom prst="rect">
            <a:avLst/>
          </a:prstGeom>
          <a:solidFill>
            <a:srgbClr val="F5F5F5"/>
          </a:solidFill>
          <a:ln w="6350">
            <a:solidFill>
              <a:srgbClr val="1A2B4A"/>
            </a:solidFill>
            <a:prstDash val="solid"/>
          </a:ln>
        </p:spPr>
      </p:sp>
      <p:sp>
        <p:nvSpPr>
          <p:cNvPr id="42" name="Text 40"/>
          <p:cNvSpPr/>
          <p:nvPr/>
        </p:nvSpPr>
        <p:spPr>
          <a:xfrm>
            <a:off x="68580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Score</a:t>
            </a:r>
            <a:endParaRPr lang="en-US" sz="1200" dirty="0"/>
          </a:p>
        </p:txBody>
      </p:sp>
      <p:sp>
        <p:nvSpPr>
          <p:cNvPr id="43" name="Text 41"/>
          <p:cNvSpPr/>
          <p:nvPr/>
        </p:nvSpPr>
        <p:spPr>
          <a:xfrm>
            <a:off x="68580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Decision Integrity Score (DIS) · 6 pipeline nodes, weighted</a:t>
            </a:r>
            <a:endParaRPr lang="en-US" sz="900" dirty="0"/>
          </a:p>
        </p:txBody>
      </p:sp>
      <p:sp>
        <p:nvSpPr>
          <p:cNvPr id="44" name="Shape 42"/>
          <p:cNvSpPr/>
          <p:nvPr/>
        </p:nvSpPr>
        <p:spPr>
          <a:xfrm>
            <a:off x="3200400" y="4846320"/>
            <a:ext cx="182880" cy="0"/>
          </a:xfrm>
          <a:prstGeom prst="line">
            <a:avLst/>
          </a:prstGeom>
          <a:noFill/>
          <a:ln w="12700">
            <a:solidFill>
              <a:srgbClr val="999999"/>
            </a:solidFill>
            <a:prstDash val="solid"/>
            <a:tailEnd type="triangle"/>
          </a:ln>
        </p:spPr>
      </p:sp>
      <p:sp>
        <p:nvSpPr>
          <p:cNvPr id="45" name="Shape 43"/>
          <p:cNvSpPr/>
          <p:nvPr/>
        </p:nvSpPr>
        <p:spPr>
          <a:xfrm>
            <a:off x="3429000" y="4206240"/>
            <a:ext cx="2606040" cy="1280160"/>
          </a:xfrm>
          <a:prstGeom prst="rect">
            <a:avLst/>
          </a:prstGeom>
          <a:solidFill>
            <a:srgbClr val="F5F5F5"/>
          </a:solidFill>
          <a:ln w="6350">
            <a:solidFill>
              <a:srgbClr val="1A2B4A"/>
            </a:solidFill>
            <a:prstDash val="solid"/>
          </a:ln>
        </p:spPr>
      </p:sp>
      <p:sp>
        <p:nvSpPr>
          <p:cNvPr id="46" name="Text 44"/>
          <p:cNvSpPr/>
          <p:nvPr/>
        </p:nvSpPr>
        <p:spPr>
          <a:xfrm>
            <a:off x="356616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Review</a:t>
            </a:r>
            <a:endParaRPr lang="en-US" sz="1200" dirty="0"/>
          </a:p>
        </p:txBody>
      </p:sp>
      <p:sp>
        <p:nvSpPr>
          <p:cNvPr id="47" name="Text 45"/>
          <p:cNvSpPr/>
          <p:nvPr/>
        </p:nvSpPr>
        <p:spPr>
          <a:xfrm>
            <a:off x="356616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Human reviewer sign-off · signature hash, IP, user-agent</a:t>
            </a:r>
            <a:endParaRPr lang="en-US" sz="900" dirty="0"/>
          </a:p>
        </p:txBody>
      </p:sp>
      <p:sp>
        <p:nvSpPr>
          <p:cNvPr id="48" name="Shape 46"/>
          <p:cNvSpPr/>
          <p:nvPr/>
        </p:nvSpPr>
        <p:spPr>
          <a:xfrm>
            <a:off x="6080760" y="4846320"/>
            <a:ext cx="182880" cy="0"/>
          </a:xfrm>
          <a:prstGeom prst="line">
            <a:avLst/>
          </a:prstGeom>
          <a:noFill/>
          <a:ln w="12700">
            <a:solidFill>
              <a:srgbClr val="999999"/>
            </a:solidFill>
            <a:prstDash val="solid"/>
            <a:tailEnd type="triangle"/>
          </a:ln>
        </p:spPr>
      </p:sp>
      <p:sp>
        <p:nvSpPr>
          <p:cNvPr id="49" name="Shape 47"/>
          <p:cNvSpPr/>
          <p:nvPr/>
        </p:nvSpPr>
        <p:spPr>
          <a:xfrm>
            <a:off x="6309360" y="4206240"/>
            <a:ext cx="2606040" cy="1280160"/>
          </a:xfrm>
          <a:prstGeom prst="rect">
            <a:avLst/>
          </a:prstGeom>
          <a:solidFill>
            <a:srgbClr val="F5F5F5"/>
          </a:solidFill>
          <a:ln w="6350">
            <a:solidFill>
              <a:srgbClr val="1A2B4A"/>
            </a:solidFill>
            <a:prstDash val="solid"/>
          </a:ln>
        </p:spPr>
      </p:sp>
      <p:sp>
        <p:nvSpPr>
          <p:cNvPr id="50" name="Text 48"/>
          <p:cNvSpPr/>
          <p:nvPr/>
        </p:nvSpPr>
        <p:spPr>
          <a:xfrm>
            <a:off x="644652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Distribute</a:t>
            </a:r>
            <a:endParaRPr lang="en-US" sz="1200" dirty="0"/>
          </a:p>
        </p:txBody>
      </p:sp>
      <p:sp>
        <p:nvSpPr>
          <p:cNvPr id="51" name="Text 49"/>
          <p:cNvSpPr/>
          <p:nvPr/>
        </p:nvSpPr>
        <p:spPr>
          <a:xfrm>
            <a:off x="644652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Trust artifact + verification API · HMAC-signed, revocation</a:t>
            </a:r>
            <a:endParaRPr lang="en-US" sz="900" dirty="0"/>
          </a:p>
        </p:txBody>
      </p:sp>
      <p:sp>
        <p:nvSpPr>
          <p:cNvPr id="52" name="Shape 50"/>
          <p:cNvSpPr/>
          <p:nvPr/>
        </p:nvSpPr>
        <p:spPr>
          <a:xfrm>
            <a:off x="8961120" y="4846320"/>
            <a:ext cx="182880" cy="0"/>
          </a:xfrm>
          <a:prstGeom prst="line">
            <a:avLst/>
          </a:prstGeom>
          <a:noFill/>
          <a:ln w="12700">
            <a:solidFill>
              <a:srgbClr val="999999"/>
            </a:solidFill>
            <a:prstDash val="solid"/>
            <a:tailEnd type="triangle"/>
          </a:ln>
        </p:spPr>
      </p:sp>
      <p:sp>
        <p:nvSpPr>
          <p:cNvPr id="53" name="Shape 51"/>
          <p:cNvSpPr/>
          <p:nvPr/>
        </p:nvSpPr>
        <p:spPr>
          <a:xfrm>
            <a:off x="9189720" y="4206240"/>
            <a:ext cx="2606040" cy="1280160"/>
          </a:xfrm>
          <a:prstGeom prst="rect">
            <a:avLst/>
          </a:prstGeom>
          <a:solidFill>
            <a:srgbClr val="F5F5F5"/>
          </a:solidFill>
          <a:ln w="6350">
            <a:solidFill>
              <a:srgbClr val="1A2B4A"/>
            </a:solidFill>
            <a:prstDash val="solid"/>
          </a:ln>
        </p:spPr>
      </p:sp>
      <p:sp>
        <p:nvSpPr>
          <p:cNvPr id="54" name="Text 52"/>
          <p:cNvSpPr/>
          <p:nvPr/>
        </p:nvSpPr>
        <p:spPr>
          <a:xfrm>
            <a:off x="9326880" y="4297680"/>
            <a:ext cx="233172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Revalidate</a:t>
            </a:r>
            <a:endParaRPr lang="en-US" sz="1200" dirty="0"/>
          </a:p>
        </p:txBody>
      </p:sp>
      <p:sp>
        <p:nvSpPr>
          <p:cNvPr id="55" name="Text 53"/>
          <p:cNvSpPr/>
          <p:nvPr/>
        </p:nvSpPr>
        <p:spPr>
          <a:xfrm>
            <a:off x="9326880" y="4663440"/>
            <a:ext cx="233172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Scheduled re-verification + drift · cron-based, drift alerts</a:t>
            </a:r>
            <a:endParaRPr lang="en-US" sz="900" dirty="0"/>
          </a:p>
        </p:txBody>
      </p:sp>
      <p:sp>
        <p:nvSpPr>
          <p:cNvPr id="56" name="Text 54"/>
          <p:cNvSpPr/>
          <p:nvPr/>
        </p:nvSpPr>
        <p:spPr>
          <a:xfrm>
            <a:off x="548640" y="594360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Each step produces verifiable evidence anchored to the system, the engine version, and the point in time it was generated.</a:t>
            </a:r>
            <a:endParaRPr lang="en-US" sz="1100" dirty="0"/>
          </a:p>
        </p:txBody>
      </p:sp>
      <p:sp>
        <p:nvSpPr>
          <p:cNvPr id="57" name="Shape 55"/>
          <p:cNvSpPr/>
          <p:nvPr/>
        </p:nvSpPr>
        <p:spPr>
          <a:xfrm>
            <a:off x="457200" y="6473952"/>
            <a:ext cx="11277295" cy="0"/>
          </a:xfrm>
          <a:prstGeom prst="line">
            <a:avLst/>
          </a:prstGeom>
          <a:noFill/>
          <a:ln w="6350">
            <a:solidFill>
              <a:srgbClr val="CCCCCC"/>
            </a:solidFill>
            <a:prstDash val="solid"/>
          </a:ln>
        </p:spPr>
      </p:sp>
      <p:sp>
        <p:nvSpPr>
          <p:cNvPr id="58" name="Text 5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5/15</a:t>
            </a:r>
            <a:endParaRPr lang="en-US" sz="800" dirty="0"/>
          </a:p>
        </p:txBody>
      </p:sp>
      <p:sp>
        <p:nvSpPr>
          <p:cNvPr id="59" name="Text 5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Traditional application testing stops before the full AI decision path.</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280160"/>
            <a:ext cx="1554480" cy="457200"/>
          </a:xfrm>
          <a:prstGeom prst="rect">
            <a:avLst/>
          </a:prstGeom>
          <a:solidFill>
            <a:srgbClr val="F5F5F5"/>
          </a:solidFill>
          <a:ln w="6350">
            <a:solidFill>
              <a:srgbClr val="1A2B4A"/>
            </a:solidFill>
            <a:prstDash val="solid"/>
          </a:ln>
        </p:spPr>
      </p:sp>
      <p:sp>
        <p:nvSpPr>
          <p:cNvPr id="5" name="Text 3"/>
          <p:cNvSpPr/>
          <p:nvPr/>
        </p:nvSpPr>
        <p:spPr>
          <a:xfrm>
            <a:off x="54864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INPUT</a:t>
            </a:r>
            <a:endParaRPr lang="en-US" sz="1000" dirty="0"/>
          </a:p>
        </p:txBody>
      </p:sp>
      <p:sp>
        <p:nvSpPr>
          <p:cNvPr id="6" name="Shape 4"/>
          <p:cNvSpPr/>
          <p:nvPr/>
        </p:nvSpPr>
        <p:spPr>
          <a:xfrm>
            <a:off x="2121408" y="1508760"/>
            <a:ext cx="192024" cy="0"/>
          </a:xfrm>
          <a:prstGeom prst="line">
            <a:avLst/>
          </a:prstGeom>
          <a:noFill/>
          <a:ln w="12700">
            <a:solidFill>
              <a:srgbClr val="999999"/>
            </a:solidFill>
            <a:prstDash val="solid"/>
            <a:tailEnd type="triangle"/>
          </a:ln>
        </p:spPr>
      </p:sp>
      <p:sp>
        <p:nvSpPr>
          <p:cNvPr id="7" name="Shape 5"/>
          <p:cNvSpPr/>
          <p:nvPr/>
        </p:nvSpPr>
        <p:spPr>
          <a:xfrm>
            <a:off x="2331720" y="1280160"/>
            <a:ext cx="1554480" cy="457200"/>
          </a:xfrm>
          <a:prstGeom prst="rect">
            <a:avLst/>
          </a:prstGeom>
          <a:solidFill>
            <a:srgbClr val="F5F5F5"/>
          </a:solidFill>
          <a:ln w="6350">
            <a:solidFill>
              <a:srgbClr val="1A2B4A"/>
            </a:solidFill>
            <a:prstDash val="solid"/>
          </a:ln>
        </p:spPr>
      </p:sp>
      <p:sp>
        <p:nvSpPr>
          <p:cNvPr id="8" name="Text 6"/>
          <p:cNvSpPr/>
          <p:nvPr/>
        </p:nvSpPr>
        <p:spPr>
          <a:xfrm>
            <a:off x="233172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PROMPT</a:t>
            </a:r>
            <a:endParaRPr lang="en-US" sz="1000" dirty="0"/>
          </a:p>
        </p:txBody>
      </p:sp>
      <p:sp>
        <p:nvSpPr>
          <p:cNvPr id="9" name="Shape 7"/>
          <p:cNvSpPr/>
          <p:nvPr/>
        </p:nvSpPr>
        <p:spPr>
          <a:xfrm>
            <a:off x="3904488" y="1508760"/>
            <a:ext cx="192024" cy="0"/>
          </a:xfrm>
          <a:prstGeom prst="line">
            <a:avLst/>
          </a:prstGeom>
          <a:noFill/>
          <a:ln w="12700">
            <a:solidFill>
              <a:srgbClr val="999999"/>
            </a:solidFill>
            <a:prstDash val="solid"/>
            <a:tailEnd type="triangle"/>
          </a:ln>
        </p:spPr>
      </p:sp>
      <p:sp>
        <p:nvSpPr>
          <p:cNvPr id="10" name="Shape 8"/>
          <p:cNvSpPr/>
          <p:nvPr/>
        </p:nvSpPr>
        <p:spPr>
          <a:xfrm>
            <a:off x="4114800" y="1280160"/>
            <a:ext cx="1554480" cy="457200"/>
          </a:xfrm>
          <a:prstGeom prst="rect">
            <a:avLst/>
          </a:prstGeom>
          <a:solidFill>
            <a:srgbClr val="F5F5F5"/>
          </a:solidFill>
          <a:ln w="6350">
            <a:solidFill>
              <a:srgbClr val="1A2B4A"/>
            </a:solidFill>
            <a:prstDash val="solid"/>
          </a:ln>
        </p:spPr>
      </p:sp>
      <p:sp>
        <p:nvSpPr>
          <p:cNvPr id="11" name="Text 9"/>
          <p:cNvSpPr/>
          <p:nvPr/>
        </p:nvSpPr>
        <p:spPr>
          <a:xfrm>
            <a:off x="411480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RETRIEVAL</a:t>
            </a:r>
            <a:endParaRPr lang="en-US" sz="1000" dirty="0"/>
          </a:p>
        </p:txBody>
      </p:sp>
      <p:sp>
        <p:nvSpPr>
          <p:cNvPr id="12" name="Shape 10"/>
          <p:cNvSpPr/>
          <p:nvPr/>
        </p:nvSpPr>
        <p:spPr>
          <a:xfrm>
            <a:off x="5687568" y="1508760"/>
            <a:ext cx="192024" cy="0"/>
          </a:xfrm>
          <a:prstGeom prst="line">
            <a:avLst/>
          </a:prstGeom>
          <a:noFill/>
          <a:ln w="12700">
            <a:solidFill>
              <a:srgbClr val="999999"/>
            </a:solidFill>
            <a:prstDash val="solid"/>
            <a:tailEnd type="triangle"/>
          </a:ln>
        </p:spPr>
      </p:sp>
      <p:sp>
        <p:nvSpPr>
          <p:cNvPr id="13" name="Shape 11"/>
          <p:cNvSpPr/>
          <p:nvPr/>
        </p:nvSpPr>
        <p:spPr>
          <a:xfrm>
            <a:off x="5897880" y="1280160"/>
            <a:ext cx="1554480" cy="457200"/>
          </a:xfrm>
          <a:prstGeom prst="rect">
            <a:avLst/>
          </a:prstGeom>
          <a:solidFill>
            <a:srgbClr val="F5F5F5"/>
          </a:solidFill>
          <a:ln w="6350">
            <a:solidFill>
              <a:srgbClr val="1A2B4A"/>
            </a:solidFill>
            <a:prstDash val="solid"/>
          </a:ln>
        </p:spPr>
      </p:sp>
      <p:sp>
        <p:nvSpPr>
          <p:cNvPr id="14" name="Text 12"/>
          <p:cNvSpPr/>
          <p:nvPr/>
        </p:nvSpPr>
        <p:spPr>
          <a:xfrm>
            <a:off x="589788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TOOLS</a:t>
            </a:r>
            <a:endParaRPr lang="en-US" sz="1000" dirty="0"/>
          </a:p>
        </p:txBody>
      </p:sp>
      <p:sp>
        <p:nvSpPr>
          <p:cNvPr id="15" name="Shape 13"/>
          <p:cNvSpPr/>
          <p:nvPr/>
        </p:nvSpPr>
        <p:spPr>
          <a:xfrm>
            <a:off x="7470648" y="1508760"/>
            <a:ext cx="192024" cy="0"/>
          </a:xfrm>
          <a:prstGeom prst="line">
            <a:avLst/>
          </a:prstGeom>
          <a:noFill/>
          <a:ln w="12700">
            <a:solidFill>
              <a:srgbClr val="999999"/>
            </a:solidFill>
            <a:prstDash val="solid"/>
            <a:tailEnd type="triangle"/>
          </a:ln>
        </p:spPr>
      </p:sp>
      <p:sp>
        <p:nvSpPr>
          <p:cNvPr id="16" name="Shape 14"/>
          <p:cNvSpPr/>
          <p:nvPr/>
        </p:nvSpPr>
        <p:spPr>
          <a:xfrm>
            <a:off x="7680960" y="1280160"/>
            <a:ext cx="1554480" cy="457200"/>
          </a:xfrm>
          <a:prstGeom prst="rect">
            <a:avLst/>
          </a:prstGeom>
          <a:solidFill>
            <a:srgbClr val="F5F5F5"/>
          </a:solidFill>
          <a:ln w="6350">
            <a:solidFill>
              <a:srgbClr val="1A2B4A"/>
            </a:solidFill>
            <a:prstDash val="solid"/>
          </a:ln>
        </p:spPr>
      </p:sp>
      <p:sp>
        <p:nvSpPr>
          <p:cNvPr id="17" name="Text 15"/>
          <p:cNvSpPr/>
          <p:nvPr/>
        </p:nvSpPr>
        <p:spPr>
          <a:xfrm>
            <a:off x="768096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MODEL</a:t>
            </a:r>
            <a:endParaRPr lang="en-US" sz="1000" dirty="0"/>
          </a:p>
        </p:txBody>
      </p:sp>
      <p:sp>
        <p:nvSpPr>
          <p:cNvPr id="18" name="Shape 16"/>
          <p:cNvSpPr/>
          <p:nvPr/>
        </p:nvSpPr>
        <p:spPr>
          <a:xfrm>
            <a:off x="9253728" y="1508760"/>
            <a:ext cx="192024" cy="0"/>
          </a:xfrm>
          <a:prstGeom prst="line">
            <a:avLst/>
          </a:prstGeom>
          <a:noFill/>
          <a:ln w="12700">
            <a:solidFill>
              <a:srgbClr val="999999"/>
            </a:solidFill>
            <a:prstDash val="solid"/>
            <a:tailEnd type="triangle"/>
          </a:ln>
        </p:spPr>
      </p:sp>
      <p:sp>
        <p:nvSpPr>
          <p:cNvPr id="19" name="Shape 17"/>
          <p:cNvSpPr/>
          <p:nvPr/>
        </p:nvSpPr>
        <p:spPr>
          <a:xfrm>
            <a:off x="9464040" y="1280160"/>
            <a:ext cx="1554480" cy="457200"/>
          </a:xfrm>
          <a:prstGeom prst="rect">
            <a:avLst/>
          </a:prstGeom>
          <a:solidFill>
            <a:srgbClr val="F5F5F5"/>
          </a:solidFill>
          <a:ln w="6350">
            <a:solidFill>
              <a:srgbClr val="1A2B4A"/>
            </a:solidFill>
            <a:prstDash val="solid"/>
          </a:ln>
        </p:spPr>
      </p:sp>
      <p:sp>
        <p:nvSpPr>
          <p:cNvPr id="20" name="Text 18"/>
          <p:cNvSpPr/>
          <p:nvPr/>
        </p:nvSpPr>
        <p:spPr>
          <a:xfrm>
            <a:off x="9464040" y="1280160"/>
            <a:ext cx="1554480" cy="457200"/>
          </a:xfrm>
          <a:prstGeom prst="rect">
            <a:avLst/>
          </a:prstGeom>
          <a:noFill/>
          <a:ln/>
        </p:spPr>
        <p:txBody>
          <a:bodyPr wrap="square" rtlCol="0" anchor="ctr"/>
          <a:lstStyle/>
          <a:p>
            <a:pPr algn="ctr" indent="0" marL="0">
              <a:buNone/>
            </a:pPr>
            <a:r>
              <a:rPr lang="en-US" sz="1000" dirty="0">
                <a:solidFill>
                  <a:srgbClr val="1A1A1A"/>
                </a:solidFill>
                <a:latin typeface="Arial" pitchFamily="34" charset="0"/>
                <a:ea typeface="Arial" pitchFamily="34" charset="-122"/>
                <a:cs typeface="Arial" pitchFamily="34" charset="-120"/>
              </a:rPr>
              <a:t>DECISION</a:t>
            </a:r>
            <a:endParaRPr lang="en-US" sz="1000" dirty="0"/>
          </a:p>
        </p:txBody>
      </p:sp>
      <p:sp>
        <p:nvSpPr>
          <p:cNvPr id="21" name="Shape 19"/>
          <p:cNvSpPr/>
          <p:nvPr/>
        </p:nvSpPr>
        <p:spPr>
          <a:xfrm>
            <a:off x="548640" y="1828800"/>
            <a:ext cx="3383280" cy="36576"/>
          </a:xfrm>
          <a:prstGeom prst="rect">
            <a:avLst/>
          </a:prstGeom>
          <a:solidFill>
            <a:srgbClr val="6B6B6B"/>
          </a:solidFill>
          <a:ln/>
        </p:spPr>
      </p:sp>
      <p:sp>
        <p:nvSpPr>
          <p:cNvPr id="22" name="Text 20"/>
          <p:cNvSpPr/>
          <p:nvPr/>
        </p:nvSpPr>
        <p:spPr>
          <a:xfrm>
            <a:off x="548640" y="1874520"/>
            <a:ext cx="36576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Traditional testing coverage</a:t>
            </a:r>
            <a:endParaRPr lang="en-US" sz="800" dirty="0"/>
          </a:p>
        </p:txBody>
      </p:sp>
      <p:sp>
        <p:nvSpPr>
          <p:cNvPr id="23" name="Shape 21"/>
          <p:cNvSpPr/>
          <p:nvPr/>
        </p:nvSpPr>
        <p:spPr>
          <a:xfrm>
            <a:off x="548640" y="2103120"/>
            <a:ext cx="11064240" cy="36576"/>
          </a:xfrm>
          <a:prstGeom prst="rect">
            <a:avLst/>
          </a:prstGeom>
          <a:solidFill>
            <a:srgbClr val="1A2B4A"/>
          </a:solidFill>
          <a:ln/>
        </p:spPr>
      </p:sp>
      <p:sp>
        <p:nvSpPr>
          <p:cNvPr id="24" name="Text 22"/>
          <p:cNvSpPr/>
          <p:nvPr/>
        </p:nvSpPr>
        <p:spPr>
          <a:xfrm>
            <a:off x="548640" y="2148840"/>
            <a:ext cx="45720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HAIEC full decision path coverage</a:t>
            </a:r>
            <a:endParaRPr lang="en-US" sz="800" dirty="0"/>
          </a:p>
        </p:txBody>
      </p:sp>
      <p:sp>
        <p:nvSpPr>
          <p:cNvPr id="25" name="Text 23"/>
          <p:cNvSpPr/>
          <p:nvPr/>
        </p:nvSpPr>
        <p:spPr>
          <a:xfrm>
            <a:off x="548640" y="2560320"/>
            <a:ext cx="10972800" cy="365760"/>
          </a:xfrm>
          <a:prstGeom prst="rect">
            <a:avLst/>
          </a:prstGeom>
          <a:noFill/>
          <a:ln/>
        </p:spPr>
        <p:txBody>
          <a:bodyPr wrap="square" rtlCol="0" anchor="t"/>
          <a:lstStyle/>
          <a:p>
            <a:pPr algn="l" indent="0" marL="0">
              <a:lnSpc>
                <a:spcPct val="115000"/>
              </a:lnSpc>
              <a:buNone/>
            </a:pPr>
            <a:r>
              <a:rPr lang="en-US" sz="1000" dirty="0">
                <a:solidFill>
                  <a:srgbClr val="4A4A4A"/>
                </a:solidFill>
                <a:latin typeface="Arial" pitchFamily="34" charset="0"/>
                <a:ea typeface="Arial" pitchFamily="34" charset="-122"/>
                <a:cs typeface="Arial" pitchFamily="34" charset="-120"/>
              </a:rPr>
              <a:t>Risks: Prompt injection · Tool abuse · RAG poisoning · Data leakage · Model extraction · Agent loops · SSRF · PII exposure</a:t>
            </a:r>
            <a:endParaRPr lang="en-US" sz="1000" dirty="0"/>
          </a:p>
        </p:txBody>
      </p:sp>
      <p:sp>
        <p:nvSpPr>
          <p:cNvPr id="26" name="Shape 24"/>
          <p:cNvSpPr/>
          <p:nvPr/>
        </p:nvSpPr>
        <p:spPr>
          <a:xfrm>
            <a:off x="548640" y="3108960"/>
            <a:ext cx="5303520" cy="2560320"/>
          </a:xfrm>
          <a:prstGeom prst="rect">
            <a:avLst/>
          </a:prstGeom>
          <a:solidFill>
            <a:srgbClr val="F5F5F5"/>
          </a:solidFill>
          <a:ln w="6350">
            <a:solidFill>
              <a:srgbClr val="D0D0D0"/>
            </a:solidFill>
            <a:prstDash val="solid"/>
          </a:ln>
        </p:spPr>
      </p:sp>
      <p:sp>
        <p:nvSpPr>
          <p:cNvPr id="27" name="Text 25"/>
          <p:cNvSpPr/>
          <p:nvPr/>
        </p:nvSpPr>
        <p:spPr>
          <a:xfrm>
            <a:off x="731520" y="320040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Static Analysis</a:t>
            </a:r>
            <a:endParaRPr lang="en-US" sz="1300" dirty="0"/>
          </a:p>
        </p:txBody>
      </p:sp>
      <p:sp>
        <p:nvSpPr>
          <p:cNvPr id="28" name="Text 26"/>
          <p:cNvSpPr/>
          <p:nvPr/>
        </p:nvSpPr>
        <p:spPr>
          <a:xfrm>
            <a:off x="731520" y="356616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29" name="Text 27"/>
          <p:cNvSpPr/>
          <p:nvPr/>
        </p:nvSpPr>
        <p:spPr>
          <a:xfrm>
            <a:off x="731520" y="393192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91 Semgrep YAML detector definitions</a:t>
            </a:r>
            <a:endParaRPr lang="en-US" sz="900" dirty="0"/>
          </a:p>
        </p:txBody>
      </p:sp>
      <p:sp>
        <p:nvSpPr>
          <p:cNvPr id="30" name="Text 28"/>
          <p:cNvSpPr/>
          <p:nvPr/>
        </p:nvSpPr>
        <p:spPr>
          <a:xfrm>
            <a:off x="731520" y="422452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15 core TypeScript deterministic rules</a:t>
            </a:r>
            <a:endParaRPr lang="en-US" sz="900" dirty="0"/>
          </a:p>
        </p:txBody>
      </p:sp>
      <p:sp>
        <p:nvSpPr>
          <p:cNvPr id="31" name="Text 29"/>
          <p:cNvSpPr/>
          <p:nvPr/>
        </p:nvSpPr>
        <p:spPr>
          <a:xfrm>
            <a:off x="731520" y="451713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82 rule-to-framework mapping records</a:t>
            </a:r>
            <a:endParaRPr lang="en-US" sz="900" dirty="0"/>
          </a:p>
        </p:txBody>
      </p:sp>
      <p:sp>
        <p:nvSpPr>
          <p:cNvPr id="32" name="Text 30"/>
          <p:cNvSpPr/>
          <p:nvPr/>
        </p:nvSpPr>
        <p:spPr>
          <a:xfrm>
            <a:off x="731520" y="4809744"/>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Additional profile-specific TypeScript checks</a:t>
            </a:r>
            <a:endParaRPr lang="en-US" sz="900" dirty="0"/>
          </a:p>
        </p:txBody>
      </p:sp>
      <p:sp>
        <p:nvSpPr>
          <p:cNvPr id="33" name="Text 31"/>
          <p:cNvSpPr/>
          <p:nvPr/>
        </p:nvSpPr>
        <p:spPr>
          <a:xfrm>
            <a:off x="731520" y="5102352"/>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Taint analysis, flow graphs, call graphs</a:t>
            </a:r>
            <a:endParaRPr lang="en-US" sz="900" dirty="0"/>
          </a:p>
        </p:txBody>
      </p:sp>
      <p:sp>
        <p:nvSpPr>
          <p:cNvPr id="34" name="Text 32"/>
          <p:cNvSpPr/>
          <p:nvPr/>
        </p:nvSpPr>
        <p:spPr>
          <a:xfrm>
            <a:off x="731520" y="539496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Multi-language: JS/TS, Python, Go sidecars</a:t>
            </a:r>
            <a:endParaRPr lang="en-US" sz="900" dirty="0"/>
          </a:p>
        </p:txBody>
      </p:sp>
      <p:sp>
        <p:nvSpPr>
          <p:cNvPr id="35" name="Text 33"/>
          <p:cNvSpPr/>
          <p:nvPr/>
        </p:nvSpPr>
        <p:spPr>
          <a:xfrm>
            <a:off x="731520" y="568756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SHA256 finding fingerprints for evidence</a:t>
            </a:r>
            <a:endParaRPr lang="en-US" sz="900" dirty="0"/>
          </a:p>
        </p:txBody>
      </p:sp>
      <p:sp>
        <p:nvSpPr>
          <p:cNvPr id="36" name="Text 34"/>
          <p:cNvSpPr/>
          <p:nvPr/>
        </p:nvSpPr>
        <p:spPr>
          <a:xfrm>
            <a:off x="731520" y="598017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CI integration with policy enforcement engine</a:t>
            </a:r>
            <a:endParaRPr lang="en-US" sz="900" dirty="0"/>
          </a:p>
        </p:txBody>
      </p:sp>
      <p:sp>
        <p:nvSpPr>
          <p:cNvPr id="37" name="Shape 35"/>
          <p:cNvSpPr/>
          <p:nvPr/>
        </p:nvSpPr>
        <p:spPr>
          <a:xfrm>
            <a:off x="6309360" y="3108960"/>
            <a:ext cx="5303520" cy="2560320"/>
          </a:xfrm>
          <a:prstGeom prst="rect">
            <a:avLst/>
          </a:prstGeom>
          <a:solidFill>
            <a:srgbClr val="F5F5F5"/>
          </a:solidFill>
          <a:ln w="6350">
            <a:solidFill>
              <a:srgbClr val="D0D0D0"/>
            </a:solidFill>
            <a:prstDash val="solid"/>
          </a:ln>
        </p:spPr>
      </p:sp>
      <p:sp>
        <p:nvSpPr>
          <p:cNvPr id="38" name="Text 36"/>
          <p:cNvSpPr/>
          <p:nvPr/>
        </p:nvSpPr>
        <p:spPr>
          <a:xfrm>
            <a:off x="6492240" y="320040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Runtime Testing</a:t>
            </a:r>
            <a:endParaRPr lang="en-US" sz="1300" dirty="0"/>
          </a:p>
        </p:txBody>
      </p:sp>
      <p:sp>
        <p:nvSpPr>
          <p:cNvPr id="39" name="Text 37"/>
          <p:cNvSpPr/>
          <p:nvPr/>
        </p:nvSpPr>
        <p:spPr>
          <a:xfrm>
            <a:off x="6492240" y="356616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40" name="Text 38"/>
          <p:cNvSpPr/>
          <p:nvPr/>
        </p:nvSpPr>
        <p:spPr>
          <a:xfrm>
            <a:off x="6492240" y="393192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269 attack templates across 6 domain packs</a:t>
            </a:r>
            <a:endParaRPr lang="en-US" sz="900" dirty="0"/>
          </a:p>
        </p:txBody>
      </p:sp>
      <p:sp>
        <p:nvSpPr>
          <p:cNvPr id="41" name="Text 39"/>
          <p:cNvSpPr/>
          <p:nvPr/>
        </p:nvSpPr>
        <p:spPr>
          <a:xfrm>
            <a:off x="6492240" y="4224528"/>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14 safety properties (secret leakage, injection, behavior)</a:t>
            </a:r>
            <a:endParaRPr lang="en-US" sz="900" dirty="0"/>
          </a:p>
        </p:txBody>
      </p:sp>
      <p:sp>
        <p:nvSpPr>
          <p:cNvPr id="42" name="Text 40"/>
          <p:cNvSpPr/>
          <p:nvPr/>
        </p:nvSpPr>
        <p:spPr>
          <a:xfrm>
            <a:off x="6492240" y="4517136"/>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Domain authorization required before testing</a:t>
            </a:r>
            <a:endParaRPr lang="en-US" sz="900" dirty="0"/>
          </a:p>
        </p:txBody>
      </p:sp>
      <p:sp>
        <p:nvSpPr>
          <p:cNvPr id="43" name="Text 41"/>
          <p:cNvSpPr/>
          <p:nvPr/>
        </p:nvSpPr>
        <p:spPr>
          <a:xfrm>
            <a:off x="6492240" y="4809744"/>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Rate-limited, tiered orchestration (4 tiers)</a:t>
            </a:r>
            <a:endParaRPr lang="en-US" sz="900" dirty="0"/>
          </a:p>
        </p:txBody>
      </p:sp>
      <p:sp>
        <p:nvSpPr>
          <p:cNvPr id="44" name="Text 42"/>
          <p:cNvSpPr/>
          <p:nvPr/>
        </p:nvSpPr>
        <p:spPr>
          <a:xfrm>
            <a:off x="6492240" y="5102352"/>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Two-phase atomic finalization with Prisma transaction</a:t>
            </a:r>
            <a:endParaRPr lang="en-US" sz="900" dirty="0"/>
          </a:p>
        </p:txBody>
      </p:sp>
      <p:sp>
        <p:nvSpPr>
          <p:cNvPr id="45" name="Text 43"/>
          <p:cNvSpPr/>
          <p:nvPr/>
        </p:nvSpPr>
        <p:spPr>
          <a:xfrm>
            <a:off x="6492240" y="5394960"/>
            <a:ext cx="493776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  Static-runtime finding correlation</a:t>
            </a:r>
            <a:endParaRPr lang="en-US" sz="900" dirty="0"/>
          </a:p>
        </p:txBody>
      </p:sp>
      <p:sp>
        <p:nvSpPr>
          <p:cNvPr id="46" name="Text 44"/>
          <p:cNvSpPr/>
          <p:nvPr/>
        </p:nvSpPr>
        <p:spPr>
          <a:xfrm>
            <a:off x="548640" y="576072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Every finding carries a rule ID, a code path, a line number, and the missing guard. Deterministic rule-based analysis. Every finding is traceable.</a:t>
            </a:r>
            <a:endParaRPr lang="en-US" sz="1000" dirty="0"/>
          </a:p>
        </p:txBody>
      </p:sp>
      <p:sp>
        <p:nvSpPr>
          <p:cNvPr id="47" name="Text 45"/>
          <p:cNvSpPr/>
          <p:nvPr/>
        </p:nvSpPr>
        <p:spPr>
          <a:xfrm>
            <a:off x="548640" y="6126480"/>
            <a:ext cx="10972800" cy="2743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Maturity: Static engine — Implemented. Runtime engine — Active development with full execution path operational.</a:t>
            </a:r>
            <a:endParaRPr lang="en-US" sz="900" dirty="0"/>
          </a:p>
        </p:txBody>
      </p:sp>
      <p:sp>
        <p:nvSpPr>
          <p:cNvPr id="48" name="Shape 46"/>
          <p:cNvSpPr/>
          <p:nvPr/>
        </p:nvSpPr>
        <p:spPr>
          <a:xfrm>
            <a:off x="457200" y="6473952"/>
            <a:ext cx="11277295" cy="0"/>
          </a:xfrm>
          <a:prstGeom prst="line">
            <a:avLst/>
          </a:prstGeom>
          <a:noFill/>
          <a:ln w="6350">
            <a:solidFill>
              <a:srgbClr val="CCCCCC"/>
            </a:solidFill>
            <a:prstDash val="solid"/>
          </a:ln>
        </p:spPr>
      </p:sp>
      <p:sp>
        <p:nvSpPr>
          <p:cNvPr id="49" name="Text 47"/>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6/15</a:t>
            </a:r>
            <a:endParaRPr lang="en-US" sz="800" dirty="0"/>
          </a:p>
        </p:txBody>
      </p:sp>
      <p:sp>
        <p:nvSpPr>
          <p:cNvPr id="50" name="Text 48"/>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The evidence architecture is the core asset.</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371600"/>
            <a:ext cx="2011680" cy="2011680"/>
          </a:xfrm>
          <a:prstGeom prst="rect">
            <a:avLst/>
          </a:prstGeom>
          <a:solidFill>
            <a:srgbClr val="F5F5F5"/>
          </a:solidFill>
          <a:ln w="6350">
            <a:solidFill>
              <a:srgbClr val="1A2B4A"/>
            </a:solidFill>
            <a:prstDash val="solid"/>
          </a:ln>
        </p:spPr>
      </p:sp>
      <p:sp>
        <p:nvSpPr>
          <p:cNvPr id="5" name="Text 3"/>
          <p:cNvSpPr/>
          <p:nvPr/>
        </p:nvSpPr>
        <p:spPr>
          <a:xfrm>
            <a:off x="640080" y="1463040"/>
            <a:ext cx="182880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Finding</a:t>
            </a:r>
            <a:endParaRPr lang="en-US" sz="1100" dirty="0"/>
          </a:p>
        </p:txBody>
      </p:sp>
      <p:sp>
        <p:nvSpPr>
          <p:cNvPr id="6" name="Text 4"/>
          <p:cNvSpPr/>
          <p:nvPr/>
        </p:nvSpPr>
        <p:spPr>
          <a:xfrm>
            <a:off x="640080" y="2194560"/>
            <a:ext cx="182880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 Source/Response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Trace + Scope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Version + Mapping</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Timestamp</a:t>
            </a:r>
            <a:endParaRPr lang="en-US" sz="800" dirty="0"/>
          </a:p>
        </p:txBody>
      </p:sp>
      <p:sp>
        <p:nvSpPr>
          <p:cNvPr id="7" name="Shape 5"/>
          <p:cNvSpPr/>
          <p:nvPr/>
        </p:nvSpPr>
        <p:spPr>
          <a:xfrm>
            <a:off x="2606040" y="2377440"/>
            <a:ext cx="182880" cy="0"/>
          </a:xfrm>
          <a:prstGeom prst="line">
            <a:avLst/>
          </a:prstGeom>
          <a:noFill/>
          <a:ln w="12700">
            <a:solidFill>
              <a:srgbClr val="999999"/>
            </a:solidFill>
            <a:prstDash val="solid"/>
            <a:tailEnd type="triangle"/>
          </a:ln>
        </p:spPr>
      </p:sp>
      <p:sp>
        <p:nvSpPr>
          <p:cNvPr id="8" name="Shape 6"/>
          <p:cNvSpPr/>
          <p:nvPr/>
        </p:nvSpPr>
        <p:spPr>
          <a:xfrm>
            <a:off x="2834640" y="1371600"/>
            <a:ext cx="1828800" cy="2011680"/>
          </a:xfrm>
          <a:prstGeom prst="rect">
            <a:avLst/>
          </a:prstGeom>
          <a:solidFill>
            <a:srgbClr val="F5F5F5"/>
          </a:solidFill>
          <a:ln w="6350">
            <a:solidFill>
              <a:srgbClr val="D0D0D0"/>
            </a:solidFill>
            <a:prstDash val="solid"/>
          </a:ln>
        </p:spPr>
      </p:sp>
      <p:sp>
        <p:nvSpPr>
          <p:cNvPr id="9" name="Text 7"/>
          <p:cNvSpPr/>
          <p:nvPr/>
        </p:nvSpPr>
        <p:spPr>
          <a:xfrm>
            <a:off x="292608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Canonical</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Evidence</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Manifest</a:t>
            </a:r>
            <a:endParaRPr lang="en-US" sz="1100" dirty="0"/>
          </a:p>
        </p:txBody>
      </p:sp>
      <p:sp>
        <p:nvSpPr>
          <p:cNvPr id="10" name="Text 8"/>
          <p:cNvSpPr/>
          <p:nvPr/>
        </p:nvSpPr>
        <p:spPr>
          <a:xfrm>
            <a:off x="292608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Structured</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normalized</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record</a:t>
            </a:r>
            <a:endParaRPr lang="en-US" sz="800" dirty="0"/>
          </a:p>
        </p:txBody>
      </p:sp>
      <p:sp>
        <p:nvSpPr>
          <p:cNvPr id="11" name="Shape 9"/>
          <p:cNvSpPr/>
          <p:nvPr/>
        </p:nvSpPr>
        <p:spPr>
          <a:xfrm>
            <a:off x="4709160" y="2377440"/>
            <a:ext cx="182880" cy="0"/>
          </a:xfrm>
          <a:prstGeom prst="line">
            <a:avLst/>
          </a:prstGeom>
          <a:noFill/>
          <a:ln w="12700">
            <a:solidFill>
              <a:srgbClr val="999999"/>
            </a:solidFill>
            <a:prstDash val="solid"/>
            <a:tailEnd type="triangle"/>
          </a:ln>
        </p:spPr>
      </p:sp>
      <p:sp>
        <p:nvSpPr>
          <p:cNvPr id="12" name="Shape 10"/>
          <p:cNvSpPr/>
          <p:nvPr/>
        </p:nvSpPr>
        <p:spPr>
          <a:xfrm>
            <a:off x="4937760" y="1371600"/>
            <a:ext cx="1828800" cy="2011680"/>
          </a:xfrm>
          <a:prstGeom prst="rect">
            <a:avLst/>
          </a:prstGeom>
          <a:solidFill>
            <a:srgbClr val="F5F5F5"/>
          </a:solidFill>
          <a:ln w="6350">
            <a:solidFill>
              <a:srgbClr val="D0D0D0"/>
            </a:solidFill>
            <a:prstDash val="solid"/>
          </a:ln>
        </p:spPr>
      </p:sp>
      <p:sp>
        <p:nvSpPr>
          <p:cNvPr id="13" name="Text 11"/>
          <p:cNvSpPr/>
          <p:nvPr/>
        </p:nvSpPr>
        <p:spPr>
          <a:xfrm>
            <a:off x="502920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Integrity</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Fingerprint</a:t>
            </a:r>
            <a:endParaRPr lang="en-US" sz="1100" dirty="0"/>
          </a:p>
        </p:txBody>
      </p:sp>
      <p:sp>
        <p:nvSpPr>
          <p:cNvPr id="14" name="Text 12"/>
          <p:cNvSpPr/>
          <p:nvPr/>
        </p:nvSpPr>
        <p:spPr>
          <a:xfrm>
            <a:off x="502920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SHA256</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content hash</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version pin</a:t>
            </a:r>
            <a:endParaRPr lang="en-US" sz="800" dirty="0"/>
          </a:p>
        </p:txBody>
      </p:sp>
      <p:sp>
        <p:nvSpPr>
          <p:cNvPr id="15" name="Shape 13"/>
          <p:cNvSpPr/>
          <p:nvPr/>
        </p:nvSpPr>
        <p:spPr>
          <a:xfrm>
            <a:off x="6812280" y="2377440"/>
            <a:ext cx="182880" cy="0"/>
          </a:xfrm>
          <a:prstGeom prst="line">
            <a:avLst/>
          </a:prstGeom>
          <a:noFill/>
          <a:ln w="12700">
            <a:solidFill>
              <a:srgbClr val="999999"/>
            </a:solidFill>
            <a:prstDash val="solid"/>
            <a:tailEnd type="triangle"/>
          </a:ln>
        </p:spPr>
      </p:sp>
      <p:sp>
        <p:nvSpPr>
          <p:cNvPr id="16" name="Shape 14"/>
          <p:cNvSpPr/>
          <p:nvPr/>
        </p:nvSpPr>
        <p:spPr>
          <a:xfrm>
            <a:off x="7040880" y="1371600"/>
            <a:ext cx="1828800" cy="2011680"/>
          </a:xfrm>
          <a:prstGeom prst="rect">
            <a:avLst/>
          </a:prstGeom>
          <a:solidFill>
            <a:srgbClr val="F5F5F5"/>
          </a:solidFill>
          <a:ln w="6350">
            <a:solidFill>
              <a:srgbClr val="D0D0D0"/>
            </a:solidFill>
            <a:prstDash val="solid"/>
          </a:ln>
        </p:spPr>
      </p:sp>
      <p:sp>
        <p:nvSpPr>
          <p:cNvPr id="17" name="Text 15"/>
          <p:cNvSpPr/>
          <p:nvPr/>
        </p:nvSpPr>
        <p:spPr>
          <a:xfrm>
            <a:off x="713232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Audit</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Package</a:t>
            </a:r>
            <a:endParaRPr lang="en-US" sz="1100" dirty="0"/>
          </a:p>
        </p:txBody>
      </p:sp>
      <p:sp>
        <p:nvSpPr>
          <p:cNvPr id="18" name="Text 16"/>
          <p:cNvSpPr/>
          <p:nvPr/>
        </p:nvSpPr>
        <p:spPr>
          <a:xfrm>
            <a:off x="713232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DIS + nodes</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framework</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mappings</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review chain</a:t>
            </a:r>
            <a:endParaRPr lang="en-US" sz="800" dirty="0"/>
          </a:p>
        </p:txBody>
      </p:sp>
      <p:sp>
        <p:nvSpPr>
          <p:cNvPr id="19" name="Shape 17"/>
          <p:cNvSpPr/>
          <p:nvPr/>
        </p:nvSpPr>
        <p:spPr>
          <a:xfrm>
            <a:off x="8915400" y="2377440"/>
            <a:ext cx="182880" cy="0"/>
          </a:xfrm>
          <a:prstGeom prst="line">
            <a:avLst/>
          </a:prstGeom>
          <a:noFill/>
          <a:ln w="12700">
            <a:solidFill>
              <a:srgbClr val="999999"/>
            </a:solidFill>
            <a:prstDash val="solid"/>
            <a:tailEnd type="triangle"/>
          </a:ln>
        </p:spPr>
      </p:sp>
      <p:sp>
        <p:nvSpPr>
          <p:cNvPr id="20" name="Shape 18"/>
          <p:cNvSpPr/>
          <p:nvPr/>
        </p:nvSpPr>
        <p:spPr>
          <a:xfrm>
            <a:off x="9144000" y="1371600"/>
            <a:ext cx="1828800" cy="2011680"/>
          </a:xfrm>
          <a:prstGeom prst="rect">
            <a:avLst/>
          </a:prstGeom>
          <a:solidFill>
            <a:srgbClr val="F5F5F5"/>
          </a:solidFill>
          <a:ln w="6350">
            <a:solidFill>
              <a:srgbClr val="D0D0D0"/>
            </a:solidFill>
            <a:prstDash val="solid"/>
          </a:ln>
        </p:spPr>
      </p:sp>
      <p:sp>
        <p:nvSpPr>
          <p:cNvPr id="21" name="Text 19"/>
          <p:cNvSpPr/>
          <p:nvPr/>
        </p:nvSpPr>
        <p:spPr>
          <a:xfrm>
            <a:off x="9235440" y="1463040"/>
            <a:ext cx="1645920" cy="640080"/>
          </a:xfrm>
          <a:prstGeom prst="rect">
            <a:avLst/>
          </a:prstGeom>
          <a:noFill/>
          <a:ln/>
        </p:spPr>
        <p:txBody>
          <a:bodyPr wrap="square" rtlCol="0" anchor="ctr"/>
          <a:lstStyle/>
          <a:p>
            <a:pPr algn="ctr" indent="0" marL="0">
              <a:buNone/>
            </a:pPr>
            <a:r>
              <a:rPr lang="en-US" sz="1100" b="1" dirty="0">
                <a:solidFill>
                  <a:srgbClr val="1A2B4A"/>
                </a:solidFill>
                <a:latin typeface="Arial" pitchFamily="34" charset="0"/>
                <a:ea typeface="Arial" pitchFamily="34" charset="-122"/>
                <a:cs typeface="Arial" pitchFamily="34" charset="-120"/>
              </a:rPr>
              <a:t>Trust</a:t>
            </a:r>
            <a:endParaRPr lang="en-US" sz="1100" dirty="0"/>
          </a:p>
          <a:p>
            <a:pPr algn="ctr" indent="0" marL="0">
              <a:buNone/>
            </a:pPr>
            <a:r>
              <a:rPr lang="en-US" sz="1100" b="1" dirty="0">
                <a:solidFill>
                  <a:srgbClr val="1A2B4A"/>
                </a:solidFill>
                <a:latin typeface="Arial" pitchFamily="34" charset="0"/>
                <a:ea typeface="Arial" pitchFamily="34" charset="-122"/>
                <a:cs typeface="Arial" pitchFamily="34" charset="-120"/>
              </a:rPr>
              <a:t>Artifact</a:t>
            </a:r>
            <a:endParaRPr lang="en-US" sz="1100" dirty="0"/>
          </a:p>
        </p:txBody>
      </p:sp>
      <p:sp>
        <p:nvSpPr>
          <p:cNvPr id="22" name="Text 20"/>
          <p:cNvSpPr/>
          <p:nvPr/>
        </p:nvSpPr>
        <p:spPr>
          <a:xfrm>
            <a:off x="9235440" y="2194560"/>
            <a:ext cx="1645920" cy="1097280"/>
          </a:xfrm>
          <a:prstGeom prst="rect">
            <a:avLst/>
          </a:prstGeom>
          <a:noFill/>
          <a:ln/>
        </p:spPr>
        <p:txBody>
          <a:bodyPr wrap="square" rtlCol="0" anchor="t"/>
          <a:lstStyle/>
          <a:p>
            <a:pPr algn="ctr" indent="0" marL="0">
              <a:buNone/>
            </a:pPr>
            <a:r>
              <a:rPr lang="en-US" sz="800" dirty="0">
                <a:solidFill>
                  <a:srgbClr val="6B6B6B"/>
                </a:solidFill>
                <a:latin typeface="Arial" pitchFamily="34" charset="0"/>
                <a:ea typeface="Arial" pitchFamily="34" charset="-122"/>
                <a:cs typeface="Arial" pitchFamily="34" charset="-120"/>
              </a:rPr>
              <a:t>Verifiable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status badge</a:t>
            </a:r>
            <a:endParaRPr lang="en-US" sz="800" dirty="0"/>
          </a:p>
          <a:p>
            <a:pPr algn="ctr" indent="0" marL="0">
              <a:buNone/>
            </a:pPr>
            <a:r>
              <a:rPr lang="en-US" sz="800" dirty="0">
                <a:solidFill>
                  <a:srgbClr val="6B6B6B"/>
                </a:solidFill>
                <a:latin typeface="Arial" pitchFamily="34" charset="0"/>
                <a:ea typeface="Arial" pitchFamily="34" charset="-122"/>
                <a:cs typeface="Arial" pitchFamily="34" charset="-120"/>
              </a:rPr>
              <a:t>+ revocation</a:t>
            </a:r>
            <a:endParaRPr lang="en-US" sz="800" dirty="0"/>
          </a:p>
        </p:txBody>
      </p:sp>
      <p:sp>
        <p:nvSpPr>
          <p:cNvPr id="23" name="Text 21"/>
          <p:cNvSpPr/>
          <p:nvPr/>
        </p:nvSpPr>
        <p:spPr>
          <a:xfrm>
            <a:off x="548640" y="3749040"/>
            <a:ext cx="10972800" cy="365760"/>
          </a:xfrm>
          <a:prstGeom prst="rect">
            <a:avLst/>
          </a:prstGeom>
          <a:noFill/>
          <a:ln/>
        </p:spPr>
        <p:txBody>
          <a:bodyPr wrap="square" rtlCol="0" anchor="t"/>
          <a:lstStyle/>
          <a:p>
            <a:pPr algn="l" indent="0" marL="0">
              <a:lnSpc>
                <a:spcPct val="115000"/>
              </a:lnSpc>
              <a:buNone/>
            </a:pPr>
            <a:r>
              <a:rPr lang="en-US" sz="1200" b="1" dirty="0">
                <a:solidFill>
                  <a:srgbClr val="1A2B4A"/>
                </a:solidFill>
                <a:latin typeface="Arial" pitchFamily="34" charset="0"/>
                <a:ea typeface="Arial" pitchFamily="34" charset="-122"/>
                <a:cs typeface="Arial" pitchFamily="34" charset="-120"/>
              </a:rPr>
              <a:t>Every evidence record binds a finding to its source, its scope, its engine version, and its compliance mapping — at the point of generation.</a:t>
            </a:r>
            <a:endParaRPr lang="en-US" sz="1200" dirty="0"/>
          </a:p>
        </p:txBody>
      </p:sp>
      <p:sp>
        <p:nvSpPr>
          <p:cNvPr id="24" name="Shape 22"/>
          <p:cNvSpPr/>
          <p:nvPr/>
        </p:nvSpPr>
        <p:spPr>
          <a:xfrm>
            <a:off x="548640" y="4297680"/>
            <a:ext cx="5303520" cy="1645920"/>
          </a:xfrm>
          <a:prstGeom prst="rect">
            <a:avLst/>
          </a:prstGeom>
          <a:solidFill>
            <a:srgbClr val="F5F5F5"/>
          </a:solidFill>
          <a:ln w="6350">
            <a:solidFill>
              <a:srgbClr val="D0D0D0"/>
            </a:solidFill>
            <a:prstDash val="solid"/>
          </a:ln>
        </p:spPr>
      </p:sp>
      <p:sp>
        <p:nvSpPr>
          <p:cNvPr id="25" name="Text 23"/>
          <p:cNvSpPr/>
          <p:nvPr/>
        </p:nvSpPr>
        <p:spPr>
          <a:xfrm>
            <a:off x="731520" y="4389120"/>
            <a:ext cx="4937760" cy="32004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Evidence Integrity Components</a:t>
            </a:r>
            <a:endParaRPr lang="en-US" sz="1100" dirty="0"/>
          </a:p>
        </p:txBody>
      </p:sp>
      <p:sp>
        <p:nvSpPr>
          <p:cNvPr id="26" name="Text 24"/>
          <p:cNvSpPr/>
          <p:nvPr/>
        </p:nvSpPr>
        <p:spPr>
          <a:xfrm>
            <a:off x="731520" y="4754880"/>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Config hash frozen at run creation (R2-01)</a:t>
            </a:r>
            <a:endParaRPr lang="en-US" sz="900" dirty="0"/>
          </a:p>
        </p:txBody>
      </p:sp>
      <p:sp>
        <p:nvSpPr>
          <p:cNvPr id="27" name="Text 25"/>
          <p:cNvSpPr/>
          <p:nvPr/>
        </p:nvSpPr>
        <p:spPr>
          <a:xfrm>
            <a:off x="731520" y="5010912"/>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Hash-chained append-only event log</a:t>
            </a:r>
            <a:endParaRPr lang="en-US" sz="900" dirty="0"/>
          </a:p>
        </p:txBody>
      </p:sp>
      <p:sp>
        <p:nvSpPr>
          <p:cNvPr id="28" name="Text 26"/>
          <p:cNvSpPr/>
          <p:nvPr/>
        </p:nvSpPr>
        <p:spPr>
          <a:xfrm>
            <a:off x="731520" y="5266944"/>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Engine output contract validation (R3-02)</a:t>
            </a:r>
            <a:endParaRPr lang="en-US" sz="900" dirty="0"/>
          </a:p>
        </p:txBody>
      </p:sp>
      <p:sp>
        <p:nvSpPr>
          <p:cNvPr id="29" name="Text 27"/>
          <p:cNvSpPr/>
          <p:nvPr/>
        </p:nvSpPr>
        <p:spPr>
          <a:xfrm>
            <a:off x="731520" y="5522976"/>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SHA256 finding fingerprints (truncated to 16 chars)</a:t>
            </a:r>
            <a:endParaRPr lang="en-US" sz="900" dirty="0"/>
          </a:p>
        </p:txBody>
      </p:sp>
      <p:sp>
        <p:nvSpPr>
          <p:cNvPr id="30" name="Text 28"/>
          <p:cNvSpPr/>
          <p:nvPr/>
        </p:nvSpPr>
        <p:spPr>
          <a:xfrm>
            <a:off x="731520" y="5779008"/>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Methodology version locked at compute time</a:t>
            </a:r>
            <a:endParaRPr lang="en-US" sz="900" dirty="0"/>
          </a:p>
        </p:txBody>
      </p:sp>
      <p:sp>
        <p:nvSpPr>
          <p:cNvPr id="31" name="Shape 29"/>
          <p:cNvSpPr/>
          <p:nvPr/>
        </p:nvSpPr>
        <p:spPr>
          <a:xfrm>
            <a:off x="6309360" y="4297680"/>
            <a:ext cx="5303520" cy="1645920"/>
          </a:xfrm>
          <a:prstGeom prst="rect">
            <a:avLst/>
          </a:prstGeom>
          <a:solidFill>
            <a:srgbClr val="F5F5F5"/>
          </a:solidFill>
          <a:ln w="6350">
            <a:solidFill>
              <a:srgbClr val="D0D0D0"/>
            </a:solidFill>
            <a:prstDash val="solid"/>
          </a:ln>
        </p:spPr>
      </p:sp>
      <p:sp>
        <p:nvSpPr>
          <p:cNvPr id="32" name="Text 30"/>
          <p:cNvSpPr/>
          <p:nvPr/>
        </p:nvSpPr>
        <p:spPr>
          <a:xfrm>
            <a:off x="6492240" y="4389120"/>
            <a:ext cx="4937760" cy="32004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Verification Model</a:t>
            </a:r>
            <a:endParaRPr lang="en-US" sz="1100" dirty="0"/>
          </a:p>
        </p:txBody>
      </p:sp>
      <p:sp>
        <p:nvSpPr>
          <p:cNvPr id="33" name="Text 31"/>
          <p:cNvSpPr/>
          <p:nvPr/>
        </p:nvSpPr>
        <p:spPr>
          <a:xfrm>
            <a:off x="6492240" y="475488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34" name="Text 32"/>
          <p:cNvSpPr/>
          <p:nvPr/>
        </p:nvSpPr>
        <p:spPr>
          <a:xfrm>
            <a:off x="6492240" y="5120640"/>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HMAC-SHA256 issuer signature on verification responses</a:t>
            </a:r>
            <a:endParaRPr lang="en-US" sz="900" dirty="0"/>
          </a:p>
        </p:txBody>
      </p:sp>
      <p:sp>
        <p:nvSpPr>
          <p:cNvPr id="35" name="Text 33"/>
          <p:cNvSpPr/>
          <p:nvPr/>
        </p:nvSpPr>
        <p:spPr>
          <a:xfrm>
            <a:off x="6492240" y="5376672"/>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Integrity verification with replay protection via nonces</a:t>
            </a:r>
            <a:endParaRPr lang="en-US" sz="900" dirty="0"/>
          </a:p>
        </p:txBody>
      </p:sp>
      <p:sp>
        <p:nvSpPr>
          <p:cNvPr id="36" name="Text 34"/>
          <p:cNvSpPr/>
          <p:nvPr/>
        </p:nvSpPr>
        <p:spPr>
          <a:xfrm>
            <a:off x="6492240" y="5632704"/>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Redis-backed nonce store for production scale</a:t>
            </a:r>
            <a:endParaRPr lang="en-US" sz="900" dirty="0"/>
          </a:p>
        </p:txBody>
      </p:sp>
      <p:sp>
        <p:nvSpPr>
          <p:cNvPr id="37" name="Text 35"/>
          <p:cNvSpPr/>
          <p:nvPr/>
        </p:nvSpPr>
        <p:spPr>
          <a:xfrm>
            <a:off x="6492240" y="5888736"/>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Key rotation support (primary, previous, legacy)</a:t>
            </a:r>
            <a:endParaRPr lang="en-US" sz="900" dirty="0"/>
          </a:p>
        </p:txBody>
      </p:sp>
      <p:sp>
        <p:nvSpPr>
          <p:cNvPr id="38" name="Text 36"/>
          <p:cNvSpPr/>
          <p:nvPr/>
        </p:nvSpPr>
        <p:spPr>
          <a:xfrm>
            <a:off x="6492240" y="6144768"/>
            <a:ext cx="4937760" cy="22860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  Verification via HAIEC /api/verify endpoint</a:t>
            </a:r>
            <a:endParaRPr lang="en-US" sz="900" dirty="0"/>
          </a:p>
        </p:txBody>
      </p:sp>
      <p:sp>
        <p:nvSpPr>
          <p:cNvPr id="39" name="Text 37"/>
          <p:cNvSpPr/>
          <p:nvPr/>
        </p:nvSpPr>
        <p:spPr>
          <a:xfrm>
            <a:off x="548640" y="5943600"/>
            <a:ext cx="10972800" cy="274320"/>
          </a:xfrm>
          <a:prstGeom prst="rect">
            <a:avLst/>
          </a:prstGeom>
          <a:noFill/>
          <a:ln/>
        </p:spPr>
        <p:txBody>
          <a:bodyPr wrap="square" rtlCol="0" anchor="t"/>
          <a:lstStyle/>
          <a:p>
            <a:pPr algn="l" indent="0" marL="0">
              <a:lnSpc>
                <a:spcPct val="115000"/>
              </a:lnSpc>
              <a:buNone/>
            </a:pPr>
            <a:r>
              <a:rPr lang="en-US" sz="800" dirty="0">
                <a:solidFill>
                  <a:srgbClr val="6B6B6B"/>
                </a:solidFill>
                <a:latin typeface="Arial" pitchFamily="34" charset="0"/>
                <a:ea typeface="Arial" pitchFamily="34" charset="-122"/>
                <a:cs typeface="Arial" pitchFamily="34" charset="-120"/>
              </a:rPr>
              <a:t>Maturity: Evidence integrity — Implemented. HMAC-SHA256 with key rotation and replay protection. Upgrade path: Ed25519 public-key signatures for independent verification.</a:t>
            </a:r>
            <a:endParaRPr lang="en-US" sz="800" dirty="0"/>
          </a:p>
        </p:txBody>
      </p:sp>
      <p:sp>
        <p:nvSpPr>
          <p:cNvPr id="40" name="Shape 38"/>
          <p:cNvSpPr/>
          <p:nvPr/>
        </p:nvSpPr>
        <p:spPr>
          <a:xfrm>
            <a:off x="457200" y="6473952"/>
            <a:ext cx="11277295" cy="0"/>
          </a:xfrm>
          <a:prstGeom prst="line">
            <a:avLst/>
          </a:prstGeom>
          <a:noFill/>
          <a:ln w="6350">
            <a:solidFill>
              <a:srgbClr val="CCCCCC"/>
            </a:solidFill>
            <a:prstDash val="solid"/>
          </a:ln>
        </p:spPr>
      </p:sp>
      <p:sp>
        <p:nvSpPr>
          <p:cNvPr id="41" name="Text 3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7/15</a:t>
            </a:r>
            <a:endParaRPr lang="en-US" sz="800" dirty="0"/>
          </a:p>
        </p:txBody>
      </p:sp>
      <p:sp>
        <p:nvSpPr>
          <p:cNvPr id="42" name="Text 4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One remediation can support multiple assurance requirements.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3200400" cy="1645920"/>
          </a:xfrm>
          <a:prstGeom prst="rect">
            <a:avLst/>
          </a:prstGeom>
          <a:solidFill>
            <a:srgbClr val="F5F5F5"/>
          </a:solidFill>
          <a:ln w="6350">
            <a:solidFill>
              <a:srgbClr val="6B6B6B"/>
            </a:solidFill>
            <a:prstDash val="solid"/>
          </a:ln>
        </p:spPr>
      </p:sp>
      <p:sp>
        <p:nvSpPr>
          <p:cNvPr id="5" name="Text 3"/>
          <p:cNvSpPr/>
          <p:nvPr/>
        </p:nvSpPr>
        <p:spPr>
          <a:xfrm>
            <a:off x="685800" y="1280160"/>
            <a:ext cx="29260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EXAMPLE FINDING</a:t>
            </a:r>
            <a:endParaRPr lang="en-US" sz="800" dirty="0"/>
          </a:p>
        </p:txBody>
      </p:sp>
      <p:sp>
        <p:nvSpPr>
          <p:cNvPr id="6" name="Text 4"/>
          <p:cNvSpPr/>
          <p:nvPr/>
        </p:nvSpPr>
        <p:spPr>
          <a:xfrm>
            <a:off x="685800" y="1508760"/>
            <a:ext cx="2926080" cy="320040"/>
          </a:xfrm>
          <a:prstGeom prst="rect">
            <a:avLst/>
          </a:prstGeom>
          <a:noFill/>
          <a:ln/>
        </p:spPr>
        <p:txBody>
          <a:bodyPr wrap="square" rtlCol="0" anchor="ctr"/>
          <a:lstStyle/>
          <a:p>
            <a:pPr indent="0" marL="0">
              <a:buNone/>
            </a:pPr>
            <a:r>
              <a:rPr lang="en-US" sz="1200" b="1" dirty="0">
                <a:solidFill>
                  <a:srgbClr val="1A1A1A"/>
                </a:solidFill>
                <a:latin typeface="Arial" pitchFamily="34" charset="0"/>
                <a:ea typeface="Arial" pitchFamily="34" charset="-122"/>
                <a:cs typeface="Arial" pitchFamily="34" charset="-120"/>
              </a:rPr>
              <a:t>R1: Prompt Injection</a:t>
            </a:r>
            <a:endParaRPr lang="en-US" sz="1200" dirty="0"/>
          </a:p>
        </p:txBody>
      </p:sp>
      <p:sp>
        <p:nvSpPr>
          <p:cNvPr id="7" name="Text 5"/>
          <p:cNvSpPr/>
          <p:nvPr/>
        </p:nvSpPr>
        <p:spPr>
          <a:xfrm>
            <a:off x="685800" y="1874520"/>
            <a:ext cx="2926080" cy="82296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User input reaches system prompt without validation guard. Source: API endpoint. Sink: LLM call.</a:t>
            </a:r>
            <a:endParaRPr lang="en-US" sz="900" dirty="0"/>
          </a:p>
        </p:txBody>
      </p:sp>
      <p:sp>
        <p:nvSpPr>
          <p:cNvPr id="8" name="Shape 6"/>
          <p:cNvSpPr/>
          <p:nvPr/>
        </p:nvSpPr>
        <p:spPr>
          <a:xfrm>
            <a:off x="4023360" y="1188720"/>
            <a:ext cx="2286000" cy="1645920"/>
          </a:xfrm>
          <a:prstGeom prst="rect">
            <a:avLst/>
          </a:prstGeom>
          <a:solidFill>
            <a:srgbClr val="F5F5F5"/>
          </a:solidFill>
          <a:ln w="6350">
            <a:solidFill>
              <a:srgbClr val="1A2B4A"/>
            </a:solidFill>
            <a:prstDash val="solid"/>
          </a:ln>
        </p:spPr>
      </p:sp>
      <p:sp>
        <p:nvSpPr>
          <p:cNvPr id="9" name="Text 7"/>
          <p:cNvSpPr/>
          <p:nvPr/>
        </p:nvSpPr>
        <p:spPr>
          <a:xfrm>
            <a:off x="4160520" y="1280160"/>
            <a:ext cx="20116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EVIDENCE</a:t>
            </a:r>
            <a:endParaRPr lang="en-US" sz="800" dirty="0"/>
          </a:p>
        </p:txBody>
      </p:sp>
      <p:sp>
        <p:nvSpPr>
          <p:cNvPr id="10" name="Text 8"/>
          <p:cNvSpPr/>
          <p:nvPr/>
        </p:nvSpPr>
        <p:spPr>
          <a:xfrm>
            <a:off x="4160520" y="1554480"/>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Rule ID: R1</a:t>
            </a:r>
            <a:endParaRPr lang="en-US" sz="800" dirty="0"/>
          </a:p>
        </p:txBody>
      </p:sp>
      <p:sp>
        <p:nvSpPr>
          <p:cNvPr id="11" name="Text 9"/>
          <p:cNvSpPr/>
          <p:nvPr/>
        </p:nvSpPr>
        <p:spPr>
          <a:xfrm>
            <a:off x="4160520" y="1792224"/>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Code path + line</a:t>
            </a:r>
            <a:endParaRPr lang="en-US" sz="800" dirty="0"/>
          </a:p>
        </p:txBody>
      </p:sp>
      <p:sp>
        <p:nvSpPr>
          <p:cNvPr id="12" name="Text 10"/>
          <p:cNvSpPr/>
          <p:nvPr/>
        </p:nvSpPr>
        <p:spPr>
          <a:xfrm>
            <a:off x="4160520" y="2029968"/>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Fingerprint: SHA256</a:t>
            </a:r>
            <a:endParaRPr lang="en-US" sz="800" dirty="0"/>
          </a:p>
        </p:txBody>
      </p:sp>
      <p:sp>
        <p:nvSpPr>
          <p:cNvPr id="13" name="Text 11"/>
          <p:cNvSpPr/>
          <p:nvPr/>
        </p:nvSpPr>
        <p:spPr>
          <a:xfrm>
            <a:off x="4160520" y="2267712"/>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Engine v2025.1.0</a:t>
            </a:r>
            <a:endParaRPr lang="en-US" sz="800" dirty="0"/>
          </a:p>
        </p:txBody>
      </p:sp>
      <p:sp>
        <p:nvSpPr>
          <p:cNvPr id="14" name="Text 12"/>
          <p:cNvSpPr/>
          <p:nvPr/>
        </p:nvSpPr>
        <p:spPr>
          <a:xfrm>
            <a:off x="4160520" y="2505456"/>
            <a:ext cx="201168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Timestamp: ISO8601</a:t>
            </a:r>
            <a:endParaRPr lang="en-US" sz="800" dirty="0"/>
          </a:p>
        </p:txBody>
      </p:sp>
      <p:sp>
        <p:nvSpPr>
          <p:cNvPr id="15" name="Shape 13"/>
          <p:cNvSpPr/>
          <p:nvPr/>
        </p:nvSpPr>
        <p:spPr>
          <a:xfrm>
            <a:off x="6400800" y="2011680"/>
            <a:ext cx="274320" cy="0"/>
          </a:xfrm>
          <a:prstGeom prst="line">
            <a:avLst/>
          </a:prstGeom>
          <a:noFill/>
          <a:ln w="12700">
            <a:solidFill>
              <a:srgbClr val="999999"/>
            </a:solidFill>
            <a:prstDash val="solid"/>
            <a:tailEnd type="triangle"/>
          </a:ln>
        </p:spPr>
      </p:sp>
      <p:sp>
        <p:nvSpPr>
          <p:cNvPr id="16" name="Shape 14"/>
          <p:cNvSpPr/>
          <p:nvPr/>
        </p:nvSpPr>
        <p:spPr>
          <a:xfrm>
            <a:off x="6858000" y="1188720"/>
            <a:ext cx="2286000" cy="502920"/>
          </a:xfrm>
          <a:prstGeom prst="rect">
            <a:avLst/>
          </a:prstGeom>
          <a:solidFill>
            <a:srgbClr val="F5F5F5"/>
          </a:solidFill>
          <a:ln w="6350">
            <a:solidFill>
              <a:srgbClr val="1A2B4A"/>
            </a:solidFill>
            <a:prstDash val="solid"/>
          </a:ln>
        </p:spPr>
      </p:sp>
      <p:sp>
        <p:nvSpPr>
          <p:cNvPr id="17" name="Text 15"/>
          <p:cNvSpPr/>
          <p:nvPr/>
        </p:nvSpPr>
        <p:spPr>
          <a:xfrm>
            <a:off x="6949440" y="123444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OWASP LLM01:2025</a:t>
            </a:r>
            <a:endParaRPr lang="en-US" sz="900" dirty="0"/>
          </a:p>
        </p:txBody>
      </p:sp>
      <p:sp>
        <p:nvSpPr>
          <p:cNvPr id="18" name="Text 16"/>
          <p:cNvSpPr/>
          <p:nvPr/>
        </p:nvSpPr>
        <p:spPr>
          <a:xfrm>
            <a:off x="6949440" y="146304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Prompt Injection</a:t>
            </a:r>
            <a:endParaRPr lang="en-US" sz="800" dirty="0"/>
          </a:p>
        </p:txBody>
      </p:sp>
      <p:sp>
        <p:nvSpPr>
          <p:cNvPr id="19" name="Shape 17"/>
          <p:cNvSpPr/>
          <p:nvPr/>
        </p:nvSpPr>
        <p:spPr>
          <a:xfrm>
            <a:off x="9326880" y="1188720"/>
            <a:ext cx="2286000" cy="502920"/>
          </a:xfrm>
          <a:prstGeom prst="rect">
            <a:avLst/>
          </a:prstGeom>
          <a:solidFill>
            <a:srgbClr val="F5F5F5"/>
          </a:solidFill>
          <a:ln w="6350">
            <a:solidFill>
              <a:srgbClr val="1A2B4A"/>
            </a:solidFill>
            <a:prstDash val="solid"/>
          </a:ln>
        </p:spPr>
      </p:sp>
      <p:sp>
        <p:nvSpPr>
          <p:cNvPr id="20" name="Text 18"/>
          <p:cNvSpPr/>
          <p:nvPr/>
        </p:nvSpPr>
        <p:spPr>
          <a:xfrm>
            <a:off x="9418320" y="123444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SOC2 CC7.2</a:t>
            </a:r>
            <a:endParaRPr lang="en-US" sz="900" dirty="0"/>
          </a:p>
        </p:txBody>
      </p:sp>
      <p:sp>
        <p:nvSpPr>
          <p:cNvPr id="21" name="Text 19"/>
          <p:cNvSpPr/>
          <p:nvPr/>
        </p:nvSpPr>
        <p:spPr>
          <a:xfrm>
            <a:off x="9418320" y="146304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System Monitoring</a:t>
            </a:r>
            <a:endParaRPr lang="en-US" sz="800" dirty="0"/>
          </a:p>
        </p:txBody>
      </p:sp>
      <p:sp>
        <p:nvSpPr>
          <p:cNvPr id="22" name="Shape 20"/>
          <p:cNvSpPr/>
          <p:nvPr/>
        </p:nvSpPr>
        <p:spPr>
          <a:xfrm>
            <a:off x="6858000" y="1783080"/>
            <a:ext cx="2286000" cy="502920"/>
          </a:xfrm>
          <a:prstGeom prst="rect">
            <a:avLst/>
          </a:prstGeom>
          <a:solidFill>
            <a:srgbClr val="F5F5F5"/>
          </a:solidFill>
          <a:ln w="6350">
            <a:solidFill>
              <a:srgbClr val="1A2B4A"/>
            </a:solidFill>
            <a:prstDash val="solid"/>
          </a:ln>
        </p:spPr>
      </p:sp>
      <p:sp>
        <p:nvSpPr>
          <p:cNvPr id="23" name="Text 21"/>
          <p:cNvSpPr/>
          <p:nvPr/>
        </p:nvSpPr>
        <p:spPr>
          <a:xfrm>
            <a:off x="6949440" y="182880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ISO 27001:2022 A.8.8</a:t>
            </a:r>
            <a:endParaRPr lang="en-US" sz="900" dirty="0"/>
          </a:p>
        </p:txBody>
      </p:sp>
      <p:sp>
        <p:nvSpPr>
          <p:cNvPr id="24" name="Text 22"/>
          <p:cNvSpPr/>
          <p:nvPr/>
        </p:nvSpPr>
        <p:spPr>
          <a:xfrm>
            <a:off x="6949440" y="205740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Technical Vulnerability Mgmt</a:t>
            </a:r>
            <a:endParaRPr lang="en-US" sz="800" dirty="0"/>
          </a:p>
        </p:txBody>
      </p:sp>
      <p:sp>
        <p:nvSpPr>
          <p:cNvPr id="25" name="Shape 23"/>
          <p:cNvSpPr/>
          <p:nvPr/>
        </p:nvSpPr>
        <p:spPr>
          <a:xfrm>
            <a:off x="9326880" y="1783080"/>
            <a:ext cx="2286000" cy="502920"/>
          </a:xfrm>
          <a:prstGeom prst="rect">
            <a:avLst/>
          </a:prstGeom>
          <a:solidFill>
            <a:srgbClr val="F5F5F5"/>
          </a:solidFill>
          <a:ln w="6350">
            <a:solidFill>
              <a:srgbClr val="1A2B4A"/>
            </a:solidFill>
            <a:prstDash val="solid"/>
          </a:ln>
        </p:spPr>
      </p:sp>
      <p:sp>
        <p:nvSpPr>
          <p:cNvPr id="26" name="Text 24"/>
          <p:cNvSpPr/>
          <p:nvPr/>
        </p:nvSpPr>
        <p:spPr>
          <a:xfrm>
            <a:off x="9418320" y="182880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NIST AI RMF 1.0</a:t>
            </a:r>
            <a:endParaRPr lang="en-US" sz="900" dirty="0"/>
          </a:p>
        </p:txBody>
      </p:sp>
      <p:sp>
        <p:nvSpPr>
          <p:cNvPr id="27" name="Text 25"/>
          <p:cNvSpPr/>
          <p:nvPr/>
        </p:nvSpPr>
        <p:spPr>
          <a:xfrm>
            <a:off x="9418320" y="205740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MEASURE-2.7, MANAGE-1.1</a:t>
            </a:r>
            <a:endParaRPr lang="en-US" sz="800" dirty="0"/>
          </a:p>
        </p:txBody>
      </p:sp>
      <p:sp>
        <p:nvSpPr>
          <p:cNvPr id="28" name="Shape 26"/>
          <p:cNvSpPr/>
          <p:nvPr/>
        </p:nvSpPr>
        <p:spPr>
          <a:xfrm>
            <a:off x="6858000" y="2377440"/>
            <a:ext cx="2286000" cy="502920"/>
          </a:xfrm>
          <a:prstGeom prst="rect">
            <a:avLst/>
          </a:prstGeom>
          <a:solidFill>
            <a:srgbClr val="F5F5F5"/>
          </a:solidFill>
          <a:ln w="6350">
            <a:solidFill>
              <a:srgbClr val="1A2B4A"/>
            </a:solidFill>
            <a:prstDash val="solid"/>
          </a:ln>
        </p:spPr>
      </p:sp>
      <p:sp>
        <p:nvSpPr>
          <p:cNvPr id="29" name="Text 27"/>
          <p:cNvSpPr/>
          <p:nvPr/>
        </p:nvSpPr>
        <p:spPr>
          <a:xfrm>
            <a:off x="6949440" y="242316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EU AI Act</a:t>
            </a:r>
            <a:endParaRPr lang="en-US" sz="900" dirty="0"/>
          </a:p>
        </p:txBody>
      </p:sp>
      <p:sp>
        <p:nvSpPr>
          <p:cNvPr id="30" name="Text 28"/>
          <p:cNvSpPr/>
          <p:nvPr/>
        </p:nvSpPr>
        <p:spPr>
          <a:xfrm>
            <a:off x="6949440" y="265176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Art15-Robustness, Art12-Logging</a:t>
            </a:r>
            <a:endParaRPr lang="en-US" sz="800" dirty="0"/>
          </a:p>
        </p:txBody>
      </p:sp>
      <p:sp>
        <p:nvSpPr>
          <p:cNvPr id="31" name="Shape 29"/>
          <p:cNvSpPr/>
          <p:nvPr/>
        </p:nvSpPr>
        <p:spPr>
          <a:xfrm>
            <a:off x="9326880" y="2377440"/>
            <a:ext cx="2286000" cy="502920"/>
          </a:xfrm>
          <a:prstGeom prst="rect">
            <a:avLst/>
          </a:prstGeom>
          <a:solidFill>
            <a:srgbClr val="F5F5F5"/>
          </a:solidFill>
          <a:ln w="6350">
            <a:solidFill>
              <a:srgbClr val="1A2B4A"/>
            </a:solidFill>
            <a:prstDash val="solid"/>
          </a:ln>
        </p:spPr>
      </p:sp>
      <p:sp>
        <p:nvSpPr>
          <p:cNvPr id="32" name="Text 30"/>
          <p:cNvSpPr/>
          <p:nvPr/>
        </p:nvSpPr>
        <p:spPr>
          <a:xfrm>
            <a:off x="9418320" y="2423160"/>
            <a:ext cx="2103120" cy="22860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ISO 42001:2023</a:t>
            </a:r>
            <a:endParaRPr lang="en-US" sz="900" dirty="0"/>
          </a:p>
        </p:txBody>
      </p:sp>
      <p:sp>
        <p:nvSpPr>
          <p:cNvPr id="33" name="Text 31"/>
          <p:cNvSpPr/>
          <p:nvPr/>
        </p:nvSpPr>
        <p:spPr>
          <a:xfrm>
            <a:off x="9418320" y="2651760"/>
            <a:ext cx="210312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8.2, 8.4, 9.1</a:t>
            </a:r>
            <a:endParaRPr lang="en-US" sz="800" dirty="0"/>
          </a:p>
        </p:txBody>
      </p:sp>
      <p:sp>
        <p:nvSpPr>
          <p:cNvPr id="34" name="Text 32"/>
          <p:cNvSpPr/>
          <p:nvPr/>
        </p:nvSpPr>
        <p:spPr>
          <a:xfrm>
            <a:off x="548640" y="310896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Flow: Finding → Evidence → Framework Mapping → Control Coverage → Audit Package</a:t>
            </a:r>
            <a:endParaRPr lang="en-US" sz="1000" dirty="0"/>
          </a:p>
        </p:txBody>
      </p:sp>
      <p:sp>
        <p:nvSpPr>
          <p:cNvPr id="35" name="Shape 33"/>
          <p:cNvSpPr/>
          <p:nvPr/>
        </p:nvSpPr>
        <p:spPr>
          <a:xfrm>
            <a:off x="548640" y="3566160"/>
            <a:ext cx="11064240" cy="1097280"/>
          </a:xfrm>
          <a:prstGeom prst="rect">
            <a:avLst/>
          </a:prstGeom>
          <a:solidFill>
            <a:srgbClr val="F5F5F5"/>
          </a:solidFill>
          <a:ln w="6350">
            <a:solidFill>
              <a:srgbClr val="1A2B4A"/>
            </a:solidFill>
            <a:prstDash val="solid"/>
          </a:ln>
        </p:spPr>
      </p:sp>
      <p:sp>
        <p:nvSpPr>
          <p:cNvPr id="36" name="Text 34"/>
          <p:cNvSpPr/>
          <p:nvPr/>
        </p:nvSpPr>
        <p:spPr>
          <a:xfrm>
            <a:off x="731520" y="3657600"/>
            <a:ext cx="106984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Strategic Value</a:t>
            </a:r>
            <a:endParaRPr lang="en-US" sz="1100" dirty="0"/>
          </a:p>
        </p:txBody>
      </p:sp>
      <p:sp>
        <p:nvSpPr>
          <p:cNvPr id="37" name="Text 35"/>
          <p:cNvSpPr/>
          <p:nvPr/>
        </p:nvSpPr>
        <p:spPr>
          <a:xfrm>
            <a:off x="731520" y="3931920"/>
            <a:ext cx="10698480" cy="640080"/>
          </a:xfrm>
          <a:prstGeom prst="rect">
            <a:avLst/>
          </a:prstGeom>
          <a:noFill/>
          <a:ln/>
        </p:spPr>
        <p:txBody>
          <a:bodyPr wrap="square" rtlCol="0" anchor="t"/>
          <a:lstStyle/>
          <a:p>
            <a:pPr algn="l" indent="0" marL="0">
              <a:lnSpc>
                <a:spcPct val="115000"/>
              </a:lnSpc>
              <a:buNone/>
            </a:pPr>
            <a:r>
              <a:rPr lang="en-US" sz="1000" dirty="0">
                <a:solidFill>
                  <a:srgbClr val="1A1A1A"/>
                </a:solidFill>
                <a:latin typeface="Arial" pitchFamily="34" charset="0"/>
                <a:ea typeface="Arial" pitchFamily="34" charset="-122"/>
                <a:cs typeface="Arial" pitchFamily="34" charset="-120"/>
              </a:rPr>
              <a:t>A single remediation can generate reusable technical evidence across multiple assurance reviews. The same source change, retest and evidence record can support related OWASP, NIST, SOC 2, ISO and EU AI Act control evaluations — without recollecting the technical evidence separately for each framework.</a:t>
            </a:r>
            <a:endParaRPr lang="en-US" sz="1000" dirty="0"/>
          </a:p>
        </p:txBody>
      </p:sp>
      <p:sp>
        <p:nvSpPr>
          <p:cNvPr id="38" name="Text 36"/>
          <p:cNvSpPr/>
          <p:nvPr/>
        </p:nvSpPr>
        <p:spPr>
          <a:xfrm>
            <a:off x="548640" y="4846320"/>
            <a:ext cx="10972800" cy="274320"/>
          </a:xfrm>
          <a:prstGeom prst="rect">
            <a:avLst/>
          </a:prstGeom>
          <a:noFill/>
          <a:ln/>
        </p:spPr>
        <p:txBody>
          <a:bodyPr wrap="square" rtlCol="0" anchor="t"/>
          <a:lstStyle/>
          <a:p>
            <a:pPr algn="l" indent="0" marL="0">
              <a:lnSpc>
                <a:spcPct val="115000"/>
              </a:lnSpc>
              <a:buNone/>
            </a:pPr>
            <a:r>
              <a:rPr lang="en-US" sz="1200" b="1" dirty="0">
                <a:solidFill>
                  <a:srgbClr val="1A2B4A"/>
                </a:solidFill>
                <a:latin typeface="Arial" pitchFamily="34" charset="0"/>
                <a:ea typeface="Arial" pitchFamily="34" charset="-122"/>
                <a:cs typeface="Arial" pitchFamily="34" charset="-120"/>
              </a:rPr>
              <a:t>Remediate once. Reuse the evidence across frameworks.</a:t>
            </a:r>
            <a:endParaRPr lang="en-US" sz="1200" dirty="0"/>
          </a:p>
        </p:txBody>
      </p:sp>
      <p:sp>
        <p:nvSpPr>
          <p:cNvPr id="39" name="Text 37"/>
          <p:cNvSpPr/>
          <p:nvPr/>
        </p:nvSpPr>
        <p:spPr>
          <a:xfrm>
            <a:off x="548640" y="5212080"/>
            <a:ext cx="10972800" cy="274320"/>
          </a:xfrm>
          <a:prstGeom prst="rect">
            <a:avLst/>
          </a:prstGeom>
          <a:noFill/>
          <a:ln/>
        </p:spPr>
        <p:txBody>
          <a:bodyPr wrap="square" rtlCol="0" anchor="t"/>
          <a:lstStyle/>
          <a:p>
            <a:pPr algn="l" indent="0" marL="0">
              <a:lnSpc>
                <a:spcPct val="115000"/>
              </a:lnSpc>
              <a:buNone/>
            </a:pPr>
            <a:r>
              <a:rPr lang="en-US" sz="800" dirty="0">
                <a:solidFill>
                  <a:srgbClr val="6B6B6B"/>
                </a:solidFill>
                <a:latin typeface="Arial" pitchFamily="34" charset="0"/>
                <a:ea typeface="Arial" pitchFamily="34" charset="-122"/>
                <a:cs typeface="Arial" pitchFamily="34" charset="-120"/>
              </a:rPr>
              <a:t>Source: lib/ai-security/compliance-mappings.ts — 82 unique rule IDs mapped to 13 compliance frameworks.</a:t>
            </a:r>
            <a:endParaRPr lang="en-US" sz="800" dirty="0"/>
          </a:p>
        </p:txBody>
      </p:sp>
      <p:sp>
        <p:nvSpPr>
          <p:cNvPr id="40" name="Text 38"/>
          <p:cNvSpPr/>
          <p:nvPr/>
        </p:nvSpPr>
        <p:spPr>
          <a:xfrm>
            <a:off x="548640" y="5577840"/>
            <a:ext cx="10972800" cy="45720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Mapped frameworks: SOC 2 · ISO 27001:2022 · ISO 42001:2023 · OWASP LLM Top 10:2025 · GDPR · HIPAA · CWE · NIST AI RMF 1.0 · EU AI Act · CCPA · NYC LL144 · Colorado AI Act · FTC Act</a:t>
            </a:r>
            <a:endParaRPr lang="en-US" sz="900" dirty="0"/>
          </a:p>
        </p:txBody>
      </p:sp>
      <p:sp>
        <p:nvSpPr>
          <p:cNvPr id="41" name="Shape 39"/>
          <p:cNvSpPr/>
          <p:nvPr/>
        </p:nvSpPr>
        <p:spPr>
          <a:xfrm>
            <a:off x="457200" y="6473952"/>
            <a:ext cx="11277295" cy="0"/>
          </a:xfrm>
          <a:prstGeom prst="line">
            <a:avLst/>
          </a:prstGeom>
          <a:noFill/>
          <a:ln w="6350">
            <a:solidFill>
              <a:srgbClr val="CCCCCC"/>
            </a:solidFill>
            <a:prstDash val="solid"/>
          </a:ln>
        </p:spPr>
      </p:sp>
      <p:sp>
        <p:nvSpPr>
          <p:cNvPr id="42" name="Text 4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8/15</a:t>
            </a:r>
            <a:endParaRPr lang="en-US" sz="800" dirty="0"/>
          </a:p>
        </p:txBody>
      </p:sp>
      <p:sp>
        <p:nvSpPr>
          <p:cNvPr id="43" name="Text 4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Verified coverage determines current eligibility.</a:t>
            </a:r>
            <a:endParaRPr lang="en-US" sz="2200" dirty="0"/>
          </a:p>
          <a:p>
            <a:pPr algn="l" indent="0" marL="0">
              <a:buNone/>
            </a:pPr>
            <a:r>
              <a:rPr lang="en-US" sz="2200" b="1" dirty="0">
                <a:solidFill>
                  <a:srgbClr val="1A2B4A"/>
                </a:solidFill>
                <a:latin typeface="Arial" pitchFamily="34" charset="0"/>
                <a:ea typeface="Arial" pitchFamily="34" charset="-122"/>
                <a:cs typeface="Arial" pitchFamily="34" charset="-120"/>
              </a:rPr>
              <a:t>Critical findings will become explicit release gates.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2743200" cy="1371600"/>
          </a:xfrm>
          <a:prstGeom prst="rect">
            <a:avLst/>
          </a:prstGeom>
          <a:solidFill>
            <a:srgbClr val="F5F5F5"/>
          </a:solidFill>
          <a:ln w="6350">
            <a:solidFill>
              <a:srgbClr val="D0D0D0"/>
            </a:solidFill>
            <a:prstDash val="solid"/>
          </a:ln>
        </p:spPr>
      </p:sp>
      <p:sp>
        <p:nvSpPr>
          <p:cNvPr id="5" name="Text 3"/>
          <p:cNvSpPr/>
          <p:nvPr/>
        </p:nvSpPr>
        <p:spPr>
          <a:xfrm>
            <a:off x="685800" y="1280160"/>
            <a:ext cx="24688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ENGINE INPUTS</a:t>
            </a:r>
            <a:endParaRPr lang="en-US" sz="800" dirty="0"/>
          </a:p>
        </p:txBody>
      </p:sp>
      <p:sp>
        <p:nvSpPr>
          <p:cNvPr id="6" name="Text 4"/>
          <p:cNvSpPr/>
          <p:nvPr/>
        </p:nvSpPr>
        <p:spPr>
          <a:xfrm>
            <a:off x="685800" y="1554480"/>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Static scan results</a:t>
            </a:r>
            <a:endParaRPr lang="en-US" sz="800" dirty="0"/>
          </a:p>
        </p:txBody>
      </p:sp>
      <p:sp>
        <p:nvSpPr>
          <p:cNvPr id="7" name="Text 5"/>
          <p:cNvSpPr/>
          <p:nvPr/>
        </p:nvSpPr>
        <p:spPr>
          <a:xfrm>
            <a:off x="685800" y="1755648"/>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Runtime test results</a:t>
            </a:r>
            <a:endParaRPr lang="en-US" sz="800" dirty="0"/>
          </a:p>
        </p:txBody>
      </p:sp>
      <p:sp>
        <p:nvSpPr>
          <p:cNvPr id="8" name="Text 6"/>
          <p:cNvSpPr/>
          <p:nvPr/>
        </p:nvSpPr>
        <p:spPr>
          <a:xfrm>
            <a:off x="685800" y="1956816"/>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Wizard assessment</a:t>
            </a:r>
            <a:endParaRPr lang="en-US" sz="800" dirty="0"/>
          </a:p>
        </p:txBody>
      </p:sp>
      <p:sp>
        <p:nvSpPr>
          <p:cNvPr id="9" name="Text 7"/>
          <p:cNvSpPr/>
          <p:nvPr/>
        </p:nvSpPr>
        <p:spPr>
          <a:xfrm>
            <a:off x="685800" y="2157984"/>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AI inventory</a:t>
            </a:r>
            <a:endParaRPr lang="en-US" sz="800" dirty="0"/>
          </a:p>
        </p:txBody>
      </p:sp>
      <p:sp>
        <p:nvSpPr>
          <p:cNvPr id="10" name="Text 8"/>
          <p:cNvSpPr/>
          <p:nvPr/>
        </p:nvSpPr>
        <p:spPr>
          <a:xfrm>
            <a:off x="685800" y="2359152"/>
            <a:ext cx="246888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Compliance Twin state</a:t>
            </a:r>
            <a:endParaRPr lang="en-US" sz="800" dirty="0"/>
          </a:p>
        </p:txBody>
      </p:sp>
      <p:sp>
        <p:nvSpPr>
          <p:cNvPr id="11" name="Shape 9"/>
          <p:cNvSpPr/>
          <p:nvPr/>
        </p:nvSpPr>
        <p:spPr>
          <a:xfrm>
            <a:off x="3383280" y="1828800"/>
            <a:ext cx="274320" cy="0"/>
          </a:xfrm>
          <a:prstGeom prst="line">
            <a:avLst/>
          </a:prstGeom>
          <a:noFill/>
          <a:ln w="12700">
            <a:solidFill>
              <a:srgbClr val="999999"/>
            </a:solidFill>
            <a:prstDash val="solid"/>
            <a:tailEnd type="triangle"/>
          </a:ln>
        </p:spPr>
      </p:sp>
      <p:sp>
        <p:nvSpPr>
          <p:cNvPr id="12" name="Shape 10"/>
          <p:cNvSpPr/>
          <p:nvPr/>
        </p:nvSpPr>
        <p:spPr>
          <a:xfrm>
            <a:off x="3749040" y="1188720"/>
            <a:ext cx="4114800" cy="1371600"/>
          </a:xfrm>
          <a:prstGeom prst="rect">
            <a:avLst/>
          </a:prstGeom>
          <a:solidFill>
            <a:srgbClr val="F5F5F5"/>
          </a:solidFill>
          <a:ln w="6350">
            <a:solidFill>
              <a:srgbClr val="1A2B4A"/>
            </a:solidFill>
            <a:prstDash val="solid"/>
          </a:ln>
        </p:spPr>
      </p:sp>
      <p:sp>
        <p:nvSpPr>
          <p:cNvPr id="13" name="Text 11"/>
          <p:cNvSpPr/>
          <p:nvPr/>
        </p:nvSpPr>
        <p:spPr>
          <a:xfrm>
            <a:off x="3886200" y="1280160"/>
            <a:ext cx="384048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DECISION PIPELINE</a:t>
            </a:r>
            <a:endParaRPr lang="en-US" sz="800" dirty="0"/>
          </a:p>
        </p:txBody>
      </p:sp>
      <p:sp>
        <p:nvSpPr>
          <p:cNvPr id="14" name="Text 12"/>
          <p:cNvSpPr/>
          <p:nvPr/>
        </p:nvSpPr>
        <p:spPr>
          <a:xfrm>
            <a:off x="3886200" y="1554480"/>
            <a:ext cx="3840480" cy="274320"/>
          </a:xfrm>
          <a:prstGeom prst="rect">
            <a:avLst/>
          </a:prstGeom>
          <a:noFill/>
          <a:ln/>
        </p:spPr>
        <p:txBody>
          <a:bodyPr wrap="square" rtlCol="0" anchor="ctr"/>
          <a:lstStyle/>
          <a:p>
            <a:pPr indent="0" marL="0">
              <a:buNone/>
            </a:pPr>
            <a:r>
              <a:rPr lang="en-US" sz="900" dirty="0">
                <a:solidFill>
                  <a:srgbClr val="1A1A1A"/>
                </a:solidFill>
                <a:latin typeface="Arial" pitchFamily="34" charset="0"/>
                <a:ea typeface="Arial" pitchFamily="34" charset="-122"/>
                <a:cs typeface="Arial" pitchFamily="34" charset="-120"/>
              </a:rPr>
              <a:t>6 Nodes: INPUT → PROMPT → RETRIEVAL → TOOLS → MODEL → DECISION</a:t>
            </a:r>
            <a:endParaRPr lang="en-US" sz="900" dirty="0"/>
          </a:p>
        </p:txBody>
      </p:sp>
      <p:sp>
        <p:nvSpPr>
          <p:cNvPr id="15" name="Text 13"/>
          <p:cNvSpPr/>
          <p:nvPr/>
        </p:nvSpPr>
        <p:spPr>
          <a:xfrm>
            <a:off x="3886200" y="1920240"/>
            <a:ext cx="3840480" cy="274320"/>
          </a:xfrm>
          <a:prstGeom prst="rect">
            <a:avLst/>
          </a:prstGeom>
          <a:noFill/>
          <a:ln/>
        </p:spPr>
        <p:txBody>
          <a:bodyPr wrap="square" rtlCol="0" anchor="ctr"/>
          <a:lstStyle/>
          <a:p>
            <a:pPr indent="0" marL="0">
              <a:buNone/>
            </a:pPr>
            <a:r>
              <a:rPr lang="en-US" sz="900" dirty="0">
                <a:solidFill>
                  <a:srgbClr val="1A2B4A"/>
                </a:solidFill>
                <a:latin typeface="Arial" pitchFamily="34" charset="0"/>
                <a:ea typeface="Arial" pitchFamily="34" charset="-122"/>
                <a:cs typeface="Arial" pitchFamily="34" charset="-120"/>
              </a:rPr>
              <a:t>Decision Integrity Score (DIS) = weighted average × coverage penalty</a:t>
            </a:r>
            <a:endParaRPr lang="en-US" sz="900" dirty="0"/>
          </a:p>
        </p:txBody>
      </p:sp>
      <p:sp>
        <p:nvSpPr>
          <p:cNvPr id="16" name="Text 14"/>
          <p:cNvSpPr/>
          <p:nvPr/>
        </p:nvSpPr>
        <p:spPr>
          <a:xfrm>
            <a:off x="3886200" y="2194560"/>
            <a:ext cx="384048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NIST AI RMF: GOVERN · MAP · MEASURE · MANAGE</a:t>
            </a:r>
            <a:endParaRPr lang="en-US" sz="900" dirty="0"/>
          </a:p>
        </p:txBody>
      </p:sp>
      <p:sp>
        <p:nvSpPr>
          <p:cNvPr id="17" name="Shape 15"/>
          <p:cNvSpPr/>
          <p:nvPr/>
        </p:nvSpPr>
        <p:spPr>
          <a:xfrm>
            <a:off x="7955280" y="1828800"/>
            <a:ext cx="274320" cy="0"/>
          </a:xfrm>
          <a:prstGeom prst="line">
            <a:avLst/>
          </a:prstGeom>
          <a:noFill/>
          <a:ln w="12700">
            <a:solidFill>
              <a:srgbClr val="999999"/>
            </a:solidFill>
            <a:prstDash val="solid"/>
            <a:tailEnd type="triangle"/>
          </a:ln>
        </p:spPr>
      </p:sp>
      <p:sp>
        <p:nvSpPr>
          <p:cNvPr id="18" name="Shape 16"/>
          <p:cNvSpPr/>
          <p:nvPr/>
        </p:nvSpPr>
        <p:spPr>
          <a:xfrm>
            <a:off x="8321040" y="1188720"/>
            <a:ext cx="3291840" cy="1371600"/>
          </a:xfrm>
          <a:prstGeom prst="rect">
            <a:avLst/>
          </a:prstGeom>
          <a:solidFill>
            <a:srgbClr val="F5F5F5"/>
          </a:solidFill>
          <a:ln w="6350">
            <a:solidFill>
              <a:srgbClr val="1A2B4A"/>
            </a:solidFill>
            <a:prstDash val="solid"/>
          </a:ln>
        </p:spPr>
      </p:sp>
      <p:sp>
        <p:nvSpPr>
          <p:cNvPr id="19" name="Text 17"/>
          <p:cNvSpPr/>
          <p:nvPr/>
        </p:nvSpPr>
        <p:spPr>
          <a:xfrm>
            <a:off x="8458200" y="1280160"/>
            <a:ext cx="301752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OUTPUT</a:t>
            </a:r>
            <a:endParaRPr lang="en-US" sz="800" dirty="0"/>
          </a:p>
        </p:txBody>
      </p:sp>
      <p:sp>
        <p:nvSpPr>
          <p:cNvPr id="20" name="Text 18"/>
          <p:cNvSpPr/>
          <p:nvPr/>
        </p:nvSpPr>
        <p:spPr>
          <a:xfrm>
            <a:off x="8458200" y="1554480"/>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DIS score (0–100)</a:t>
            </a:r>
            <a:endParaRPr lang="en-US" sz="800" dirty="0"/>
          </a:p>
        </p:txBody>
      </p:sp>
      <p:sp>
        <p:nvSpPr>
          <p:cNvPr id="21" name="Text 19"/>
          <p:cNvSpPr/>
          <p:nvPr/>
        </p:nvSpPr>
        <p:spPr>
          <a:xfrm>
            <a:off x="8458200" y="1755648"/>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Per-node breakdown</a:t>
            </a:r>
            <a:endParaRPr lang="en-US" sz="800" dirty="0"/>
          </a:p>
        </p:txBody>
      </p:sp>
      <p:sp>
        <p:nvSpPr>
          <p:cNvPr id="22" name="Text 20"/>
          <p:cNvSpPr/>
          <p:nvPr/>
        </p:nvSpPr>
        <p:spPr>
          <a:xfrm>
            <a:off x="8458200" y="1956816"/>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Audit package (JSON)</a:t>
            </a:r>
            <a:endParaRPr lang="en-US" sz="800" dirty="0"/>
          </a:p>
        </p:txBody>
      </p:sp>
      <p:sp>
        <p:nvSpPr>
          <p:cNvPr id="23" name="Text 21"/>
          <p:cNvSpPr/>
          <p:nvPr/>
        </p:nvSpPr>
        <p:spPr>
          <a:xfrm>
            <a:off x="8458200" y="2157984"/>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Review sign-off chain</a:t>
            </a:r>
            <a:endParaRPr lang="en-US" sz="800" dirty="0"/>
          </a:p>
        </p:txBody>
      </p:sp>
      <p:sp>
        <p:nvSpPr>
          <p:cNvPr id="24" name="Text 22"/>
          <p:cNvSpPr/>
          <p:nvPr/>
        </p:nvSpPr>
        <p:spPr>
          <a:xfrm>
            <a:off x="8458200" y="2359152"/>
            <a:ext cx="301752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Drift detection</a:t>
            </a:r>
            <a:endParaRPr lang="en-US" sz="800" dirty="0"/>
          </a:p>
        </p:txBody>
      </p:sp>
      <p:sp>
        <p:nvSpPr>
          <p:cNvPr id="25" name="Shape 23"/>
          <p:cNvSpPr/>
          <p:nvPr/>
        </p:nvSpPr>
        <p:spPr>
          <a:xfrm>
            <a:off x="548640" y="2834640"/>
            <a:ext cx="5303520" cy="2560320"/>
          </a:xfrm>
          <a:prstGeom prst="rect">
            <a:avLst/>
          </a:prstGeom>
          <a:solidFill>
            <a:srgbClr val="F5F5F5"/>
          </a:solidFill>
          <a:ln w="6350">
            <a:solidFill>
              <a:srgbClr val="D0D0D0"/>
            </a:solidFill>
            <a:prstDash val="solid"/>
          </a:ln>
        </p:spPr>
      </p:sp>
      <p:sp>
        <p:nvSpPr>
          <p:cNvPr id="26" name="Text 24"/>
          <p:cNvSpPr/>
          <p:nvPr/>
        </p:nvSpPr>
        <p:spPr>
          <a:xfrm>
            <a:off x="731520" y="2926080"/>
            <a:ext cx="493776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Current Implementation</a:t>
            </a:r>
            <a:endParaRPr lang="en-US" sz="1200" dirty="0"/>
          </a:p>
        </p:txBody>
      </p:sp>
      <p:sp>
        <p:nvSpPr>
          <p:cNvPr id="27" name="Text 25"/>
          <p:cNvSpPr/>
          <p:nvPr/>
        </p:nvSpPr>
        <p:spPr>
          <a:xfrm>
            <a:off x="731520" y="329184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IMPLEMENTED</a:t>
            </a:r>
            <a:endParaRPr lang="en-US" sz="800" dirty="0"/>
          </a:p>
        </p:txBody>
      </p:sp>
      <p:sp>
        <p:nvSpPr>
          <p:cNvPr id="28" name="Text 26"/>
          <p:cNvSpPr/>
          <p:nvPr/>
        </p:nvSpPr>
        <p:spPr>
          <a:xfrm>
            <a:off x="731520" y="365760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Aggregation job normalizes all engine outputs to 6 nodes</a:t>
            </a:r>
            <a:endParaRPr lang="en-US" sz="800" dirty="0"/>
          </a:p>
        </p:txBody>
      </p:sp>
      <p:sp>
        <p:nvSpPr>
          <p:cNvPr id="29" name="Text 27"/>
          <p:cNvSpPr/>
          <p:nvPr/>
        </p:nvSpPr>
        <p:spPr>
          <a:xfrm>
            <a:off x="731520" y="387705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DIS formula v1.0 with locked methodology version</a:t>
            </a:r>
            <a:endParaRPr lang="en-US" sz="800" dirty="0"/>
          </a:p>
        </p:txBody>
      </p:sp>
      <p:sp>
        <p:nvSpPr>
          <p:cNvPr id="30" name="Text 28"/>
          <p:cNvSpPr/>
          <p:nvPr/>
        </p:nvSpPr>
        <p:spPr>
          <a:xfrm>
            <a:off x="731520" y="409651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Coverage penalty: &lt;50% → ×0.85, 50-74% → ×0.95, ≥75% → ×1.00</a:t>
            </a:r>
            <a:endParaRPr lang="en-US" sz="800" dirty="0"/>
          </a:p>
        </p:txBody>
      </p:sp>
      <p:sp>
        <p:nvSpPr>
          <p:cNvPr id="31" name="Text 29"/>
          <p:cNvSpPr/>
          <p:nvPr/>
        </p:nvSpPr>
        <p:spPr>
          <a:xfrm>
            <a:off x="731520" y="4315968"/>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Audit eligibility: FULL_RUN with every required architecture node VERIFIED</a:t>
            </a:r>
            <a:endParaRPr lang="en-US" sz="800" dirty="0"/>
          </a:p>
        </p:txBody>
      </p:sp>
      <p:sp>
        <p:nvSpPr>
          <p:cNvPr id="32" name="Text 30"/>
          <p:cNvSpPr/>
          <p:nvPr/>
        </p:nvSpPr>
        <p:spPr>
          <a:xfrm>
            <a:off x="731520" y="4535424"/>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PARTIAL_RUN results consistently excluded from audit eligibility</a:t>
            </a:r>
            <a:endParaRPr lang="en-US" sz="800" dirty="0"/>
          </a:p>
        </p:txBody>
      </p:sp>
      <p:sp>
        <p:nvSpPr>
          <p:cNvPr id="33" name="Text 31"/>
          <p:cNvSpPr/>
          <p:nvPr/>
        </p:nvSpPr>
        <p:spPr>
          <a:xfrm>
            <a:off x="731520" y="475488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Human review workflow with signature hash + IP + user-agent</a:t>
            </a:r>
            <a:endParaRPr lang="en-US" sz="800" dirty="0"/>
          </a:p>
        </p:txBody>
      </p:sp>
      <p:sp>
        <p:nvSpPr>
          <p:cNvPr id="34" name="Text 32"/>
          <p:cNvSpPr/>
          <p:nvPr/>
        </p:nvSpPr>
        <p:spPr>
          <a:xfrm>
            <a:off x="731520" y="497433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Drift detection: ≥10pt overall drop or ≥15pt node drop or eligibility flip</a:t>
            </a:r>
            <a:endParaRPr lang="en-US" sz="800" dirty="0"/>
          </a:p>
        </p:txBody>
      </p:sp>
      <p:sp>
        <p:nvSpPr>
          <p:cNvPr id="35" name="Text 33"/>
          <p:cNvSpPr/>
          <p:nvPr/>
        </p:nvSpPr>
        <p:spPr>
          <a:xfrm>
            <a:off x="731520" y="519379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Enterprise V1 API with feature gate and rate limiting</a:t>
            </a:r>
            <a:endParaRPr lang="en-US" sz="800" dirty="0"/>
          </a:p>
        </p:txBody>
      </p:sp>
      <p:sp>
        <p:nvSpPr>
          <p:cNvPr id="36" name="Shape 34"/>
          <p:cNvSpPr/>
          <p:nvPr/>
        </p:nvSpPr>
        <p:spPr>
          <a:xfrm>
            <a:off x="6309360" y="2834640"/>
            <a:ext cx="5303520" cy="2560320"/>
          </a:xfrm>
          <a:prstGeom prst="rect">
            <a:avLst/>
          </a:prstGeom>
          <a:solidFill>
            <a:srgbClr val="F5F5F5"/>
          </a:solidFill>
          <a:ln w="6350">
            <a:solidFill>
              <a:srgbClr val="1A2B4A"/>
            </a:solidFill>
            <a:prstDash val="solid"/>
          </a:ln>
        </p:spPr>
      </p:sp>
      <p:sp>
        <p:nvSpPr>
          <p:cNvPr id="37" name="Text 35"/>
          <p:cNvSpPr/>
          <p:nvPr/>
        </p:nvSpPr>
        <p:spPr>
          <a:xfrm>
            <a:off x="6492240" y="2926080"/>
            <a:ext cx="493776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Roadmap &amp; Next Capabilities</a:t>
            </a:r>
            <a:endParaRPr lang="en-US" sz="1200" dirty="0"/>
          </a:p>
        </p:txBody>
      </p:sp>
      <p:sp>
        <p:nvSpPr>
          <p:cNvPr id="38" name="Text 36"/>
          <p:cNvSpPr/>
          <p:nvPr/>
        </p:nvSpPr>
        <p:spPr>
          <a:xfrm>
            <a:off x="6492240" y="329184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39" name="Text 37"/>
          <p:cNvSpPr/>
          <p:nvPr/>
        </p:nvSpPr>
        <p:spPr>
          <a:xfrm>
            <a:off x="6492240" y="365760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Findings-level blocker gates: scoring implemented, enforcement activation next</a:t>
            </a:r>
            <a:endParaRPr lang="en-US" sz="800" dirty="0"/>
          </a:p>
        </p:txBody>
      </p:sp>
      <p:sp>
        <p:nvSpPr>
          <p:cNvPr id="40" name="Text 38"/>
          <p:cNvSpPr/>
          <p:nvPr/>
        </p:nvSpPr>
        <p:spPr>
          <a:xfrm>
            <a:off x="6492240" y="3877056"/>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Critical-finding gates: eligibility enforcement in active development</a:t>
            </a:r>
            <a:endParaRPr lang="en-US" sz="800" dirty="0"/>
          </a:p>
        </p:txBody>
      </p:sp>
      <p:sp>
        <p:nvSpPr>
          <p:cNvPr id="41" name="Text 39"/>
          <p:cNvSpPr/>
          <p:nvPr/>
        </p:nvSpPr>
        <p:spPr>
          <a:xfrm>
            <a:off x="6492240" y="4096512"/>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Minimum coverage thresholds as explicit eligibility conditions</a:t>
            </a:r>
            <a:endParaRPr lang="en-US" sz="800" dirty="0"/>
          </a:p>
        </p:txBody>
      </p:sp>
      <p:sp>
        <p:nvSpPr>
          <p:cNvPr id="42" name="Text 40"/>
          <p:cNvSpPr/>
          <p:nvPr/>
        </p:nvSpPr>
        <p:spPr>
          <a:xfrm>
            <a:off x="6492240" y="4315968"/>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QStash async job: infrastructure ready, production token configuration next</a:t>
            </a:r>
            <a:endParaRPr lang="en-US" sz="800" dirty="0"/>
          </a:p>
        </p:txBody>
      </p:sp>
      <p:sp>
        <p:nvSpPr>
          <p:cNvPr id="43" name="Text 41"/>
          <p:cNvSpPr/>
          <p:nvPr/>
        </p:nvSpPr>
        <p:spPr>
          <a:xfrm>
            <a:off x="6492240" y="4535424"/>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Scheduled re-verification: cron infrastructure ready, scheduling activation next</a:t>
            </a:r>
            <a:endParaRPr lang="en-US" sz="800" dirty="0"/>
          </a:p>
        </p:txBody>
      </p:sp>
      <p:sp>
        <p:nvSpPr>
          <p:cNvPr id="44" name="Text 42"/>
          <p:cNvSpPr/>
          <p:nvPr/>
        </p:nvSpPr>
        <p:spPr>
          <a:xfrm>
            <a:off x="6492240" y="4754880"/>
            <a:ext cx="4937760" cy="201168"/>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Review workflow: sign-off chain implemented, production rollout next</a:t>
            </a:r>
            <a:endParaRPr lang="en-US" sz="800" dirty="0"/>
          </a:p>
        </p:txBody>
      </p:sp>
      <p:sp>
        <p:nvSpPr>
          <p:cNvPr id="45" name="Text 43"/>
          <p:cNvSpPr/>
          <p:nvPr/>
        </p:nvSpPr>
        <p:spPr>
          <a:xfrm>
            <a:off x="548640" y="566928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Product principle: UI never computes scores — it only reads from aggregation output tables. Methodology version is locked at compute time.</a:t>
            </a:r>
            <a:endParaRPr lang="en-US" sz="1000" dirty="0"/>
          </a:p>
        </p:txBody>
      </p:sp>
      <p:sp>
        <p:nvSpPr>
          <p:cNvPr id="46" name="Text 44"/>
          <p:cNvSpPr/>
          <p:nvPr/>
        </p:nvSpPr>
        <p:spPr>
          <a:xfrm>
            <a:off x="548640" y="6035040"/>
            <a:ext cx="10972800" cy="2743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Maturity: Decision Pipeline — Implemented (scoring, aggregation, audit package, PARTIAL_RUN exclusion). Findings-level blocker enforcement in active development for eligibility gate activation.</a:t>
            </a:r>
            <a:endParaRPr lang="en-US" sz="900" dirty="0"/>
          </a:p>
        </p:txBody>
      </p:sp>
      <p:sp>
        <p:nvSpPr>
          <p:cNvPr id="47" name="Shape 45"/>
          <p:cNvSpPr/>
          <p:nvPr/>
        </p:nvSpPr>
        <p:spPr>
          <a:xfrm>
            <a:off x="457200" y="6473952"/>
            <a:ext cx="11277295" cy="0"/>
          </a:xfrm>
          <a:prstGeom prst="line">
            <a:avLst/>
          </a:prstGeom>
          <a:noFill/>
          <a:ln w="6350">
            <a:solidFill>
              <a:srgbClr val="CCCCCC"/>
            </a:solidFill>
            <a:prstDash val="solid"/>
          </a:ln>
        </p:spPr>
      </p:sp>
      <p:sp>
        <p:nvSpPr>
          <p:cNvPr id="48" name="Text 46"/>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9/15</a:t>
            </a:r>
            <a:endParaRPr lang="en-US" sz="800" dirty="0"/>
          </a:p>
        </p:txBody>
      </p:sp>
      <p:sp>
        <p:nvSpPr>
          <p:cNvPr id="49" name="Text 47"/>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Validation should change when the system changes.</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5303520" cy="2743200"/>
          </a:xfrm>
          <a:prstGeom prst="rect">
            <a:avLst/>
          </a:prstGeom>
          <a:solidFill>
            <a:srgbClr val="F5F5F5"/>
          </a:solidFill>
          <a:ln w="6350">
            <a:solidFill>
              <a:srgbClr val="1A2B4A"/>
            </a:solidFill>
            <a:prstDash val="solid"/>
          </a:ln>
        </p:spPr>
      </p:sp>
      <p:sp>
        <p:nvSpPr>
          <p:cNvPr id="5" name="Text 3"/>
          <p:cNvSpPr/>
          <p:nvPr/>
        </p:nvSpPr>
        <p:spPr>
          <a:xfrm>
            <a:off x="731520" y="1280160"/>
            <a:ext cx="4937760" cy="320040"/>
          </a:xfrm>
          <a:prstGeom prst="rect">
            <a:avLst/>
          </a:prstGeom>
          <a:noFill/>
          <a:ln/>
        </p:spPr>
        <p:txBody>
          <a:bodyPr wrap="square" rtlCol="0" anchor="ctr"/>
          <a:lstStyle/>
          <a:p>
            <a:pPr indent="0" marL="0">
              <a:buNone/>
            </a:pPr>
            <a:r>
              <a:rPr lang="en-US" sz="1300" b="1" dirty="0">
                <a:solidFill>
                  <a:srgbClr val="1A2B4A"/>
                </a:solidFill>
                <a:latin typeface="Arial" pitchFamily="34" charset="0"/>
                <a:ea typeface="Arial" pitchFamily="34" charset="-122"/>
                <a:cs typeface="Arial" pitchFamily="34" charset="-120"/>
              </a:rPr>
              <a:t>Compliance Twin</a:t>
            </a:r>
            <a:endParaRPr lang="en-US" sz="1300" dirty="0"/>
          </a:p>
        </p:txBody>
      </p:sp>
      <p:sp>
        <p:nvSpPr>
          <p:cNvPr id="6" name="Text 4"/>
          <p:cNvSpPr/>
          <p:nvPr/>
        </p:nvSpPr>
        <p:spPr>
          <a:xfrm>
            <a:off x="731520" y="164592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SUBSTANTIVE SUBSYSTEM</a:t>
            </a:r>
            <a:endParaRPr lang="en-US" sz="800" dirty="0"/>
          </a:p>
        </p:txBody>
      </p:sp>
      <p:sp>
        <p:nvSpPr>
          <p:cNvPr id="7" name="Text 5"/>
          <p:cNvSpPr/>
          <p:nvPr/>
        </p:nvSpPr>
        <p:spPr>
          <a:xfrm>
            <a:off x="731520" y="2011680"/>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17 files in lib/compliance-twin/ — entirely TypeScript</a:t>
            </a:r>
            <a:endParaRPr lang="en-US" sz="800" dirty="0"/>
          </a:p>
        </p:txBody>
      </p:sp>
      <p:sp>
        <p:nvSpPr>
          <p:cNvPr id="8" name="Text 6"/>
          <p:cNvSpPr/>
          <p:nvPr/>
        </p:nvSpPr>
        <p:spPr>
          <a:xfrm>
            <a:off x="731520" y="2203704"/>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6 jurisdictions: NYC LL144, Colorado SB24-205, EU AI Act, US Federal, UK, International</a:t>
            </a:r>
            <a:endParaRPr lang="en-US" sz="800" dirty="0"/>
          </a:p>
        </p:txBody>
      </p:sp>
      <p:sp>
        <p:nvSpPr>
          <p:cNvPr id="9" name="Text 7"/>
          <p:cNvSpPr/>
          <p:nvPr/>
        </p:nvSpPr>
        <p:spPr>
          <a:xfrm>
            <a:off x="731520" y="2395728"/>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Delta engine: structured diff between compliance snapshots (Patent P1)</a:t>
            </a:r>
            <a:endParaRPr lang="en-US" sz="800" dirty="0"/>
          </a:p>
        </p:txBody>
      </p:sp>
      <p:sp>
        <p:nvSpPr>
          <p:cNvPr id="10" name="Text 8"/>
          <p:cNvSpPr/>
          <p:nvPr/>
        </p:nvSpPr>
        <p:spPr>
          <a:xfrm>
            <a:off x="731520" y="2587752"/>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Anomaly detector: Z-score + IQR statistical methods</a:t>
            </a:r>
            <a:endParaRPr lang="en-US" sz="800" dirty="0"/>
          </a:p>
        </p:txBody>
      </p:sp>
      <p:sp>
        <p:nvSpPr>
          <p:cNvPr id="11" name="Text 9"/>
          <p:cNvSpPr/>
          <p:nvPr/>
        </p:nvSpPr>
        <p:spPr>
          <a:xfrm>
            <a:off x="731520" y="2779776"/>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Alert engine: deduplication + 4-level escalation</a:t>
            </a:r>
            <a:endParaRPr lang="en-US" sz="800" dirty="0"/>
          </a:p>
        </p:txBody>
      </p:sp>
      <p:sp>
        <p:nvSpPr>
          <p:cNvPr id="12" name="Text 10"/>
          <p:cNvSpPr/>
          <p:nvPr/>
        </p:nvSpPr>
        <p:spPr>
          <a:xfrm>
            <a:off x="731520" y="2971800"/>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Rulepack engine: 23 seed rules across 4 frameworks</a:t>
            </a:r>
            <a:endParaRPr lang="en-US" sz="800" dirty="0"/>
          </a:p>
        </p:txBody>
      </p:sp>
      <p:sp>
        <p:nvSpPr>
          <p:cNvPr id="13" name="Text 11"/>
          <p:cNvSpPr/>
          <p:nvPr/>
        </p:nvSpPr>
        <p:spPr>
          <a:xfrm>
            <a:off x="731520" y="3163824"/>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Snapshot engine: SHA-256-addressed, tamper-evident state snapshots</a:t>
            </a:r>
            <a:endParaRPr lang="en-US" sz="800" dirty="0"/>
          </a:p>
        </p:txBody>
      </p:sp>
      <p:sp>
        <p:nvSpPr>
          <p:cNvPr id="14" name="Text 12"/>
          <p:cNvSpPr/>
          <p:nvPr/>
        </p:nvSpPr>
        <p:spPr>
          <a:xfrm>
            <a:off x="731520" y="3355848"/>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Provenance engine: compliance record anchoring (Patent P3)</a:t>
            </a:r>
            <a:endParaRPr lang="en-US" sz="800" dirty="0"/>
          </a:p>
        </p:txBody>
      </p:sp>
      <p:sp>
        <p:nvSpPr>
          <p:cNvPr id="15" name="Text 13"/>
          <p:cNvSpPr/>
          <p:nvPr/>
        </p:nvSpPr>
        <p:spPr>
          <a:xfrm>
            <a:off x="731520" y="3547872"/>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Regression engine: detects previously-passing rules that now fail</a:t>
            </a:r>
            <a:endParaRPr lang="en-US" sz="800" dirty="0"/>
          </a:p>
        </p:txBody>
      </p:sp>
      <p:sp>
        <p:nvSpPr>
          <p:cNvPr id="16" name="Text 14"/>
          <p:cNvSpPr/>
          <p:nvPr/>
        </p:nvSpPr>
        <p:spPr>
          <a:xfrm>
            <a:off x="731520" y="3739896"/>
            <a:ext cx="4937760" cy="18288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17 API routes for full lifecycle management</a:t>
            </a:r>
            <a:endParaRPr lang="en-US" sz="800" dirty="0"/>
          </a:p>
        </p:txBody>
      </p:sp>
      <p:sp>
        <p:nvSpPr>
          <p:cNvPr id="17" name="Shape 15"/>
          <p:cNvSpPr/>
          <p:nvPr/>
        </p:nvSpPr>
        <p:spPr>
          <a:xfrm>
            <a:off x="6309360" y="1188720"/>
            <a:ext cx="5303520" cy="2743200"/>
          </a:xfrm>
          <a:prstGeom prst="rect">
            <a:avLst/>
          </a:prstGeom>
          <a:solidFill>
            <a:srgbClr val="F5F5F5"/>
          </a:solidFill>
          <a:ln w="6350">
            <a:solidFill>
              <a:srgbClr val="D0D0D0"/>
            </a:solidFill>
            <a:prstDash val="solid"/>
          </a:ln>
        </p:spPr>
      </p:sp>
      <p:sp>
        <p:nvSpPr>
          <p:cNvPr id="18" name="Text 16"/>
          <p:cNvSpPr/>
          <p:nvPr/>
        </p:nvSpPr>
        <p:spPr>
          <a:xfrm>
            <a:off x="6492240" y="1280160"/>
            <a:ext cx="4937760" cy="320040"/>
          </a:xfrm>
          <a:prstGeom prst="rect">
            <a:avLst/>
          </a:prstGeom>
          <a:noFill/>
          <a:ln/>
        </p:spPr>
        <p:txBody>
          <a:bodyPr wrap="square" rtlCol="0" anchor="ctr"/>
          <a:lstStyle/>
          <a:p>
            <a:pPr indent="0" marL="0">
              <a:buNone/>
            </a:pPr>
            <a:r>
              <a:rPr lang="en-US" sz="1300" b="1" dirty="0">
                <a:solidFill>
                  <a:srgbClr val="1A1A1A"/>
                </a:solidFill>
                <a:latin typeface="Arial" pitchFamily="34" charset="0"/>
                <a:ea typeface="Arial" pitchFamily="34" charset="-122"/>
                <a:cs typeface="Arial" pitchFamily="34" charset="-120"/>
              </a:rPr>
              <a:t>Kill Switch</a:t>
            </a:r>
            <a:endParaRPr lang="en-US" sz="1300" dirty="0"/>
          </a:p>
        </p:txBody>
      </p:sp>
      <p:sp>
        <p:nvSpPr>
          <p:cNvPr id="19" name="Text 17"/>
          <p:cNvSpPr/>
          <p:nvPr/>
        </p:nvSpPr>
        <p:spPr>
          <a:xfrm>
            <a:off x="6492240" y="1645920"/>
            <a:ext cx="1645920" cy="228600"/>
          </a:xfrm>
          <a:prstGeom prst="rect">
            <a:avLst/>
          </a:prstGeom>
          <a:noFill/>
          <a:ln/>
        </p:spPr>
        <p:txBody>
          <a:bodyPr wrap="square" rtlCol="0" anchor="ctr"/>
          <a:lstStyle/>
          <a:p>
            <a:pPr algn="l" indent="0" marL="0">
              <a:buNone/>
            </a:pPr>
            <a:r>
              <a:rPr lang="en-US" sz="800" b="1" dirty="0">
                <a:solidFill>
                  <a:srgbClr val="1A2B4A"/>
                </a:solidFill>
                <a:latin typeface="Arial" pitchFamily="34" charset="0"/>
                <a:ea typeface="Arial" pitchFamily="34" charset="-122"/>
                <a:cs typeface="Arial" pitchFamily="34" charset="-120"/>
              </a:rPr>
              <a:t>ACTIVE DEVELOPMENT</a:t>
            </a:r>
            <a:endParaRPr lang="en-US" sz="800" dirty="0"/>
          </a:p>
        </p:txBody>
      </p:sp>
      <p:sp>
        <p:nvSpPr>
          <p:cNvPr id="20" name="Text 18"/>
          <p:cNvSpPr/>
          <p:nvPr/>
        </p:nvSpPr>
        <p:spPr>
          <a:xfrm>
            <a:off x="6492240" y="201168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L1</a:t>
            </a:r>
            <a:endParaRPr lang="en-US" sz="1000" dirty="0"/>
          </a:p>
        </p:txBody>
      </p:sp>
      <p:sp>
        <p:nvSpPr>
          <p:cNvPr id="21" name="Text 19"/>
          <p:cNvSpPr/>
          <p:nvPr/>
        </p:nvSpPr>
        <p:spPr>
          <a:xfrm>
            <a:off x="6949440" y="201168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Rate Limiting</a:t>
            </a:r>
            <a:endParaRPr lang="en-US" sz="900" dirty="0"/>
          </a:p>
        </p:txBody>
      </p:sp>
      <p:sp>
        <p:nvSpPr>
          <p:cNvPr id="22" name="Text 20"/>
          <p:cNvSpPr/>
          <p:nvPr/>
        </p:nvSpPr>
        <p:spPr>
          <a:xfrm>
            <a:off x="10241280" y="201168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3" name="Text 21"/>
          <p:cNvSpPr/>
          <p:nvPr/>
        </p:nvSpPr>
        <p:spPr>
          <a:xfrm>
            <a:off x="6492240" y="233172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L2</a:t>
            </a:r>
            <a:endParaRPr lang="en-US" sz="1000" dirty="0"/>
          </a:p>
        </p:txBody>
      </p:sp>
      <p:sp>
        <p:nvSpPr>
          <p:cNvPr id="24" name="Text 22"/>
          <p:cNvSpPr/>
          <p:nvPr/>
        </p:nvSpPr>
        <p:spPr>
          <a:xfrm>
            <a:off x="6949440" y="233172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Circuit Breaker</a:t>
            </a:r>
            <a:endParaRPr lang="en-US" sz="900" dirty="0"/>
          </a:p>
        </p:txBody>
      </p:sp>
      <p:sp>
        <p:nvSpPr>
          <p:cNvPr id="25" name="Text 23"/>
          <p:cNvSpPr/>
          <p:nvPr/>
        </p:nvSpPr>
        <p:spPr>
          <a:xfrm>
            <a:off x="10241280" y="233172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6" name="Text 24"/>
          <p:cNvSpPr/>
          <p:nvPr/>
        </p:nvSpPr>
        <p:spPr>
          <a:xfrm>
            <a:off x="6492240" y="265176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L3</a:t>
            </a:r>
            <a:endParaRPr lang="en-US" sz="1000" dirty="0"/>
          </a:p>
        </p:txBody>
      </p:sp>
      <p:sp>
        <p:nvSpPr>
          <p:cNvPr id="27" name="Text 25"/>
          <p:cNvSpPr/>
          <p:nvPr/>
        </p:nvSpPr>
        <p:spPr>
          <a:xfrm>
            <a:off x="6949440" y="265176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AI Execution Stop</a:t>
            </a:r>
            <a:endParaRPr lang="en-US" sz="900" dirty="0"/>
          </a:p>
        </p:txBody>
      </p:sp>
      <p:sp>
        <p:nvSpPr>
          <p:cNvPr id="28" name="Text 26"/>
          <p:cNvSpPr/>
          <p:nvPr/>
        </p:nvSpPr>
        <p:spPr>
          <a:xfrm>
            <a:off x="10241280" y="2651760"/>
            <a:ext cx="1188720" cy="274320"/>
          </a:xfrm>
          <a:prstGeom prst="rect">
            <a:avLst/>
          </a:prstGeom>
          <a:noFill/>
          <a:ln/>
        </p:spPr>
        <p:txBody>
          <a:bodyPr wrap="square" rtlCol="0" anchor="ctr"/>
          <a:lstStyle/>
          <a:p>
            <a:pPr algn="r" indent="0" marL="0">
              <a:buNone/>
            </a:pPr>
            <a:r>
              <a:rPr lang="en-US" sz="800" b="1" dirty="0">
                <a:solidFill>
                  <a:srgbClr val="1A2B4A"/>
                </a:solidFill>
                <a:latin typeface="Arial" pitchFamily="34" charset="0"/>
                <a:ea typeface="Arial" pitchFamily="34" charset="-122"/>
                <a:cs typeface="Arial" pitchFamily="34" charset="-120"/>
              </a:rPr>
              <a:t>AVAILABLE</a:t>
            </a:r>
            <a:endParaRPr lang="en-US" sz="800" dirty="0"/>
          </a:p>
        </p:txBody>
      </p:sp>
      <p:sp>
        <p:nvSpPr>
          <p:cNvPr id="29" name="Text 27"/>
          <p:cNvSpPr/>
          <p:nvPr/>
        </p:nvSpPr>
        <p:spPr>
          <a:xfrm>
            <a:off x="6492240" y="297180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L4</a:t>
            </a:r>
            <a:endParaRPr lang="en-US" sz="1000" dirty="0"/>
          </a:p>
        </p:txBody>
      </p:sp>
      <p:sp>
        <p:nvSpPr>
          <p:cNvPr id="30" name="Text 28"/>
          <p:cNvSpPr/>
          <p:nvPr/>
        </p:nvSpPr>
        <p:spPr>
          <a:xfrm>
            <a:off x="6949440" y="297180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Network Block</a:t>
            </a:r>
            <a:endParaRPr lang="en-US" sz="900" dirty="0"/>
          </a:p>
        </p:txBody>
      </p:sp>
      <p:sp>
        <p:nvSpPr>
          <p:cNvPr id="31" name="Text 29"/>
          <p:cNvSpPr/>
          <p:nvPr/>
        </p:nvSpPr>
        <p:spPr>
          <a:xfrm>
            <a:off x="10241280" y="2971800"/>
            <a:ext cx="1188720" cy="274320"/>
          </a:xfrm>
          <a:prstGeom prst="rect">
            <a:avLst/>
          </a:prstGeom>
          <a:noFill/>
          <a:ln/>
        </p:spPr>
        <p:txBody>
          <a:bodyPr wrap="square" rtlCol="0" anchor="ctr"/>
          <a:lstStyle/>
          <a:p>
            <a:pPr algn="r" indent="0" marL="0">
              <a:buNone/>
            </a:pPr>
            <a:r>
              <a:rPr lang="en-US" sz="800" b="1" dirty="0">
                <a:solidFill>
                  <a:srgbClr val="6B6B6B"/>
                </a:solidFill>
                <a:latin typeface="Arial" pitchFamily="34" charset="0"/>
                <a:ea typeface="Arial" pitchFamily="34" charset="-122"/>
                <a:cs typeface="Arial" pitchFamily="34" charset="-120"/>
              </a:rPr>
              <a:t>ROADMAP</a:t>
            </a:r>
            <a:endParaRPr lang="en-US" sz="800" dirty="0"/>
          </a:p>
        </p:txBody>
      </p:sp>
      <p:sp>
        <p:nvSpPr>
          <p:cNvPr id="32" name="Text 30"/>
          <p:cNvSpPr/>
          <p:nvPr/>
        </p:nvSpPr>
        <p:spPr>
          <a:xfrm>
            <a:off x="6492240" y="3291840"/>
            <a:ext cx="36576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L5</a:t>
            </a:r>
            <a:endParaRPr lang="en-US" sz="1000" dirty="0"/>
          </a:p>
        </p:txBody>
      </p:sp>
      <p:sp>
        <p:nvSpPr>
          <p:cNvPr id="33" name="Text 31"/>
          <p:cNvSpPr/>
          <p:nvPr/>
        </p:nvSpPr>
        <p:spPr>
          <a:xfrm>
            <a:off x="6949440" y="3291840"/>
            <a:ext cx="32004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Database Revoke</a:t>
            </a:r>
            <a:endParaRPr lang="en-US" sz="900" dirty="0"/>
          </a:p>
        </p:txBody>
      </p:sp>
      <p:sp>
        <p:nvSpPr>
          <p:cNvPr id="34" name="Text 32"/>
          <p:cNvSpPr/>
          <p:nvPr/>
        </p:nvSpPr>
        <p:spPr>
          <a:xfrm>
            <a:off x="10241280" y="3291840"/>
            <a:ext cx="1188720" cy="274320"/>
          </a:xfrm>
          <a:prstGeom prst="rect">
            <a:avLst/>
          </a:prstGeom>
          <a:noFill/>
          <a:ln/>
        </p:spPr>
        <p:txBody>
          <a:bodyPr wrap="square" rtlCol="0" anchor="ctr"/>
          <a:lstStyle/>
          <a:p>
            <a:pPr algn="r" indent="0" marL="0">
              <a:buNone/>
            </a:pPr>
            <a:r>
              <a:rPr lang="en-US" sz="800" b="1" dirty="0">
                <a:solidFill>
                  <a:srgbClr val="6B6B6B"/>
                </a:solidFill>
                <a:latin typeface="Arial" pitchFamily="34" charset="0"/>
                <a:ea typeface="Arial" pitchFamily="34" charset="-122"/>
                <a:cs typeface="Arial" pitchFamily="34" charset="-120"/>
              </a:rPr>
              <a:t>ROADMAP</a:t>
            </a:r>
            <a:endParaRPr lang="en-US" sz="800" dirty="0"/>
          </a:p>
        </p:txBody>
      </p:sp>
      <p:sp>
        <p:nvSpPr>
          <p:cNvPr id="35" name="Text 33"/>
          <p:cNvSpPr/>
          <p:nvPr/>
        </p:nvSpPr>
        <p:spPr>
          <a:xfrm>
            <a:off x="6492240" y="3749040"/>
            <a:ext cx="4937760" cy="18288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Published SDK: @haiec/kill-switch v0.3.0</a:t>
            </a:r>
            <a:endParaRPr lang="en-US" sz="800" dirty="0"/>
          </a:p>
        </p:txBody>
      </p:sp>
      <p:sp>
        <p:nvSpPr>
          <p:cNvPr id="36" name="Text 34"/>
          <p:cNvSpPr/>
          <p:nvPr/>
        </p:nvSpPr>
        <p:spPr>
          <a:xfrm>
            <a:off x="548640" y="4206240"/>
            <a:ext cx="10972800" cy="36576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Compliance Twin maintains a live digital twin of regulatory state. Kill Switch provides emergency shutdown. Together: continuous assurance with enforcement capability.</a:t>
            </a:r>
            <a:endParaRPr lang="en-US" sz="1100" dirty="0"/>
          </a:p>
        </p:txBody>
      </p:sp>
      <p:sp>
        <p:nvSpPr>
          <p:cNvPr id="37" name="Shape 35"/>
          <p:cNvSpPr/>
          <p:nvPr/>
        </p:nvSpPr>
        <p:spPr>
          <a:xfrm>
            <a:off x="548640" y="4754880"/>
            <a:ext cx="11064240" cy="1371600"/>
          </a:xfrm>
          <a:prstGeom prst="rect">
            <a:avLst/>
          </a:prstGeom>
          <a:solidFill>
            <a:srgbClr val="F5F5F5"/>
          </a:solidFill>
          <a:ln w="6350">
            <a:solidFill>
              <a:srgbClr val="1A2B4A"/>
            </a:solidFill>
            <a:prstDash val="solid"/>
          </a:ln>
        </p:spPr>
      </p:sp>
      <p:sp>
        <p:nvSpPr>
          <p:cNvPr id="38" name="Text 36"/>
          <p:cNvSpPr/>
          <p:nvPr/>
        </p:nvSpPr>
        <p:spPr>
          <a:xfrm>
            <a:off x="731520" y="4846320"/>
            <a:ext cx="10698480" cy="274320"/>
          </a:xfrm>
          <a:prstGeom prst="rect">
            <a:avLst/>
          </a:prstGeom>
          <a:noFill/>
          <a:ln/>
        </p:spPr>
        <p:txBody>
          <a:bodyPr wrap="square" rtlCol="0" anchor="t"/>
          <a:lstStyle/>
          <a:p>
            <a:pPr algn="l" indent="0" marL="0">
              <a:lnSpc>
                <a:spcPct val="115000"/>
              </a:lnSpc>
              <a:buNone/>
            </a:pPr>
            <a:r>
              <a:rPr lang="en-US" sz="1000" b="1" dirty="0">
                <a:solidFill>
                  <a:srgbClr val="1A1A1A"/>
                </a:solidFill>
                <a:latin typeface="Arial" pitchFamily="34" charset="0"/>
                <a:ea typeface="Arial" pitchFamily="34" charset="-122"/>
                <a:cs typeface="Arial" pitchFamily="34" charset="-120"/>
              </a:rPr>
              <a:t>Maturity Notes:</a:t>
            </a:r>
            <a:endParaRPr lang="en-US" sz="1000" dirty="0"/>
          </a:p>
        </p:txBody>
      </p:sp>
      <p:sp>
        <p:nvSpPr>
          <p:cNvPr id="39" name="Text 37"/>
          <p:cNvSpPr/>
          <p:nvPr/>
        </p:nvSpPr>
        <p:spPr>
          <a:xfrm>
            <a:off x="731520" y="5120640"/>
            <a:ext cx="10698480" cy="91440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  Compliance Twin: Substantive implemented subsystem (17 files, 17 API routes, 8 DB models). Full lifecycle management across 6 jurisdictions.</a:t>
            </a:r>
            <a:endParaRPr lang="en-US" sz="900" dirty="0"/>
          </a:p>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  Kill Switch: Layers 1–3 available (rate limiting, circuit breaker, AI execution stop). Layers 4–5 (network block, database revoke) in development. SDK published as npm package.</a:t>
            </a:r>
            <a:endParaRPr lang="en-US" sz="900" dirty="0"/>
          </a:p>
        </p:txBody>
      </p:sp>
      <p:sp>
        <p:nvSpPr>
          <p:cNvPr id="40" name="Shape 38"/>
          <p:cNvSpPr/>
          <p:nvPr/>
        </p:nvSpPr>
        <p:spPr>
          <a:xfrm>
            <a:off x="457200" y="6473952"/>
            <a:ext cx="11277295" cy="0"/>
          </a:xfrm>
          <a:prstGeom prst="line">
            <a:avLst/>
          </a:prstGeom>
          <a:noFill/>
          <a:ln w="6350">
            <a:solidFill>
              <a:srgbClr val="CCCCCC"/>
            </a:solidFill>
            <a:prstDash val="solid"/>
          </a:ln>
        </p:spPr>
      </p:sp>
      <p:sp>
        <p:nvSpPr>
          <p:cNvPr id="41" name="Text 3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10/15</a:t>
            </a:r>
            <a:endParaRPr lang="en-US" sz="800" dirty="0"/>
          </a:p>
        </p:txBody>
      </p:sp>
      <p:sp>
        <p:nvSpPr>
          <p:cNvPr id="42" name="Text 4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The defensibility compounds across the evidence lifecycle.</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188720"/>
            <a:ext cx="7315200" cy="475488"/>
          </a:xfrm>
          <a:prstGeom prst="rect">
            <a:avLst/>
          </a:prstGeom>
          <a:solidFill>
            <a:srgbClr val="F5F5F5"/>
          </a:solidFill>
          <a:ln w="6350">
            <a:solidFill>
              <a:srgbClr val="D0D0D0"/>
            </a:solidFill>
            <a:prstDash val="solid"/>
          </a:ln>
        </p:spPr>
      </p:sp>
      <p:sp>
        <p:nvSpPr>
          <p:cNvPr id="5" name="Text 3"/>
          <p:cNvSpPr/>
          <p:nvPr/>
        </p:nvSpPr>
        <p:spPr>
          <a:xfrm>
            <a:off x="731520" y="1234440"/>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1. Rule Depth</a:t>
            </a:r>
            <a:endParaRPr lang="en-US" sz="1000" dirty="0"/>
          </a:p>
        </p:txBody>
      </p:sp>
      <p:sp>
        <p:nvSpPr>
          <p:cNvPr id="6" name="Text 4"/>
          <p:cNvSpPr/>
          <p:nvPr/>
        </p:nvSpPr>
        <p:spPr>
          <a:xfrm>
            <a:off x="3017520" y="1234440"/>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91 Semgrep + 15 TS + 82 rulepack records. 269 attack templates. Multi-language, multi-provider, multi-domain.</a:t>
            </a:r>
            <a:endParaRPr lang="en-US" sz="900" dirty="0"/>
          </a:p>
        </p:txBody>
      </p:sp>
      <p:sp>
        <p:nvSpPr>
          <p:cNvPr id="7" name="Shape 5"/>
          <p:cNvSpPr/>
          <p:nvPr/>
        </p:nvSpPr>
        <p:spPr>
          <a:xfrm>
            <a:off x="548640" y="1755648"/>
            <a:ext cx="7315200" cy="475488"/>
          </a:xfrm>
          <a:prstGeom prst="rect">
            <a:avLst/>
          </a:prstGeom>
          <a:solidFill>
            <a:srgbClr val="F5F5F5"/>
          </a:solidFill>
          <a:ln w="6350">
            <a:solidFill>
              <a:srgbClr val="D0D0D0"/>
            </a:solidFill>
            <a:prstDash val="solid"/>
          </a:ln>
        </p:spPr>
      </p:sp>
      <p:sp>
        <p:nvSpPr>
          <p:cNvPr id="8" name="Text 6"/>
          <p:cNvSpPr/>
          <p:nvPr/>
        </p:nvSpPr>
        <p:spPr>
          <a:xfrm>
            <a:off x="731520" y="1801368"/>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2. Evidence Architecture</a:t>
            </a:r>
            <a:endParaRPr lang="en-US" sz="1000" dirty="0"/>
          </a:p>
        </p:txBody>
      </p:sp>
      <p:sp>
        <p:nvSpPr>
          <p:cNvPr id="9" name="Text 7"/>
          <p:cNvSpPr/>
          <p:nvPr/>
        </p:nvSpPr>
        <p:spPr>
          <a:xfrm>
            <a:off x="3017520" y="1801368"/>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Finding → manifest → fingerprint → audit package → trust artifact. Hash-chained, version-pinned.</a:t>
            </a:r>
            <a:endParaRPr lang="en-US" sz="900" dirty="0"/>
          </a:p>
        </p:txBody>
      </p:sp>
      <p:sp>
        <p:nvSpPr>
          <p:cNvPr id="10" name="Shape 8"/>
          <p:cNvSpPr/>
          <p:nvPr/>
        </p:nvSpPr>
        <p:spPr>
          <a:xfrm>
            <a:off x="548640" y="2322576"/>
            <a:ext cx="7315200" cy="475488"/>
          </a:xfrm>
          <a:prstGeom prst="rect">
            <a:avLst/>
          </a:prstGeom>
          <a:solidFill>
            <a:srgbClr val="F5F5F5"/>
          </a:solidFill>
          <a:ln w="6350">
            <a:solidFill>
              <a:srgbClr val="D0D0D0"/>
            </a:solidFill>
            <a:prstDash val="solid"/>
          </a:ln>
        </p:spPr>
      </p:sp>
      <p:sp>
        <p:nvSpPr>
          <p:cNvPr id="11" name="Text 9"/>
          <p:cNvSpPr/>
          <p:nvPr/>
        </p:nvSpPr>
        <p:spPr>
          <a:xfrm>
            <a:off x="731520" y="2368296"/>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3. Framework Mapping</a:t>
            </a:r>
            <a:endParaRPr lang="en-US" sz="1000" dirty="0"/>
          </a:p>
        </p:txBody>
      </p:sp>
      <p:sp>
        <p:nvSpPr>
          <p:cNvPr id="12" name="Text 10"/>
          <p:cNvSpPr/>
          <p:nvPr/>
        </p:nvSpPr>
        <p:spPr>
          <a:xfrm>
            <a:off x="3017520" y="2368296"/>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13 compliance frameworks mapped from 82 unique rule IDs. One remediation → reusable evidence across frameworks.</a:t>
            </a:r>
            <a:endParaRPr lang="en-US" sz="900" dirty="0"/>
          </a:p>
        </p:txBody>
      </p:sp>
      <p:sp>
        <p:nvSpPr>
          <p:cNvPr id="13" name="Shape 11"/>
          <p:cNvSpPr/>
          <p:nvPr/>
        </p:nvSpPr>
        <p:spPr>
          <a:xfrm>
            <a:off x="548640" y="2889504"/>
            <a:ext cx="7315200" cy="475488"/>
          </a:xfrm>
          <a:prstGeom prst="rect">
            <a:avLst/>
          </a:prstGeom>
          <a:solidFill>
            <a:srgbClr val="F5F5F5"/>
          </a:solidFill>
          <a:ln w="6350">
            <a:solidFill>
              <a:srgbClr val="D0D0D0"/>
            </a:solidFill>
            <a:prstDash val="solid"/>
          </a:ln>
        </p:spPr>
      </p:sp>
      <p:sp>
        <p:nvSpPr>
          <p:cNvPr id="14" name="Text 12"/>
          <p:cNvSpPr/>
          <p:nvPr/>
        </p:nvSpPr>
        <p:spPr>
          <a:xfrm>
            <a:off x="731520" y="2935224"/>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4. Orchestrated Workflow</a:t>
            </a:r>
            <a:endParaRPr lang="en-US" sz="1000" dirty="0"/>
          </a:p>
        </p:txBody>
      </p:sp>
      <p:sp>
        <p:nvSpPr>
          <p:cNvPr id="15" name="Text 13"/>
          <p:cNvSpPr/>
          <p:nvPr/>
        </p:nvSpPr>
        <p:spPr>
          <a:xfrm>
            <a:off x="3017520" y="2935224"/>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State machine, contract validation, hash-chained event log. DB as source of truth.</a:t>
            </a:r>
            <a:endParaRPr lang="en-US" sz="900" dirty="0"/>
          </a:p>
        </p:txBody>
      </p:sp>
      <p:sp>
        <p:nvSpPr>
          <p:cNvPr id="16" name="Shape 14"/>
          <p:cNvSpPr/>
          <p:nvPr/>
        </p:nvSpPr>
        <p:spPr>
          <a:xfrm>
            <a:off x="548640" y="3456432"/>
            <a:ext cx="7315200" cy="475488"/>
          </a:xfrm>
          <a:prstGeom prst="rect">
            <a:avLst/>
          </a:prstGeom>
          <a:solidFill>
            <a:srgbClr val="F5F5F5"/>
          </a:solidFill>
          <a:ln w="6350">
            <a:solidFill>
              <a:srgbClr val="D0D0D0"/>
            </a:solidFill>
            <a:prstDash val="solid"/>
          </a:ln>
        </p:spPr>
      </p:sp>
      <p:sp>
        <p:nvSpPr>
          <p:cNvPr id="17" name="Text 15"/>
          <p:cNvSpPr/>
          <p:nvPr/>
        </p:nvSpPr>
        <p:spPr>
          <a:xfrm>
            <a:off x="731520" y="3502152"/>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5. Decision Pipeline</a:t>
            </a:r>
            <a:endParaRPr lang="en-US" sz="1000" dirty="0"/>
          </a:p>
        </p:txBody>
      </p:sp>
      <p:sp>
        <p:nvSpPr>
          <p:cNvPr id="18" name="Text 16"/>
          <p:cNvSpPr/>
          <p:nvPr/>
        </p:nvSpPr>
        <p:spPr>
          <a:xfrm>
            <a:off x="3017520" y="3502152"/>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6-node DIS, NIST AI RMF 1.0 breakdown, audit eligibility, human review sign-off.</a:t>
            </a:r>
            <a:endParaRPr lang="en-US" sz="900" dirty="0"/>
          </a:p>
        </p:txBody>
      </p:sp>
      <p:sp>
        <p:nvSpPr>
          <p:cNvPr id="19" name="Shape 17"/>
          <p:cNvSpPr/>
          <p:nvPr/>
        </p:nvSpPr>
        <p:spPr>
          <a:xfrm>
            <a:off x="548640" y="4023360"/>
            <a:ext cx="7315200" cy="475488"/>
          </a:xfrm>
          <a:prstGeom prst="rect">
            <a:avLst/>
          </a:prstGeom>
          <a:solidFill>
            <a:srgbClr val="F5F5F5"/>
          </a:solidFill>
          <a:ln w="6350">
            <a:solidFill>
              <a:srgbClr val="D0D0D0"/>
            </a:solidFill>
            <a:prstDash val="solid"/>
          </a:ln>
        </p:spPr>
      </p:sp>
      <p:sp>
        <p:nvSpPr>
          <p:cNvPr id="20" name="Text 18"/>
          <p:cNvSpPr/>
          <p:nvPr/>
        </p:nvSpPr>
        <p:spPr>
          <a:xfrm>
            <a:off x="731520" y="4069080"/>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6. Continuous Assurance</a:t>
            </a:r>
            <a:endParaRPr lang="en-US" sz="1000" dirty="0"/>
          </a:p>
        </p:txBody>
      </p:sp>
      <p:sp>
        <p:nvSpPr>
          <p:cNvPr id="21" name="Text 19"/>
          <p:cNvSpPr/>
          <p:nvPr/>
        </p:nvSpPr>
        <p:spPr>
          <a:xfrm>
            <a:off x="3017520" y="4069080"/>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Compliance Twin drift detection, scheduled re-verification, regression testing.</a:t>
            </a:r>
            <a:endParaRPr lang="en-US" sz="900" dirty="0"/>
          </a:p>
        </p:txBody>
      </p:sp>
      <p:sp>
        <p:nvSpPr>
          <p:cNvPr id="22" name="Shape 20"/>
          <p:cNvSpPr/>
          <p:nvPr/>
        </p:nvSpPr>
        <p:spPr>
          <a:xfrm>
            <a:off x="548640" y="4590288"/>
            <a:ext cx="7315200" cy="475488"/>
          </a:xfrm>
          <a:prstGeom prst="rect">
            <a:avLst/>
          </a:prstGeom>
          <a:solidFill>
            <a:srgbClr val="F5F5F5"/>
          </a:solidFill>
          <a:ln w="6350">
            <a:solidFill>
              <a:srgbClr val="D0D0D0"/>
            </a:solidFill>
            <a:prstDash val="solid"/>
          </a:ln>
        </p:spPr>
      </p:sp>
      <p:sp>
        <p:nvSpPr>
          <p:cNvPr id="23" name="Text 21"/>
          <p:cNvSpPr/>
          <p:nvPr/>
        </p:nvSpPr>
        <p:spPr>
          <a:xfrm>
            <a:off x="731520" y="4636008"/>
            <a:ext cx="2286000" cy="36576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7. Distribution</a:t>
            </a:r>
            <a:endParaRPr lang="en-US" sz="1000" dirty="0"/>
          </a:p>
        </p:txBody>
      </p:sp>
      <p:sp>
        <p:nvSpPr>
          <p:cNvPr id="24" name="Text 22"/>
          <p:cNvSpPr/>
          <p:nvPr/>
        </p:nvSpPr>
        <p:spPr>
          <a:xfrm>
            <a:off x="3017520" y="4636008"/>
            <a:ext cx="4754880" cy="365760"/>
          </a:xfrm>
          <a:prstGeom prst="rect">
            <a:avLst/>
          </a:prstGeom>
          <a:noFill/>
          <a:ln/>
        </p:spPr>
        <p:txBody>
          <a:bodyPr wrap="square" rtlCol="0" anchor="t"/>
          <a:lstStyle/>
          <a:p>
            <a:pPr algn="l" indent="0" marL="0">
              <a:lnSpc>
                <a:spcPct val="115000"/>
              </a:lnSpc>
              <a:buNone/>
            </a:pPr>
            <a:r>
              <a:rPr lang="en-US" sz="900" dirty="0">
                <a:solidFill>
                  <a:srgbClr val="1A1A1A"/>
                </a:solidFill>
                <a:latin typeface="Arial" pitchFamily="34" charset="0"/>
                <a:ea typeface="Arial" pitchFamily="34" charset="-122"/>
                <a:cs typeface="Arial" pitchFamily="34" charset="-120"/>
              </a:rPr>
              <a:t>Trust artifacts, verification API, CI integration, enterprise V1 API.</a:t>
            </a:r>
            <a:endParaRPr lang="en-US" sz="900" dirty="0"/>
          </a:p>
        </p:txBody>
      </p:sp>
      <p:sp>
        <p:nvSpPr>
          <p:cNvPr id="25" name="Shape 23"/>
          <p:cNvSpPr/>
          <p:nvPr/>
        </p:nvSpPr>
        <p:spPr>
          <a:xfrm>
            <a:off x="7955280" y="3200400"/>
            <a:ext cx="274320" cy="0"/>
          </a:xfrm>
          <a:prstGeom prst="line">
            <a:avLst/>
          </a:prstGeom>
          <a:noFill/>
          <a:ln w="12700">
            <a:solidFill>
              <a:srgbClr val="999999"/>
            </a:solidFill>
            <a:prstDash val="solid"/>
            <a:tailEnd type="triangle"/>
          </a:ln>
        </p:spPr>
      </p:sp>
      <p:sp>
        <p:nvSpPr>
          <p:cNvPr id="26" name="Shape 24"/>
          <p:cNvSpPr/>
          <p:nvPr/>
        </p:nvSpPr>
        <p:spPr>
          <a:xfrm>
            <a:off x="8321040" y="1371600"/>
            <a:ext cx="3291840" cy="1188720"/>
          </a:xfrm>
          <a:prstGeom prst="rect">
            <a:avLst/>
          </a:prstGeom>
          <a:solidFill>
            <a:srgbClr val="F5F5F5"/>
          </a:solidFill>
          <a:ln w="6350">
            <a:solidFill>
              <a:srgbClr val="1A2B4A"/>
            </a:solidFill>
            <a:prstDash val="solid"/>
          </a:ln>
        </p:spPr>
      </p:sp>
      <p:sp>
        <p:nvSpPr>
          <p:cNvPr id="27" name="Shape 25"/>
          <p:cNvSpPr/>
          <p:nvPr/>
        </p:nvSpPr>
        <p:spPr>
          <a:xfrm>
            <a:off x="8321040" y="1371600"/>
            <a:ext cx="54864" cy="1188720"/>
          </a:xfrm>
          <a:prstGeom prst="rect">
            <a:avLst/>
          </a:prstGeom>
          <a:solidFill>
            <a:srgbClr val="1A2B4A"/>
          </a:solidFill>
          <a:ln/>
        </p:spPr>
      </p:sp>
      <p:sp>
        <p:nvSpPr>
          <p:cNvPr id="28" name="Text 26"/>
          <p:cNvSpPr/>
          <p:nvPr/>
        </p:nvSpPr>
        <p:spPr>
          <a:xfrm>
            <a:off x="8503920" y="14630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Switching Costs</a:t>
            </a:r>
            <a:endParaRPr lang="en-US" sz="1200" dirty="0"/>
          </a:p>
        </p:txBody>
      </p:sp>
      <p:sp>
        <p:nvSpPr>
          <p:cNvPr id="29" name="Text 27"/>
          <p:cNvSpPr/>
          <p:nvPr/>
        </p:nvSpPr>
        <p:spPr>
          <a:xfrm>
            <a:off x="8503920" y="18288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Switching costs increase as CI integrations, historical evidence, framework mappings and revalidation records accumulate.</a:t>
            </a:r>
            <a:endParaRPr lang="en-US" sz="900" dirty="0"/>
          </a:p>
        </p:txBody>
      </p:sp>
      <p:sp>
        <p:nvSpPr>
          <p:cNvPr id="30" name="Shape 28"/>
          <p:cNvSpPr/>
          <p:nvPr/>
        </p:nvSpPr>
        <p:spPr>
          <a:xfrm>
            <a:off x="8321040" y="2743200"/>
            <a:ext cx="3291840" cy="1188720"/>
          </a:xfrm>
          <a:prstGeom prst="rect">
            <a:avLst/>
          </a:prstGeom>
          <a:solidFill>
            <a:srgbClr val="F5F5F5"/>
          </a:solidFill>
          <a:ln w="6350">
            <a:solidFill>
              <a:srgbClr val="1A2B4A"/>
            </a:solidFill>
            <a:prstDash val="solid"/>
          </a:ln>
        </p:spPr>
      </p:sp>
      <p:sp>
        <p:nvSpPr>
          <p:cNvPr id="31" name="Shape 29"/>
          <p:cNvSpPr/>
          <p:nvPr/>
        </p:nvSpPr>
        <p:spPr>
          <a:xfrm>
            <a:off x="8321040" y="2743200"/>
            <a:ext cx="54864" cy="1188720"/>
          </a:xfrm>
          <a:prstGeom prst="rect">
            <a:avLst/>
          </a:prstGeom>
          <a:solidFill>
            <a:srgbClr val="1A2B4A"/>
          </a:solidFill>
          <a:ln/>
        </p:spPr>
      </p:sp>
      <p:sp>
        <p:nvSpPr>
          <p:cNvPr id="32" name="Text 30"/>
          <p:cNvSpPr/>
          <p:nvPr/>
        </p:nvSpPr>
        <p:spPr>
          <a:xfrm>
            <a:off x="8503920" y="28346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Coverage &amp; Learning Effects</a:t>
            </a:r>
            <a:endParaRPr lang="en-US" sz="1200" dirty="0"/>
          </a:p>
        </p:txBody>
      </p:sp>
      <p:sp>
        <p:nvSpPr>
          <p:cNvPr id="33" name="Text 31"/>
          <p:cNvSpPr/>
          <p:nvPr/>
        </p:nvSpPr>
        <p:spPr>
          <a:xfrm>
            <a:off x="8503920" y="32004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More systems tested can improve attack coverage, remediation patterns and framework mappings — subject to privacy, tenancy and data-use constraints.</a:t>
            </a:r>
            <a:endParaRPr lang="en-US" sz="900" dirty="0"/>
          </a:p>
        </p:txBody>
      </p:sp>
      <p:sp>
        <p:nvSpPr>
          <p:cNvPr id="34" name="Shape 32"/>
          <p:cNvSpPr/>
          <p:nvPr/>
        </p:nvSpPr>
        <p:spPr>
          <a:xfrm>
            <a:off x="8321040" y="4114800"/>
            <a:ext cx="3291840" cy="1188720"/>
          </a:xfrm>
          <a:prstGeom prst="rect">
            <a:avLst/>
          </a:prstGeom>
          <a:solidFill>
            <a:srgbClr val="F5F5F5"/>
          </a:solidFill>
          <a:ln w="6350">
            <a:solidFill>
              <a:srgbClr val="1A2B4A"/>
            </a:solidFill>
            <a:prstDash val="solid"/>
          </a:ln>
        </p:spPr>
      </p:sp>
      <p:sp>
        <p:nvSpPr>
          <p:cNvPr id="35" name="Shape 33"/>
          <p:cNvSpPr/>
          <p:nvPr/>
        </p:nvSpPr>
        <p:spPr>
          <a:xfrm>
            <a:off x="8321040" y="4114800"/>
            <a:ext cx="54864" cy="1188720"/>
          </a:xfrm>
          <a:prstGeom prst="rect">
            <a:avLst/>
          </a:prstGeom>
          <a:solidFill>
            <a:srgbClr val="1A2B4A"/>
          </a:solidFill>
          <a:ln/>
        </p:spPr>
      </p:sp>
      <p:sp>
        <p:nvSpPr>
          <p:cNvPr id="36" name="Text 34"/>
          <p:cNvSpPr/>
          <p:nvPr/>
        </p:nvSpPr>
        <p:spPr>
          <a:xfrm>
            <a:off x="8503920" y="4206240"/>
            <a:ext cx="2926080" cy="320040"/>
          </a:xfrm>
          <a:prstGeom prst="rect">
            <a:avLst/>
          </a:prstGeom>
          <a:noFill/>
          <a:ln/>
        </p:spPr>
        <p:txBody>
          <a:bodyPr wrap="square" rtlCol="0" anchor="ctr"/>
          <a:lstStyle/>
          <a:p>
            <a:pPr indent="0" marL="0">
              <a:buNone/>
            </a:pPr>
            <a:r>
              <a:rPr lang="en-US" sz="1200" b="1" dirty="0">
                <a:solidFill>
                  <a:srgbClr val="0F1D33"/>
                </a:solidFill>
                <a:latin typeface="Arial" pitchFamily="34" charset="0"/>
                <a:ea typeface="Arial" pitchFamily="34" charset="-122"/>
                <a:cs typeface="Arial" pitchFamily="34" charset="-120"/>
              </a:rPr>
              <a:t>Evidence-Graph Advantage</a:t>
            </a:r>
            <a:endParaRPr lang="en-US" sz="1200" dirty="0"/>
          </a:p>
        </p:txBody>
      </p:sp>
      <p:sp>
        <p:nvSpPr>
          <p:cNvPr id="37" name="Text 35"/>
          <p:cNvSpPr/>
          <p:nvPr/>
        </p:nvSpPr>
        <p:spPr>
          <a:xfrm>
            <a:off x="8503920" y="4572000"/>
            <a:ext cx="2926080" cy="64008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The defensibility grows from versioned relationships among systems, tests, findings, remediations, controls and historical outcomes.</a:t>
            </a:r>
            <a:endParaRPr lang="en-US" sz="900" dirty="0"/>
          </a:p>
        </p:txBody>
      </p:sp>
      <p:sp>
        <p:nvSpPr>
          <p:cNvPr id="38" name="Text 36"/>
          <p:cNvSpPr/>
          <p:nvPr/>
        </p:nvSpPr>
        <p:spPr>
          <a:xfrm>
            <a:off x="548640" y="5486400"/>
            <a:ext cx="10972800" cy="274320"/>
          </a:xfrm>
          <a:prstGeom prst="rect">
            <a:avLst/>
          </a:prstGeom>
          <a:noFill/>
          <a:ln/>
        </p:spPr>
        <p:txBody>
          <a:bodyPr wrap="square" rtlCol="0" anchor="t"/>
          <a:lstStyle/>
          <a:p>
            <a:pPr algn="l" indent="0" marL="0">
              <a:lnSpc>
                <a:spcPct val="115000"/>
              </a:lnSpc>
              <a:buNone/>
            </a:pPr>
            <a:r>
              <a:rPr lang="en-US" sz="1100" b="1" dirty="0">
                <a:solidFill>
                  <a:srgbClr val="1A2B4A"/>
                </a:solidFill>
                <a:latin typeface="Arial" pitchFamily="34" charset="0"/>
                <a:ea typeface="Arial" pitchFamily="34" charset="-122"/>
                <a:cs typeface="Arial" pitchFamily="34" charset="-120"/>
              </a:rPr>
              <a:t>Each layer reinforces the next. The evidence relationship — not any single scanner — is the defensible asset.</a:t>
            </a:r>
            <a:endParaRPr lang="en-US" sz="1100" dirty="0"/>
          </a:p>
        </p:txBody>
      </p:sp>
      <p:sp>
        <p:nvSpPr>
          <p:cNvPr id="39" name="Shape 37"/>
          <p:cNvSpPr/>
          <p:nvPr/>
        </p:nvSpPr>
        <p:spPr>
          <a:xfrm>
            <a:off x="548640" y="5852160"/>
            <a:ext cx="11064240" cy="640080"/>
          </a:xfrm>
          <a:prstGeom prst="rect">
            <a:avLst/>
          </a:prstGeom>
          <a:solidFill>
            <a:srgbClr val="F5F5F5"/>
          </a:solidFill>
          <a:ln w="6350">
            <a:solidFill>
              <a:srgbClr val="1A2B4A"/>
            </a:solidFill>
            <a:prstDash val="solid"/>
          </a:ln>
        </p:spPr>
      </p:sp>
      <p:sp>
        <p:nvSpPr>
          <p:cNvPr id="40" name="Text 38"/>
          <p:cNvSpPr/>
          <p:nvPr/>
        </p:nvSpPr>
        <p:spPr>
          <a:xfrm>
            <a:off x="731520" y="5852160"/>
            <a:ext cx="10698480" cy="640080"/>
          </a:xfrm>
          <a:prstGeom prst="rect">
            <a:avLst/>
          </a:prstGeom>
          <a:noFill/>
          <a:ln/>
        </p:spPr>
        <p:txBody>
          <a:bodyPr wrap="square" rtlCol="0" anchor="ctr"/>
          <a:lstStyle/>
          <a:p>
            <a:pPr algn="ctr" indent="0" marL="0">
              <a:buNone/>
            </a:pPr>
            <a:r>
              <a:rPr lang="en-US" sz="900" i="1" dirty="0">
                <a:solidFill>
                  <a:srgbClr val="4A4A4A"/>
                </a:solidFill>
                <a:latin typeface="Arial" pitchFamily="34" charset="0"/>
                <a:ea typeface="Arial" pitchFamily="34" charset="-122"/>
                <a:cs typeface="Arial" pitchFamily="34" charset="-120"/>
              </a:rPr>
              <a:t>Discussion:  What is the strongest initial product wedge?  ·  Which compliance framework drives the most urgent demand?  ·  Where does HAIEC create the most switching cost?</a:t>
            </a:r>
            <a:endParaRPr lang="en-US" sz="900" dirty="0"/>
          </a:p>
        </p:txBody>
      </p:sp>
      <p:sp>
        <p:nvSpPr>
          <p:cNvPr id="41" name="Shape 39"/>
          <p:cNvSpPr/>
          <p:nvPr/>
        </p:nvSpPr>
        <p:spPr>
          <a:xfrm>
            <a:off x="457200" y="6473952"/>
            <a:ext cx="11277295" cy="0"/>
          </a:xfrm>
          <a:prstGeom prst="line">
            <a:avLst/>
          </a:prstGeom>
          <a:noFill/>
          <a:ln w="6350">
            <a:solidFill>
              <a:srgbClr val="CCCCCC"/>
            </a:solidFill>
            <a:prstDash val="solid"/>
          </a:ln>
        </p:spPr>
      </p:sp>
      <p:sp>
        <p:nvSpPr>
          <p:cNvPr id="42" name="Text 40"/>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11/15</a:t>
            </a:r>
            <a:endParaRPr lang="en-US" sz="800" dirty="0"/>
          </a:p>
        </p:txBody>
      </p:sp>
      <p:sp>
        <p:nvSpPr>
          <p:cNvPr id="43" name="Text 41"/>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What can be demonstrated today.</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097280"/>
            <a:ext cx="10972800" cy="365760"/>
          </a:xfrm>
          <a:prstGeom prst="rect">
            <a:avLst/>
          </a:prstGeom>
          <a:noFill/>
          <a:ln/>
        </p:spPr>
        <p:txBody>
          <a:bodyPr wrap="square" rtlCol="0" anchor="t"/>
          <a:lstStyle/>
          <a:p>
            <a:pPr algn="l" indent="0" marL="0">
              <a:lnSpc>
                <a:spcPct val="115000"/>
              </a:lnSpc>
              <a:buNone/>
            </a:pPr>
            <a:r>
              <a:rPr lang="en-US" sz="1200" dirty="0">
                <a:solidFill>
                  <a:srgbClr val="4A4A4A"/>
                </a:solidFill>
                <a:latin typeface="Arial" pitchFamily="34" charset="0"/>
                <a:ea typeface="Arial" pitchFamily="34" charset="-122"/>
                <a:cs typeface="Arial" pitchFamily="34" charset="-120"/>
              </a:rPr>
              <a:t>The following capabilities are operational and can be shown live in a working session.</a:t>
            </a:r>
            <a:endParaRPr lang="en-US" sz="1200" dirty="0"/>
          </a:p>
        </p:txBody>
      </p:sp>
      <p:sp>
        <p:nvSpPr>
          <p:cNvPr id="5" name="Shape 3"/>
          <p:cNvSpPr/>
          <p:nvPr/>
        </p:nvSpPr>
        <p:spPr>
          <a:xfrm>
            <a:off x="548640" y="1645920"/>
            <a:ext cx="5394960" cy="1280160"/>
          </a:xfrm>
          <a:prstGeom prst="rect">
            <a:avLst/>
          </a:prstGeom>
          <a:solidFill>
            <a:srgbClr val="F5F5F5"/>
          </a:solidFill>
          <a:ln w="6350">
            <a:solidFill>
              <a:srgbClr val="D0D0D0"/>
            </a:solidFill>
            <a:prstDash val="solid"/>
          </a:ln>
        </p:spPr>
      </p:sp>
      <p:sp>
        <p:nvSpPr>
          <p:cNvPr id="6" name="Text 4"/>
          <p:cNvSpPr/>
          <p:nvPr/>
        </p:nvSpPr>
        <p:spPr>
          <a:xfrm>
            <a:off x="685800" y="178308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188720" y="178308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Repository Connected</a:t>
            </a:r>
            <a:endParaRPr lang="en-US" sz="1200" dirty="0"/>
          </a:p>
        </p:txBody>
      </p:sp>
      <p:sp>
        <p:nvSpPr>
          <p:cNvPr id="8" name="Text 6"/>
          <p:cNvSpPr/>
          <p:nvPr/>
        </p:nvSpPr>
        <p:spPr>
          <a:xfrm>
            <a:off x="1188720" y="214884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AI system registered in inventory with API key sync and system metadata. Git integration active.</a:t>
            </a:r>
            <a:endParaRPr lang="en-US" sz="900" dirty="0"/>
          </a:p>
        </p:txBody>
      </p:sp>
      <p:sp>
        <p:nvSpPr>
          <p:cNvPr id="9" name="Shape 7"/>
          <p:cNvSpPr/>
          <p:nvPr/>
        </p:nvSpPr>
        <p:spPr>
          <a:xfrm>
            <a:off x="6217920" y="1645920"/>
            <a:ext cx="5394960" cy="1280160"/>
          </a:xfrm>
          <a:prstGeom prst="rect">
            <a:avLst/>
          </a:prstGeom>
          <a:solidFill>
            <a:srgbClr val="F5F5F5"/>
          </a:solidFill>
          <a:ln w="6350">
            <a:solidFill>
              <a:srgbClr val="D0D0D0"/>
            </a:solidFill>
            <a:prstDash val="solid"/>
          </a:ln>
        </p:spPr>
      </p:sp>
      <p:sp>
        <p:nvSpPr>
          <p:cNvPr id="10" name="Text 8"/>
          <p:cNvSpPr/>
          <p:nvPr/>
        </p:nvSpPr>
        <p:spPr>
          <a:xfrm>
            <a:off x="6355080" y="178308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6858000" y="178308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AI-Specific Finding with File and Line</a:t>
            </a:r>
            <a:endParaRPr lang="en-US" sz="1200" dirty="0"/>
          </a:p>
        </p:txBody>
      </p:sp>
      <p:sp>
        <p:nvSpPr>
          <p:cNvPr id="12" name="Text 10"/>
          <p:cNvSpPr/>
          <p:nvPr/>
        </p:nvSpPr>
        <p:spPr>
          <a:xfrm>
            <a:off x="6858000" y="214884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Static scan produces findings with rule ID, code path, line number, and the missing guard. SHA256 fingerprint attached.</a:t>
            </a:r>
            <a:endParaRPr lang="en-US" sz="900" dirty="0"/>
          </a:p>
        </p:txBody>
      </p:sp>
      <p:sp>
        <p:nvSpPr>
          <p:cNvPr id="13" name="Shape 11"/>
          <p:cNvSpPr/>
          <p:nvPr/>
        </p:nvSpPr>
        <p:spPr>
          <a:xfrm>
            <a:off x="548640" y="3108960"/>
            <a:ext cx="5394960" cy="1280160"/>
          </a:xfrm>
          <a:prstGeom prst="rect">
            <a:avLst/>
          </a:prstGeom>
          <a:solidFill>
            <a:srgbClr val="F5F5F5"/>
          </a:solidFill>
          <a:ln w="6350">
            <a:solidFill>
              <a:srgbClr val="D0D0D0"/>
            </a:solidFill>
            <a:prstDash val="solid"/>
          </a:ln>
        </p:spPr>
      </p:sp>
      <p:sp>
        <p:nvSpPr>
          <p:cNvPr id="14" name="Text 12"/>
          <p:cNvSpPr/>
          <p:nvPr/>
        </p:nvSpPr>
        <p:spPr>
          <a:xfrm>
            <a:off x="685800" y="324612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188720" y="324612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Runtime Attack and Captured Response</a:t>
            </a:r>
            <a:endParaRPr lang="en-US" sz="1200" dirty="0"/>
          </a:p>
        </p:txBody>
      </p:sp>
      <p:sp>
        <p:nvSpPr>
          <p:cNvPr id="16" name="Text 14"/>
          <p:cNvSpPr/>
          <p:nvPr/>
        </p:nvSpPr>
        <p:spPr>
          <a:xfrm>
            <a:off x="1188720" y="361188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Adversarial template executed against live endpoint. Response captured, safety property evaluated, result recorded.</a:t>
            </a:r>
            <a:endParaRPr lang="en-US" sz="900" dirty="0"/>
          </a:p>
        </p:txBody>
      </p:sp>
      <p:sp>
        <p:nvSpPr>
          <p:cNvPr id="17" name="Shape 15"/>
          <p:cNvSpPr/>
          <p:nvPr/>
        </p:nvSpPr>
        <p:spPr>
          <a:xfrm>
            <a:off x="6217920" y="3108960"/>
            <a:ext cx="5394960" cy="1280160"/>
          </a:xfrm>
          <a:prstGeom prst="rect">
            <a:avLst/>
          </a:prstGeom>
          <a:solidFill>
            <a:srgbClr val="F5F5F5"/>
          </a:solidFill>
          <a:ln w="6350">
            <a:solidFill>
              <a:srgbClr val="D0D0D0"/>
            </a:solidFill>
            <a:prstDash val="solid"/>
          </a:ln>
        </p:spPr>
      </p:sp>
      <p:sp>
        <p:nvSpPr>
          <p:cNvPr id="18" name="Text 16"/>
          <p:cNvSpPr/>
          <p:nvPr/>
        </p:nvSpPr>
        <p:spPr>
          <a:xfrm>
            <a:off x="6355080" y="324612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4</a:t>
            </a:r>
            <a:endParaRPr lang="en-US" sz="1800" dirty="0"/>
          </a:p>
        </p:txBody>
      </p:sp>
      <p:sp>
        <p:nvSpPr>
          <p:cNvPr id="19" name="Text 17"/>
          <p:cNvSpPr/>
          <p:nvPr/>
        </p:nvSpPr>
        <p:spPr>
          <a:xfrm>
            <a:off x="6858000" y="324612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Framework-Control Mapping</a:t>
            </a:r>
            <a:endParaRPr lang="en-US" sz="1200" dirty="0"/>
          </a:p>
        </p:txBody>
      </p:sp>
      <p:sp>
        <p:nvSpPr>
          <p:cNvPr id="20" name="Text 18"/>
          <p:cNvSpPr/>
          <p:nvPr/>
        </p:nvSpPr>
        <p:spPr>
          <a:xfrm>
            <a:off x="6858000" y="361188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Finding automatically mapped to OWASP LLM01:2025, SOC 2 CC7.2, ISO 27001:2022 A.8.8, NIST AI RMF 1.0, EU AI Act, ISO 42001:2023.</a:t>
            </a:r>
            <a:endParaRPr lang="en-US" sz="900" dirty="0"/>
          </a:p>
        </p:txBody>
      </p:sp>
      <p:sp>
        <p:nvSpPr>
          <p:cNvPr id="21" name="Shape 19"/>
          <p:cNvSpPr/>
          <p:nvPr/>
        </p:nvSpPr>
        <p:spPr>
          <a:xfrm>
            <a:off x="548640" y="4572000"/>
            <a:ext cx="5394960" cy="1280160"/>
          </a:xfrm>
          <a:prstGeom prst="rect">
            <a:avLst/>
          </a:prstGeom>
          <a:solidFill>
            <a:srgbClr val="F5F5F5"/>
          </a:solidFill>
          <a:ln w="6350">
            <a:solidFill>
              <a:srgbClr val="D0D0D0"/>
            </a:solidFill>
            <a:prstDash val="solid"/>
          </a:ln>
        </p:spPr>
      </p:sp>
      <p:sp>
        <p:nvSpPr>
          <p:cNvPr id="22" name="Text 20"/>
          <p:cNvSpPr/>
          <p:nvPr/>
        </p:nvSpPr>
        <p:spPr>
          <a:xfrm>
            <a:off x="685800" y="470916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5</a:t>
            </a:r>
            <a:endParaRPr lang="en-US" sz="1800" dirty="0"/>
          </a:p>
        </p:txBody>
      </p:sp>
      <p:sp>
        <p:nvSpPr>
          <p:cNvPr id="23" name="Text 21"/>
          <p:cNvSpPr/>
          <p:nvPr/>
        </p:nvSpPr>
        <p:spPr>
          <a:xfrm>
            <a:off x="1188720" y="470916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Audit Evidence Package</a:t>
            </a:r>
            <a:endParaRPr lang="en-US" sz="1200" dirty="0"/>
          </a:p>
        </p:txBody>
      </p:sp>
      <p:sp>
        <p:nvSpPr>
          <p:cNvPr id="24" name="Text 22"/>
          <p:cNvSpPr/>
          <p:nvPr/>
        </p:nvSpPr>
        <p:spPr>
          <a:xfrm>
            <a:off x="1188720" y="507492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Canonical evidence manifest with DIS score, per-node breakdown, framework mappings, and review sign-off chain. Exported as JSON.</a:t>
            </a:r>
            <a:endParaRPr lang="en-US" sz="900" dirty="0"/>
          </a:p>
        </p:txBody>
      </p:sp>
      <p:sp>
        <p:nvSpPr>
          <p:cNvPr id="25" name="Shape 23"/>
          <p:cNvSpPr/>
          <p:nvPr/>
        </p:nvSpPr>
        <p:spPr>
          <a:xfrm>
            <a:off x="6217920" y="4572000"/>
            <a:ext cx="5394960" cy="1280160"/>
          </a:xfrm>
          <a:prstGeom prst="rect">
            <a:avLst/>
          </a:prstGeom>
          <a:solidFill>
            <a:srgbClr val="F5F5F5"/>
          </a:solidFill>
          <a:ln w="6350">
            <a:solidFill>
              <a:srgbClr val="D0D0D0"/>
            </a:solidFill>
            <a:prstDash val="solid"/>
          </a:ln>
        </p:spPr>
      </p:sp>
      <p:sp>
        <p:nvSpPr>
          <p:cNvPr id="26" name="Text 24"/>
          <p:cNvSpPr/>
          <p:nvPr/>
        </p:nvSpPr>
        <p:spPr>
          <a:xfrm>
            <a:off x="6355080" y="4709160"/>
            <a:ext cx="365760" cy="365760"/>
          </a:xfrm>
          <a:prstGeom prst="rect">
            <a:avLst/>
          </a:prstGeom>
          <a:noFill/>
          <a:ln/>
        </p:spPr>
        <p:txBody>
          <a:bodyPr wrap="square" rtlCol="0" anchor="ctr"/>
          <a:lstStyle/>
          <a:p>
            <a:pPr algn="l" indent="0" marL="0">
              <a:buNone/>
            </a:pPr>
            <a:r>
              <a:rPr lang="en-US" sz="1800" b="1" dirty="0">
                <a:solidFill>
                  <a:srgbClr val="1A2B4A"/>
                </a:solidFill>
                <a:latin typeface="Arial" pitchFamily="34" charset="0"/>
                <a:ea typeface="Arial" pitchFamily="34" charset="-122"/>
                <a:cs typeface="Arial" pitchFamily="34" charset="-120"/>
              </a:rPr>
              <a:t>6</a:t>
            </a:r>
            <a:endParaRPr lang="en-US" sz="1800" dirty="0"/>
          </a:p>
        </p:txBody>
      </p:sp>
      <p:sp>
        <p:nvSpPr>
          <p:cNvPr id="27" name="Text 25"/>
          <p:cNvSpPr/>
          <p:nvPr/>
        </p:nvSpPr>
        <p:spPr>
          <a:xfrm>
            <a:off x="6858000" y="4709160"/>
            <a:ext cx="4572000" cy="32004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Public Trust Artifact Verification</a:t>
            </a:r>
            <a:endParaRPr lang="en-US" sz="1200" dirty="0"/>
          </a:p>
        </p:txBody>
      </p:sp>
      <p:sp>
        <p:nvSpPr>
          <p:cNvPr id="28" name="Text 26"/>
          <p:cNvSpPr/>
          <p:nvPr/>
        </p:nvSpPr>
        <p:spPr>
          <a:xfrm>
            <a:off x="6858000" y="5074920"/>
            <a:ext cx="4572000" cy="731520"/>
          </a:xfrm>
          <a:prstGeom prst="rect">
            <a:avLst/>
          </a:prstGeom>
          <a:noFill/>
          <a:ln/>
        </p:spPr>
        <p:txBody>
          <a:bodyPr wrap="square" rtlCol="0" anchor="t"/>
          <a:lstStyle/>
          <a:p>
            <a:pPr algn="l" indent="0" marL="0">
              <a:lnSpc>
                <a:spcPct val="115000"/>
              </a:lnSpc>
              <a:buNone/>
            </a:pPr>
            <a:r>
              <a:rPr lang="en-US" sz="900" dirty="0">
                <a:solidFill>
                  <a:srgbClr val="4A4A4A"/>
                </a:solidFill>
                <a:latin typeface="Arial" pitchFamily="34" charset="0"/>
                <a:ea typeface="Arial" pitchFamily="34" charset="-122"/>
                <a:cs typeface="Arial" pitchFamily="34" charset="-120"/>
              </a:rPr>
              <a:t>GET /api/verify/[artifactId] returns HMAC-SHA256 signed response with artifact status, scope, and validity window.</a:t>
            </a:r>
            <a:endParaRPr lang="en-US" sz="900" dirty="0"/>
          </a:p>
        </p:txBody>
      </p:sp>
      <p:sp>
        <p:nvSpPr>
          <p:cNvPr id="29" name="Text 27"/>
          <p:cNvSpPr/>
          <p:nvPr/>
        </p:nvSpPr>
        <p:spPr>
          <a:xfrm>
            <a:off x="548640" y="6126480"/>
            <a:ext cx="10972800" cy="274320"/>
          </a:xfrm>
          <a:prstGeom prst="rect">
            <a:avLst/>
          </a:prstGeom>
          <a:noFill/>
          <a:ln/>
        </p:spPr>
        <p:txBody>
          <a:bodyPr wrap="square" rtlCol="0" anchor="t"/>
          <a:lstStyle/>
          <a:p>
            <a:pPr algn="l" indent="0" marL="0">
              <a:lnSpc>
                <a:spcPct val="115000"/>
              </a:lnSpc>
              <a:buNone/>
            </a:pPr>
            <a:r>
              <a:rPr lang="en-US" sz="1000" b="1" dirty="0">
                <a:solidFill>
                  <a:srgbClr val="1A2B4A"/>
                </a:solidFill>
                <a:latin typeface="Arial" pitchFamily="34" charset="0"/>
                <a:ea typeface="Arial" pitchFamily="34" charset="-122"/>
                <a:cs typeface="Arial" pitchFamily="34" charset="-120"/>
              </a:rPr>
              <a:t>These demonstrations are more persuasive than counts or API-route tables. Available for live walkthrough on request.</a:t>
            </a:r>
            <a:endParaRPr lang="en-US" sz="1000" dirty="0"/>
          </a:p>
        </p:txBody>
      </p:sp>
      <p:sp>
        <p:nvSpPr>
          <p:cNvPr id="30" name="Shape 28"/>
          <p:cNvSpPr/>
          <p:nvPr/>
        </p:nvSpPr>
        <p:spPr>
          <a:xfrm>
            <a:off x="457200" y="6473952"/>
            <a:ext cx="11277295" cy="0"/>
          </a:xfrm>
          <a:prstGeom prst="line">
            <a:avLst/>
          </a:prstGeom>
          <a:noFill/>
          <a:ln w="6350">
            <a:solidFill>
              <a:srgbClr val="CCCCCC"/>
            </a:solidFill>
            <a:prstDash val="solid"/>
          </a:ln>
        </p:spPr>
      </p:sp>
      <p:sp>
        <p:nvSpPr>
          <p:cNvPr id="31" name="Text 29"/>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12/15</a:t>
            </a:r>
            <a:endParaRPr lang="en-US" sz="800" dirty="0"/>
          </a:p>
        </p:txBody>
      </p:sp>
      <p:sp>
        <p:nvSpPr>
          <p:cNvPr id="32" name="Text 30"/>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A: Technical Maturity Matrix</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365760" y="1097280"/>
            <a:ext cx="11430000" cy="365760"/>
          </a:xfrm>
          <a:prstGeom prst="rect">
            <a:avLst/>
          </a:prstGeom>
          <a:solidFill>
            <a:srgbClr val="F5F5F5"/>
          </a:solidFill>
          <a:ln w="6350">
            <a:solidFill>
              <a:srgbClr val="1A2B4A"/>
            </a:solidFill>
            <a:prstDash val="solid"/>
          </a:ln>
        </p:spPr>
      </p:sp>
      <p:sp>
        <p:nvSpPr>
          <p:cNvPr id="5" name="Text 3"/>
          <p:cNvSpPr/>
          <p:nvPr/>
        </p:nvSpPr>
        <p:spPr>
          <a:xfrm>
            <a:off x="457200" y="1115568"/>
            <a:ext cx="20116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Capability</a:t>
            </a:r>
            <a:endParaRPr lang="en-US" sz="900" dirty="0"/>
          </a:p>
        </p:txBody>
      </p:sp>
      <p:sp>
        <p:nvSpPr>
          <p:cNvPr id="6" name="Text 4"/>
          <p:cNvSpPr/>
          <p:nvPr/>
        </p:nvSpPr>
        <p:spPr>
          <a:xfrm>
            <a:off x="2560320" y="1115568"/>
            <a:ext cx="192024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Current Status</a:t>
            </a:r>
            <a:endParaRPr lang="en-US" sz="900" dirty="0"/>
          </a:p>
        </p:txBody>
      </p:sp>
      <p:sp>
        <p:nvSpPr>
          <p:cNvPr id="7" name="Text 5"/>
          <p:cNvSpPr/>
          <p:nvPr/>
        </p:nvSpPr>
        <p:spPr>
          <a:xfrm>
            <a:off x="4572000" y="1115568"/>
            <a:ext cx="24688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Source Proof</a:t>
            </a:r>
            <a:endParaRPr lang="en-US" sz="900" dirty="0"/>
          </a:p>
        </p:txBody>
      </p:sp>
      <p:sp>
        <p:nvSpPr>
          <p:cNvPr id="8" name="Text 6"/>
          <p:cNvSpPr/>
          <p:nvPr/>
        </p:nvSpPr>
        <p:spPr>
          <a:xfrm>
            <a:off x="7132320" y="1115568"/>
            <a:ext cx="219456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Strategic Value</a:t>
            </a:r>
            <a:endParaRPr lang="en-US" sz="900" dirty="0"/>
          </a:p>
        </p:txBody>
      </p:sp>
      <p:sp>
        <p:nvSpPr>
          <p:cNvPr id="9" name="Text 7"/>
          <p:cNvSpPr/>
          <p:nvPr/>
        </p:nvSpPr>
        <p:spPr>
          <a:xfrm>
            <a:off x="9418320" y="1115568"/>
            <a:ext cx="2011680" cy="320040"/>
          </a:xfrm>
          <a:prstGeom prst="rect">
            <a:avLst/>
          </a:prstGeom>
          <a:noFill/>
          <a:ln/>
        </p:spPr>
        <p:txBody>
          <a:bodyPr wrap="square" rtlCol="0" anchor="ctr"/>
          <a:lstStyle/>
          <a:p>
            <a:pPr indent="0" marL="0">
              <a:buNone/>
            </a:pPr>
            <a:r>
              <a:rPr lang="en-US" sz="900" b="1" dirty="0">
                <a:solidFill>
                  <a:srgbClr val="1A2B4A"/>
                </a:solidFill>
                <a:latin typeface="Arial" pitchFamily="34" charset="0"/>
                <a:ea typeface="Arial" pitchFamily="34" charset="-122"/>
                <a:cs typeface="Arial" pitchFamily="34" charset="-120"/>
              </a:rPr>
              <a:t>Next Evolution</a:t>
            </a:r>
            <a:endParaRPr lang="en-US" sz="900" dirty="0"/>
          </a:p>
        </p:txBody>
      </p:sp>
      <p:sp>
        <p:nvSpPr>
          <p:cNvPr id="10" name="Shape 8"/>
          <p:cNvSpPr/>
          <p:nvPr/>
        </p:nvSpPr>
        <p:spPr>
          <a:xfrm>
            <a:off x="365760" y="1508760"/>
            <a:ext cx="11430000" cy="530352"/>
          </a:xfrm>
          <a:prstGeom prst="rect">
            <a:avLst/>
          </a:prstGeom>
          <a:solidFill>
            <a:srgbClr val="FFFFFF"/>
          </a:solidFill>
          <a:ln w="6350">
            <a:solidFill>
              <a:srgbClr val="D0D0D0"/>
            </a:solidFill>
            <a:prstDash val="solid"/>
          </a:ln>
        </p:spPr>
      </p:sp>
      <p:sp>
        <p:nvSpPr>
          <p:cNvPr id="11" name="Text 9"/>
          <p:cNvSpPr/>
          <p:nvPr/>
        </p:nvSpPr>
        <p:spPr>
          <a:xfrm>
            <a:off x="457200" y="1527048"/>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Static AI Security</a:t>
            </a:r>
            <a:endParaRPr lang="en-US" sz="800" dirty="0"/>
          </a:p>
        </p:txBody>
      </p:sp>
      <p:sp>
        <p:nvSpPr>
          <p:cNvPr id="12" name="Text 10"/>
          <p:cNvSpPr/>
          <p:nvPr/>
        </p:nvSpPr>
        <p:spPr>
          <a:xfrm>
            <a:off x="2560320" y="1527048"/>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13" name="Text 11"/>
          <p:cNvSpPr/>
          <p:nvPr/>
        </p:nvSpPr>
        <p:spPr>
          <a:xfrm>
            <a:off x="4572000" y="1527048"/>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91 Semgrep + 15 TS + 82 rulepack, Modal Python scanner, 31 API routes, 8 DB models</a:t>
            </a:r>
            <a:endParaRPr lang="en-US" sz="700" dirty="0"/>
          </a:p>
        </p:txBody>
      </p:sp>
      <p:sp>
        <p:nvSpPr>
          <p:cNvPr id="14" name="Text 12"/>
          <p:cNvSpPr/>
          <p:nvPr/>
        </p:nvSpPr>
        <p:spPr>
          <a:xfrm>
            <a:off x="7132320" y="1527048"/>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Deterministic, audit-grade findings with fingerprints</a:t>
            </a:r>
            <a:endParaRPr lang="en-US" sz="700" dirty="0"/>
          </a:p>
        </p:txBody>
      </p:sp>
      <p:sp>
        <p:nvSpPr>
          <p:cNvPr id="15" name="Text 13"/>
          <p:cNvSpPr/>
          <p:nvPr/>
        </p:nvSpPr>
        <p:spPr>
          <a:xfrm>
            <a:off x="9418320" y="1527048"/>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Multi-language sidecar expansion (Go, Rust)</a:t>
            </a:r>
            <a:endParaRPr lang="en-US" sz="700" dirty="0"/>
          </a:p>
        </p:txBody>
      </p:sp>
      <p:sp>
        <p:nvSpPr>
          <p:cNvPr id="16" name="Shape 14"/>
          <p:cNvSpPr/>
          <p:nvPr/>
        </p:nvSpPr>
        <p:spPr>
          <a:xfrm>
            <a:off x="365760" y="2075688"/>
            <a:ext cx="11430000" cy="530352"/>
          </a:xfrm>
          <a:prstGeom prst="rect">
            <a:avLst/>
          </a:prstGeom>
          <a:solidFill>
            <a:srgbClr val="F5F5F5"/>
          </a:solidFill>
          <a:ln w="6350">
            <a:solidFill>
              <a:srgbClr val="D0D0D0"/>
            </a:solidFill>
            <a:prstDash val="solid"/>
          </a:ln>
        </p:spPr>
      </p:sp>
      <p:sp>
        <p:nvSpPr>
          <p:cNvPr id="17" name="Text 15"/>
          <p:cNvSpPr/>
          <p:nvPr/>
        </p:nvSpPr>
        <p:spPr>
          <a:xfrm>
            <a:off x="457200" y="2093976"/>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Runtime Adversarial Testing</a:t>
            </a:r>
            <a:endParaRPr lang="en-US" sz="800" dirty="0"/>
          </a:p>
        </p:txBody>
      </p:sp>
      <p:sp>
        <p:nvSpPr>
          <p:cNvPr id="18" name="Text 16"/>
          <p:cNvSpPr/>
          <p:nvPr/>
        </p:nvSpPr>
        <p:spPr>
          <a:xfrm>
            <a:off x="2560320" y="2093976"/>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Active development</a:t>
            </a:r>
            <a:endParaRPr lang="en-US" sz="700" dirty="0"/>
          </a:p>
        </p:txBody>
      </p:sp>
      <p:sp>
        <p:nvSpPr>
          <p:cNvPr id="19" name="Text 17"/>
          <p:cNvSpPr/>
          <p:nvPr/>
        </p:nvSpPr>
        <p:spPr>
          <a:xfrm>
            <a:off x="4572000" y="2093976"/>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269 templates, 14 safety properties, 22 API routes</a:t>
            </a:r>
            <a:endParaRPr lang="en-US" sz="700" dirty="0"/>
          </a:p>
        </p:txBody>
      </p:sp>
      <p:sp>
        <p:nvSpPr>
          <p:cNvPr id="20" name="Text 18"/>
          <p:cNvSpPr/>
          <p:nvPr/>
        </p:nvSpPr>
        <p:spPr>
          <a:xfrm>
            <a:off x="7132320" y="2093976"/>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Active testing of live AI endpoints with safety validation</a:t>
            </a:r>
            <a:endParaRPr lang="en-US" sz="700" dirty="0"/>
          </a:p>
        </p:txBody>
      </p:sp>
      <p:sp>
        <p:nvSpPr>
          <p:cNvPr id="21" name="Text 19"/>
          <p:cNvSpPr/>
          <p:nvPr/>
        </p:nvSpPr>
        <p:spPr>
          <a:xfrm>
            <a:off x="9418320" y="2093976"/>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Production scale-out and additional domain packs</a:t>
            </a:r>
            <a:endParaRPr lang="en-US" sz="700" dirty="0"/>
          </a:p>
        </p:txBody>
      </p:sp>
      <p:sp>
        <p:nvSpPr>
          <p:cNvPr id="22" name="Shape 20"/>
          <p:cNvSpPr/>
          <p:nvPr/>
        </p:nvSpPr>
        <p:spPr>
          <a:xfrm>
            <a:off x="365760" y="2642616"/>
            <a:ext cx="11430000" cy="530352"/>
          </a:xfrm>
          <a:prstGeom prst="rect">
            <a:avLst/>
          </a:prstGeom>
          <a:solidFill>
            <a:srgbClr val="FFFFFF"/>
          </a:solidFill>
          <a:ln w="6350">
            <a:solidFill>
              <a:srgbClr val="D0D0D0"/>
            </a:solidFill>
            <a:prstDash val="solid"/>
          </a:ln>
        </p:spPr>
      </p:sp>
      <p:sp>
        <p:nvSpPr>
          <p:cNvPr id="23" name="Text 21"/>
          <p:cNvSpPr/>
          <p:nvPr/>
        </p:nvSpPr>
        <p:spPr>
          <a:xfrm>
            <a:off x="457200" y="2660904"/>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Audit Orchestrator</a:t>
            </a:r>
            <a:endParaRPr lang="en-US" sz="800" dirty="0"/>
          </a:p>
        </p:txBody>
      </p:sp>
      <p:sp>
        <p:nvSpPr>
          <p:cNvPr id="24" name="Text 22"/>
          <p:cNvSpPr/>
          <p:nvPr/>
        </p:nvSpPr>
        <p:spPr>
          <a:xfrm>
            <a:off x="2560320" y="2660904"/>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25" name="Text 23"/>
          <p:cNvSpPr/>
          <p:nvPr/>
        </p:nvSpPr>
        <p:spPr>
          <a:xfrm>
            <a:off x="4572000" y="2660904"/>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State machine, hash-chained event log, contract validation, 12 routes</a:t>
            </a:r>
            <a:endParaRPr lang="en-US" sz="700" dirty="0"/>
          </a:p>
        </p:txBody>
      </p:sp>
      <p:sp>
        <p:nvSpPr>
          <p:cNvPr id="26" name="Text 24"/>
          <p:cNvSpPr/>
          <p:nvPr/>
        </p:nvSpPr>
        <p:spPr>
          <a:xfrm>
            <a:off x="7132320" y="2660904"/>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Sequential engine execution with tamper-evident audit trail</a:t>
            </a:r>
            <a:endParaRPr lang="en-US" sz="700" dirty="0"/>
          </a:p>
        </p:txBody>
      </p:sp>
      <p:sp>
        <p:nvSpPr>
          <p:cNvPr id="27" name="Text 25"/>
          <p:cNvSpPr/>
          <p:nvPr/>
        </p:nvSpPr>
        <p:spPr>
          <a:xfrm>
            <a:off x="9418320" y="2660904"/>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Engine contract version pinning for all engines</a:t>
            </a:r>
            <a:endParaRPr lang="en-US" sz="700" dirty="0"/>
          </a:p>
        </p:txBody>
      </p:sp>
      <p:sp>
        <p:nvSpPr>
          <p:cNvPr id="28" name="Shape 26"/>
          <p:cNvSpPr/>
          <p:nvPr/>
        </p:nvSpPr>
        <p:spPr>
          <a:xfrm>
            <a:off x="365760" y="3209544"/>
            <a:ext cx="11430000" cy="530352"/>
          </a:xfrm>
          <a:prstGeom prst="rect">
            <a:avLst/>
          </a:prstGeom>
          <a:solidFill>
            <a:srgbClr val="F5F5F5"/>
          </a:solidFill>
          <a:ln w="6350">
            <a:solidFill>
              <a:srgbClr val="D0D0D0"/>
            </a:solidFill>
            <a:prstDash val="solid"/>
          </a:ln>
        </p:spPr>
      </p:sp>
      <p:sp>
        <p:nvSpPr>
          <p:cNvPr id="29" name="Text 27"/>
          <p:cNvSpPr/>
          <p:nvPr/>
        </p:nvSpPr>
        <p:spPr>
          <a:xfrm>
            <a:off x="457200" y="3227832"/>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Decision Pipeline</a:t>
            </a:r>
            <a:endParaRPr lang="en-US" sz="800" dirty="0"/>
          </a:p>
        </p:txBody>
      </p:sp>
      <p:sp>
        <p:nvSpPr>
          <p:cNvPr id="30" name="Text 28"/>
          <p:cNvSpPr/>
          <p:nvPr/>
        </p:nvSpPr>
        <p:spPr>
          <a:xfrm>
            <a:off x="2560320" y="3227832"/>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 (scoring); active development</a:t>
            </a:r>
            <a:endParaRPr lang="en-US" sz="700" dirty="0"/>
          </a:p>
        </p:txBody>
      </p:sp>
      <p:sp>
        <p:nvSpPr>
          <p:cNvPr id="31" name="Text 29"/>
          <p:cNvSpPr/>
          <p:nvPr/>
        </p:nvSpPr>
        <p:spPr>
          <a:xfrm>
            <a:off x="4572000" y="3227832"/>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6 nodes, DIS v1.0, 14 API routes, NIST RMF mapping</a:t>
            </a:r>
            <a:endParaRPr lang="en-US" sz="700" dirty="0"/>
          </a:p>
        </p:txBody>
      </p:sp>
      <p:sp>
        <p:nvSpPr>
          <p:cNvPr id="32" name="Text 30"/>
          <p:cNvSpPr/>
          <p:nvPr/>
        </p:nvSpPr>
        <p:spPr>
          <a:xfrm>
            <a:off x="7132320" y="3227832"/>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Composite scoring with audit eligibility and human review</a:t>
            </a:r>
            <a:endParaRPr lang="en-US" sz="700" dirty="0"/>
          </a:p>
        </p:txBody>
      </p:sp>
      <p:sp>
        <p:nvSpPr>
          <p:cNvPr id="33" name="Text 31"/>
          <p:cNvSpPr/>
          <p:nvPr/>
        </p:nvSpPr>
        <p:spPr>
          <a:xfrm>
            <a:off x="9418320" y="3227832"/>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Findings-level blocker gate activation for eligibility</a:t>
            </a:r>
            <a:endParaRPr lang="en-US" sz="700" dirty="0"/>
          </a:p>
        </p:txBody>
      </p:sp>
      <p:sp>
        <p:nvSpPr>
          <p:cNvPr id="34" name="Shape 32"/>
          <p:cNvSpPr/>
          <p:nvPr/>
        </p:nvSpPr>
        <p:spPr>
          <a:xfrm>
            <a:off x="365760" y="3776472"/>
            <a:ext cx="11430000" cy="530352"/>
          </a:xfrm>
          <a:prstGeom prst="rect">
            <a:avLst/>
          </a:prstGeom>
          <a:solidFill>
            <a:srgbClr val="FFFFFF"/>
          </a:solidFill>
          <a:ln w="6350">
            <a:solidFill>
              <a:srgbClr val="D0D0D0"/>
            </a:solidFill>
            <a:prstDash val="solid"/>
          </a:ln>
        </p:spPr>
      </p:sp>
      <p:sp>
        <p:nvSpPr>
          <p:cNvPr id="35" name="Text 33"/>
          <p:cNvSpPr/>
          <p:nvPr/>
        </p:nvSpPr>
        <p:spPr>
          <a:xfrm>
            <a:off x="457200" y="3794760"/>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Evidence Integrity</a:t>
            </a:r>
            <a:endParaRPr lang="en-US" sz="800" dirty="0"/>
          </a:p>
        </p:txBody>
      </p:sp>
      <p:sp>
        <p:nvSpPr>
          <p:cNvPr id="36" name="Text 34"/>
          <p:cNvSpPr/>
          <p:nvPr/>
        </p:nvSpPr>
        <p:spPr>
          <a:xfrm>
            <a:off x="2560320" y="3794760"/>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Implemented</a:t>
            </a:r>
            <a:endParaRPr lang="en-US" sz="700" dirty="0"/>
          </a:p>
        </p:txBody>
      </p:sp>
      <p:sp>
        <p:nvSpPr>
          <p:cNvPr id="37" name="Text 35"/>
          <p:cNvSpPr/>
          <p:nvPr/>
        </p:nvSpPr>
        <p:spPr>
          <a:xfrm>
            <a:off x="4572000" y="3794760"/>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key rotation, replay protection, /api/verify</a:t>
            </a:r>
            <a:endParaRPr lang="en-US" sz="700" dirty="0"/>
          </a:p>
        </p:txBody>
      </p:sp>
      <p:sp>
        <p:nvSpPr>
          <p:cNvPr id="38" name="Text 36"/>
          <p:cNvSpPr/>
          <p:nvPr/>
        </p:nvSpPr>
        <p:spPr>
          <a:xfrm>
            <a:off x="7132320" y="3794760"/>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Integrity verification for evidence transit and storage</a:t>
            </a:r>
            <a:endParaRPr lang="en-US" sz="700" dirty="0"/>
          </a:p>
        </p:txBody>
      </p:sp>
      <p:sp>
        <p:nvSpPr>
          <p:cNvPr id="39" name="Text 37"/>
          <p:cNvSpPr/>
          <p:nvPr/>
        </p:nvSpPr>
        <p:spPr>
          <a:xfrm>
            <a:off x="9418320" y="3794760"/>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Ed25519 public-key signatures for independent verification</a:t>
            </a:r>
            <a:endParaRPr lang="en-US" sz="700" dirty="0"/>
          </a:p>
        </p:txBody>
      </p:sp>
      <p:sp>
        <p:nvSpPr>
          <p:cNvPr id="40" name="Shape 38"/>
          <p:cNvSpPr/>
          <p:nvPr/>
        </p:nvSpPr>
        <p:spPr>
          <a:xfrm>
            <a:off x="365760" y="4343400"/>
            <a:ext cx="11430000" cy="530352"/>
          </a:xfrm>
          <a:prstGeom prst="rect">
            <a:avLst/>
          </a:prstGeom>
          <a:solidFill>
            <a:srgbClr val="F5F5F5"/>
          </a:solidFill>
          <a:ln w="6350">
            <a:solidFill>
              <a:srgbClr val="D0D0D0"/>
            </a:solidFill>
            <a:prstDash val="solid"/>
          </a:ln>
        </p:spPr>
      </p:sp>
      <p:sp>
        <p:nvSpPr>
          <p:cNvPr id="41" name="Text 39"/>
          <p:cNvSpPr/>
          <p:nvPr/>
        </p:nvSpPr>
        <p:spPr>
          <a:xfrm>
            <a:off x="457200" y="4361688"/>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Trust Artifacts</a:t>
            </a:r>
            <a:endParaRPr lang="en-US" sz="800" dirty="0"/>
          </a:p>
        </p:txBody>
      </p:sp>
      <p:sp>
        <p:nvSpPr>
          <p:cNvPr id="42" name="Text 40"/>
          <p:cNvSpPr/>
          <p:nvPr/>
        </p:nvSpPr>
        <p:spPr>
          <a:xfrm>
            <a:off x="2560320" y="4361688"/>
            <a:ext cx="1920240" cy="502920"/>
          </a:xfrm>
          <a:prstGeom prst="rect">
            <a:avLst/>
          </a:prstGeom>
          <a:noFill/>
          <a:ln/>
        </p:spPr>
        <p:txBody>
          <a:bodyPr wrap="square" rtlCol="0" anchor="ctr"/>
          <a:lstStyle/>
          <a:p>
            <a:pPr indent="0" marL="0">
              <a:buNone/>
            </a:pPr>
            <a:r>
              <a:rPr lang="en-US" sz="700" dirty="0">
                <a:solidFill>
                  <a:srgbClr val="0F1D33"/>
                </a:solidFill>
                <a:latin typeface="Arial" pitchFamily="34" charset="0"/>
                <a:ea typeface="Arial" pitchFamily="34" charset="-122"/>
                <a:cs typeface="Arial" pitchFamily="34" charset="-120"/>
              </a:rPr>
              <a:t>Implemented foundation</a:t>
            </a:r>
            <a:endParaRPr lang="en-US" sz="700" dirty="0"/>
          </a:p>
        </p:txBody>
      </p:sp>
      <p:sp>
        <p:nvSpPr>
          <p:cNvPr id="43" name="Text 41"/>
          <p:cNvSpPr/>
          <p:nvPr/>
        </p:nvSpPr>
        <p:spPr>
          <a:xfrm>
            <a:off x="4572000" y="4361688"/>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4 artifact types, 6 frameworks, revocation, verification API</a:t>
            </a:r>
            <a:endParaRPr lang="en-US" sz="700" dirty="0"/>
          </a:p>
        </p:txBody>
      </p:sp>
      <p:sp>
        <p:nvSpPr>
          <p:cNvPr id="44" name="Text 42"/>
          <p:cNvSpPr/>
          <p:nvPr/>
        </p:nvSpPr>
        <p:spPr>
          <a:xfrm>
            <a:off x="7132320" y="4361688"/>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Verifiable status badges with scope and risk posture</a:t>
            </a:r>
            <a:endParaRPr lang="en-US" sz="700" dirty="0"/>
          </a:p>
        </p:txBody>
      </p:sp>
      <p:sp>
        <p:nvSpPr>
          <p:cNvPr id="45" name="Text 43"/>
          <p:cNvSpPr/>
          <p:nvPr/>
        </p:nvSpPr>
        <p:spPr>
          <a:xfrm>
            <a:off x="9418320" y="4361688"/>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External badge display network and partner integrations</a:t>
            </a:r>
            <a:endParaRPr lang="en-US" sz="700" dirty="0"/>
          </a:p>
        </p:txBody>
      </p:sp>
      <p:sp>
        <p:nvSpPr>
          <p:cNvPr id="46" name="Shape 44"/>
          <p:cNvSpPr/>
          <p:nvPr/>
        </p:nvSpPr>
        <p:spPr>
          <a:xfrm>
            <a:off x="365760" y="4910328"/>
            <a:ext cx="11430000" cy="530352"/>
          </a:xfrm>
          <a:prstGeom prst="rect">
            <a:avLst/>
          </a:prstGeom>
          <a:solidFill>
            <a:srgbClr val="FFFFFF"/>
          </a:solidFill>
          <a:ln w="6350">
            <a:solidFill>
              <a:srgbClr val="D0D0D0"/>
            </a:solidFill>
            <a:prstDash val="solid"/>
          </a:ln>
        </p:spPr>
      </p:sp>
      <p:sp>
        <p:nvSpPr>
          <p:cNvPr id="47" name="Text 45"/>
          <p:cNvSpPr/>
          <p:nvPr/>
        </p:nvSpPr>
        <p:spPr>
          <a:xfrm>
            <a:off x="457200" y="4928616"/>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Compliance Twin</a:t>
            </a:r>
            <a:endParaRPr lang="en-US" sz="800" dirty="0"/>
          </a:p>
        </p:txBody>
      </p:sp>
      <p:sp>
        <p:nvSpPr>
          <p:cNvPr id="48" name="Text 46"/>
          <p:cNvSpPr/>
          <p:nvPr/>
        </p:nvSpPr>
        <p:spPr>
          <a:xfrm>
            <a:off x="2560320" y="4928616"/>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Substantive subsystem</a:t>
            </a:r>
            <a:endParaRPr lang="en-US" sz="700" dirty="0"/>
          </a:p>
        </p:txBody>
      </p:sp>
      <p:sp>
        <p:nvSpPr>
          <p:cNvPr id="49" name="Text 47"/>
          <p:cNvSpPr/>
          <p:nvPr/>
        </p:nvSpPr>
        <p:spPr>
          <a:xfrm>
            <a:off x="4572000" y="4928616"/>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17 files, 17 API routes, 8 DB models, 6 jurisdictions</a:t>
            </a:r>
            <a:endParaRPr lang="en-US" sz="700" dirty="0"/>
          </a:p>
        </p:txBody>
      </p:sp>
      <p:sp>
        <p:nvSpPr>
          <p:cNvPr id="50" name="Text 48"/>
          <p:cNvSpPr/>
          <p:nvPr/>
        </p:nvSpPr>
        <p:spPr>
          <a:xfrm>
            <a:off x="7132320" y="4928616"/>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Live compliance monitoring with drift detection</a:t>
            </a:r>
            <a:endParaRPr lang="en-US" sz="700" dirty="0"/>
          </a:p>
        </p:txBody>
      </p:sp>
      <p:sp>
        <p:nvSpPr>
          <p:cNvPr id="51" name="Text 49"/>
          <p:cNvSpPr/>
          <p:nvPr/>
        </p:nvSpPr>
        <p:spPr>
          <a:xfrm>
            <a:off x="9418320" y="4928616"/>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Production deployment and additional jurisdiction rule packs</a:t>
            </a:r>
            <a:endParaRPr lang="en-US" sz="700" dirty="0"/>
          </a:p>
        </p:txBody>
      </p:sp>
      <p:sp>
        <p:nvSpPr>
          <p:cNvPr id="52" name="Shape 50"/>
          <p:cNvSpPr/>
          <p:nvPr/>
        </p:nvSpPr>
        <p:spPr>
          <a:xfrm>
            <a:off x="365760" y="5477256"/>
            <a:ext cx="11430000" cy="530352"/>
          </a:xfrm>
          <a:prstGeom prst="rect">
            <a:avLst/>
          </a:prstGeom>
          <a:solidFill>
            <a:srgbClr val="F5F5F5"/>
          </a:solidFill>
          <a:ln w="6350">
            <a:solidFill>
              <a:srgbClr val="D0D0D0"/>
            </a:solidFill>
            <a:prstDash val="solid"/>
          </a:ln>
        </p:spPr>
      </p:sp>
      <p:sp>
        <p:nvSpPr>
          <p:cNvPr id="53" name="Text 51"/>
          <p:cNvSpPr/>
          <p:nvPr/>
        </p:nvSpPr>
        <p:spPr>
          <a:xfrm>
            <a:off x="457200" y="5495544"/>
            <a:ext cx="2011680" cy="502920"/>
          </a:xfrm>
          <a:prstGeom prst="rect">
            <a:avLst/>
          </a:prstGeom>
          <a:noFill/>
          <a:ln/>
        </p:spPr>
        <p:txBody>
          <a:bodyPr wrap="square" rtlCol="0" anchor="ctr"/>
          <a:lstStyle/>
          <a:p>
            <a:pPr indent="0" marL="0">
              <a:buNone/>
            </a:pPr>
            <a:r>
              <a:rPr lang="en-US" sz="800" b="1" dirty="0">
                <a:solidFill>
                  <a:srgbClr val="1A1A1A"/>
                </a:solidFill>
                <a:latin typeface="Arial" pitchFamily="34" charset="0"/>
                <a:ea typeface="Arial" pitchFamily="34" charset="-122"/>
                <a:cs typeface="Arial" pitchFamily="34" charset="-120"/>
              </a:rPr>
              <a:t>Kill Switch</a:t>
            </a:r>
            <a:endParaRPr lang="en-US" sz="800" dirty="0"/>
          </a:p>
        </p:txBody>
      </p:sp>
      <p:sp>
        <p:nvSpPr>
          <p:cNvPr id="54" name="Text 52"/>
          <p:cNvSpPr/>
          <p:nvPr/>
        </p:nvSpPr>
        <p:spPr>
          <a:xfrm>
            <a:off x="2560320" y="5495544"/>
            <a:ext cx="192024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Active development (L1–L3 available)</a:t>
            </a:r>
            <a:endParaRPr lang="en-US" sz="700" dirty="0"/>
          </a:p>
        </p:txBody>
      </p:sp>
      <p:sp>
        <p:nvSpPr>
          <p:cNvPr id="55" name="Text 53"/>
          <p:cNvSpPr/>
          <p:nvPr/>
        </p:nvSpPr>
        <p:spPr>
          <a:xfrm>
            <a:off x="4572000" y="5495544"/>
            <a:ext cx="2468880" cy="5029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Published SDK v0.3.0, execution guard, 19 API routes</a:t>
            </a:r>
            <a:endParaRPr lang="en-US" sz="700" dirty="0"/>
          </a:p>
        </p:txBody>
      </p:sp>
      <p:sp>
        <p:nvSpPr>
          <p:cNvPr id="56" name="Text 54"/>
          <p:cNvSpPr/>
          <p:nvPr/>
        </p:nvSpPr>
        <p:spPr>
          <a:xfrm>
            <a:off x="7132320" y="5495544"/>
            <a:ext cx="2194560" cy="502920"/>
          </a:xfrm>
          <a:prstGeom prst="rect">
            <a:avLst/>
          </a:prstGeom>
          <a:noFill/>
          <a:ln/>
        </p:spPr>
        <p:txBody>
          <a:bodyPr wrap="square" rtlCol="0" anchor="ctr"/>
          <a:lstStyle/>
          <a:p>
            <a:pPr indent="0" marL="0">
              <a:buNone/>
            </a:pPr>
            <a:r>
              <a:rPr lang="en-US" sz="700" dirty="0">
                <a:solidFill>
                  <a:srgbClr val="1A1A1A"/>
                </a:solidFill>
                <a:latin typeface="Arial" pitchFamily="34" charset="0"/>
                <a:ea typeface="Arial" pitchFamily="34" charset="-122"/>
                <a:cs typeface="Arial" pitchFamily="34" charset="-120"/>
              </a:rPr>
              <a:t>Emergency shutdown capability for AI systems</a:t>
            </a:r>
            <a:endParaRPr lang="en-US" sz="700" dirty="0"/>
          </a:p>
        </p:txBody>
      </p:sp>
      <p:sp>
        <p:nvSpPr>
          <p:cNvPr id="57" name="Text 55"/>
          <p:cNvSpPr/>
          <p:nvPr/>
        </p:nvSpPr>
        <p:spPr>
          <a:xfrm>
            <a:off x="9418320" y="5495544"/>
            <a:ext cx="2011680" cy="5029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Layers 4–5 (network block, database revoke) in development</a:t>
            </a:r>
            <a:endParaRPr lang="en-US" sz="700" dirty="0"/>
          </a:p>
        </p:txBody>
      </p:sp>
      <p:sp>
        <p:nvSpPr>
          <p:cNvPr id="58" name="Shape 56"/>
          <p:cNvSpPr/>
          <p:nvPr/>
        </p:nvSpPr>
        <p:spPr>
          <a:xfrm>
            <a:off x="457200" y="6473952"/>
            <a:ext cx="11277295" cy="0"/>
          </a:xfrm>
          <a:prstGeom prst="line">
            <a:avLst/>
          </a:prstGeom>
          <a:noFill/>
          <a:ln w="6350">
            <a:solidFill>
              <a:srgbClr val="CCCCCC"/>
            </a:solidFill>
            <a:prstDash val="solid"/>
          </a:ln>
        </p:spPr>
      </p:sp>
      <p:sp>
        <p:nvSpPr>
          <p:cNvPr id="59" name="Text 57"/>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13/15</a:t>
            </a:r>
            <a:endParaRPr lang="en-US" sz="800" dirty="0"/>
          </a:p>
        </p:txBody>
      </p:sp>
      <p:sp>
        <p:nvSpPr>
          <p:cNvPr id="60" name="Text 58"/>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B: Capability Taxonomy</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Text 2"/>
          <p:cNvSpPr/>
          <p:nvPr/>
        </p:nvSpPr>
        <p:spPr>
          <a:xfrm>
            <a:off x="548640" y="1005840"/>
            <a:ext cx="7315200" cy="182880"/>
          </a:xfrm>
          <a:prstGeom prst="rect">
            <a:avLst/>
          </a:prstGeom>
          <a:noFill/>
          <a:ln/>
        </p:spPr>
        <p:txBody>
          <a:bodyPr wrap="square" rtlCol="0" anchor="ctr"/>
          <a:lstStyle/>
          <a:p>
            <a:pPr algn="l" indent="0" marL="0">
              <a:buNone/>
            </a:pPr>
            <a:r>
              <a:rPr lang="en-US" sz="800" b="1" dirty="0">
                <a:solidFill>
                  <a:srgbClr val="6B6B6B"/>
                </a:solidFill>
                <a:latin typeface="Arial" pitchFamily="34" charset="0"/>
                <a:ea typeface="Arial" pitchFamily="34" charset="-122"/>
                <a:cs typeface="Arial" pitchFamily="34" charset="-120"/>
              </a:rPr>
              <a:t>Generated: 2026-07-31  ·  Source commit: d0298e7</a:t>
            </a:r>
            <a:endParaRPr lang="en-US" sz="800" dirty="0"/>
          </a:p>
        </p:txBody>
      </p:sp>
      <p:sp>
        <p:nvSpPr>
          <p:cNvPr id="5" name="Shape 3"/>
          <p:cNvSpPr/>
          <p:nvPr/>
        </p:nvSpPr>
        <p:spPr>
          <a:xfrm>
            <a:off x="548640" y="1280160"/>
            <a:ext cx="3474720" cy="2286000"/>
          </a:xfrm>
          <a:prstGeom prst="rect">
            <a:avLst/>
          </a:prstGeom>
          <a:solidFill>
            <a:srgbClr val="F5F5F5"/>
          </a:solidFill>
          <a:ln w="6350">
            <a:solidFill>
              <a:srgbClr val="D0D0D0"/>
            </a:solidFill>
            <a:prstDash val="solid"/>
          </a:ln>
        </p:spPr>
      </p:sp>
      <p:sp>
        <p:nvSpPr>
          <p:cNvPr id="6" name="Text 4"/>
          <p:cNvSpPr/>
          <p:nvPr/>
        </p:nvSpPr>
        <p:spPr>
          <a:xfrm>
            <a:off x="731520" y="1371600"/>
            <a:ext cx="310896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Static Detection</a:t>
            </a:r>
            <a:endParaRPr lang="en-US" sz="1100" dirty="0"/>
          </a:p>
        </p:txBody>
      </p:sp>
      <p:sp>
        <p:nvSpPr>
          <p:cNvPr id="7" name="Text 5"/>
          <p:cNvSpPr/>
          <p:nvPr/>
        </p:nvSpPr>
        <p:spPr>
          <a:xfrm>
            <a:off x="731520" y="1691640"/>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Semgrep YAML rules: 91</a:t>
            </a:r>
            <a:endParaRPr lang="en-US" sz="800" dirty="0"/>
          </a:p>
        </p:txBody>
      </p:sp>
      <p:sp>
        <p:nvSpPr>
          <p:cNvPr id="8" name="Text 6"/>
          <p:cNvSpPr/>
          <p:nvPr/>
        </p:nvSpPr>
        <p:spPr>
          <a:xfrm>
            <a:off x="731520" y="1865376"/>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Core TS deterministic rules: 15</a:t>
            </a:r>
            <a:endParaRPr lang="en-US" sz="800" dirty="0"/>
          </a:p>
        </p:txBody>
      </p:sp>
      <p:sp>
        <p:nvSpPr>
          <p:cNvPr id="9" name="Text 7"/>
          <p:cNvSpPr/>
          <p:nvPr/>
        </p:nvSpPr>
        <p:spPr>
          <a:xfrm>
            <a:off x="731520" y="2039112"/>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Rulepack mapping records: 82</a:t>
            </a:r>
            <a:endParaRPr lang="en-US" sz="800" dirty="0"/>
          </a:p>
        </p:txBody>
      </p:sp>
      <p:sp>
        <p:nvSpPr>
          <p:cNvPr id="10" name="Text 8"/>
          <p:cNvSpPr/>
          <p:nvPr/>
        </p:nvSpPr>
        <p:spPr>
          <a:xfrm>
            <a:off x="731520" y="2212848"/>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Note: These are different representations</a:t>
            </a:r>
            <a:endParaRPr lang="en-US" sz="800" dirty="0"/>
          </a:p>
        </p:txBody>
      </p:sp>
      <p:sp>
        <p:nvSpPr>
          <p:cNvPr id="11" name="Text 9"/>
          <p:cNvSpPr/>
          <p:nvPr/>
        </p:nvSpPr>
        <p:spPr>
          <a:xfrm>
            <a:off x="731520" y="238658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(detectors, display IDs, mappings)</a:t>
            </a:r>
            <a:endParaRPr lang="en-US" sz="800" dirty="0"/>
          </a:p>
        </p:txBody>
      </p:sp>
      <p:sp>
        <p:nvSpPr>
          <p:cNvPr id="12" name="Text 10"/>
          <p:cNvSpPr/>
          <p:nvPr/>
        </p:nvSpPr>
        <p:spPr>
          <a:xfrm>
            <a:off x="731520" y="256032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Do not add to a combined total</a:t>
            </a:r>
            <a:endParaRPr lang="en-US" sz="800" dirty="0"/>
          </a:p>
        </p:txBody>
      </p:sp>
      <p:sp>
        <p:nvSpPr>
          <p:cNvPr id="13" name="Text 11"/>
          <p:cNvSpPr/>
          <p:nvPr/>
        </p:nvSpPr>
        <p:spPr>
          <a:xfrm>
            <a:off x="731520" y="2734056"/>
            <a:ext cx="3108960" cy="164592"/>
          </a:xfrm>
          <a:prstGeom prst="rect">
            <a:avLst/>
          </a:prstGeom>
          <a:noFill/>
          <a:ln/>
        </p:spPr>
        <p:txBody>
          <a:bodyPr wrap="square" rtlCol="0" anchor="ctr"/>
          <a:lstStyle/>
          <a:p>
            <a:pPr indent="0" marL="0">
              <a:buNone/>
            </a:pPr>
            <a:endParaRPr lang="en-US" sz="800" dirty="0"/>
          </a:p>
        </p:txBody>
      </p:sp>
      <p:sp>
        <p:nvSpPr>
          <p:cNvPr id="14" name="Text 12"/>
          <p:cNvSpPr/>
          <p:nvPr/>
        </p:nvSpPr>
        <p:spPr>
          <a:xfrm>
            <a:off x="731520" y="2907792"/>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Rulepacks:</a:t>
            </a:r>
            <a:endParaRPr lang="en-US" sz="800" dirty="0"/>
          </a:p>
        </p:txBody>
      </p:sp>
      <p:sp>
        <p:nvSpPr>
          <p:cNvPr id="15" name="Text 13"/>
          <p:cNvSpPr/>
          <p:nvPr/>
        </p:nvSpPr>
        <p:spPr>
          <a:xfrm>
            <a:off x="731520" y="308152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Agentic (AGW-R): 12</a:t>
            </a:r>
            <a:endParaRPr lang="en-US" sz="800" dirty="0"/>
          </a:p>
        </p:txBody>
      </p:sp>
      <p:sp>
        <p:nvSpPr>
          <p:cNvPr id="16" name="Text 14"/>
          <p:cNvSpPr/>
          <p:nvPr/>
        </p:nvSpPr>
        <p:spPr>
          <a:xfrm>
            <a:off x="731520" y="325526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AI-Assisted Dev (AIC-R): 45</a:t>
            </a:r>
            <a:endParaRPr lang="en-US" sz="800" dirty="0"/>
          </a:p>
        </p:txBody>
      </p:sp>
      <p:sp>
        <p:nvSpPr>
          <p:cNvPr id="17" name="Text 15"/>
          <p:cNvSpPr/>
          <p:nvPr/>
        </p:nvSpPr>
        <p:spPr>
          <a:xfrm>
            <a:off x="731520" y="342900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Embedded SaaS (ESA-R): 10</a:t>
            </a:r>
            <a:endParaRPr lang="en-US" sz="800" dirty="0"/>
          </a:p>
        </p:txBody>
      </p:sp>
      <p:sp>
        <p:nvSpPr>
          <p:cNvPr id="18" name="Text 16"/>
          <p:cNvSpPr/>
          <p:nvPr/>
        </p:nvSpPr>
        <p:spPr>
          <a:xfrm>
            <a:off x="731520" y="3602736"/>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RAG Deep (RAG-R): 8</a:t>
            </a:r>
            <a:endParaRPr lang="en-US" sz="800" dirty="0"/>
          </a:p>
        </p:txBody>
      </p:sp>
      <p:sp>
        <p:nvSpPr>
          <p:cNvPr id="19" name="Text 17"/>
          <p:cNvSpPr/>
          <p:nvPr/>
        </p:nvSpPr>
        <p:spPr>
          <a:xfrm>
            <a:off x="731520" y="3776472"/>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  Voice AI (VAI): 7</a:t>
            </a:r>
            <a:endParaRPr lang="en-US" sz="800" dirty="0"/>
          </a:p>
        </p:txBody>
      </p:sp>
      <p:sp>
        <p:nvSpPr>
          <p:cNvPr id="20" name="Shape 18"/>
          <p:cNvSpPr/>
          <p:nvPr/>
        </p:nvSpPr>
        <p:spPr>
          <a:xfrm>
            <a:off x="4206240" y="1280160"/>
            <a:ext cx="3474720" cy="2286000"/>
          </a:xfrm>
          <a:prstGeom prst="rect">
            <a:avLst/>
          </a:prstGeom>
          <a:solidFill>
            <a:srgbClr val="F5F5F5"/>
          </a:solidFill>
          <a:ln w="6350">
            <a:solidFill>
              <a:srgbClr val="D0D0D0"/>
            </a:solidFill>
            <a:prstDash val="solid"/>
          </a:ln>
        </p:spPr>
      </p:sp>
      <p:sp>
        <p:nvSpPr>
          <p:cNvPr id="21" name="Text 19"/>
          <p:cNvSpPr/>
          <p:nvPr/>
        </p:nvSpPr>
        <p:spPr>
          <a:xfrm>
            <a:off x="4389120" y="1371600"/>
            <a:ext cx="310896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Runtime Attack Templates</a:t>
            </a:r>
            <a:endParaRPr lang="en-US" sz="1100" dirty="0"/>
          </a:p>
        </p:txBody>
      </p:sp>
      <p:sp>
        <p:nvSpPr>
          <p:cNvPr id="22" name="Text 20"/>
          <p:cNvSpPr/>
          <p:nvPr/>
        </p:nvSpPr>
        <p:spPr>
          <a:xfrm>
            <a:off x="4389120" y="169164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Base templates: 234</a:t>
            </a:r>
            <a:endParaRPr lang="en-US" sz="800" dirty="0"/>
          </a:p>
        </p:txBody>
      </p:sp>
      <p:sp>
        <p:nvSpPr>
          <p:cNvPr id="23" name="Text 21"/>
          <p:cNvSpPr/>
          <p:nvPr/>
        </p:nvSpPr>
        <p:spPr>
          <a:xfrm>
            <a:off x="4389120" y="1865376"/>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Voice AI: 12</a:t>
            </a:r>
            <a:endParaRPr lang="en-US" sz="800" dirty="0"/>
          </a:p>
        </p:txBody>
      </p:sp>
      <p:sp>
        <p:nvSpPr>
          <p:cNvPr id="24" name="Text 22"/>
          <p:cNvSpPr/>
          <p:nvPr/>
        </p:nvSpPr>
        <p:spPr>
          <a:xfrm>
            <a:off x="4389120" y="2039112"/>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Embedded SaaS: 7</a:t>
            </a:r>
            <a:endParaRPr lang="en-US" sz="800" dirty="0"/>
          </a:p>
        </p:txBody>
      </p:sp>
      <p:sp>
        <p:nvSpPr>
          <p:cNvPr id="25" name="Text 23"/>
          <p:cNvSpPr/>
          <p:nvPr/>
        </p:nvSpPr>
        <p:spPr>
          <a:xfrm>
            <a:off x="4389120" y="221284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Agentic: 7</a:t>
            </a:r>
            <a:endParaRPr lang="en-US" sz="800" dirty="0"/>
          </a:p>
        </p:txBody>
      </p:sp>
      <p:sp>
        <p:nvSpPr>
          <p:cNvPr id="26" name="Text 24"/>
          <p:cNvSpPr/>
          <p:nvPr/>
        </p:nvSpPr>
        <p:spPr>
          <a:xfrm>
            <a:off x="4389120" y="238658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AI-Assisted Dev: 3</a:t>
            </a:r>
            <a:endParaRPr lang="en-US" sz="800" dirty="0"/>
          </a:p>
        </p:txBody>
      </p:sp>
      <p:sp>
        <p:nvSpPr>
          <p:cNvPr id="27" name="Text 25"/>
          <p:cNvSpPr/>
          <p:nvPr/>
        </p:nvSpPr>
        <p:spPr>
          <a:xfrm>
            <a:off x="4389120" y="256032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RAG Deep: 6</a:t>
            </a:r>
            <a:endParaRPr lang="en-US" sz="800" dirty="0"/>
          </a:p>
        </p:txBody>
      </p:sp>
      <p:sp>
        <p:nvSpPr>
          <p:cNvPr id="28" name="Text 26"/>
          <p:cNvSpPr/>
          <p:nvPr/>
        </p:nvSpPr>
        <p:spPr>
          <a:xfrm>
            <a:off x="4389120" y="2734056"/>
            <a:ext cx="3108960" cy="164592"/>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Total templates: 269</a:t>
            </a:r>
            <a:endParaRPr lang="en-US" sz="800" dirty="0"/>
          </a:p>
        </p:txBody>
      </p:sp>
      <p:sp>
        <p:nvSpPr>
          <p:cNvPr id="29" name="Text 27"/>
          <p:cNvSpPr/>
          <p:nvPr/>
        </p:nvSpPr>
        <p:spPr>
          <a:xfrm>
            <a:off x="4389120" y="2907792"/>
            <a:ext cx="3108960" cy="164592"/>
          </a:xfrm>
          <a:prstGeom prst="rect">
            <a:avLst/>
          </a:prstGeom>
          <a:noFill/>
          <a:ln/>
        </p:spPr>
        <p:txBody>
          <a:bodyPr wrap="square" rtlCol="0" anchor="ctr"/>
          <a:lstStyle/>
          <a:p>
            <a:pPr indent="0" marL="0">
              <a:buNone/>
            </a:pPr>
            <a:endParaRPr lang="en-US" sz="800" dirty="0"/>
          </a:p>
        </p:txBody>
      </p:sp>
      <p:sp>
        <p:nvSpPr>
          <p:cNvPr id="30" name="Text 28"/>
          <p:cNvSpPr/>
          <p:nvPr/>
        </p:nvSpPr>
        <p:spPr>
          <a:xfrm>
            <a:off x="4389120" y="3081528"/>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tiers: 4</a:t>
            </a:r>
            <a:endParaRPr lang="en-US" sz="800" dirty="0"/>
          </a:p>
        </p:txBody>
      </p:sp>
      <p:sp>
        <p:nvSpPr>
          <p:cNvPr id="31" name="Text 29"/>
          <p:cNvSpPr/>
          <p:nvPr/>
        </p:nvSpPr>
        <p:spPr>
          <a:xfrm>
            <a:off x="4389120" y="3255264"/>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Phasing strategies: 4</a:t>
            </a:r>
            <a:endParaRPr lang="en-US" sz="800" dirty="0"/>
          </a:p>
        </p:txBody>
      </p:sp>
      <p:sp>
        <p:nvSpPr>
          <p:cNvPr id="32" name="Text 30"/>
          <p:cNvSpPr/>
          <p:nvPr/>
        </p:nvSpPr>
        <p:spPr>
          <a:xfrm>
            <a:off x="4389120" y="3429000"/>
            <a:ext cx="310896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Rate limit: 60 req/min, 2 req/sec</a:t>
            </a:r>
            <a:endParaRPr lang="en-US" sz="800" dirty="0"/>
          </a:p>
        </p:txBody>
      </p:sp>
      <p:sp>
        <p:nvSpPr>
          <p:cNvPr id="33" name="Shape 31"/>
          <p:cNvSpPr/>
          <p:nvPr/>
        </p:nvSpPr>
        <p:spPr>
          <a:xfrm>
            <a:off x="7863840" y="1280160"/>
            <a:ext cx="3749040" cy="2286000"/>
          </a:xfrm>
          <a:prstGeom prst="rect">
            <a:avLst/>
          </a:prstGeom>
          <a:solidFill>
            <a:srgbClr val="F5F5F5"/>
          </a:solidFill>
          <a:ln w="6350">
            <a:solidFill>
              <a:srgbClr val="D0D0D0"/>
            </a:solidFill>
            <a:prstDash val="solid"/>
          </a:ln>
        </p:spPr>
      </p:sp>
      <p:sp>
        <p:nvSpPr>
          <p:cNvPr id="34" name="Text 32"/>
          <p:cNvSpPr/>
          <p:nvPr/>
        </p:nvSpPr>
        <p:spPr>
          <a:xfrm>
            <a:off x="8046720" y="1371600"/>
            <a:ext cx="33832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Safety Properties &amp; Frameworks</a:t>
            </a:r>
            <a:endParaRPr lang="en-US" sz="1100" dirty="0"/>
          </a:p>
        </p:txBody>
      </p:sp>
      <p:sp>
        <p:nvSpPr>
          <p:cNvPr id="35" name="Text 33"/>
          <p:cNvSpPr/>
          <p:nvPr/>
        </p:nvSpPr>
        <p:spPr>
          <a:xfrm>
            <a:off x="8046720" y="1691640"/>
            <a:ext cx="338328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Safety properties: 14</a:t>
            </a:r>
            <a:endParaRPr lang="en-US" sz="800" dirty="0"/>
          </a:p>
        </p:txBody>
      </p:sp>
      <p:sp>
        <p:nvSpPr>
          <p:cNvPr id="36" name="Text 34"/>
          <p:cNvSpPr/>
          <p:nvPr/>
        </p:nvSpPr>
        <p:spPr>
          <a:xfrm>
            <a:off x="8046720" y="186537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Secret leakage: 5 (SP001-SP005)</a:t>
            </a:r>
            <a:endParaRPr lang="en-US" sz="800" dirty="0"/>
          </a:p>
        </p:txBody>
      </p:sp>
      <p:sp>
        <p:nvSpPr>
          <p:cNvPr id="37" name="Text 35"/>
          <p:cNvSpPr/>
          <p:nvPr/>
        </p:nvSpPr>
        <p:spPr>
          <a:xfrm>
            <a:off x="8046720" y="2039112"/>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Injection: 2 (SP010-SP011)</a:t>
            </a:r>
            <a:endParaRPr lang="en-US" sz="800" dirty="0"/>
          </a:p>
        </p:txBody>
      </p:sp>
      <p:sp>
        <p:nvSpPr>
          <p:cNvPr id="38" name="Text 36"/>
          <p:cNvSpPr/>
          <p:nvPr/>
        </p:nvSpPr>
        <p:spPr>
          <a:xfrm>
            <a:off x="8046720" y="2212848"/>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Prompt extraction: 2 (SP020-SP021)</a:t>
            </a:r>
            <a:endParaRPr lang="en-US" sz="800" dirty="0"/>
          </a:p>
        </p:txBody>
      </p:sp>
      <p:sp>
        <p:nvSpPr>
          <p:cNvPr id="39" name="Text 37"/>
          <p:cNvSpPr/>
          <p:nvPr/>
        </p:nvSpPr>
        <p:spPr>
          <a:xfrm>
            <a:off x="8046720" y="2386584"/>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Behavioral: 2 (SP030, SP040)</a:t>
            </a:r>
            <a:endParaRPr lang="en-US" sz="800" dirty="0"/>
          </a:p>
        </p:txBody>
      </p:sp>
      <p:sp>
        <p:nvSpPr>
          <p:cNvPr id="40" name="Text 38"/>
          <p:cNvSpPr/>
          <p:nvPr/>
        </p:nvSpPr>
        <p:spPr>
          <a:xfrm>
            <a:off x="8046720" y="2560320"/>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Performance: 2 (SP050-SP051)</a:t>
            </a:r>
            <a:endParaRPr lang="en-US" sz="800" dirty="0"/>
          </a:p>
        </p:txBody>
      </p:sp>
      <p:sp>
        <p:nvSpPr>
          <p:cNvPr id="41" name="Text 39"/>
          <p:cNvSpPr/>
          <p:nvPr/>
        </p:nvSpPr>
        <p:spPr>
          <a:xfrm>
            <a:off x="8046720" y="273405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Tool abuse: 1 (SP060)</a:t>
            </a:r>
            <a:endParaRPr lang="en-US" sz="800" dirty="0"/>
          </a:p>
        </p:txBody>
      </p:sp>
      <p:sp>
        <p:nvSpPr>
          <p:cNvPr id="42" name="Text 40"/>
          <p:cNvSpPr/>
          <p:nvPr/>
        </p:nvSpPr>
        <p:spPr>
          <a:xfrm>
            <a:off x="8046720" y="2907792"/>
            <a:ext cx="3383280" cy="164592"/>
          </a:xfrm>
          <a:prstGeom prst="rect">
            <a:avLst/>
          </a:prstGeom>
          <a:noFill/>
          <a:ln/>
        </p:spPr>
        <p:txBody>
          <a:bodyPr wrap="square" rtlCol="0" anchor="ctr"/>
          <a:lstStyle/>
          <a:p>
            <a:pPr indent="0" marL="0">
              <a:buNone/>
            </a:pPr>
            <a:endParaRPr lang="en-US" sz="800" dirty="0"/>
          </a:p>
        </p:txBody>
      </p:sp>
      <p:sp>
        <p:nvSpPr>
          <p:cNvPr id="43" name="Text 41"/>
          <p:cNvSpPr/>
          <p:nvPr/>
        </p:nvSpPr>
        <p:spPr>
          <a:xfrm>
            <a:off x="8046720" y="3081528"/>
            <a:ext cx="3383280" cy="164592"/>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frameworks: 13</a:t>
            </a:r>
            <a:endParaRPr lang="en-US" sz="800" dirty="0"/>
          </a:p>
        </p:txBody>
      </p:sp>
      <p:sp>
        <p:nvSpPr>
          <p:cNvPr id="44" name="Text 42"/>
          <p:cNvSpPr/>
          <p:nvPr/>
        </p:nvSpPr>
        <p:spPr>
          <a:xfrm>
            <a:off x="8046720" y="3255264"/>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SOC2, ISO27001, ISO42001, GDPR</a:t>
            </a:r>
            <a:endParaRPr lang="en-US" sz="800" dirty="0"/>
          </a:p>
        </p:txBody>
      </p:sp>
      <p:sp>
        <p:nvSpPr>
          <p:cNvPr id="45" name="Text 43"/>
          <p:cNvSpPr/>
          <p:nvPr/>
        </p:nvSpPr>
        <p:spPr>
          <a:xfrm>
            <a:off x="8046720" y="3429000"/>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HIPAA, OWASP, CWE, NIST AI RMF</a:t>
            </a:r>
            <a:endParaRPr lang="en-US" sz="800" dirty="0"/>
          </a:p>
        </p:txBody>
      </p:sp>
      <p:sp>
        <p:nvSpPr>
          <p:cNvPr id="46" name="Text 44"/>
          <p:cNvSpPr/>
          <p:nvPr/>
        </p:nvSpPr>
        <p:spPr>
          <a:xfrm>
            <a:off x="8046720" y="3602736"/>
            <a:ext cx="3383280" cy="164592"/>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  EU AI Act, CCPA, NYC LL144, CO AI, FTC</a:t>
            </a:r>
            <a:endParaRPr lang="en-US" sz="800" dirty="0"/>
          </a:p>
        </p:txBody>
      </p:sp>
      <p:sp>
        <p:nvSpPr>
          <p:cNvPr id="47" name="Shape 45"/>
          <p:cNvSpPr/>
          <p:nvPr/>
        </p:nvSpPr>
        <p:spPr>
          <a:xfrm>
            <a:off x="548640" y="3749040"/>
            <a:ext cx="11064240" cy="2286000"/>
          </a:xfrm>
          <a:prstGeom prst="rect">
            <a:avLst/>
          </a:prstGeom>
          <a:solidFill>
            <a:srgbClr val="F5F5F5"/>
          </a:solidFill>
          <a:ln w="6350">
            <a:solidFill>
              <a:srgbClr val="D0D0D0"/>
            </a:solidFill>
            <a:prstDash val="solid"/>
          </a:ln>
        </p:spPr>
      </p:sp>
      <p:sp>
        <p:nvSpPr>
          <p:cNvPr id="48" name="Text 46"/>
          <p:cNvSpPr/>
          <p:nvPr/>
        </p:nvSpPr>
        <p:spPr>
          <a:xfrm>
            <a:off x="731520" y="3840480"/>
            <a:ext cx="10698480" cy="274320"/>
          </a:xfrm>
          <a:prstGeom prst="rect">
            <a:avLst/>
          </a:prstGeom>
          <a:noFill/>
          <a:ln/>
        </p:spPr>
        <p:txBody>
          <a:bodyPr wrap="square" rtlCol="0" anchor="ctr"/>
          <a:lstStyle/>
          <a:p>
            <a:pPr indent="0" marL="0">
              <a:buNone/>
            </a:pPr>
            <a:r>
              <a:rPr lang="en-US" sz="1100" b="1" dirty="0">
                <a:solidFill>
                  <a:srgbClr val="1A2B4A"/>
                </a:solidFill>
                <a:latin typeface="Arial" pitchFamily="34" charset="0"/>
                <a:ea typeface="Arial" pitchFamily="34" charset="-122"/>
                <a:cs typeface="Arial" pitchFamily="34" charset="-120"/>
              </a:rPr>
              <a:t>API Surface</a:t>
            </a:r>
            <a:endParaRPr lang="en-US" sz="1100" dirty="0"/>
          </a:p>
        </p:txBody>
      </p:sp>
      <p:sp>
        <p:nvSpPr>
          <p:cNvPr id="49" name="Text 47"/>
          <p:cNvSpPr/>
          <p:nvPr/>
        </p:nvSpPr>
        <p:spPr>
          <a:xfrm>
            <a:off x="7315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Static Security</a:t>
            </a:r>
            <a:endParaRPr lang="en-US" sz="800" dirty="0"/>
          </a:p>
        </p:txBody>
      </p:sp>
      <p:sp>
        <p:nvSpPr>
          <p:cNvPr id="50" name="Text 48"/>
          <p:cNvSpPr/>
          <p:nvPr/>
        </p:nvSpPr>
        <p:spPr>
          <a:xfrm>
            <a:off x="23774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31 routes</a:t>
            </a:r>
            <a:endParaRPr lang="en-US" sz="800" dirty="0"/>
          </a:p>
        </p:txBody>
      </p:sp>
      <p:sp>
        <p:nvSpPr>
          <p:cNvPr id="51" name="Text 49"/>
          <p:cNvSpPr/>
          <p:nvPr/>
        </p:nvSpPr>
        <p:spPr>
          <a:xfrm>
            <a:off x="7315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/api/ai-security/</a:t>
            </a:r>
            <a:endParaRPr lang="en-US" sz="700" dirty="0"/>
          </a:p>
        </p:txBody>
      </p:sp>
      <p:sp>
        <p:nvSpPr>
          <p:cNvPr id="52" name="Text 50"/>
          <p:cNvSpPr/>
          <p:nvPr/>
        </p:nvSpPr>
        <p:spPr>
          <a:xfrm>
            <a:off x="34747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Runtime Security</a:t>
            </a:r>
            <a:endParaRPr lang="en-US" sz="800" dirty="0"/>
          </a:p>
        </p:txBody>
      </p:sp>
      <p:sp>
        <p:nvSpPr>
          <p:cNvPr id="53" name="Text 51"/>
          <p:cNvSpPr/>
          <p:nvPr/>
        </p:nvSpPr>
        <p:spPr>
          <a:xfrm>
            <a:off x="51206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22 routes</a:t>
            </a:r>
            <a:endParaRPr lang="en-US" sz="800" dirty="0"/>
          </a:p>
        </p:txBody>
      </p:sp>
      <p:sp>
        <p:nvSpPr>
          <p:cNvPr id="54" name="Text 52"/>
          <p:cNvSpPr/>
          <p:nvPr/>
        </p:nvSpPr>
        <p:spPr>
          <a:xfrm>
            <a:off x="34747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/api/runtime-security/</a:t>
            </a:r>
            <a:endParaRPr lang="en-US" sz="700" dirty="0"/>
          </a:p>
        </p:txBody>
      </p:sp>
      <p:sp>
        <p:nvSpPr>
          <p:cNvPr id="55" name="Text 53"/>
          <p:cNvSpPr/>
          <p:nvPr/>
        </p:nvSpPr>
        <p:spPr>
          <a:xfrm>
            <a:off x="62179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Audit Orchestrator</a:t>
            </a:r>
            <a:endParaRPr lang="en-US" sz="800" dirty="0"/>
          </a:p>
        </p:txBody>
      </p:sp>
      <p:sp>
        <p:nvSpPr>
          <p:cNvPr id="56" name="Text 54"/>
          <p:cNvSpPr/>
          <p:nvPr/>
        </p:nvSpPr>
        <p:spPr>
          <a:xfrm>
            <a:off x="78638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12 routes</a:t>
            </a:r>
            <a:endParaRPr lang="en-US" sz="800" dirty="0"/>
          </a:p>
        </p:txBody>
      </p:sp>
      <p:sp>
        <p:nvSpPr>
          <p:cNvPr id="57" name="Text 55"/>
          <p:cNvSpPr/>
          <p:nvPr/>
        </p:nvSpPr>
        <p:spPr>
          <a:xfrm>
            <a:off x="62179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/api/audit-orchestrator/</a:t>
            </a:r>
            <a:endParaRPr lang="en-US" sz="700" dirty="0"/>
          </a:p>
        </p:txBody>
      </p:sp>
      <p:sp>
        <p:nvSpPr>
          <p:cNvPr id="58" name="Text 56"/>
          <p:cNvSpPr/>
          <p:nvPr/>
        </p:nvSpPr>
        <p:spPr>
          <a:xfrm>
            <a:off x="8961120" y="420624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Compliance Twin</a:t>
            </a:r>
            <a:endParaRPr lang="en-US" sz="800" dirty="0"/>
          </a:p>
        </p:txBody>
      </p:sp>
      <p:sp>
        <p:nvSpPr>
          <p:cNvPr id="59" name="Text 57"/>
          <p:cNvSpPr/>
          <p:nvPr/>
        </p:nvSpPr>
        <p:spPr>
          <a:xfrm>
            <a:off x="10607040" y="420624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17 routes</a:t>
            </a:r>
            <a:endParaRPr lang="en-US" sz="800" dirty="0"/>
          </a:p>
        </p:txBody>
      </p:sp>
      <p:sp>
        <p:nvSpPr>
          <p:cNvPr id="60" name="Text 58"/>
          <p:cNvSpPr/>
          <p:nvPr/>
        </p:nvSpPr>
        <p:spPr>
          <a:xfrm>
            <a:off x="8961120" y="443484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/api/compliance-twin/</a:t>
            </a:r>
            <a:endParaRPr lang="en-US" sz="700" dirty="0"/>
          </a:p>
        </p:txBody>
      </p:sp>
      <p:sp>
        <p:nvSpPr>
          <p:cNvPr id="61" name="Text 59"/>
          <p:cNvSpPr/>
          <p:nvPr/>
        </p:nvSpPr>
        <p:spPr>
          <a:xfrm>
            <a:off x="7315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Kill Switch</a:t>
            </a:r>
            <a:endParaRPr lang="en-US" sz="800" dirty="0"/>
          </a:p>
        </p:txBody>
      </p:sp>
      <p:sp>
        <p:nvSpPr>
          <p:cNvPr id="62" name="Text 60"/>
          <p:cNvSpPr/>
          <p:nvPr/>
        </p:nvSpPr>
        <p:spPr>
          <a:xfrm>
            <a:off x="23774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19 routes</a:t>
            </a:r>
            <a:endParaRPr lang="en-US" sz="800" dirty="0"/>
          </a:p>
        </p:txBody>
      </p:sp>
      <p:sp>
        <p:nvSpPr>
          <p:cNvPr id="63" name="Text 61"/>
          <p:cNvSpPr/>
          <p:nvPr/>
        </p:nvSpPr>
        <p:spPr>
          <a:xfrm>
            <a:off x="7315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/api/kill-switch/</a:t>
            </a:r>
            <a:endParaRPr lang="en-US" sz="700" dirty="0"/>
          </a:p>
        </p:txBody>
      </p:sp>
      <p:sp>
        <p:nvSpPr>
          <p:cNvPr id="64" name="Text 62"/>
          <p:cNvSpPr/>
          <p:nvPr/>
        </p:nvSpPr>
        <p:spPr>
          <a:xfrm>
            <a:off x="34747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Pipeline (Dashboard)</a:t>
            </a:r>
            <a:endParaRPr lang="en-US" sz="800" dirty="0"/>
          </a:p>
        </p:txBody>
      </p:sp>
      <p:sp>
        <p:nvSpPr>
          <p:cNvPr id="65" name="Text 63"/>
          <p:cNvSpPr/>
          <p:nvPr/>
        </p:nvSpPr>
        <p:spPr>
          <a:xfrm>
            <a:off x="51206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12 routes</a:t>
            </a:r>
            <a:endParaRPr lang="en-US" sz="800" dirty="0"/>
          </a:p>
        </p:txBody>
      </p:sp>
      <p:sp>
        <p:nvSpPr>
          <p:cNvPr id="66" name="Text 64"/>
          <p:cNvSpPr/>
          <p:nvPr/>
        </p:nvSpPr>
        <p:spPr>
          <a:xfrm>
            <a:off x="34747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/api/pipeline/</a:t>
            </a:r>
            <a:endParaRPr lang="en-US" sz="700" dirty="0"/>
          </a:p>
        </p:txBody>
      </p:sp>
      <p:sp>
        <p:nvSpPr>
          <p:cNvPr id="67" name="Text 65"/>
          <p:cNvSpPr/>
          <p:nvPr/>
        </p:nvSpPr>
        <p:spPr>
          <a:xfrm>
            <a:off x="6217920" y="4709160"/>
            <a:ext cx="1645920" cy="228600"/>
          </a:xfrm>
          <a:prstGeom prst="rect">
            <a:avLst/>
          </a:prstGeom>
          <a:noFill/>
          <a:ln/>
        </p:spPr>
        <p:txBody>
          <a:bodyPr wrap="square" rtlCol="0" anchor="ctr"/>
          <a:lstStyle/>
          <a:p>
            <a:pPr indent="0" marL="0">
              <a:buNone/>
            </a:pPr>
            <a:r>
              <a:rPr lang="en-US" sz="800" dirty="0">
                <a:solidFill>
                  <a:srgbClr val="1A1A1A"/>
                </a:solidFill>
                <a:latin typeface="Arial" pitchFamily="34" charset="0"/>
                <a:ea typeface="Arial" pitchFamily="34" charset="-122"/>
                <a:cs typeface="Arial" pitchFamily="34" charset="-120"/>
              </a:rPr>
              <a:t>Pipeline (Enterprise V1)</a:t>
            </a:r>
            <a:endParaRPr lang="en-US" sz="800" dirty="0"/>
          </a:p>
        </p:txBody>
      </p:sp>
      <p:sp>
        <p:nvSpPr>
          <p:cNvPr id="68" name="Text 66"/>
          <p:cNvSpPr/>
          <p:nvPr/>
        </p:nvSpPr>
        <p:spPr>
          <a:xfrm>
            <a:off x="7863840" y="4709160"/>
            <a:ext cx="914400" cy="22860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2 routes</a:t>
            </a:r>
            <a:endParaRPr lang="en-US" sz="800" dirty="0"/>
          </a:p>
        </p:txBody>
      </p:sp>
      <p:sp>
        <p:nvSpPr>
          <p:cNvPr id="69" name="Text 67"/>
          <p:cNvSpPr/>
          <p:nvPr/>
        </p:nvSpPr>
        <p:spPr>
          <a:xfrm>
            <a:off x="6217920" y="4937760"/>
            <a:ext cx="256032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/api/v1/pipeline/</a:t>
            </a:r>
            <a:endParaRPr lang="en-US" sz="700" dirty="0"/>
          </a:p>
        </p:txBody>
      </p:sp>
      <p:sp>
        <p:nvSpPr>
          <p:cNvPr id="70" name="Text 68"/>
          <p:cNvSpPr/>
          <p:nvPr/>
        </p:nvSpPr>
        <p:spPr>
          <a:xfrm>
            <a:off x="731520" y="5486400"/>
            <a:ext cx="4572000" cy="274320"/>
          </a:xfrm>
          <a:prstGeom prst="rect">
            <a:avLst/>
          </a:prstGeom>
          <a:noFill/>
          <a:ln/>
        </p:spPr>
        <p:txBody>
          <a:bodyPr wrap="square" rtlCol="0" anchor="ctr"/>
          <a:lstStyle/>
          <a:p>
            <a:pPr indent="0" marL="0">
              <a:buNone/>
            </a:pPr>
            <a:r>
              <a:rPr lang="en-US" sz="1000" b="1" dirty="0">
                <a:solidFill>
                  <a:srgbClr val="1A2B4A"/>
                </a:solidFill>
                <a:latin typeface="Arial" pitchFamily="34" charset="0"/>
                <a:ea typeface="Arial" pitchFamily="34" charset="-122"/>
                <a:cs typeface="Arial" pitchFamily="34" charset="-120"/>
              </a:rPr>
              <a:t>Total API routes: 115</a:t>
            </a:r>
            <a:endParaRPr lang="en-US" sz="1000" dirty="0"/>
          </a:p>
        </p:txBody>
      </p:sp>
      <p:sp>
        <p:nvSpPr>
          <p:cNvPr id="71" name="Text 69"/>
          <p:cNvSpPr/>
          <p:nvPr/>
        </p:nvSpPr>
        <p:spPr>
          <a:xfrm>
            <a:off x="5029200" y="5486400"/>
            <a:ext cx="6400800" cy="274320"/>
          </a:xfrm>
          <a:prstGeom prst="rect">
            <a:avLst/>
          </a:prstGeom>
          <a:noFill/>
          <a:ln/>
        </p:spPr>
        <p:txBody>
          <a:bodyPr wrap="square" rtlCol="0" anchor="ctr"/>
          <a:lstStyle/>
          <a:p>
            <a:pPr indent="0" marL="0">
              <a:buNone/>
            </a:pPr>
            <a:r>
              <a:rPr lang="en-US" sz="900" dirty="0">
                <a:solidFill>
                  <a:srgbClr val="4A4A4A"/>
                </a:solidFill>
                <a:latin typeface="Arial" pitchFamily="34" charset="0"/>
                <a:ea typeface="Arial" pitchFamily="34" charset="-122"/>
                <a:cs typeface="Arial" pitchFamily="34" charset="-120"/>
              </a:rPr>
              <a:t>Jurisdictions: 6  ·  Pipeline nodes: 6  ·  Seed rules: 23</a:t>
            </a:r>
            <a:endParaRPr lang="en-US" sz="900" dirty="0"/>
          </a:p>
        </p:txBody>
      </p:sp>
      <p:sp>
        <p:nvSpPr>
          <p:cNvPr id="72" name="Shape 70"/>
          <p:cNvSpPr/>
          <p:nvPr/>
        </p:nvSpPr>
        <p:spPr>
          <a:xfrm>
            <a:off x="457200" y="6473952"/>
            <a:ext cx="11277295" cy="0"/>
          </a:xfrm>
          <a:prstGeom prst="line">
            <a:avLst/>
          </a:prstGeom>
          <a:noFill/>
          <a:ln w="6350">
            <a:solidFill>
              <a:srgbClr val="CCCCCC"/>
            </a:solidFill>
            <a:prstDash val="solid"/>
          </a:ln>
        </p:spPr>
      </p:sp>
      <p:sp>
        <p:nvSpPr>
          <p:cNvPr id="73" name="Text 71"/>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14/15</a:t>
            </a:r>
            <a:endParaRPr lang="en-US" sz="800" dirty="0"/>
          </a:p>
        </p:txBody>
      </p:sp>
      <p:sp>
        <p:nvSpPr>
          <p:cNvPr id="74" name="Text 72"/>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11277295" cy="548640"/>
          </a:xfrm>
          <a:prstGeom prst="rect">
            <a:avLst/>
          </a:prstGeom>
          <a:noFill/>
          <a:ln/>
        </p:spPr>
        <p:txBody>
          <a:bodyPr wrap="square" rtlCol="0" anchor="ctr"/>
          <a:lstStyle/>
          <a:p>
            <a:pPr algn="l" indent="0" marL="0">
              <a:buNone/>
            </a:pPr>
            <a:r>
              <a:rPr lang="en-US" sz="2200" b="1" dirty="0">
                <a:solidFill>
                  <a:srgbClr val="1A2B4A"/>
                </a:solidFill>
                <a:latin typeface="Arial" pitchFamily="34" charset="0"/>
                <a:ea typeface="Arial" pitchFamily="34" charset="-122"/>
                <a:cs typeface="Arial" pitchFamily="34" charset="-120"/>
              </a:rPr>
              <a:t>Appendix C: Evidence Trust Model</a:t>
            </a:r>
            <a:endParaRPr lang="en-US" sz="2200" dirty="0"/>
          </a:p>
        </p:txBody>
      </p:sp>
      <p:sp>
        <p:nvSpPr>
          <p:cNvPr id="3" name="Shape 1"/>
          <p:cNvSpPr/>
          <p:nvPr/>
        </p:nvSpPr>
        <p:spPr>
          <a:xfrm>
            <a:off x="457200" y="1051560"/>
            <a:ext cx="11277295" cy="0"/>
          </a:xfrm>
          <a:prstGeom prst="line">
            <a:avLst/>
          </a:prstGeom>
          <a:noFill/>
          <a:ln w="12700">
            <a:solidFill>
              <a:srgbClr val="1A2B4A"/>
            </a:solidFill>
            <a:prstDash val="solid"/>
          </a:ln>
        </p:spPr>
      </p:sp>
      <p:sp>
        <p:nvSpPr>
          <p:cNvPr id="4" name="Shape 2"/>
          <p:cNvSpPr/>
          <p:nvPr/>
        </p:nvSpPr>
        <p:spPr>
          <a:xfrm>
            <a:off x="548640" y="1097280"/>
            <a:ext cx="11064240" cy="2286000"/>
          </a:xfrm>
          <a:prstGeom prst="rect">
            <a:avLst/>
          </a:prstGeom>
          <a:solidFill>
            <a:srgbClr val="F5F5F5"/>
          </a:solidFill>
          <a:ln w="6350">
            <a:solidFill>
              <a:srgbClr val="D0D0D0"/>
            </a:solidFill>
            <a:prstDash val="solid"/>
          </a:ln>
        </p:spPr>
      </p:sp>
      <p:sp>
        <p:nvSpPr>
          <p:cNvPr id="5" name="Text 3"/>
          <p:cNvSpPr/>
          <p:nvPr/>
        </p:nvSpPr>
        <p:spPr>
          <a:xfrm>
            <a:off x="731520" y="1188720"/>
            <a:ext cx="10698480" cy="274320"/>
          </a:xfrm>
          <a:prstGeom prst="rect">
            <a:avLst/>
          </a:prstGeom>
          <a:noFill/>
          <a:ln/>
        </p:spPr>
        <p:txBody>
          <a:bodyPr wrap="square" rtlCol="0" anchor="ctr"/>
          <a:lstStyle/>
          <a:p>
            <a:pPr indent="0" marL="0">
              <a:buNone/>
            </a:pPr>
            <a:r>
              <a:rPr lang="en-US" sz="1200" b="1" dirty="0">
                <a:solidFill>
                  <a:srgbClr val="1A2B4A"/>
                </a:solidFill>
                <a:latin typeface="Arial" pitchFamily="34" charset="0"/>
                <a:ea typeface="Arial" pitchFamily="34" charset="-122"/>
                <a:cs typeface="Arial" pitchFamily="34" charset="-120"/>
              </a:rPr>
              <a:t>Evidence Integrity Chain</a:t>
            </a:r>
            <a:endParaRPr lang="en-US" sz="1200" dirty="0"/>
          </a:p>
        </p:txBody>
      </p:sp>
      <p:sp>
        <p:nvSpPr>
          <p:cNvPr id="6" name="Shape 4"/>
          <p:cNvSpPr/>
          <p:nvPr/>
        </p:nvSpPr>
        <p:spPr>
          <a:xfrm>
            <a:off x="731520" y="1554480"/>
            <a:ext cx="73152" cy="365760"/>
          </a:xfrm>
          <a:prstGeom prst="rect">
            <a:avLst/>
          </a:prstGeom>
          <a:solidFill>
            <a:srgbClr val="1A2B4A"/>
          </a:solidFill>
          <a:ln/>
        </p:spPr>
      </p:sp>
      <p:sp>
        <p:nvSpPr>
          <p:cNvPr id="7" name="Text 5"/>
          <p:cNvSpPr/>
          <p:nvPr/>
        </p:nvSpPr>
        <p:spPr>
          <a:xfrm>
            <a:off x="868680" y="15544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Configuration Hash</a:t>
            </a:r>
            <a:endParaRPr lang="en-US" sz="900" dirty="0"/>
          </a:p>
        </p:txBody>
      </p:sp>
      <p:sp>
        <p:nvSpPr>
          <p:cNvPr id="8" name="Text 6"/>
          <p:cNvSpPr/>
          <p:nvPr/>
        </p:nvSpPr>
        <p:spPr>
          <a:xfrm>
            <a:off x="868680" y="17373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SHA256 of run config snapshot frozen at run creation (R2-01). Includes engine versions, rulepack versions, compliance mapping versions.</a:t>
            </a:r>
            <a:endParaRPr lang="en-US" sz="700" dirty="0"/>
          </a:p>
        </p:txBody>
      </p:sp>
      <p:sp>
        <p:nvSpPr>
          <p:cNvPr id="9" name="Shape 7"/>
          <p:cNvSpPr/>
          <p:nvPr/>
        </p:nvSpPr>
        <p:spPr>
          <a:xfrm>
            <a:off x="6217920" y="1554480"/>
            <a:ext cx="73152" cy="365760"/>
          </a:xfrm>
          <a:prstGeom prst="rect">
            <a:avLst/>
          </a:prstGeom>
          <a:solidFill>
            <a:srgbClr val="1A2B4A"/>
          </a:solidFill>
          <a:ln/>
        </p:spPr>
      </p:sp>
      <p:sp>
        <p:nvSpPr>
          <p:cNvPr id="10" name="Text 8"/>
          <p:cNvSpPr/>
          <p:nvPr/>
        </p:nvSpPr>
        <p:spPr>
          <a:xfrm>
            <a:off x="6355080" y="15544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Engine-Output Hash</a:t>
            </a:r>
            <a:endParaRPr lang="en-US" sz="900" dirty="0"/>
          </a:p>
        </p:txBody>
      </p:sp>
      <p:sp>
        <p:nvSpPr>
          <p:cNvPr id="11" name="Text 9"/>
          <p:cNvSpPr/>
          <p:nvPr/>
        </p:nvSpPr>
        <p:spPr>
          <a:xfrm>
            <a:off x="6355080" y="17373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SHA256 of canonicalized engine output. Stable key ordering, UTF-8 encoding. Computed by contract-validator.ts.</a:t>
            </a:r>
            <a:endParaRPr lang="en-US" sz="700" dirty="0"/>
          </a:p>
        </p:txBody>
      </p:sp>
      <p:sp>
        <p:nvSpPr>
          <p:cNvPr id="12" name="Shape 10"/>
          <p:cNvSpPr/>
          <p:nvPr/>
        </p:nvSpPr>
        <p:spPr>
          <a:xfrm>
            <a:off x="731520" y="2011680"/>
            <a:ext cx="73152" cy="365760"/>
          </a:xfrm>
          <a:prstGeom prst="rect">
            <a:avLst/>
          </a:prstGeom>
          <a:solidFill>
            <a:srgbClr val="1A2B4A"/>
          </a:solidFill>
          <a:ln/>
        </p:spPr>
      </p:sp>
      <p:sp>
        <p:nvSpPr>
          <p:cNvPr id="13" name="Text 11"/>
          <p:cNvSpPr/>
          <p:nvPr/>
        </p:nvSpPr>
        <p:spPr>
          <a:xfrm>
            <a:off x="868680" y="20116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Run Fingerprint</a:t>
            </a:r>
            <a:endParaRPr lang="en-US" sz="900" dirty="0"/>
          </a:p>
        </p:txBody>
      </p:sp>
      <p:sp>
        <p:nvSpPr>
          <p:cNvPr id="14" name="Text 12"/>
          <p:cNvSpPr/>
          <p:nvPr/>
        </p:nvSpPr>
        <p:spPr>
          <a:xfrm>
            <a:off x="868680" y="21945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Per-run fingerprint combining all engine output hashes. Schema version 2. Detects version drift mid-run.</a:t>
            </a:r>
            <a:endParaRPr lang="en-US" sz="700" dirty="0"/>
          </a:p>
        </p:txBody>
      </p:sp>
      <p:sp>
        <p:nvSpPr>
          <p:cNvPr id="15" name="Shape 13"/>
          <p:cNvSpPr/>
          <p:nvPr/>
        </p:nvSpPr>
        <p:spPr>
          <a:xfrm>
            <a:off x="6217920" y="2011680"/>
            <a:ext cx="73152" cy="365760"/>
          </a:xfrm>
          <a:prstGeom prst="rect">
            <a:avLst/>
          </a:prstGeom>
          <a:solidFill>
            <a:srgbClr val="1A2B4A"/>
          </a:solidFill>
          <a:ln/>
        </p:spPr>
      </p:sp>
      <p:sp>
        <p:nvSpPr>
          <p:cNvPr id="16" name="Text 14"/>
          <p:cNvSpPr/>
          <p:nvPr/>
        </p:nvSpPr>
        <p:spPr>
          <a:xfrm>
            <a:off x="6355080" y="20116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Event-Log Hash</a:t>
            </a:r>
            <a:endParaRPr lang="en-US" sz="900" dirty="0"/>
          </a:p>
        </p:txBody>
      </p:sp>
      <p:sp>
        <p:nvSpPr>
          <p:cNvPr id="17" name="Text 15"/>
          <p:cNvSpPr/>
          <p:nvPr/>
        </p:nvSpPr>
        <p:spPr>
          <a:xfrm>
            <a:off x="6355080" y="21945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Hash-chained append-only event log. eventHash = SHA256(seq + eventType + payload + prevEventHash). Tamper-evident.</a:t>
            </a:r>
            <a:endParaRPr lang="en-US" sz="700" dirty="0"/>
          </a:p>
        </p:txBody>
      </p:sp>
      <p:sp>
        <p:nvSpPr>
          <p:cNvPr id="18" name="Shape 16"/>
          <p:cNvSpPr/>
          <p:nvPr/>
        </p:nvSpPr>
        <p:spPr>
          <a:xfrm>
            <a:off x="731520" y="2468880"/>
            <a:ext cx="73152" cy="365760"/>
          </a:xfrm>
          <a:prstGeom prst="rect">
            <a:avLst/>
          </a:prstGeom>
          <a:solidFill>
            <a:srgbClr val="1A2B4A"/>
          </a:solidFill>
          <a:ln/>
        </p:spPr>
      </p:sp>
      <p:sp>
        <p:nvSpPr>
          <p:cNvPr id="19" name="Text 17"/>
          <p:cNvSpPr/>
          <p:nvPr/>
        </p:nvSpPr>
        <p:spPr>
          <a:xfrm>
            <a:off x="868680" y="24688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HMAC Issuer Signature</a:t>
            </a:r>
            <a:endParaRPr lang="en-US" sz="900" dirty="0"/>
          </a:p>
        </p:txBody>
      </p:sp>
      <p:sp>
        <p:nvSpPr>
          <p:cNvPr id="20" name="Text 18"/>
          <p:cNvSpPr/>
          <p:nvPr/>
        </p:nvSpPr>
        <p:spPr>
          <a:xfrm>
            <a:off x="868680" y="26517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on verification responses. Algorithm version 1. Key rotation: primary, previous, legacy. Replay protection via nonces.</a:t>
            </a:r>
            <a:endParaRPr lang="en-US" sz="700" dirty="0"/>
          </a:p>
        </p:txBody>
      </p:sp>
      <p:sp>
        <p:nvSpPr>
          <p:cNvPr id="21" name="Shape 19"/>
          <p:cNvSpPr/>
          <p:nvPr/>
        </p:nvSpPr>
        <p:spPr>
          <a:xfrm>
            <a:off x="6217920" y="2468880"/>
            <a:ext cx="73152" cy="365760"/>
          </a:xfrm>
          <a:prstGeom prst="rect">
            <a:avLst/>
          </a:prstGeom>
          <a:solidFill>
            <a:srgbClr val="1A2B4A"/>
          </a:solidFill>
          <a:ln/>
        </p:spPr>
      </p:sp>
      <p:sp>
        <p:nvSpPr>
          <p:cNvPr id="22" name="Text 20"/>
          <p:cNvSpPr/>
          <p:nvPr/>
        </p:nvSpPr>
        <p:spPr>
          <a:xfrm>
            <a:off x="6355080" y="24688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Validity Window</a:t>
            </a:r>
            <a:endParaRPr lang="en-US" sz="900" dirty="0"/>
          </a:p>
        </p:txBody>
      </p:sp>
      <p:sp>
        <p:nvSpPr>
          <p:cNvPr id="23" name="Text 21"/>
          <p:cNvSpPr/>
          <p:nvPr/>
        </p:nvSpPr>
        <p:spPr>
          <a:xfrm>
            <a:off x="6355080" y="26517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Issued-at and expires-at timestamps. ArtifactValidityStatus: VALID, EXPIRED, REVOKED. Revocation events tracked.</a:t>
            </a:r>
            <a:endParaRPr lang="en-US" sz="700" dirty="0"/>
          </a:p>
        </p:txBody>
      </p:sp>
      <p:sp>
        <p:nvSpPr>
          <p:cNvPr id="24" name="Shape 22"/>
          <p:cNvSpPr/>
          <p:nvPr/>
        </p:nvSpPr>
        <p:spPr>
          <a:xfrm>
            <a:off x="731520" y="2926080"/>
            <a:ext cx="73152" cy="365760"/>
          </a:xfrm>
          <a:prstGeom prst="rect">
            <a:avLst/>
          </a:prstGeom>
          <a:solidFill>
            <a:srgbClr val="1A2B4A"/>
          </a:solidFill>
          <a:ln/>
        </p:spPr>
      </p:sp>
      <p:sp>
        <p:nvSpPr>
          <p:cNvPr id="25" name="Text 23"/>
          <p:cNvSpPr/>
          <p:nvPr/>
        </p:nvSpPr>
        <p:spPr>
          <a:xfrm>
            <a:off x="868680" y="29260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Invalidation Triggers</a:t>
            </a:r>
            <a:endParaRPr lang="en-US" sz="900" dirty="0"/>
          </a:p>
        </p:txBody>
      </p:sp>
      <p:sp>
        <p:nvSpPr>
          <p:cNvPr id="26" name="Text 24"/>
          <p:cNvSpPr/>
          <p:nvPr/>
        </p:nvSpPr>
        <p:spPr>
          <a:xfrm>
            <a:off x="868680" y="31089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New scan with critical findings, manual revocation, expiration, scope change detection via Compliance Twin delta engine.</a:t>
            </a:r>
            <a:endParaRPr lang="en-US" sz="700" dirty="0"/>
          </a:p>
        </p:txBody>
      </p:sp>
      <p:sp>
        <p:nvSpPr>
          <p:cNvPr id="27" name="Shape 25"/>
          <p:cNvSpPr/>
          <p:nvPr/>
        </p:nvSpPr>
        <p:spPr>
          <a:xfrm>
            <a:off x="6217920" y="2926080"/>
            <a:ext cx="73152" cy="365760"/>
          </a:xfrm>
          <a:prstGeom prst="rect">
            <a:avLst/>
          </a:prstGeom>
          <a:solidFill>
            <a:srgbClr val="1A2B4A"/>
          </a:solidFill>
          <a:ln/>
        </p:spPr>
      </p:sp>
      <p:sp>
        <p:nvSpPr>
          <p:cNvPr id="28" name="Text 26"/>
          <p:cNvSpPr/>
          <p:nvPr/>
        </p:nvSpPr>
        <p:spPr>
          <a:xfrm>
            <a:off x="6355080" y="2926080"/>
            <a:ext cx="5029200" cy="182880"/>
          </a:xfrm>
          <a:prstGeom prst="rect">
            <a:avLst/>
          </a:prstGeom>
          <a:noFill/>
          <a:ln/>
        </p:spPr>
        <p:txBody>
          <a:bodyPr wrap="square" rtlCol="0" anchor="ctr"/>
          <a:lstStyle/>
          <a:p>
            <a:pPr indent="0" marL="0">
              <a:buNone/>
            </a:pPr>
            <a:r>
              <a:rPr lang="en-US" sz="900" b="1" dirty="0">
                <a:solidFill>
                  <a:srgbClr val="1A1A1A"/>
                </a:solidFill>
                <a:latin typeface="Arial" pitchFamily="34" charset="0"/>
                <a:ea typeface="Arial" pitchFamily="34" charset="-122"/>
                <a:cs typeface="Arial" pitchFamily="34" charset="-120"/>
              </a:rPr>
              <a:t>HAIEC Verification Endpoint</a:t>
            </a:r>
            <a:endParaRPr lang="en-US" sz="900" dirty="0"/>
          </a:p>
        </p:txBody>
      </p:sp>
      <p:sp>
        <p:nvSpPr>
          <p:cNvPr id="29" name="Text 27"/>
          <p:cNvSpPr/>
          <p:nvPr/>
        </p:nvSpPr>
        <p:spPr>
          <a:xfrm>
            <a:off x="6355080" y="3108960"/>
            <a:ext cx="5029200" cy="18288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GET /api/verify/[artifactId] returns signed verification response. SignedVerificationResponse with data + issuerSignature + dataHash.</a:t>
            </a:r>
            <a:endParaRPr lang="en-US" sz="700" dirty="0"/>
          </a:p>
        </p:txBody>
      </p:sp>
      <p:sp>
        <p:nvSpPr>
          <p:cNvPr id="30" name="Shape 28"/>
          <p:cNvSpPr/>
          <p:nvPr/>
        </p:nvSpPr>
        <p:spPr>
          <a:xfrm>
            <a:off x="548640" y="3566160"/>
            <a:ext cx="5303520" cy="2286000"/>
          </a:xfrm>
          <a:prstGeom prst="rect">
            <a:avLst/>
          </a:prstGeom>
          <a:solidFill>
            <a:srgbClr val="F5F5F5"/>
          </a:solidFill>
          <a:ln w="6350">
            <a:solidFill>
              <a:srgbClr val="D0D0D0"/>
            </a:solidFill>
            <a:prstDash val="solid"/>
          </a:ln>
        </p:spPr>
      </p:sp>
      <p:sp>
        <p:nvSpPr>
          <p:cNvPr id="31" name="Text 29"/>
          <p:cNvSpPr/>
          <p:nvPr/>
        </p:nvSpPr>
        <p:spPr>
          <a:xfrm>
            <a:off x="731520" y="3657600"/>
            <a:ext cx="4937760" cy="27432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Evidence Types</a:t>
            </a:r>
            <a:endParaRPr lang="en-US" sz="1100" dirty="0"/>
          </a:p>
        </p:txBody>
      </p:sp>
      <p:sp>
        <p:nvSpPr>
          <p:cNvPr id="32" name="Text 30"/>
          <p:cNvSpPr/>
          <p:nvPr/>
        </p:nvSpPr>
        <p:spPr>
          <a:xfrm>
            <a:off x="731520" y="402336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ENGINE_GENERATED</a:t>
            </a:r>
            <a:endParaRPr lang="en-US" sz="800" dirty="0"/>
          </a:p>
        </p:txBody>
      </p:sp>
      <p:sp>
        <p:nvSpPr>
          <p:cNvPr id="33" name="Text 31"/>
          <p:cNvSpPr/>
          <p:nvPr/>
        </p:nvSpPr>
        <p:spPr>
          <a:xfrm>
            <a:off x="3017520" y="402336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Static scan findings, runtime test results</a:t>
            </a:r>
            <a:endParaRPr lang="en-US" sz="800" dirty="0"/>
          </a:p>
        </p:txBody>
      </p:sp>
      <p:sp>
        <p:nvSpPr>
          <p:cNvPr id="34" name="Text 32"/>
          <p:cNvSpPr/>
          <p:nvPr/>
        </p:nvSpPr>
        <p:spPr>
          <a:xfrm>
            <a:off x="731520" y="434340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SELF_REPORTED</a:t>
            </a:r>
            <a:endParaRPr lang="en-US" sz="800" dirty="0"/>
          </a:p>
        </p:txBody>
      </p:sp>
      <p:sp>
        <p:nvSpPr>
          <p:cNvPr id="35" name="Text 33"/>
          <p:cNvSpPr/>
          <p:nvPr/>
        </p:nvSpPr>
        <p:spPr>
          <a:xfrm>
            <a:off x="3017520" y="434340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Wizard assessment responses</a:t>
            </a:r>
            <a:endParaRPr lang="en-US" sz="800" dirty="0"/>
          </a:p>
        </p:txBody>
      </p:sp>
      <p:sp>
        <p:nvSpPr>
          <p:cNvPr id="36" name="Text 34"/>
          <p:cNvSpPr/>
          <p:nvPr/>
        </p:nvSpPr>
        <p:spPr>
          <a:xfrm>
            <a:off x="731520" y="4663440"/>
            <a:ext cx="2286000" cy="274320"/>
          </a:xfrm>
          <a:prstGeom prst="rect">
            <a:avLst/>
          </a:prstGeom>
          <a:noFill/>
          <a:ln/>
        </p:spPr>
        <p:txBody>
          <a:bodyPr wrap="square" rtlCol="0" anchor="ctr"/>
          <a:lstStyle/>
          <a:p>
            <a:pPr indent="0" marL="0">
              <a:buNone/>
            </a:pPr>
            <a:r>
              <a:rPr lang="en-US" sz="800" dirty="0">
                <a:solidFill>
                  <a:srgbClr val="1A2B4A"/>
                </a:solidFill>
                <a:latin typeface="Arial" pitchFamily="34" charset="0"/>
                <a:ea typeface="Arial" pitchFamily="34" charset="-122"/>
                <a:cs typeface="Arial" pitchFamily="34" charset="-120"/>
              </a:rPr>
              <a:t>INFERRED</a:t>
            </a:r>
            <a:endParaRPr lang="en-US" sz="800" dirty="0"/>
          </a:p>
        </p:txBody>
      </p:sp>
      <p:sp>
        <p:nvSpPr>
          <p:cNvPr id="37" name="Text 35"/>
          <p:cNvSpPr/>
          <p:nvPr/>
        </p:nvSpPr>
        <p:spPr>
          <a:xfrm>
            <a:off x="3017520" y="4663440"/>
            <a:ext cx="2651760" cy="274320"/>
          </a:xfrm>
          <a:prstGeom prst="rect">
            <a:avLst/>
          </a:prstGeom>
          <a:noFill/>
          <a:ln/>
        </p:spPr>
        <p:txBody>
          <a:bodyPr wrap="square" rtlCol="0" anchor="ctr"/>
          <a:lstStyle/>
          <a:p>
            <a:pPr indent="0" marL="0">
              <a:buNone/>
            </a:pPr>
            <a:r>
              <a:rPr lang="en-US" sz="800" dirty="0">
                <a:solidFill>
                  <a:srgbClr val="4A4A4A"/>
                </a:solidFill>
                <a:latin typeface="Arial" pitchFamily="34" charset="0"/>
                <a:ea typeface="Arial" pitchFamily="34" charset="-122"/>
                <a:cs typeface="Arial" pitchFamily="34" charset="-120"/>
              </a:rPr>
              <a:t>Compliance Twin state, framework mappings</a:t>
            </a:r>
            <a:endParaRPr lang="en-US" sz="800" dirty="0"/>
          </a:p>
        </p:txBody>
      </p:sp>
      <p:sp>
        <p:nvSpPr>
          <p:cNvPr id="38" name="Shape 36"/>
          <p:cNvSpPr/>
          <p:nvPr/>
        </p:nvSpPr>
        <p:spPr>
          <a:xfrm>
            <a:off x="731520" y="5029200"/>
            <a:ext cx="4937760" cy="731520"/>
          </a:xfrm>
          <a:prstGeom prst="rect">
            <a:avLst/>
          </a:prstGeom>
          <a:solidFill>
            <a:srgbClr val="FFFFFF"/>
          </a:solidFill>
          <a:ln w="6350">
            <a:solidFill>
              <a:srgbClr val="1A2B4A"/>
            </a:solidFill>
            <a:prstDash val="solid"/>
          </a:ln>
        </p:spPr>
      </p:sp>
      <p:sp>
        <p:nvSpPr>
          <p:cNvPr id="39" name="Text 37"/>
          <p:cNvSpPr/>
          <p:nvPr/>
        </p:nvSpPr>
        <p:spPr>
          <a:xfrm>
            <a:off x="822960" y="5074920"/>
            <a:ext cx="4754880" cy="228600"/>
          </a:xfrm>
          <a:prstGeom prst="rect">
            <a:avLst/>
          </a:prstGeom>
          <a:noFill/>
          <a:ln/>
        </p:spPr>
        <p:txBody>
          <a:bodyPr wrap="square" rtlCol="0" anchor="ctr"/>
          <a:lstStyle/>
          <a:p>
            <a:pPr indent="0" marL="0">
              <a:buNone/>
            </a:pPr>
            <a:r>
              <a:rPr lang="en-US" sz="800" b="1" dirty="0">
                <a:solidFill>
                  <a:srgbClr val="1A2B4A"/>
                </a:solidFill>
                <a:latin typeface="Arial" pitchFamily="34" charset="0"/>
                <a:ea typeface="Arial" pitchFamily="34" charset="-122"/>
                <a:cs typeface="Arial" pitchFamily="34" charset="-120"/>
              </a:rPr>
              <a:t>Verification Architecture</a:t>
            </a:r>
            <a:endParaRPr lang="en-US" sz="800" dirty="0"/>
          </a:p>
        </p:txBody>
      </p:sp>
      <p:sp>
        <p:nvSpPr>
          <p:cNvPr id="40" name="Text 38"/>
          <p:cNvSpPr/>
          <p:nvPr/>
        </p:nvSpPr>
        <p:spPr>
          <a:xfrm>
            <a:off x="822960" y="5303520"/>
            <a:ext cx="4754880" cy="45720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HMAC-SHA256 provides integrity and authentication for verification responses. Verification via HAIEC /api/verify endpoint with key rotation and replay protection. Upgrade path: Ed25519 public-key signatures for independent verification. Stronger non-repudiation would additionally require identity-bound key custody and trusted timestamping.</a:t>
            </a:r>
            <a:endParaRPr lang="en-US" sz="700" dirty="0"/>
          </a:p>
        </p:txBody>
      </p:sp>
      <p:sp>
        <p:nvSpPr>
          <p:cNvPr id="41" name="Shape 39"/>
          <p:cNvSpPr/>
          <p:nvPr/>
        </p:nvSpPr>
        <p:spPr>
          <a:xfrm>
            <a:off x="6309360" y="3566160"/>
            <a:ext cx="5303520" cy="2286000"/>
          </a:xfrm>
          <a:prstGeom prst="rect">
            <a:avLst/>
          </a:prstGeom>
          <a:solidFill>
            <a:srgbClr val="F5F5F5"/>
          </a:solidFill>
          <a:ln w="6350">
            <a:solidFill>
              <a:srgbClr val="D0D0D0"/>
            </a:solidFill>
            <a:prstDash val="solid"/>
          </a:ln>
        </p:spPr>
      </p:sp>
      <p:sp>
        <p:nvSpPr>
          <p:cNvPr id="42" name="Text 40"/>
          <p:cNvSpPr/>
          <p:nvPr/>
        </p:nvSpPr>
        <p:spPr>
          <a:xfrm>
            <a:off x="6492240" y="3657600"/>
            <a:ext cx="4937760" cy="274320"/>
          </a:xfrm>
          <a:prstGeom prst="rect">
            <a:avLst/>
          </a:prstGeom>
          <a:noFill/>
          <a:ln/>
        </p:spPr>
        <p:txBody>
          <a:bodyPr wrap="square" rtlCol="0" anchor="ctr"/>
          <a:lstStyle/>
          <a:p>
            <a:pPr indent="0" marL="0">
              <a:buNone/>
            </a:pPr>
            <a:r>
              <a:rPr lang="en-US" sz="1100" b="1" dirty="0">
                <a:solidFill>
                  <a:srgbClr val="1A1A1A"/>
                </a:solidFill>
                <a:latin typeface="Arial" pitchFamily="34" charset="0"/>
                <a:ea typeface="Arial" pitchFamily="34" charset="-122"/>
                <a:cs typeface="Arial" pitchFamily="34" charset="-120"/>
              </a:rPr>
              <a:t>Trust Artifact Types</a:t>
            </a:r>
            <a:endParaRPr lang="en-US" sz="1100" dirty="0"/>
          </a:p>
        </p:txBody>
      </p:sp>
      <p:sp>
        <p:nvSpPr>
          <p:cNvPr id="43" name="Text 41"/>
          <p:cNvSpPr/>
          <p:nvPr/>
        </p:nvSpPr>
        <p:spPr>
          <a:xfrm>
            <a:off x="6492240" y="402336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AI_SECURITY_ATTESTATION</a:t>
            </a:r>
            <a:endParaRPr lang="en-US" sz="700" dirty="0"/>
          </a:p>
        </p:txBody>
      </p:sp>
      <p:sp>
        <p:nvSpPr>
          <p:cNvPr id="44" name="Text 42"/>
          <p:cNvSpPr/>
          <p:nvPr/>
        </p:nvSpPr>
        <p:spPr>
          <a:xfrm>
            <a:off x="9235440" y="402336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SCANNED → PROTECTED → SECURED</a:t>
            </a:r>
            <a:endParaRPr lang="en-US" sz="700" dirty="0"/>
          </a:p>
        </p:txBody>
      </p:sp>
      <p:sp>
        <p:nvSpPr>
          <p:cNvPr id="45" name="Text 43"/>
          <p:cNvSpPr/>
          <p:nvPr/>
        </p:nvSpPr>
        <p:spPr>
          <a:xfrm>
            <a:off x="6492240" y="434340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COMPLIANCE_EVIDENCE_MARK</a:t>
            </a:r>
            <a:endParaRPr lang="en-US" sz="700" dirty="0"/>
          </a:p>
        </p:txBody>
      </p:sp>
      <p:sp>
        <p:nvSpPr>
          <p:cNvPr id="46" name="Text 44"/>
          <p:cNvSpPr/>
          <p:nvPr/>
        </p:nvSpPr>
        <p:spPr>
          <a:xfrm>
            <a:off x="9235440" y="434340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EVIDENCE_READY / EVIDENCE_PARTIAL</a:t>
            </a:r>
            <a:endParaRPr lang="en-US" sz="700" dirty="0"/>
          </a:p>
        </p:txBody>
      </p:sp>
      <p:sp>
        <p:nvSpPr>
          <p:cNvPr id="47" name="Text 45"/>
          <p:cNvSpPr/>
          <p:nvPr/>
        </p:nvSpPr>
        <p:spPr>
          <a:xfrm>
            <a:off x="6492240" y="466344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NYC_LL144_ATTESTATION</a:t>
            </a:r>
            <a:endParaRPr lang="en-US" sz="700" dirty="0"/>
          </a:p>
        </p:txBody>
      </p:sp>
      <p:sp>
        <p:nvSpPr>
          <p:cNvPr id="48" name="Text 46"/>
          <p:cNvSpPr/>
          <p:nvPr/>
        </p:nvSpPr>
        <p:spPr>
          <a:xfrm>
            <a:off x="9235440" y="466344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AUDIT_READY / IN_PROGRESS / NOT_READY</a:t>
            </a:r>
            <a:endParaRPr lang="en-US" sz="700" dirty="0"/>
          </a:p>
        </p:txBody>
      </p:sp>
      <p:sp>
        <p:nvSpPr>
          <p:cNvPr id="49" name="Text 47"/>
          <p:cNvSpPr/>
          <p:nvPr/>
        </p:nvSpPr>
        <p:spPr>
          <a:xfrm>
            <a:off x="6492240" y="4983480"/>
            <a:ext cx="2743200" cy="274320"/>
          </a:xfrm>
          <a:prstGeom prst="rect">
            <a:avLst/>
          </a:prstGeom>
          <a:noFill/>
          <a:ln/>
        </p:spPr>
        <p:txBody>
          <a:bodyPr wrap="square" rtlCol="0" anchor="ctr"/>
          <a:lstStyle/>
          <a:p>
            <a:pPr indent="0" marL="0">
              <a:buNone/>
            </a:pPr>
            <a:r>
              <a:rPr lang="en-US" sz="700" dirty="0">
                <a:solidFill>
                  <a:srgbClr val="1A2B4A"/>
                </a:solidFill>
                <a:latin typeface="Arial" pitchFamily="34" charset="0"/>
                <a:ea typeface="Arial" pitchFamily="34" charset="-122"/>
                <a:cs typeface="Arial" pitchFamily="34" charset="-120"/>
              </a:rPr>
              <a:t>BIAS_AUDIT_ATTESTATION</a:t>
            </a:r>
            <a:endParaRPr lang="en-US" sz="700" dirty="0"/>
          </a:p>
        </p:txBody>
      </p:sp>
      <p:sp>
        <p:nvSpPr>
          <p:cNvPr id="50" name="Text 48"/>
          <p:cNvSpPr/>
          <p:nvPr/>
        </p:nvSpPr>
        <p:spPr>
          <a:xfrm>
            <a:off x="9235440" y="4983480"/>
            <a:ext cx="2194560" cy="27432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LOW_RISK / MEDIUM_RISK / HIGH_RISK</a:t>
            </a:r>
            <a:endParaRPr lang="en-US" sz="700" dirty="0"/>
          </a:p>
        </p:txBody>
      </p:sp>
      <p:sp>
        <p:nvSpPr>
          <p:cNvPr id="51" name="Shape 49"/>
          <p:cNvSpPr/>
          <p:nvPr/>
        </p:nvSpPr>
        <p:spPr>
          <a:xfrm>
            <a:off x="6492240" y="5029200"/>
            <a:ext cx="4937760" cy="731520"/>
          </a:xfrm>
          <a:prstGeom prst="rect">
            <a:avLst/>
          </a:prstGeom>
          <a:solidFill>
            <a:srgbClr val="FFFFFF"/>
          </a:solidFill>
          <a:ln w="6350">
            <a:solidFill>
              <a:srgbClr val="1A2B4A"/>
            </a:solidFill>
            <a:prstDash val="solid"/>
          </a:ln>
        </p:spPr>
      </p:sp>
      <p:sp>
        <p:nvSpPr>
          <p:cNvPr id="52" name="Text 50"/>
          <p:cNvSpPr/>
          <p:nvPr/>
        </p:nvSpPr>
        <p:spPr>
          <a:xfrm>
            <a:off x="6583680" y="5074920"/>
            <a:ext cx="4754880" cy="228600"/>
          </a:xfrm>
          <a:prstGeom prst="rect">
            <a:avLst/>
          </a:prstGeom>
          <a:noFill/>
          <a:ln/>
        </p:spPr>
        <p:txBody>
          <a:bodyPr wrap="square" rtlCol="0" anchor="ctr"/>
          <a:lstStyle/>
          <a:p>
            <a:pPr indent="0" marL="0">
              <a:buNone/>
            </a:pPr>
            <a:r>
              <a:rPr lang="en-US" sz="800" b="1" dirty="0">
                <a:solidFill>
                  <a:srgbClr val="1A2B4A"/>
                </a:solidFill>
                <a:latin typeface="Arial" pitchFamily="34" charset="0"/>
                <a:ea typeface="Arial" pitchFamily="34" charset="-122"/>
                <a:cs typeface="Arial" pitchFamily="34" charset="-120"/>
              </a:rPr>
              <a:t>Scope Verification</a:t>
            </a:r>
            <a:endParaRPr lang="en-US" sz="800" dirty="0"/>
          </a:p>
        </p:txBody>
      </p:sp>
      <p:sp>
        <p:nvSpPr>
          <p:cNvPr id="53" name="Text 51"/>
          <p:cNvSpPr/>
          <p:nvPr/>
        </p:nvSpPr>
        <p:spPr>
          <a:xfrm>
            <a:off x="6583680" y="5303520"/>
            <a:ext cx="4754880" cy="457200"/>
          </a:xfrm>
          <a:prstGeom prst="rect">
            <a:avLst/>
          </a:prstGeom>
          <a:noFill/>
          <a:ln/>
        </p:spPr>
        <p:txBody>
          <a:bodyPr wrap="square" rtlCol="0" anchor="ctr"/>
          <a:lstStyle/>
          <a:p>
            <a:pPr indent="0" marL="0">
              <a:buNone/>
            </a:pPr>
            <a:r>
              <a:rPr lang="en-US" sz="700" dirty="0">
                <a:solidFill>
                  <a:srgbClr val="4A4A4A"/>
                </a:solidFill>
                <a:latin typeface="Arial" pitchFamily="34" charset="0"/>
                <a:ea typeface="Arial" pitchFamily="34" charset="-122"/>
                <a:cs typeface="Arial" pitchFamily="34" charset="-120"/>
              </a:rPr>
              <a:t>Each artifact carries scopeVerified and scopeNotVerified arrays. Status labels (e.g., SECURED) reflect rule pass/fail posture within verified scope, providing precise, scoped assurance.</a:t>
            </a:r>
            <a:endParaRPr lang="en-US" sz="700" dirty="0"/>
          </a:p>
        </p:txBody>
      </p:sp>
      <p:sp>
        <p:nvSpPr>
          <p:cNvPr id="54" name="Shape 52"/>
          <p:cNvSpPr/>
          <p:nvPr/>
        </p:nvSpPr>
        <p:spPr>
          <a:xfrm>
            <a:off x="457200" y="6473952"/>
            <a:ext cx="11277295" cy="0"/>
          </a:xfrm>
          <a:prstGeom prst="line">
            <a:avLst/>
          </a:prstGeom>
          <a:noFill/>
          <a:ln w="6350">
            <a:solidFill>
              <a:srgbClr val="CCCCCC"/>
            </a:solidFill>
            <a:prstDash val="solid"/>
          </a:ln>
        </p:spPr>
      </p:sp>
      <p:sp>
        <p:nvSpPr>
          <p:cNvPr id="55" name="Text 53"/>
          <p:cNvSpPr/>
          <p:nvPr/>
        </p:nvSpPr>
        <p:spPr>
          <a:xfrm>
            <a:off x="457200" y="6537960"/>
            <a:ext cx="7315200" cy="228600"/>
          </a:xfrm>
          <a:prstGeom prst="rect">
            <a:avLst/>
          </a:prstGeom>
          <a:noFill/>
          <a:ln/>
        </p:spPr>
        <p:txBody>
          <a:bodyPr wrap="square" rtlCol="0" anchor="ctr"/>
          <a:lstStyle/>
          <a:p>
            <a:pPr indent="0" marL="0">
              <a:buNone/>
            </a:pPr>
            <a:r>
              <a:rPr lang="en-US" sz="800" dirty="0">
                <a:solidFill>
                  <a:srgbClr val="6B6B6B"/>
                </a:solidFill>
                <a:latin typeface="Arial" pitchFamily="34" charset="0"/>
                <a:ea typeface="Arial" pitchFamily="34" charset="-122"/>
                <a:cs typeface="Arial" pitchFamily="34" charset="-120"/>
              </a:rPr>
              <a:t>HAIEC  ·  Confidential Discussion Brief  ·  15/15</a:t>
            </a:r>
            <a:endParaRPr lang="en-US" sz="800" dirty="0"/>
          </a:p>
        </p:txBody>
      </p:sp>
      <p:sp>
        <p:nvSpPr>
          <p:cNvPr id="56" name="Text 54"/>
          <p:cNvSpPr/>
          <p:nvPr/>
        </p:nvSpPr>
        <p:spPr>
          <a:xfrm>
            <a:off x="8991295" y="6537960"/>
            <a:ext cx="2743200" cy="228600"/>
          </a:xfrm>
          <a:prstGeom prst="rect">
            <a:avLst/>
          </a:prstGeom>
          <a:noFill/>
          <a:ln/>
        </p:spPr>
        <p:txBody>
          <a:bodyPr wrap="square" rtlCol="0" anchor="ctr"/>
          <a:lstStyle/>
          <a:p>
            <a:pPr algn="r" indent="0" marL="0">
              <a:buNone/>
            </a:pPr>
            <a:r>
              <a:rPr lang="en-US" sz="800" dirty="0">
                <a:solidFill>
                  <a:srgbClr val="6B6B6B"/>
                </a:solidFill>
                <a:latin typeface="Arial" pitchFamily="34" charset="0"/>
                <a:ea typeface="Arial" pitchFamily="34" charset="-122"/>
                <a:cs typeface="Arial" pitchFamily="34" charset="-120"/>
              </a:rPr>
              <a:t>v1.0  ·  2026-07-31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HAIEC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Evidence-Native Validation Infrastructure for AI Applications</dc:title>
  <dc:subject>HAIEC Technical Architecture, Defensibility and Strategic Value</dc:subject>
  <dc:creator>Subodh KC</dc:creator>
  <cp:lastModifiedBy>Subodh KC</cp:lastModifiedBy>
  <cp:revision>1</cp:revision>
  <dcterms:created xsi:type="dcterms:W3CDTF">2026-07-31T06:24:52Z</dcterms:created>
  <dcterms:modified xsi:type="dcterms:W3CDTF">2026-07-31T06:24:52Z</dcterms:modified>
</cp:coreProperties>
</file>