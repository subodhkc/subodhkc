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457200"/>
            <a:ext cx="548640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HAIEC TECHNICAL BRIEF · v1.0</a:t>
            </a:r>
            <a:endParaRPr lang="en-US" sz="800" dirty="0"/>
          </a:p>
        </p:txBody>
      </p:sp>
      <p:sp>
        <p:nvSpPr>
          <p:cNvPr id="3" name="Text 1"/>
          <p:cNvSpPr/>
          <p:nvPr/>
        </p:nvSpPr>
        <p:spPr>
          <a:xfrm>
            <a:off x="548640" y="1371600"/>
            <a:ext cx="10972800" cy="1097280"/>
          </a:xfrm>
          <a:prstGeom prst="rect">
            <a:avLst/>
          </a:prstGeom>
          <a:noFill/>
          <a:ln/>
        </p:spPr>
        <p:txBody>
          <a:bodyPr wrap="square" rtlCol="0" anchor="ctr"/>
          <a:lstStyle/>
          <a:p>
            <a:pPr algn="l" indent="0" marL="0">
              <a:buNone/>
            </a:pPr>
            <a:r>
              <a:rPr lang="en-US" sz="5400" b="1" dirty="0">
                <a:solidFill>
                  <a:srgbClr val="F8FAFC"/>
                </a:solidFill>
                <a:latin typeface="Calibri" pitchFamily="34" charset="0"/>
                <a:ea typeface="Calibri" pitchFamily="34" charset="-122"/>
                <a:cs typeface="Calibri" pitchFamily="34" charset="-120"/>
              </a:rPr>
              <a:t>HAIEC</a:t>
            </a:r>
            <a:endParaRPr lang="en-US" sz="5400" dirty="0"/>
          </a:p>
        </p:txBody>
      </p:sp>
      <p:sp>
        <p:nvSpPr>
          <p:cNvPr id="4" name="Shape 2"/>
          <p:cNvSpPr/>
          <p:nvPr/>
        </p:nvSpPr>
        <p:spPr>
          <a:xfrm>
            <a:off x="548640" y="2560320"/>
            <a:ext cx="2743200" cy="54864"/>
          </a:xfrm>
          <a:prstGeom prst="rect">
            <a:avLst/>
          </a:prstGeom>
          <a:solidFill>
            <a:srgbClr val="10B981"/>
          </a:solidFill>
          <a:ln/>
        </p:spPr>
      </p:sp>
      <p:sp>
        <p:nvSpPr>
          <p:cNvPr id="5" name="Text 3"/>
          <p:cNvSpPr/>
          <p:nvPr/>
        </p:nvSpPr>
        <p:spPr>
          <a:xfrm>
            <a:off x="548640" y="2743200"/>
            <a:ext cx="10058400" cy="457200"/>
          </a:xfrm>
          <a:prstGeom prst="rect">
            <a:avLst/>
          </a:prstGeom>
          <a:noFill/>
          <a:ln/>
        </p:spPr>
        <p:txBody>
          <a:bodyPr wrap="square" rtlCol="0" anchor="ctr"/>
          <a:lstStyle/>
          <a:p>
            <a:pPr algn="l" indent="0" marL="0">
              <a:buNone/>
            </a:pPr>
            <a:r>
              <a:rPr lang="en-US" sz="2200" dirty="0">
                <a:solidFill>
                  <a:srgbClr val="10B981"/>
                </a:solidFill>
                <a:latin typeface="Calibri" pitchFamily="34" charset="0"/>
                <a:ea typeface="Calibri" pitchFamily="34" charset="-122"/>
                <a:cs typeface="Calibri" pitchFamily="34" charset="-120"/>
              </a:rPr>
              <a:t>Evidence-Native Security Infrastructure for Operational AI</a:t>
            </a:r>
            <a:endParaRPr lang="en-US" sz="2200" dirty="0"/>
          </a:p>
        </p:txBody>
      </p:sp>
      <p:sp>
        <p:nvSpPr>
          <p:cNvPr id="6" name="Text 4"/>
          <p:cNvSpPr/>
          <p:nvPr/>
        </p:nvSpPr>
        <p:spPr>
          <a:xfrm>
            <a:off x="548640" y="3291840"/>
            <a:ext cx="10058400" cy="365760"/>
          </a:xfrm>
          <a:prstGeom prst="rect">
            <a:avLst/>
          </a:prstGeom>
          <a:noFill/>
          <a:ln/>
        </p:spPr>
        <p:txBody>
          <a:bodyPr wrap="square" rtlCol="0" anchor="ctr"/>
          <a:lstStyle/>
          <a:p>
            <a:pPr algn="l" indent="0" marL="0">
              <a:buNone/>
            </a:pPr>
            <a:r>
              <a:rPr lang="en-US" sz="1600" dirty="0">
                <a:solidFill>
                  <a:srgbClr val="94A3B8"/>
                </a:solidFill>
                <a:latin typeface="Calibri" pitchFamily="34" charset="0"/>
                <a:ea typeface="Calibri" pitchFamily="34" charset="-122"/>
                <a:cs typeface="Calibri" pitchFamily="34" charset="-120"/>
              </a:rPr>
              <a:t>Technical Architecture, Defensibility and Strategic Value</a:t>
            </a:r>
            <a:endParaRPr lang="en-US" sz="1600" dirty="0"/>
          </a:p>
        </p:txBody>
      </p:sp>
      <p:sp>
        <p:nvSpPr>
          <p:cNvPr id="7" name="Shape 5"/>
          <p:cNvSpPr/>
          <p:nvPr/>
        </p:nvSpPr>
        <p:spPr>
          <a:xfrm>
            <a:off x="548640" y="4572000"/>
            <a:ext cx="2286000" cy="457200"/>
          </a:xfrm>
          <a:prstGeom prst="rect">
            <a:avLst>
              <a:gd name="adj" fmla="val 10000"/>
            </a:avLst>
          </a:prstGeom>
          <a:solidFill>
            <a:srgbClr val="1E293B"/>
          </a:solidFill>
          <a:ln w="6350">
            <a:solidFill>
              <a:srgbClr val="334155"/>
            </a:solidFill>
            <a:prstDash val="solid"/>
          </a:ln>
        </p:spPr>
      </p:sp>
      <p:sp>
        <p:nvSpPr>
          <p:cNvPr id="8" name="Text 6"/>
          <p:cNvSpPr/>
          <p:nvPr/>
        </p:nvSpPr>
        <p:spPr>
          <a:xfrm>
            <a:off x="548640" y="4572000"/>
            <a:ext cx="2286000" cy="457200"/>
          </a:xfrm>
          <a:prstGeom prst="rect">
            <a:avLst/>
          </a:prstGeom>
          <a:noFill/>
          <a:ln/>
        </p:spPr>
        <p:txBody>
          <a:bodyPr wrap="square" rtlCol="0" anchor="ctr"/>
          <a:lstStyle/>
          <a:p>
            <a:pPr algn="ctr" indent="0" marL="0">
              <a:buNone/>
            </a:pPr>
            <a:r>
              <a:rPr lang="en-US" sz="1000" dirty="0">
                <a:solidFill>
                  <a:srgbClr val="F8FAFC"/>
                </a:solidFill>
                <a:latin typeface="Courier New" pitchFamily="34" charset="0"/>
                <a:ea typeface="Courier New" pitchFamily="34" charset="-122"/>
                <a:cs typeface="Courier New" pitchFamily="34" charset="-120"/>
              </a:rPr>
              <a:t>AI System</a:t>
            </a:r>
            <a:endParaRPr lang="en-US" sz="1000" dirty="0"/>
          </a:p>
        </p:txBody>
      </p:sp>
      <p:sp>
        <p:nvSpPr>
          <p:cNvPr id="9" name="Shape 7"/>
          <p:cNvSpPr/>
          <p:nvPr/>
        </p:nvSpPr>
        <p:spPr>
          <a:xfrm>
            <a:off x="2880360" y="4800600"/>
            <a:ext cx="274320" cy="0"/>
          </a:xfrm>
          <a:prstGeom prst="line">
            <a:avLst/>
          </a:prstGeom>
          <a:noFill/>
          <a:ln w="19050">
            <a:solidFill>
              <a:srgbClr val="10B981"/>
            </a:solidFill>
            <a:prstDash val="solid"/>
            <a:tailEnd type="triangle"/>
          </a:ln>
        </p:spPr>
      </p:sp>
      <p:sp>
        <p:nvSpPr>
          <p:cNvPr id="10" name="Shape 8"/>
          <p:cNvSpPr/>
          <p:nvPr/>
        </p:nvSpPr>
        <p:spPr>
          <a:xfrm>
            <a:off x="3200400" y="4572000"/>
            <a:ext cx="2286000" cy="457200"/>
          </a:xfrm>
          <a:prstGeom prst="rect">
            <a:avLst>
              <a:gd name="adj" fmla="val 10000"/>
            </a:avLst>
          </a:prstGeom>
          <a:solidFill>
            <a:srgbClr val="1E293B"/>
          </a:solidFill>
          <a:ln w="6350">
            <a:solidFill>
              <a:srgbClr val="334155"/>
            </a:solidFill>
            <a:prstDash val="solid"/>
          </a:ln>
        </p:spPr>
      </p:sp>
      <p:sp>
        <p:nvSpPr>
          <p:cNvPr id="11" name="Text 9"/>
          <p:cNvSpPr/>
          <p:nvPr/>
        </p:nvSpPr>
        <p:spPr>
          <a:xfrm>
            <a:off x="3200400" y="4572000"/>
            <a:ext cx="2286000" cy="457200"/>
          </a:xfrm>
          <a:prstGeom prst="rect">
            <a:avLst/>
          </a:prstGeom>
          <a:noFill/>
          <a:ln/>
        </p:spPr>
        <p:txBody>
          <a:bodyPr wrap="square" rtlCol="0" anchor="ctr"/>
          <a:lstStyle/>
          <a:p>
            <a:pPr algn="ctr" indent="0" marL="0">
              <a:buNone/>
            </a:pPr>
            <a:r>
              <a:rPr lang="en-US" sz="1000" dirty="0">
                <a:solidFill>
                  <a:srgbClr val="F8FAFC"/>
                </a:solidFill>
                <a:latin typeface="Courier New" pitchFamily="34" charset="0"/>
                <a:ea typeface="Courier New" pitchFamily="34" charset="-122"/>
                <a:cs typeface="Courier New" pitchFamily="34" charset="-120"/>
              </a:rPr>
              <a:t>Security Validation</a:t>
            </a:r>
            <a:endParaRPr lang="en-US" sz="1000" dirty="0"/>
          </a:p>
        </p:txBody>
      </p:sp>
      <p:sp>
        <p:nvSpPr>
          <p:cNvPr id="12" name="Shape 10"/>
          <p:cNvSpPr/>
          <p:nvPr/>
        </p:nvSpPr>
        <p:spPr>
          <a:xfrm>
            <a:off x="5532120" y="4800600"/>
            <a:ext cx="274320" cy="0"/>
          </a:xfrm>
          <a:prstGeom prst="line">
            <a:avLst/>
          </a:prstGeom>
          <a:noFill/>
          <a:ln w="19050">
            <a:solidFill>
              <a:srgbClr val="10B981"/>
            </a:solidFill>
            <a:prstDash val="solid"/>
            <a:tailEnd type="triangle"/>
          </a:ln>
        </p:spPr>
      </p:sp>
      <p:sp>
        <p:nvSpPr>
          <p:cNvPr id="13" name="Shape 11"/>
          <p:cNvSpPr/>
          <p:nvPr/>
        </p:nvSpPr>
        <p:spPr>
          <a:xfrm>
            <a:off x="5852160" y="4572000"/>
            <a:ext cx="2286000" cy="457200"/>
          </a:xfrm>
          <a:prstGeom prst="rect">
            <a:avLst>
              <a:gd name="adj" fmla="val 10000"/>
            </a:avLst>
          </a:prstGeom>
          <a:solidFill>
            <a:srgbClr val="1E293B"/>
          </a:solidFill>
          <a:ln w="6350">
            <a:solidFill>
              <a:srgbClr val="334155"/>
            </a:solidFill>
            <a:prstDash val="solid"/>
          </a:ln>
        </p:spPr>
      </p:sp>
      <p:sp>
        <p:nvSpPr>
          <p:cNvPr id="14" name="Text 12"/>
          <p:cNvSpPr/>
          <p:nvPr/>
        </p:nvSpPr>
        <p:spPr>
          <a:xfrm>
            <a:off x="5852160" y="4572000"/>
            <a:ext cx="2286000" cy="457200"/>
          </a:xfrm>
          <a:prstGeom prst="rect">
            <a:avLst/>
          </a:prstGeom>
          <a:noFill/>
          <a:ln/>
        </p:spPr>
        <p:txBody>
          <a:bodyPr wrap="square" rtlCol="0" anchor="ctr"/>
          <a:lstStyle/>
          <a:p>
            <a:pPr algn="ctr" indent="0" marL="0">
              <a:buNone/>
            </a:pPr>
            <a:r>
              <a:rPr lang="en-US" sz="1000" dirty="0">
                <a:solidFill>
                  <a:srgbClr val="F8FAFC"/>
                </a:solidFill>
                <a:latin typeface="Courier New" pitchFamily="34" charset="0"/>
                <a:ea typeface="Courier New" pitchFamily="34" charset="-122"/>
                <a:cs typeface="Courier New" pitchFamily="34" charset="-120"/>
              </a:rPr>
              <a:t>Control Mapping</a:t>
            </a:r>
            <a:endParaRPr lang="en-US" sz="1000" dirty="0"/>
          </a:p>
        </p:txBody>
      </p:sp>
      <p:sp>
        <p:nvSpPr>
          <p:cNvPr id="15" name="Shape 13"/>
          <p:cNvSpPr/>
          <p:nvPr/>
        </p:nvSpPr>
        <p:spPr>
          <a:xfrm>
            <a:off x="8183880" y="4800600"/>
            <a:ext cx="274320" cy="0"/>
          </a:xfrm>
          <a:prstGeom prst="line">
            <a:avLst/>
          </a:prstGeom>
          <a:noFill/>
          <a:ln w="19050">
            <a:solidFill>
              <a:srgbClr val="10B981"/>
            </a:solidFill>
            <a:prstDash val="solid"/>
            <a:tailEnd type="triangle"/>
          </a:ln>
        </p:spPr>
      </p:sp>
      <p:sp>
        <p:nvSpPr>
          <p:cNvPr id="16" name="Shape 14"/>
          <p:cNvSpPr/>
          <p:nvPr/>
        </p:nvSpPr>
        <p:spPr>
          <a:xfrm>
            <a:off x="8503920" y="4572000"/>
            <a:ext cx="2286000" cy="457200"/>
          </a:xfrm>
          <a:prstGeom prst="rect">
            <a:avLst>
              <a:gd name="adj" fmla="val 10000"/>
            </a:avLst>
          </a:prstGeom>
          <a:solidFill>
            <a:srgbClr val="1E293B"/>
          </a:solidFill>
          <a:ln w="6350">
            <a:solidFill>
              <a:srgbClr val="334155"/>
            </a:solidFill>
            <a:prstDash val="solid"/>
          </a:ln>
        </p:spPr>
      </p:sp>
      <p:sp>
        <p:nvSpPr>
          <p:cNvPr id="17" name="Text 15"/>
          <p:cNvSpPr/>
          <p:nvPr/>
        </p:nvSpPr>
        <p:spPr>
          <a:xfrm>
            <a:off x="8503920" y="4572000"/>
            <a:ext cx="2286000" cy="457200"/>
          </a:xfrm>
          <a:prstGeom prst="rect">
            <a:avLst/>
          </a:prstGeom>
          <a:noFill/>
          <a:ln/>
        </p:spPr>
        <p:txBody>
          <a:bodyPr wrap="square" rtlCol="0" anchor="ctr"/>
          <a:lstStyle/>
          <a:p>
            <a:pPr algn="ctr" indent="0" marL="0">
              <a:buNone/>
            </a:pPr>
            <a:r>
              <a:rPr lang="en-US" sz="1000" dirty="0">
                <a:solidFill>
                  <a:srgbClr val="F8FAFC"/>
                </a:solidFill>
                <a:latin typeface="Courier New" pitchFamily="34" charset="0"/>
                <a:ea typeface="Courier New" pitchFamily="34" charset="-122"/>
                <a:cs typeface="Courier New" pitchFamily="34" charset="-120"/>
              </a:rPr>
              <a:t>Verifiable Evidence</a:t>
            </a:r>
            <a:endParaRPr lang="en-US" sz="1000" dirty="0"/>
          </a:p>
        </p:txBody>
      </p:sp>
      <p:sp>
        <p:nvSpPr>
          <p:cNvPr id="18" name="Text 16"/>
          <p:cNvSpPr/>
          <p:nvPr/>
        </p:nvSpPr>
        <p:spPr>
          <a:xfrm>
            <a:off x="548640" y="5943600"/>
            <a:ext cx="54864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Confidential Discussion Brief</a:t>
            </a:r>
            <a:endParaRPr lang="en-US" sz="1000" dirty="0"/>
          </a:p>
        </p:txBody>
      </p:sp>
      <p:sp>
        <p:nvSpPr>
          <p:cNvPr id="19" name="Text 17"/>
          <p:cNvSpPr/>
          <p:nvPr/>
        </p:nvSpPr>
        <p:spPr>
          <a:xfrm>
            <a:off x="274320" y="6537960"/>
            <a:ext cx="7315200" cy="22860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HAIEC  ·  Confidential Discussion Brief  ·  1/14</a:t>
            </a:r>
            <a:endParaRPr lang="en-US" sz="800" dirty="0"/>
          </a:p>
        </p:txBody>
      </p:sp>
      <p:sp>
        <p:nvSpPr>
          <p:cNvPr id="20" name="Text 18"/>
          <p:cNvSpPr/>
          <p:nvPr/>
        </p:nvSpPr>
        <p:spPr>
          <a:xfrm>
            <a:off x="9448495" y="6537960"/>
            <a:ext cx="2468880" cy="228600"/>
          </a:xfrm>
          <a:prstGeom prst="rect">
            <a:avLst/>
          </a:prstGeom>
          <a:noFill/>
          <a:ln/>
        </p:spPr>
        <p:txBody>
          <a:bodyPr wrap="square" rtlCol="0" anchor="ctr"/>
          <a:lstStyle/>
          <a:p>
            <a:pPr algn="r" indent="0" marL="0">
              <a:buNone/>
            </a:pPr>
            <a:r>
              <a:rPr lang="en-US" sz="800" dirty="0">
                <a:solidFill>
                  <a:srgbClr val="64748B"/>
                </a:solidFill>
                <a:latin typeface="Courier New" pitchFamily="34" charset="0"/>
                <a:ea typeface="Courier New" pitchFamily="34" charset="-122"/>
                <a:cs typeface="Courier New" pitchFamily="34" charset="-120"/>
              </a:rPr>
              <a:t>v1.0  ·  2026-07-31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365760"/>
            <a:ext cx="11094415" cy="502920"/>
          </a:xfrm>
          <a:prstGeom prst="rect">
            <a:avLst/>
          </a:prstGeom>
          <a:noFill/>
          <a:ln/>
        </p:spPr>
        <p:txBody>
          <a:bodyPr wrap="square" rtlCol="0" anchor="ctr"/>
          <a:lstStyle/>
          <a:p>
            <a:pPr algn="l" indent="0" marL="0">
              <a:buNone/>
            </a:pPr>
            <a:r>
              <a:rPr lang="en-US" sz="2600" b="1" dirty="0">
                <a:solidFill>
                  <a:srgbClr val="F8FAFC"/>
                </a:solidFill>
                <a:latin typeface="Calibri" pitchFamily="34" charset="0"/>
                <a:ea typeface="Calibri" pitchFamily="34" charset="-122"/>
                <a:cs typeface="Calibri" pitchFamily="34" charset="-120"/>
              </a:rPr>
              <a:t>AI assurance has a proof problem.</a:t>
            </a:r>
            <a:endParaRPr lang="en-US" sz="2600" dirty="0"/>
          </a:p>
        </p:txBody>
      </p:sp>
      <p:sp>
        <p:nvSpPr>
          <p:cNvPr id="3" name="Shape 1"/>
          <p:cNvSpPr/>
          <p:nvPr/>
        </p:nvSpPr>
        <p:spPr>
          <a:xfrm>
            <a:off x="548640" y="914400"/>
            <a:ext cx="1371600" cy="36576"/>
          </a:xfrm>
          <a:prstGeom prst="rect">
            <a:avLst/>
          </a:prstGeom>
          <a:solidFill>
            <a:srgbClr val="10B981"/>
          </a:solidFill>
          <a:ln/>
        </p:spPr>
      </p:sp>
      <p:sp>
        <p:nvSpPr>
          <p:cNvPr id="4" name="Text 2"/>
          <p:cNvSpPr/>
          <p:nvPr/>
        </p:nvSpPr>
        <p:spPr>
          <a:xfrm>
            <a:off x="548640" y="1188720"/>
            <a:ext cx="10972800" cy="731520"/>
          </a:xfrm>
          <a:prstGeom prst="rect">
            <a:avLst/>
          </a:prstGeom>
          <a:noFill/>
          <a:ln/>
        </p:spPr>
        <p:txBody>
          <a:bodyPr wrap="square" rtlCol="0" anchor="t"/>
          <a:lstStyle/>
          <a:p>
            <a:pPr algn="l" indent="0" marL="0">
              <a:lnSpc>
                <a:spcPct val="120000"/>
              </a:lnSpc>
              <a:buNone/>
            </a:pPr>
            <a:r>
              <a:rPr lang="en-US" sz="1300" dirty="0">
                <a:solidFill>
                  <a:srgbClr val="94A3B8"/>
                </a:solidFill>
                <a:latin typeface="Calibri" pitchFamily="34" charset="0"/>
                <a:ea typeface="Calibri" pitchFamily="34" charset="-122"/>
                <a:cs typeface="Calibri" pitchFamily="34" charset="-120"/>
              </a:rPr>
              <a:t>Security tools find vulnerabilities. Governance tools collect questionnaires. Audit teams chase evidence across disconnected systems. The gap between what was tested, what was found, what was remediated, and what can be proven is where assurance claims lose traction.</a:t>
            </a:r>
            <a:endParaRPr lang="en-US" sz="1300" dirty="0"/>
          </a:p>
        </p:txBody>
      </p:sp>
      <p:sp>
        <p:nvSpPr>
          <p:cNvPr id="5" name="Text 3"/>
          <p:cNvSpPr/>
          <p:nvPr/>
        </p:nvSpPr>
        <p:spPr>
          <a:xfrm>
            <a:off x="548640" y="2011680"/>
            <a:ext cx="10972800" cy="457200"/>
          </a:xfrm>
          <a:prstGeom prst="rect">
            <a:avLst/>
          </a:prstGeom>
          <a:noFill/>
          <a:ln/>
        </p:spPr>
        <p:txBody>
          <a:bodyPr wrap="square" rtlCol="0" anchor="t"/>
          <a:lstStyle/>
          <a:p>
            <a:pPr algn="l" indent="0" marL="0">
              <a:lnSpc>
                <a:spcPct val="120000"/>
              </a:lnSpc>
              <a:buNone/>
            </a:pPr>
            <a:r>
              <a:rPr lang="en-US" sz="1300" b="1" dirty="0">
                <a:solidFill>
                  <a:srgbClr val="10B981"/>
                </a:solidFill>
                <a:latin typeface="Calibri" pitchFamily="34" charset="0"/>
                <a:ea typeface="Calibri" pitchFamily="34" charset="-122"/>
                <a:cs typeface="Calibri" pitchFamily="34" charset="-120"/>
              </a:rPr>
              <a:t>HAIEC closes this gap by making evidence the central artifact — not a byproduct.</a:t>
            </a:r>
            <a:endParaRPr lang="en-US" sz="1300" dirty="0"/>
          </a:p>
        </p:txBody>
      </p:sp>
      <p:sp>
        <p:nvSpPr>
          <p:cNvPr id="6" name="Shape 4"/>
          <p:cNvSpPr/>
          <p:nvPr/>
        </p:nvSpPr>
        <p:spPr>
          <a:xfrm>
            <a:off x="731520" y="2926080"/>
            <a:ext cx="2743200" cy="1188720"/>
          </a:xfrm>
          <a:prstGeom prst="rect">
            <a:avLst>
              <a:gd name="adj" fmla="val 3846"/>
            </a:avLst>
          </a:prstGeom>
          <a:solidFill>
            <a:srgbClr val="1E293B"/>
          </a:solidFill>
          <a:ln w="6350">
            <a:solidFill>
              <a:srgbClr val="334155"/>
            </a:solidFill>
            <a:prstDash val="solid"/>
          </a:ln>
        </p:spPr>
      </p:sp>
      <p:sp>
        <p:nvSpPr>
          <p:cNvPr id="7" name="Text 5"/>
          <p:cNvSpPr/>
          <p:nvPr/>
        </p:nvSpPr>
        <p:spPr>
          <a:xfrm>
            <a:off x="868680" y="3017520"/>
            <a:ext cx="246888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ENGINEERING</a:t>
            </a:r>
            <a:endParaRPr lang="en-US" sz="800" dirty="0"/>
          </a:p>
        </p:txBody>
      </p:sp>
      <p:sp>
        <p:nvSpPr>
          <p:cNvPr id="8" name="Text 6"/>
          <p:cNvSpPr/>
          <p:nvPr/>
        </p:nvSpPr>
        <p:spPr>
          <a:xfrm>
            <a:off x="868680" y="3246120"/>
            <a:ext cx="2468880" cy="822960"/>
          </a:xfrm>
          <a:prstGeom prst="rect">
            <a:avLst/>
          </a:prstGeom>
          <a:noFill/>
          <a:ln/>
        </p:spPr>
        <p:txBody>
          <a:bodyPr wrap="square" rtlCol="0" anchor="t"/>
          <a:lstStyle/>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Static analysis, runtime testing, CI integration</a:t>
            </a:r>
            <a:endParaRPr lang="en-US" sz="900" dirty="0"/>
          </a:p>
        </p:txBody>
      </p:sp>
      <p:sp>
        <p:nvSpPr>
          <p:cNvPr id="9" name="Shape 7"/>
          <p:cNvSpPr/>
          <p:nvPr/>
        </p:nvSpPr>
        <p:spPr>
          <a:xfrm>
            <a:off x="8686800" y="2926080"/>
            <a:ext cx="2743200" cy="1188720"/>
          </a:xfrm>
          <a:prstGeom prst="rect">
            <a:avLst>
              <a:gd name="adj" fmla="val 3846"/>
            </a:avLst>
          </a:prstGeom>
          <a:solidFill>
            <a:srgbClr val="1E293B"/>
          </a:solidFill>
          <a:ln w="6350">
            <a:solidFill>
              <a:srgbClr val="334155"/>
            </a:solidFill>
            <a:prstDash val="solid"/>
          </a:ln>
        </p:spPr>
      </p:sp>
      <p:sp>
        <p:nvSpPr>
          <p:cNvPr id="10" name="Text 8"/>
          <p:cNvSpPr/>
          <p:nvPr/>
        </p:nvSpPr>
        <p:spPr>
          <a:xfrm>
            <a:off x="8823960" y="3017520"/>
            <a:ext cx="246888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SECURITY</a:t>
            </a:r>
            <a:endParaRPr lang="en-US" sz="800" dirty="0"/>
          </a:p>
        </p:txBody>
      </p:sp>
      <p:sp>
        <p:nvSpPr>
          <p:cNvPr id="11" name="Text 9"/>
          <p:cNvSpPr/>
          <p:nvPr/>
        </p:nvSpPr>
        <p:spPr>
          <a:xfrm>
            <a:off x="8823960" y="3246120"/>
            <a:ext cx="2468880" cy="822960"/>
          </a:xfrm>
          <a:prstGeom prst="rect">
            <a:avLst/>
          </a:prstGeom>
          <a:noFill/>
          <a:ln/>
        </p:spPr>
        <p:txBody>
          <a:bodyPr wrap="square" rtlCol="0" anchor="t"/>
          <a:lstStyle/>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Adversarial testing, attack templates, safety properties</a:t>
            </a:r>
            <a:endParaRPr lang="en-US" sz="900" dirty="0"/>
          </a:p>
        </p:txBody>
      </p:sp>
      <p:sp>
        <p:nvSpPr>
          <p:cNvPr id="12" name="Shape 10"/>
          <p:cNvSpPr/>
          <p:nvPr/>
        </p:nvSpPr>
        <p:spPr>
          <a:xfrm>
            <a:off x="731520" y="4572000"/>
            <a:ext cx="2743200" cy="1188720"/>
          </a:xfrm>
          <a:prstGeom prst="rect">
            <a:avLst>
              <a:gd name="adj" fmla="val 3846"/>
            </a:avLst>
          </a:prstGeom>
          <a:solidFill>
            <a:srgbClr val="1E293B"/>
          </a:solidFill>
          <a:ln w="6350">
            <a:solidFill>
              <a:srgbClr val="334155"/>
            </a:solidFill>
            <a:prstDash val="solid"/>
          </a:ln>
        </p:spPr>
      </p:sp>
      <p:sp>
        <p:nvSpPr>
          <p:cNvPr id="13" name="Text 11"/>
          <p:cNvSpPr/>
          <p:nvPr/>
        </p:nvSpPr>
        <p:spPr>
          <a:xfrm>
            <a:off x="868680" y="4663440"/>
            <a:ext cx="246888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GOVERNANCE</a:t>
            </a:r>
            <a:endParaRPr lang="en-US" sz="800" dirty="0"/>
          </a:p>
        </p:txBody>
      </p:sp>
      <p:sp>
        <p:nvSpPr>
          <p:cNvPr id="14" name="Text 12"/>
          <p:cNvSpPr/>
          <p:nvPr/>
        </p:nvSpPr>
        <p:spPr>
          <a:xfrm>
            <a:off x="868680" y="4892040"/>
            <a:ext cx="2468880" cy="822960"/>
          </a:xfrm>
          <a:prstGeom prst="rect">
            <a:avLst/>
          </a:prstGeom>
          <a:noFill/>
          <a:ln/>
        </p:spPr>
        <p:txBody>
          <a:bodyPr wrap="square" rtlCol="0" anchor="t"/>
          <a:lstStyle/>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Framework mapping, compliance twin, jurisdiction registry</a:t>
            </a:r>
            <a:endParaRPr lang="en-US" sz="900" dirty="0"/>
          </a:p>
        </p:txBody>
      </p:sp>
      <p:sp>
        <p:nvSpPr>
          <p:cNvPr id="15" name="Shape 13"/>
          <p:cNvSpPr/>
          <p:nvPr/>
        </p:nvSpPr>
        <p:spPr>
          <a:xfrm>
            <a:off x="8686800" y="4572000"/>
            <a:ext cx="2743200" cy="1188720"/>
          </a:xfrm>
          <a:prstGeom prst="rect">
            <a:avLst>
              <a:gd name="adj" fmla="val 3846"/>
            </a:avLst>
          </a:prstGeom>
          <a:solidFill>
            <a:srgbClr val="1E293B"/>
          </a:solidFill>
          <a:ln w="6350">
            <a:solidFill>
              <a:srgbClr val="334155"/>
            </a:solidFill>
            <a:prstDash val="solid"/>
          </a:ln>
        </p:spPr>
      </p:sp>
      <p:sp>
        <p:nvSpPr>
          <p:cNvPr id="16" name="Text 14"/>
          <p:cNvSpPr/>
          <p:nvPr/>
        </p:nvSpPr>
        <p:spPr>
          <a:xfrm>
            <a:off x="8823960" y="4663440"/>
            <a:ext cx="246888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ASSURANCE</a:t>
            </a:r>
            <a:endParaRPr lang="en-US" sz="800" dirty="0"/>
          </a:p>
        </p:txBody>
      </p:sp>
      <p:sp>
        <p:nvSpPr>
          <p:cNvPr id="17" name="Text 15"/>
          <p:cNvSpPr/>
          <p:nvPr/>
        </p:nvSpPr>
        <p:spPr>
          <a:xfrm>
            <a:off x="8823960" y="4892040"/>
            <a:ext cx="2468880" cy="822960"/>
          </a:xfrm>
          <a:prstGeom prst="rect">
            <a:avLst/>
          </a:prstGeom>
          <a:noFill/>
          <a:ln/>
        </p:spPr>
        <p:txBody>
          <a:bodyPr wrap="square" rtlCol="0" anchor="t"/>
          <a:lstStyle/>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Audit orchestrator, evidence manifests, trust artifacts</a:t>
            </a:r>
            <a:endParaRPr lang="en-US" sz="900" dirty="0"/>
          </a:p>
        </p:txBody>
      </p:sp>
      <p:sp>
        <p:nvSpPr>
          <p:cNvPr id="18" name="Shape 16"/>
          <p:cNvSpPr/>
          <p:nvPr/>
        </p:nvSpPr>
        <p:spPr>
          <a:xfrm>
            <a:off x="4754880" y="3474720"/>
            <a:ext cx="2743200" cy="1645920"/>
          </a:xfrm>
          <a:prstGeom prst="rect">
            <a:avLst>
              <a:gd name="adj" fmla="val 2778"/>
            </a:avLst>
          </a:prstGeom>
          <a:solidFill>
            <a:srgbClr val="059669"/>
          </a:solidFill>
          <a:ln w="6350">
            <a:solidFill>
              <a:srgbClr val="10B981"/>
            </a:solidFill>
            <a:prstDash val="solid"/>
          </a:ln>
        </p:spPr>
      </p:sp>
      <p:sp>
        <p:nvSpPr>
          <p:cNvPr id="19" name="Text 17"/>
          <p:cNvSpPr/>
          <p:nvPr/>
        </p:nvSpPr>
        <p:spPr>
          <a:xfrm>
            <a:off x="4754880" y="3657600"/>
            <a:ext cx="2743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HAIEC</a:t>
            </a:r>
            <a:endParaRPr lang="en-US" sz="2000" dirty="0"/>
          </a:p>
        </p:txBody>
      </p:sp>
      <p:sp>
        <p:nvSpPr>
          <p:cNvPr id="20" name="Text 18"/>
          <p:cNvSpPr/>
          <p:nvPr/>
        </p:nvSpPr>
        <p:spPr>
          <a:xfrm>
            <a:off x="4754880" y="4114800"/>
            <a:ext cx="2743200" cy="7315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Evidence-Native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AI Security Platform</a:t>
            </a:r>
            <a:endParaRPr lang="en-US" sz="1000" dirty="0"/>
          </a:p>
        </p:txBody>
      </p:sp>
      <p:sp>
        <p:nvSpPr>
          <p:cNvPr id="21" name="Shape 19"/>
          <p:cNvSpPr/>
          <p:nvPr/>
        </p:nvSpPr>
        <p:spPr>
          <a:xfrm>
            <a:off x="3474720" y="3520440"/>
            <a:ext cx="1280160" cy="411480"/>
          </a:xfrm>
          <a:prstGeom prst="line">
            <a:avLst/>
          </a:prstGeom>
          <a:noFill/>
          <a:ln w="12700">
            <a:solidFill>
              <a:srgbClr val="10B981"/>
            </a:solidFill>
            <a:prstDash val="solid"/>
            <a:tailEnd type="triangle"/>
          </a:ln>
        </p:spPr>
      </p:sp>
      <p:sp>
        <p:nvSpPr>
          <p:cNvPr id="22" name="Shape 20"/>
          <p:cNvSpPr/>
          <p:nvPr/>
        </p:nvSpPr>
        <p:spPr>
          <a:xfrm>
            <a:off x="8686800" y="3520440"/>
            <a:ext cx="-1188720" cy="411480"/>
          </a:xfrm>
          <a:prstGeom prst="line">
            <a:avLst/>
          </a:prstGeom>
          <a:noFill/>
          <a:ln w="12700">
            <a:solidFill>
              <a:srgbClr val="10B981"/>
            </a:solidFill>
            <a:prstDash val="solid"/>
            <a:tailEnd type="triangle"/>
          </a:ln>
        </p:spPr>
      </p:sp>
      <p:sp>
        <p:nvSpPr>
          <p:cNvPr id="23" name="Shape 21"/>
          <p:cNvSpPr/>
          <p:nvPr/>
        </p:nvSpPr>
        <p:spPr>
          <a:xfrm>
            <a:off x="3474720" y="5166360"/>
            <a:ext cx="1280160" cy="-411480"/>
          </a:xfrm>
          <a:prstGeom prst="line">
            <a:avLst/>
          </a:prstGeom>
          <a:noFill/>
          <a:ln w="12700">
            <a:solidFill>
              <a:srgbClr val="10B981"/>
            </a:solidFill>
            <a:prstDash val="solid"/>
            <a:tailEnd type="triangle"/>
          </a:ln>
        </p:spPr>
      </p:sp>
      <p:sp>
        <p:nvSpPr>
          <p:cNvPr id="24" name="Shape 22"/>
          <p:cNvSpPr/>
          <p:nvPr/>
        </p:nvSpPr>
        <p:spPr>
          <a:xfrm>
            <a:off x="8686800" y="5166360"/>
            <a:ext cx="-1188720" cy="-411480"/>
          </a:xfrm>
          <a:prstGeom prst="line">
            <a:avLst/>
          </a:prstGeom>
          <a:noFill/>
          <a:ln w="12700">
            <a:solidFill>
              <a:srgbClr val="10B981"/>
            </a:solidFill>
            <a:prstDash val="solid"/>
            <a:tailEnd type="triangle"/>
          </a:ln>
        </p:spPr>
      </p:sp>
      <p:sp>
        <p:nvSpPr>
          <p:cNvPr id="25" name="Text 23"/>
          <p:cNvSpPr/>
          <p:nvPr/>
        </p:nvSpPr>
        <p:spPr>
          <a:xfrm>
            <a:off x="548640" y="5943600"/>
            <a:ext cx="10972800" cy="365760"/>
          </a:xfrm>
          <a:prstGeom prst="rect">
            <a:avLst/>
          </a:prstGeom>
          <a:noFill/>
          <a:ln/>
        </p:spPr>
        <p:txBody>
          <a:bodyPr wrap="square" rtlCol="0" anchor="t"/>
          <a:lstStyle/>
          <a:p>
            <a:pPr algn="l" indent="0" marL="0">
              <a:lnSpc>
                <a:spcPct val="120000"/>
              </a:lnSpc>
              <a:buNone/>
            </a:pPr>
            <a:r>
              <a:rPr lang="en-US" sz="1100" b="1" dirty="0">
                <a:solidFill>
                  <a:srgbClr val="10B981"/>
                </a:solidFill>
                <a:latin typeface="Calibri" pitchFamily="34" charset="0"/>
                <a:ea typeface="Calibri" pitchFamily="34" charset="-122"/>
                <a:cs typeface="Calibri" pitchFamily="34" charset="-120"/>
              </a:rPr>
              <a:t>The strategic asset is not one scanner or one report. It is the evidence relationship connecting system, test, finding, control, remediation and verification.</a:t>
            </a:r>
            <a:endParaRPr lang="en-US" sz="1100" dirty="0"/>
          </a:p>
        </p:txBody>
      </p:sp>
      <p:sp>
        <p:nvSpPr>
          <p:cNvPr id="26" name="Text 24"/>
          <p:cNvSpPr/>
          <p:nvPr/>
        </p:nvSpPr>
        <p:spPr>
          <a:xfrm>
            <a:off x="274320" y="6537960"/>
            <a:ext cx="7315200" cy="22860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HAIEC  ·  Confidential Discussion Brief  ·  2/14</a:t>
            </a:r>
            <a:endParaRPr lang="en-US" sz="800" dirty="0"/>
          </a:p>
        </p:txBody>
      </p:sp>
      <p:sp>
        <p:nvSpPr>
          <p:cNvPr id="27" name="Text 25"/>
          <p:cNvSpPr/>
          <p:nvPr/>
        </p:nvSpPr>
        <p:spPr>
          <a:xfrm>
            <a:off x="9448495" y="6537960"/>
            <a:ext cx="2468880" cy="228600"/>
          </a:xfrm>
          <a:prstGeom prst="rect">
            <a:avLst/>
          </a:prstGeom>
          <a:noFill/>
          <a:ln/>
        </p:spPr>
        <p:txBody>
          <a:bodyPr wrap="square" rtlCol="0" anchor="ctr"/>
          <a:lstStyle/>
          <a:p>
            <a:pPr algn="r" indent="0" marL="0">
              <a:buNone/>
            </a:pPr>
            <a:r>
              <a:rPr lang="en-US" sz="800" dirty="0">
                <a:solidFill>
                  <a:srgbClr val="64748B"/>
                </a:solidFill>
                <a:latin typeface="Courier New" pitchFamily="34" charset="0"/>
                <a:ea typeface="Courier New" pitchFamily="34" charset="-122"/>
                <a:cs typeface="Courier New" pitchFamily="34" charset="-120"/>
              </a:rPr>
              <a:t>v1.0  ·  2026-07-31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365760"/>
            <a:ext cx="11094415" cy="502920"/>
          </a:xfrm>
          <a:prstGeom prst="rect">
            <a:avLst/>
          </a:prstGeom>
          <a:noFill/>
          <a:ln/>
        </p:spPr>
        <p:txBody>
          <a:bodyPr wrap="square" rtlCol="0" anchor="ctr"/>
          <a:lstStyle/>
          <a:p>
            <a:pPr algn="l" indent="0" marL="0">
              <a:buNone/>
            </a:pPr>
            <a:r>
              <a:rPr lang="en-US" sz="2600" b="1" dirty="0">
                <a:solidFill>
                  <a:srgbClr val="F8FAFC"/>
                </a:solidFill>
                <a:latin typeface="Calibri" pitchFamily="34" charset="0"/>
                <a:ea typeface="Calibri" pitchFamily="34" charset="-122"/>
                <a:cs typeface="Calibri" pitchFamily="34" charset="-120"/>
              </a:rPr>
              <a:t>Security tools find risk. Governance tools collect answers.</a:t>
            </a:r>
            <a:endParaRPr lang="en-US" sz="2600" dirty="0"/>
          </a:p>
          <a:p>
            <a:pPr algn="l" indent="0" marL="0">
              <a:buNone/>
            </a:pPr>
            <a:r>
              <a:rPr lang="en-US" sz="2600" b="1" dirty="0">
                <a:solidFill>
                  <a:srgbClr val="F8FAFC"/>
                </a:solidFill>
                <a:latin typeface="Calibri" pitchFamily="34" charset="0"/>
                <a:ea typeface="Calibri" pitchFamily="34" charset="-122"/>
                <a:cs typeface="Calibri" pitchFamily="34" charset="-120"/>
              </a:rPr>
              <a:t>Audit teams still chase evidence.</a:t>
            </a:r>
            <a:endParaRPr lang="en-US" sz="2600" dirty="0"/>
          </a:p>
        </p:txBody>
      </p:sp>
      <p:sp>
        <p:nvSpPr>
          <p:cNvPr id="3" name="Shape 1"/>
          <p:cNvSpPr/>
          <p:nvPr/>
        </p:nvSpPr>
        <p:spPr>
          <a:xfrm>
            <a:off x="548640" y="914400"/>
            <a:ext cx="1371600" cy="36576"/>
          </a:xfrm>
          <a:prstGeom prst="rect">
            <a:avLst/>
          </a:prstGeom>
          <a:solidFill>
            <a:srgbClr val="10B981"/>
          </a:solidFill>
          <a:ln/>
        </p:spPr>
      </p:sp>
      <p:sp>
        <p:nvSpPr>
          <p:cNvPr id="4" name="Shape 2"/>
          <p:cNvSpPr/>
          <p:nvPr/>
        </p:nvSpPr>
        <p:spPr>
          <a:xfrm>
            <a:off x="548640" y="1645920"/>
            <a:ext cx="3474720" cy="3474720"/>
          </a:xfrm>
          <a:prstGeom prst="rect">
            <a:avLst>
              <a:gd name="adj" fmla="val 1316"/>
            </a:avLst>
          </a:prstGeom>
          <a:solidFill>
            <a:srgbClr val="1E293B"/>
          </a:solidFill>
          <a:ln w="6350">
            <a:solidFill>
              <a:srgbClr val="334155"/>
            </a:solidFill>
            <a:prstDash val="solid"/>
          </a:ln>
        </p:spPr>
      </p:sp>
      <p:sp>
        <p:nvSpPr>
          <p:cNvPr id="5" name="Text 3"/>
          <p:cNvSpPr/>
          <p:nvPr/>
        </p:nvSpPr>
        <p:spPr>
          <a:xfrm>
            <a:off x="731520" y="1737360"/>
            <a:ext cx="310896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AI Security Tools</a:t>
            </a:r>
            <a:endParaRPr lang="en-US" sz="1300" dirty="0"/>
          </a:p>
        </p:txBody>
      </p:sp>
      <p:sp>
        <p:nvSpPr>
          <p:cNvPr id="6" name="Text 4"/>
          <p:cNvSpPr/>
          <p:nvPr/>
        </p:nvSpPr>
        <p:spPr>
          <a:xfrm>
            <a:off x="731520" y="2194560"/>
            <a:ext cx="3108960" cy="32004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Find vulnerabilities in code</a:t>
            </a:r>
            <a:endParaRPr lang="en-US" sz="1000" dirty="0"/>
          </a:p>
        </p:txBody>
      </p:sp>
      <p:sp>
        <p:nvSpPr>
          <p:cNvPr id="7" name="Text 5"/>
          <p:cNvSpPr/>
          <p:nvPr/>
        </p:nvSpPr>
        <p:spPr>
          <a:xfrm>
            <a:off x="731520" y="2560320"/>
            <a:ext cx="3108960" cy="32004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Generate findings and alerts</a:t>
            </a:r>
            <a:endParaRPr lang="en-US" sz="1000" dirty="0"/>
          </a:p>
        </p:txBody>
      </p:sp>
      <p:sp>
        <p:nvSpPr>
          <p:cNvPr id="8" name="Text 6"/>
          <p:cNvSpPr/>
          <p:nvPr/>
        </p:nvSpPr>
        <p:spPr>
          <a:xfrm>
            <a:off x="731520" y="2926080"/>
            <a:ext cx="3108960" cy="32004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Do not produce audit-grade evidence</a:t>
            </a:r>
            <a:endParaRPr lang="en-US" sz="1000" dirty="0"/>
          </a:p>
        </p:txBody>
      </p:sp>
      <p:sp>
        <p:nvSpPr>
          <p:cNvPr id="9" name="Text 7"/>
          <p:cNvSpPr/>
          <p:nvPr/>
        </p:nvSpPr>
        <p:spPr>
          <a:xfrm>
            <a:off x="731520" y="3291840"/>
            <a:ext cx="3108960" cy="32004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Do not map findings to controls</a:t>
            </a:r>
            <a:endParaRPr lang="en-US" sz="1000" dirty="0"/>
          </a:p>
        </p:txBody>
      </p:sp>
      <p:sp>
        <p:nvSpPr>
          <p:cNvPr id="10" name="Shape 8"/>
          <p:cNvSpPr/>
          <p:nvPr/>
        </p:nvSpPr>
        <p:spPr>
          <a:xfrm>
            <a:off x="731520" y="4206240"/>
            <a:ext cx="3108960" cy="36576"/>
          </a:xfrm>
          <a:prstGeom prst="rect">
            <a:avLst/>
          </a:prstGeom>
          <a:solidFill>
            <a:srgbClr val="EF4444"/>
          </a:solidFill>
          <a:ln/>
        </p:spPr>
      </p:sp>
      <p:sp>
        <p:nvSpPr>
          <p:cNvPr id="11" name="Text 9"/>
          <p:cNvSpPr/>
          <p:nvPr/>
        </p:nvSpPr>
        <p:spPr>
          <a:xfrm>
            <a:off x="731520" y="4297680"/>
            <a:ext cx="3108960" cy="548640"/>
          </a:xfrm>
          <a:prstGeom prst="rect">
            <a:avLst/>
          </a:prstGeom>
          <a:noFill/>
          <a:ln/>
        </p:spPr>
        <p:txBody>
          <a:bodyPr wrap="square" rtlCol="0" anchor="ctr"/>
          <a:lstStyle/>
          <a:p>
            <a:pPr indent="0" marL="0">
              <a:buNone/>
            </a:pPr>
            <a:r>
              <a:rPr lang="en-US" sz="900" i="1" dirty="0">
                <a:solidFill>
                  <a:srgbClr val="EF4444"/>
                </a:solidFill>
                <a:latin typeface="Calibri" pitchFamily="34" charset="0"/>
                <a:ea typeface="Calibri" pitchFamily="34" charset="-122"/>
                <a:cs typeface="Calibri" pitchFamily="34" charset="-120"/>
              </a:rPr>
              <a:t>Output stops at the finding. No evidence chain.</a:t>
            </a:r>
            <a:endParaRPr lang="en-US" sz="900" dirty="0"/>
          </a:p>
        </p:txBody>
      </p:sp>
      <p:sp>
        <p:nvSpPr>
          <p:cNvPr id="12" name="Shape 10"/>
          <p:cNvSpPr/>
          <p:nvPr/>
        </p:nvSpPr>
        <p:spPr>
          <a:xfrm>
            <a:off x="4297680" y="1645920"/>
            <a:ext cx="3474720" cy="3474720"/>
          </a:xfrm>
          <a:prstGeom prst="rect">
            <a:avLst>
              <a:gd name="adj" fmla="val 1316"/>
            </a:avLst>
          </a:prstGeom>
          <a:solidFill>
            <a:srgbClr val="1E293B"/>
          </a:solidFill>
          <a:ln w="6350">
            <a:solidFill>
              <a:srgbClr val="334155"/>
            </a:solidFill>
            <a:prstDash val="solid"/>
          </a:ln>
        </p:spPr>
      </p:sp>
      <p:sp>
        <p:nvSpPr>
          <p:cNvPr id="13" name="Text 11"/>
          <p:cNvSpPr/>
          <p:nvPr/>
        </p:nvSpPr>
        <p:spPr>
          <a:xfrm>
            <a:off x="4480560" y="1737360"/>
            <a:ext cx="310896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Governance &amp; GRC</a:t>
            </a:r>
            <a:endParaRPr lang="en-US" sz="1300" dirty="0"/>
          </a:p>
        </p:txBody>
      </p:sp>
      <p:sp>
        <p:nvSpPr>
          <p:cNvPr id="14" name="Text 12"/>
          <p:cNvSpPr/>
          <p:nvPr/>
        </p:nvSpPr>
        <p:spPr>
          <a:xfrm>
            <a:off x="4480560" y="2194560"/>
            <a:ext cx="3108960" cy="32004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Collect questionnaire responses</a:t>
            </a:r>
            <a:endParaRPr lang="en-US" sz="1000" dirty="0"/>
          </a:p>
        </p:txBody>
      </p:sp>
      <p:sp>
        <p:nvSpPr>
          <p:cNvPr id="15" name="Text 13"/>
          <p:cNvSpPr/>
          <p:nvPr/>
        </p:nvSpPr>
        <p:spPr>
          <a:xfrm>
            <a:off x="4480560" y="2560320"/>
            <a:ext cx="3108960" cy="32004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Track policy attestation</a:t>
            </a:r>
            <a:endParaRPr lang="en-US" sz="1000" dirty="0"/>
          </a:p>
        </p:txBody>
      </p:sp>
      <p:sp>
        <p:nvSpPr>
          <p:cNvPr id="16" name="Text 14"/>
          <p:cNvSpPr/>
          <p:nvPr/>
        </p:nvSpPr>
        <p:spPr>
          <a:xfrm>
            <a:off x="4480560" y="2926080"/>
            <a:ext cx="3108960" cy="32004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Do not validate technical posture</a:t>
            </a:r>
            <a:endParaRPr lang="en-US" sz="1000" dirty="0"/>
          </a:p>
        </p:txBody>
      </p:sp>
      <p:sp>
        <p:nvSpPr>
          <p:cNvPr id="17" name="Text 15"/>
          <p:cNvSpPr/>
          <p:nvPr/>
        </p:nvSpPr>
        <p:spPr>
          <a:xfrm>
            <a:off x="4480560" y="3291840"/>
            <a:ext cx="3108960" cy="32004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Self-reported, not engine-generated</a:t>
            </a:r>
            <a:endParaRPr lang="en-US" sz="1000" dirty="0"/>
          </a:p>
        </p:txBody>
      </p:sp>
      <p:sp>
        <p:nvSpPr>
          <p:cNvPr id="18" name="Shape 16"/>
          <p:cNvSpPr/>
          <p:nvPr/>
        </p:nvSpPr>
        <p:spPr>
          <a:xfrm>
            <a:off x="4480560" y="4206240"/>
            <a:ext cx="3108960" cy="36576"/>
          </a:xfrm>
          <a:prstGeom prst="rect">
            <a:avLst/>
          </a:prstGeom>
          <a:solidFill>
            <a:srgbClr val="EF4444"/>
          </a:solidFill>
          <a:ln/>
        </p:spPr>
      </p:sp>
      <p:sp>
        <p:nvSpPr>
          <p:cNvPr id="19" name="Text 17"/>
          <p:cNvSpPr/>
          <p:nvPr/>
        </p:nvSpPr>
        <p:spPr>
          <a:xfrm>
            <a:off x="4480560" y="4297680"/>
            <a:ext cx="3108960" cy="548640"/>
          </a:xfrm>
          <a:prstGeom prst="rect">
            <a:avLst/>
          </a:prstGeom>
          <a:noFill/>
          <a:ln/>
        </p:spPr>
        <p:txBody>
          <a:bodyPr wrap="square" rtlCol="0" anchor="ctr"/>
          <a:lstStyle/>
          <a:p>
            <a:pPr indent="0" marL="0">
              <a:buNone/>
            </a:pPr>
            <a:r>
              <a:rPr lang="en-US" sz="900" i="1" dirty="0">
                <a:solidFill>
                  <a:srgbClr val="EF4444"/>
                </a:solidFill>
                <a:latin typeface="Calibri" pitchFamily="34" charset="0"/>
                <a:ea typeface="Calibri" pitchFamily="34" charset="-122"/>
                <a:cs typeface="Calibri" pitchFamily="34" charset="-120"/>
              </a:rPr>
              <a:t>Answers without verification. No technical proof.</a:t>
            </a:r>
            <a:endParaRPr lang="en-US" sz="900" dirty="0"/>
          </a:p>
        </p:txBody>
      </p:sp>
      <p:sp>
        <p:nvSpPr>
          <p:cNvPr id="20" name="Shape 18"/>
          <p:cNvSpPr/>
          <p:nvPr/>
        </p:nvSpPr>
        <p:spPr>
          <a:xfrm>
            <a:off x="8046720" y="1645920"/>
            <a:ext cx="3474720" cy="3474720"/>
          </a:xfrm>
          <a:prstGeom prst="rect">
            <a:avLst>
              <a:gd name="adj" fmla="val 1316"/>
            </a:avLst>
          </a:prstGeom>
          <a:solidFill>
            <a:srgbClr val="1E293B"/>
          </a:solidFill>
          <a:ln w="6350">
            <a:solidFill>
              <a:srgbClr val="334155"/>
            </a:solidFill>
            <a:prstDash val="solid"/>
          </a:ln>
        </p:spPr>
      </p:sp>
      <p:sp>
        <p:nvSpPr>
          <p:cNvPr id="21" name="Text 19"/>
          <p:cNvSpPr/>
          <p:nvPr/>
        </p:nvSpPr>
        <p:spPr>
          <a:xfrm>
            <a:off x="8229600" y="1737360"/>
            <a:ext cx="310896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Audit Preparation</a:t>
            </a:r>
            <a:endParaRPr lang="en-US" sz="1300" dirty="0"/>
          </a:p>
        </p:txBody>
      </p:sp>
      <p:sp>
        <p:nvSpPr>
          <p:cNvPr id="22" name="Text 20"/>
          <p:cNvSpPr/>
          <p:nvPr/>
        </p:nvSpPr>
        <p:spPr>
          <a:xfrm>
            <a:off x="8229600" y="2194560"/>
            <a:ext cx="3108960" cy="32004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Manual evidence collection</a:t>
            </a:r>
            <a:endParaRPr lang="en-US" sz="1000" dirty="0"/>
          </a:p>
        </p:txBody>
      </p:sp>
      <p:sp>
        <p:nvSpPr>
          <p:cNvPr id="23" name="Text 21"/>
          <p:cNvSpPr/>
          <p:nvPr/>
        </p:nvSpPr>
        <p:spPr>
          <a:xfrm>
            <a:off x="8229600" y="2560320"/>
            <a:ext cx="3108960" cy="32004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Cross-reference across tools</a:t>
            </a:r>
            <a:endParaRPr lang="en-US" sz="1000" dirty="0"/>
          </a:p>
        </p:txBody>
      </p:sp>
      <p:sp>
        <p:nvSpPr>
          <p:cNvPr id="24" name="Text 22"/>
          <p:cNvSpPr/>
          <p:nvPr/>
        </p:nvSpPr>
        <p:spPr>
          <a:xfrm>
            <a:off x="8229600" y="2926080"/>
            <a:ext cx="3108960" cy="32004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Reconcile findings to controls</a:t>
            </a:r>
            <a:endParaRPr lang="en-US" sz="1000" dirty="0"/>
          </a:p>
        </p:txBody>
      </p:sp>
      <p:sp>
        <p:nvSpPr>
          <p:cNvPr id="25" name="Text 23"/>
          <p:cNvSpPr/>
          <p:nvPr/>
        </p:nvSpPr>
        <p:spPr>
          <a:xfrm>
            <a:off x="8229600" y="3291840"/>
            <a:ext cx="3108960" cy="32004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Stale by the time audit begins</a:t>
            </a:r>
            <a:endParaRPr lang="en-US" sz="1000" dirty="0"/>
          </a:p>
        </p:txBody>
      </p:sp>
      <p:sp>
        <p:nvSpPr>
          <p:cNvPr id="26" name="Shape 24"/>
          <p:cNvSpPr/>
          <p:nvPr/>
        </p:nvSpPr>
        <p:spPr>
          <a:xfrm>
            <a:off x="8229600" y="4206240"/>
            <a:ext cx="3108960" cy="36576"/>
          </a:xfrm>
          <a:prstGeom prst="rect">
            <a:avLst/>
          </a:prstGeom>
          <a:solidFill>
            <a:srgbClr val="EF4444"/>
          </a:solidFill>
          <a:ln/>
        </p:spPr>
      </p:sp>
      <p:sp>
        <p:nvSpPr>
          <p:cNvPr id="27" name="Text 25"/>
          <p:cNvSpPr/>
          <p:nvPr/>
        </p:nvSpPr>
        <p:spPr>
          <a:xfrm>
            <a:off x="8229600" y="4297680"/>
            <a:ext cx="3108960" cy="548640"/>
          </a:xfrm>
          <a:prstGeom prst="rect">
            <a:avLst/>
          </a:prstGeom>
          <a:noFill/>
          <a:ln/>
        </p:spPr>
        <p:txBody>
          <a:bodyPr wrap="square" rtlCol="0" anchor="ctr"/>
          <a:lstStyle/>
          <a:p>
            <a:pPr indent="0" marL="0">
              <a:buNone/>
            </a:pPr>
            <a:r>
              <a:rPr lang="en-US" sz="900" i="1" dirty="0">
                <a:solidFill>
                  <a:srgbClr val="EF4444"/>
                </a:solidFill>
                <a:latin typeface="Calibri" pitchFamily="34" charset="0"/>
                <a:ea typeface="Calibri" pitchFamily="34" charset="-122"/>
                <a:cs typeface="Calibri" pitchFamily="34" charset="-120"/>
              </a:rPr>
              <a:t>Labor-intensive. Disconnected from testing.</a:t>
            </a:r>
            <a:endParaRPr lang="en-US" sz="900" dirty="0"/>
          </a:p>
        </p:txBody>
      </p:sp>
      <p:sp>
        <p:nvSpPr>
          <p:cNvPr id="28" name="Shape 26"/>
          <p:cNvSpPr/>
          <p:nvPr/>
        </p:nvSpPr>
        <p:spPr>
          <a:xfrm>
            <a:off x="548640" y="5394960"/>
            <a:ext cx="11064240" cy="640080"/>
          </a:xfrm>
          <a:prstGeom prst="rect">
            <a:avLst>
              <a:gd name="adj" fmla="val 7143"/>
            </a:avLst>
          </a:prstGeom>
          <a:solidFill>
            <a:srgbClr val="059669"/>
          </a:solidFill>
          <a:ln w="6350">
            <a:solidFill>
              <a:srgbClr val="10B981"/>
            </a:solidFill>
            <a:prstDash val="solid"/>
          </a:ln>
        </p:spPr>
      </p:sp>
      <p:sp>
        <p:nvSpPr>
          <p:cNvPr id="29" name="Text 27"/>
          <p:cNvSpPr/>
          <p:nvPr/>
        </p:nvSpPr>
        <p:spPr>
          <a:xfrm>
            <a:off x="731520" y="5394960"/>
            <a:ext cx="10698480" cy="6400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HAIEC bridges all three: engine-generated evidence flows from test → finding → control mapping → audit package in one platform.</a:t>
            </a:r>
            <a:endParaRPr lang="en-US" sz="1100" dirty="0"/>
          </a:p>
        </p:txBody>
      </p:sp>
      <p:sp>
        <p:nvSpPr>
          <p:cNvPr id="30" name="Text 28"/>
          <p:cNvSpPr/>
          <p:nvPr/>
        </p:nvSpPr>
        <p:spPr>
          <a:xfrm>
            <a:off x="274320" y="6537960"/>
            <a:ext cx="7315200" cy="22860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HAIEC  ·  Confidential Discussion Brief  ·  3/14</a:t>
            </a:r>
            <a:endParaRPr lang="en-US" sz="800" dirty="0"/>
          </a:p>
        </p:txBody>
      </p:sp>
      <p:sp>
        <p:nvSpPr>
          <p:cNvPr id="31" name="Text 29"/>
          <p:cNvSpPr/>
          <p:nvPr/>
        </p:nvSpPr>
        <p:spPr>
          <a:xfrm>
            <a:off x="9448495" y="6537960"/>
            <a:ext cx="2468880" cy="228600"/>
          </a:xfrm>
          <a:prstGeom prst="rect">
            <a:avLst/>
          </a:prstGeom>
          <a:noFill/>
          <a:ln/>
        </p:spPr>
        <p:txBody>
          <a:bodyPr wrap="square" rtlCol="0" anchor="ctr"/>
          <a:lstStyle/>
          <a:p>
            <a:pPr algn="r" indent="0" marL="0">
              <a:buNone/>
            </a:pPr>
            <a:r>
              <a:rPr lang="en-US" sz="800" dirty="0">
                <a:solidFill>
                  <a:srgbClr val="64748B"/>
                </a:solidFill>
                <a:latin typeface="Courier New" pitchFamily="34" charset="0"/>
                <a:ea typeface="Courier New" pitchFamily="34" charset="-122"/>
                <a:cs typeface="Courier New" pitchFamily="34" charset="-120"/>
              </a:rPr>
              <a:t>v1.0  ·  2026-07-31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365760"/>
            <a:ext cx="11094415" cy="502920"/>
          </a:xfrm>
          <a:prstGeom prst="rect">
            <a:avLst/>
          </a:prstGeom>
          <a:noFill/>
          <a:ln/>
        </p:spPr>
        <p:txBody>
          <a:bodyPr wrap="square" rtlCol="0" anchor="ctr"/>
          <a:lstStyle/>
          <a:p>
            <a:pPr algn="l" indent="0" marL="0">
              <a:buNone/>
            </a:pPr>
            <a:r>
              <a:rPr lang="en-US" sz="2600" b="1" dirty="0">
                <a:solidFill>
                  <a:srgbClr val="F8FAFC"/>
                </a:solidFill>
                <a:latin typeface="Calibri" pitchFamily="34" charset="0"/>
                <a:ea typeface="Calibri" pitchFamily="34" charset="-122"/>
                <a:cs typeface="Calibri" pitchFamily="34" charset="-120"/>
              </a:rPr>
              <a:t>One platform from code to audit evidence.</a:t>
            </a:r>
            <a:endParaRPr lang="en-US" sz="2600" dirty="0"/>
          </a:p>
        </p:txBody>
      </p:sp>
      <p:sp>
        <p:nvSpPr>
          <p:cNvPr id="3" name="Shape 1"/>
          <p:cNvSpPr/>
          <p:nvPr/>
        </p:nvSpPr>
        <p:spPr>
          <a:xfrm>
            <a:off x="548640" y="914400"/>
            <a:ext cx="1371600" cy="36576"/>
          </a:xfrm>
          <a:prstGeom prst="rect">
            <a:avLst/>
          </a:prstGeom>
          <a:solidFill>
            <a:srgbClr val="10B981"/>
          </a:solidFill>
          <a:ln/>
        </p:spPr>
      </p:sp>
      <p:sp>
        <p:nvSpPr>
          <p:cNvPr id="4" name="Shape 2"/>
          <p:cNvSpPr/>
          <p:nvPr/>
        </p:nvSpPr>
        <p:spPr>
          <a:xfrm>
            <a:off x="548640" y="1371600"/>
            <a:ext cx="11064240" cy="777240"/>
          </a:xfrm>
          <a:prstGeom prst="rect">
            <a:avLst>
              <a:gd name="adj" fmla="val 5882"/>
            </a:avLst>
          </a:prstGeom>
          <a:solidFill>
            <a:srgbClr val="1E293B"/>
          </a:solidFill>
          <a:ln w="6350">
            <a:solidFill>
              <a:srgbClr val="64748B"/>
            </a:solidFill>
            <a:prstDash val="solid"/>
          </a:ln>
        </p:spPr>
      </p:sp>
      <p:sp>
        <p:nvSpPr>
          <p:cNvPr id="5" name="Shape 3"/>
          <p:cNvSpPr/>
          <p:nvPr/>
        </p:nvSpPr>
        <p:spPr>
          <a:xfrm>
            <a:off x="548640" y="1371600"/>
            <a:ext cx="73152" cy="777240"/>
          </a:xfrm>
          <a:prstGeom prst="rect">
            <a:avLst/>
          </a:prstGeom>
          <a:solidFill>
            <a:srgbClr val="64748B"/>
          </a:solidFill>
          <a:ln/>
        </p:spPr>
      </p:sp>
      <p:sp>
        <p:nvSpPr>
          <p:cNvPr id="6" name="Text 4"/>
          <p:cNvSpPr/>
          <p:nvPr/>
        </p:nvSpPr>
        <p:spPr>
          <a:xfrm>
            <a:off x="777240" y="1463040"/>
            <a:ext cx="274320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INPUTS</a:t>
            </a:r>
            <a:endParaRPr lang="en-US" sz="800" dirty="0"/>
          </a:p>
        </p:txBody>
      </p:sp>
      <p:sp>
        <p:nvSpPr>
          <p:cNvPr id="7" name="Text 5"/>
          <p:cNvSpPr/>
          <p:nvPr/>
        </p:nvSpPr>
        <p:spPr>
          <a:xfrm>
            <a:off x="777240" y="1691640"/>
            <a:ext cx="10515600" cy="365760"/>
          </a:xfrm>
          <a:prstGeom prst="rect">
            <a:avLst/>
          </a:prstGeom>
          <a:noFill/>
          <a:ln/>
        </p:spPr>
        <p:txBody>
          <a:bodyPr wrap="square" rtlCol="0" anchor="t"/>
          <a:lstStyle/>
          <a:p>
            <a:pPr algn="l" indent="0" marL="0">
              <a:lnSpc>
                <a:spcPct val="120000"/>
              </a:lnSpc>
              <a:buNone/>
            </a:pPr>
            <a:r>
              <a:rPr lang="en-US" sz="1100" dirty="0">
                <a:solidFill>
                  <a:srgbClr val="F8FAFC"/>
                </a:solidFill>
                <a:latin typeface="Calibri" pitchFamily="34" charset="0"/>
                <a:ea typeface="Calibri" pitchFamily="34" charset="-122"/>
                <a:cs typeface="Calibri" pitchFamily="34" charset="-120"/>
              </a:rPr>
              <a:t>Git repos · API keys · AI inventory · System registration</a:t>
            </a:r>
            <a:endParaRPr lang="en-US" sz="1100" dirty="0"/>
          </a:p>
        </p:txBody>
      </p:sp>
      <p:sp>
        <p:nvSpPr>
          <p:cNvPr id="8" name="Shape 6"/>
          <p:cNvSpPr/>
          <p:nvPr/>
        </p:nvSpPr>
        <p:spPr>
          <a:xfrm>
            <a:off x="548640" y="2331720"/>
            <a:ext cx="11064240" cy="777240"/>
          </a:xfrm>
          <a:prstGeom prst="rect">
            <a:avLst>
              <a:gd name="adj" fmla="val 5882"/>
            </a:avLst>
          </a:prstGeom>
          <a:solidFill>
            <a:srgbClr val="1E293B"/>
          </a:solidFill>
          <a:ln w="6350">
            <a:solidFill>
              <a:srgbClr val="059669"/>
            </a:solidFill>
            <a:prstDash val="solid"/>
          </a:ln>
        </p:spPr>
      </p:sp>
      <p:sp>
        <p:nvSpPr>
          <p:cNvPr id="9" name="Shape 7"/>
          <p:cNvSpPr/>
          <p:nvPr/>
        </p:nvSpPr>
        <p:spPr>
          <a:xfrm>
            <a:off x="548640" y="2331720"/>
            <a:ext cx="73152" cy="777240"/>
          </a:xfrm>
          <a:prstGeom prst="rect">
            <a:avLst/>
          </a:prstGeom>
          <a:solidFill>
            <a:srgbClr val="059669"/>
          </a:solidFill>
          <a:ln/>
        </p:spPr>
      </p:sp>
      <p:sp>
        <p:nvSpPr>
          <p:cNvPr id="10" name="Text 8"/>
          <p:cNvSpPr/>
          <p:nvPr/>
        </p:nvSpPr>
        <p:spPr>
          <a:xfrm>
            <a:off x="777240" y="2423160"/>
            <a:ext cx="274320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EVALUATION</a:t>
            </a:r>
            <a:endParaRPr lang="en-US" sz="800" dirty="0"/>
          </a:p>
        </p:txBody>
      </p:sp>
      <p:sp>
        <p:nvSpPr>
          <p:cNvPr id="11" name="Text 9"/>
          <p:cNvSpPr/>
          <p:nvPr/>
        </p:nvSpPr>
        <p:spPr>
          <a:xfrm>
            <a:off x="777240" y="2651760"/>
            <a:ext cx="10515600" cy="365760"/>
          </a:xfrm>
          <a:prstGeom prst="rect">
            <a:avLst/>
          </a:prstGeom>
          <a:noFill/>
          <a:ln/>
        </p:spPr>
        <p:txBody>
          <a:bodyPr wrap="square" rtlCol="0" anchor="t"/>
          <a:lstStyle/>
          <a:p>
            <a:pPr algn="l" indent="0" marL="0">
              <a:lnSpc>
                <a:spcPct val="120000"/>
              </a:lnSpc>
              <a:buNone/>
            </a:pPr>
            <a:r>
              <a:rPr lang="en-US" sz="1100" dirty="0">
                <a:solidFill>
                  <a:srgbClr val="F8FAFC"/>
                </a:solidFill>
                <a:latin typeface="Calibri" pitchFamily="34" charset="0"/>
                <a:ea typeface="Calibri" pitchFamily="34" charset="-122"/>
                <a:cs typeface="Calibri" pitchFamily="34" charset="-120"/>
              </a:rPr>
              <a:t>Static engine (188 rules) · Runtime engine (269 templates) · Wizard</a:t>
            </a:r>
            <a:endParaRPr lang="en-US" sz="1100" dirty="0"/>
          </a:p>
        </p:txBody>
      </p:sp>
      <p:sp>
        <p:nvSpPr>
          <p:cNvPr id="12" name="Shape 10"/>
          <p:cNvSpPr/>
          <p:nvPr/>
        </p:nvSpPr>
        <p:spPr>
          <a:xfrm>
            <a:off x="548640" y="3291840"/>
            <a:ext cx="11064240" cy="777240"/>
          </a:xfrm>
          <a:prstGeom prst="rect">
            <a:avLst>
              <a:gd name="adj" fmla="val 5882"/>
            </a:avLst>
          </a:prstGeom>
          <a:solidFill>
            <a:srgbClr val="1E293B"/>
          </a:solidFill>
          <a:ln w="6350">
            <a:solidFill>
              <a:srgbClr val="059669"/>
            </a:solidFill>
            <a:prstDash val="solid"/>
          </a:ln>
        </p:spPr>
      </p:sp>
      <p:sp>
        <p:nvSpPr>
          <p:cNvPr id="13" name="Shape 11"/>
          <p:cNvSpPr/>
          <p:nvPr/>
        </p:nvSpPr>
        <p:spPr>
          <a:xfrm>
            <a:off x="548640" y="3291840"/>
            <a:ext cx="73152" cy="777240"/>
          </a:xfrm>
          <a:prstGeom prst="rect">
            <a:avLst/>
          </a:prstGeom>
          <a:solidFill>
            <a:srgbClr val="059669"/>
          </a:solidFill>
          <a:ln/>
        </p:spPr>
      </p:sp>
      <p:sp>
        <p:nvSpPr>
          <p:cNvPr id="14" name="Text 12"/>
          <p:cNvSpPr/>
          <p:nvPr/>
        </p:nvSpPr>
        <p:spPr>
          <a:xfrm>
            <a:off x="777240" y="3383280"/>
            <a:ext cx="274320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COORDINATION</a:t>
            </a:r>
            <a:endParaRPr lang="en-US" sz="800" dirty="0"/>
          </a:p>
        </p:txBody>
      </p:sp>
      <p:sp>
        <p:nvSpPr>
          <p:cNvPr id="15" name="Text 13"/>
          <p:cNvSpPr/>
          <p:nvPr/>
        </p:nvSpPr>
        <p:spPr>
          <a:xfrm>
            <a:off x="777240" y="3611880"/>
            <a:ext cx="10515600" cy="365760"/>
          </a:xfrm>
          <a:prstGeom prst="rect">
            <a:avLst/>
          </a:prstGeom>
          <a:noFill/>
          <a:ln/>
        </p:spPr>
        <p:txBody>
          <a:bodyPr wrap="square" rtlCol="0" anchor="t"/>
          <a:lstStyle/>
          <a:p>
            <a:pPr algn="l" indent="0" marL="0">
              <a:lnSpc>
                <a:spcPct val="120000"/>
              </a:lnSpc>
              <a:buNone/>
            </a:pPr>
            <a:r>
              <a:rPr lang="en-US" sz="1100" dirty="0">
                <a:solidFill>
                  <a:srgbClr val="F8FAFC"/>
                </a:solidFill>
                <a:latin typeface="Calibri" pitchFamily="34" charset="0"/>
                <a:ea typeface="Calibri" pitchFamily="34" charset="-122"/>
                <a:cs typeface="Calibri" pitchFamily="34" charset="-120"/>
              </a:rPr>
              <a:t>Audit Orchestrator · State machine · Hash-chained event log</a:t>
            </a:r>
            <a:endParaRPr lang="en-US" sz="1100" dirty="0"/>
          </a:p>
        </p:txBody>
      </p:sp>
      <p:sp>
        <p:nvSpPr>
          <p:cNvPr id="16" name="Shape 14"/>
          <p:cNvSpPr/>
          <p:nvPr/>
        </p:nvSpPr>
        <p:spPr>
          <a:xfrm>
            <a:off x="548640" y="4251960"/>
            <a:ext cx="11064240" cy="777240"/>
          </a:xfrm>
          <a:prstGeom prst="rect">
            <a:avLst>
              <a:gd name="adj" fmla="val 5882"/>
            </a:avLst>
          </a:prstGeom>
          <a:solidFill>
            <a:srgbClr val="1E293B"/>
          </a:solidFill>
          <a:ln w="6350">
            <a:solidFill>
              <a:srgbClr val="059669"/>
            </a:solidFill>
            <a:prstDash val="solid"/>
          </a:ln>
        </p:spPr>
      </p:sp>
      <p:sp>
        <p:nvSpPr>
          <p:cNvPr id="17" name="Shape 15"/>
          <p:cNvSpPr/>
          <p:nvPr/>
        </p:nvSpPr>
        <p:spPr>
          <a:xfrm>
            <a:off x="548640" y="4251960"/>
            <a:ext cx="73152" cy="777240"/>
          </a:xfrm>
          <a:prstGeom prst="rect">
            <a:avLst/>
          </a:prstGeom>
          <a:solidFill>
            <a:srgbClr val="059669"/>
          </a:solidFill>
          <a:ln/>
        </p:spPr>
      </p:sp>
      <p:sp>
        <p:nvSpPr>
          <p:cNvPr id="18" name="Text 16"/>
          <p:cNvSpPr/>
          <p:nvPr/>
        </p:nvSpPr>
        <p:spPr>
          <a:xfrm>
            <a:off x="777240" y="4343400"/>
            <a:ext cx="274320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DECISION &amp; EVIDENCE</a:t>
            </a:r>
            <a:endParaRPr lang="en-US" sz="800" dirty="0"/>
          </a:p>
        </p:txBody>
      </p:sp>
      <p:sp>
        <p:nvSpPr>
          <p:cNvPr id="19" name="Text 17"/>
          <p:cNvSpPr/>
          <p:nvPr/>
        </p:nvSpPr>
        <p:spPr>
          <a:xfrm>
            <a:off x="777240" y="4572000"/>
            <a:ext cx="10515600" cy="365760"/>
          </a:xfrm>
          <a:prstGeom prst="rect">
            <a:avLst/>
          </a:prstGeom>
          <a:noFill/>
          <a:ln/>
        </p:spPr>
        <p:txBody>
          <a:bodyPr wrap="square" rtlCol="0" anchor="t"/>
          <a:lstStyle/>
          <a:p>
            <a:pPr algn="l" indent="0" marL="0">
              <a:lnSpc>
                <a:spcPct val="120000"/>
              </a:lnSpc>
              <a:buNone/>
            </a:pPr>
            <a:r>
              <a:rPr lang="en-US" sz="1100" dirty="0">
                <a:solidFill>
                  <a:srgbClr val="F8FAFC"/>
                </a:solidFill>
                <a:latin typeface="Calibri" pitchFamily="34" charset="0"/>
                <a:ea typeface="Calibri" pitchFamily="34" charset="-122"/>
                <a:cs typeface="Calibri" pitchFamily="34" charset="-120"/>
              </a:rPr>
              <a:t>Decision Pipeline (6 nodes, DIS) · Evidence manifests · Framework mapping</a:t>
            </a:r>
            <a:endParaRPr lang="en-US" sz="1100" dirty="0"/>
          </a:p>
        </p:txBody>
      </p:sp>
      <p:sp>
        <p:nvSpPr>
          <p:cNvPr id="20" name="Shape 18"/>
          <p:cNvSpPr/>
          <p:nvPr/>
        </p:nvSpPr>
        <p:spPr>
          <a:xfrm>
            <a:off x="548640" y="5212080"/>
            <a:ext cx="11064240" cy="777240"/>
          </a:xfrm>
          <a:prstGeom prst="rect">
            <a:avLst>
              <a:gd name="adj" fmla="val 5882"/>
            </a:avLst>
          </a:prstGeom>
          <a:solidFill>
            <a:srgbClr val="1E293B"/>
          </a:solidFill>
          <a:ln w="6350">
            <a:solidFill>
              <a:srgbClr val="10B981"/>
            </a:solidFill>
            <a:prstDash val="solid"/>
          </a:ln>
        </p:spPr>
      </p:sp>
      <p:sp>
        <p:nvSpPr>
          <p:cNvPr id="21" name="Shape 19"/>
          <p:cNvSpPr/>
          <p:nvPr/>
        </p:nvSpPr>
        <p:spPr>
          <a:xfrm>
            <a:off x="548640" y="5212080"/>
            <a:ext cx="73152" cy="777240"/>
          </a:xfrm>
          <a:prstGeom prst="rect">
            <a:avLst/>
          </a:prstGeom>
          <a:solidFill>
            <a:srgbClr val="10B981"/>
          </a:solidFill>
          <a:ln/>
        </p:spPr>
      </p:sp>
      <p:sp>
        <p:nvSpPr>
          <p:cNvPr id="22" name="Text 20"/>
          <p:cNvSpPr/>
          <p:nvPr/>
        </p:nvSpPr>
        <p:spPr>
          <a:xfrm>
            <a:off x="777240" y="5303520"/>
            <a:ext cx="274320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DISTRIBUTION</a:t>
            </a:r>
            <a:endParaRPr lang="en-US" sz="800" dirty="0"/>
          </a:p>
        </p:txBody>
      </p:sp>
      <p:sp>
        <p:nvSpPr>
          <p:cNvPr id="23" name="Text 21"/>
          <p:cNvSpPr/>
          <p:nvPr/>
        </p:nvSpPr>
        <p:spPr>
          <a:xfrm>
            <a:off x="777240" y="5532120"/>
            <a:ext cx="10515600" cy="365760"/>
          </a:xfrm>
          <a:prstGeom prst="rect">
            <a:avLst/>
          </a:prstGeom>
          <a:noFill/>
          <a:ln/>
        </p:spPr>
        <p:txBody>
          <a:bodyPr wrap="square" rtlCol="0" anchor="t"/>
          <a:lstStyle/>
          <a:p>
            <a:pPr algn="l" indent="0" marL="0">
              <a:lnSpc>
                <a:spcPct val="120000"/>
              </a:lnSpc>
              <a:buNone/>
            </a:pPr>
            <a:r>
              <a:rPr lang="en-US" sz="1100" dirty="0">
                <a:solidFill>
                  <a:srgbClr val="F8FAFC"/>
                </a:solidFill>
                <a:latin typeface="Calibri" pitchFamily="34" charset="0"/>
                <a:ea typeface="Calibri" pitchFamily="34" charset="-122"/>
                <a:cs typeface="Calibri" pitchFamily="34" charset="-120"/>
              </a:rPr>
              <a:t>Trust artifacts · Audit packages · Verification API · CI integration</a:t>
            </a:r>
            <a:endParaRPr lang="en-US" sz="1100" dirty="0"/>
          </a:p>
        </p:txBody>
      </p:sp>
      <p:sp>
        <p:nvSpPr>
          <p:cNvPr id="24" name="Shape 22"/>
          <p:cNvSpPr/>
          <p:nvPr/>
        </p:nvSpPr>
        <p:spPr>
          <a:xfrm>
            <a:off x="548640" y="5943600"/>
            <a:ext cx="11064240" cy="457200"/>
          </a:xfrm>
          <a:prstGeom prst="rect">
            <a:avLst>
              <a:gd name="adj" fmla="val 10000"/>
            </a:avLst>
          </a:prstGeom>
          <a:solidFill>
            <a:srgbClr val="1E293B"/>
          </a:solidFill>
          <a:ln w="6350">
            <a:solidFill>
              <a:srgbClr val="10B981"/>
            </a:solidFill>
            <a:prstDash val="solid"/>
          </a:ln>
        </p:spPr>
      </p:sp>
      <p:sp>
        <p:nvSpPr>
          <p:cNvPr id="25" name="Text 23"/>
          <p:cNvSpPr/>
          <p:nvPr/>
        </p:nvSpPr>
        <p:spPr>
          <a:xfrm>
            <a:off x="731520" y="5943600"/>
            <a:ext cx="10698480" cy="457200"/>
          </a:xfrm>
          <a:prstGeom prst="rect">
            <a:avLst/>
          </a:prstGeom>
          <a:noFill/>
          <a:ln/>
        </p:spPr>
        <p:txBody>
          <a:bodyPr wrap="square" rtlCol="0" anchor="ctr"/>
          <a:lstStyle/>
          <a:p>
            <a:pPr algn="ctr" indent="0" marL="0">
              <a:buNone/>
            </a:pPr>
            <a:r>
              <a:rPr lang="en-US" sz="1100" i="1" dirty="0">
                <a:solidFill>
                  <a:srgbClr val="10B981"/>
                </a:solidFill>
                <a:latin typeface="Courier New" pitchFamily="34" charset="0"/>
                <a:ea typeface="Courier New" pitchFamily="34" charset="-122"/>
                <a:cs typeface="Courier New" pitchFamily="34" charset="-120"/>
              </a:rPr>
              <a:t>Modal Python runs the computation. TypeScript runs the product.</a:t>
            </a:r>
            <a:endParaRPr lang="en-US" sz="1100" dirty="0"/>
          </a:p>
        </p:txBody>
      </p:sp>
      <p:sp>
        <p:nvSpPr>
          <p:cNvPr id="26" name="Text 24"/>
          <p:cNvSpPr/>
          <p:nvPr/>
        </p:nvSpPr>
        <p:spPr>
          <a:xfrm>
            <a:off x="274320" y="6537960"/>
            <a:ext cx="7315200" cy="22860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HAIEC  ·  Confidential Discussion Brief  ·  4/14</a:t>
            </a:r>
            <a:endParaRPr lang="en-US" sz="800" dirty="0"/>
          </a:p>
        </p:txBody>
      </p:sp>
      <p:sp>
        <p:nvSpPr>
          <p:cNvPr id="27" name="Text 25"/>
          <p:cNvSpPr/>
          <p:nvPr/>
        </p:nvSpPr>
        <p:spPr>
          <a:xfrm>
            <a:off x="9448495" y="6537960"/>
            <a:ext cx="2468880" cy="228600"/>
          </a:xfrm>
          <a:prstGeom prst="rect">
            <a:avLst/>
          </a:prstGeom>
          <a:noFill/>
          <a:ln/>
        </p:spPr>
        <p:txBody>
          <a:bodyPr wrap="square" rtlCol="0" anchor="ctr"/>
          <a:lstStyle/>
          <a:p>
            <a:pPr algn="r" indent="0" marL="0">
              <a:buNone/>
            </a:pPr>
            <a:r>
              <a:rPr lang="en-US" sz="800" dirty="0">
                <a:solidFill>
                  <a:srgbClr val="64748B"/>
                </a:solidFill>
                <a:latin typeface="Courier New" pitchFamily="34" charset="0"/>
                <a:ea typeface="Courier New" pitchFamily="34" charset="-122"/>
                <a:cs typeface="Courier New" pitchFamily="34" charset="-120"/>
              </a:rPr>
              <a:t>v1.0  ·  2026-07-31</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365760"/>
            <a:ext cx="11094415" cy="502920"/>
          </a:xfrm>
          <a:prstGeom prst="rect">
            <a:avLst/>
          </a:prstGeom>
          <a:noFill/>
          <a:ln/>
        </p:spPr>
        <p:txBody>
          <a:bodyPr wrap="square" rtlCol="0" anchor="ctr"/>
          <a:lstStyle/>
          <a:p>
            <a:pPr algn="l" indent="0" marL="0">
              <a:buNone/>
            </a:pPr>
            <a:r>
              <a:rPr lang="en-US" sz="2600" b="1" dirty="0">
                <a:solidFill>
                  <a:srgbClr val="F8FAFC"/>
                </a:solidFill>
                <a:latin typeface="Calibri" pitchFamily="34" charset="0"/>
                <a:ea typeface="Calibri" pitchFamily="34" charset="-122"/>
                <a:cs typeface="Calibri" pitchFamily="34" charset="-120"/>
              </a:rPr>
              <a:t>Discover. Scan. Attack-Test. Map. Prove. Monitor.</a:t>
            </a:r>
            <a:endParaRPr lang="en-US" sz="2600" dirty="0"/>
          </a:p>
        </p:txBody>
      </p:sp>
      <p:sp>
        <p:nvSpPr>
          <p:cNvPr id="3" name="Shape 1"/>
          <p:cNvSpPr/>
          <p:nvPr/>
        </p:nvSpPr>
        <p:spPr>
          <a:xfrm>
            <a:off x="548640" y="914400"/>
            <a:ext cx="1371600" cy="36576"/>
          </a:xfrm>
          <a:prstGeom prst="rect">
            <a:avLst/>
          </a:prstGeom>
          <a:solidFill>
            <a:srgbClr val="10B981"/>
          </a:solidFill>
          <a:ln/>
        </p:spPr>
      </p:sp>
      <p:sp>
        <p:nvSpPr>
          <p:cNvPr id="4" name="Shape 2"/>
          <p:cNvSpPr/>
          <p:nvPr/>
        </p:nvSpPr>
        <p:spPr>
          <a:xfrm>
            <a:off x="548640" y="1371600"/>
            <a:ext cx="2103120" cy="1828800"/>
          </a:xfrm>
          <a:prstGeom prst="rect">
            <a:avLst>
              <a:gd name="adj" fmla="val 2500"/>
            </a:avLst>
          </a:prstGeom>
          <a:solidFill>
            <a:srgbClr val="1E293B"/>
          </a:solidFill>
          <a:ln w="6350">
            <a:solidFill>
              <a:srgbClr val="334155"/>
            </a:solidFill>
            <a:prstDash val="solid"/>
          </a:ln>
        </p:spPr>
      </p:sp>
      <p:sp>
        <p:nvSpPr>
          <p:cNvPr id="5" name="Text 3"/>
          <p:cNvSpPr/>
          <p:nvPr/>
        </p:nvSpPr>
        <p:spPr>
          <a:xfrm>
            <a:off x="640080" y="1463040"/>
            <a:ext cx="731520" cy="274320"/>
          </a:xfrm>
          <a:prstGeom prst="rect">
            <a:avLst/>
          </a:prstGeom>
          <a:noFill/>
          <a:ln/>
        </p:spPr>
        <p:txBody>
          <a:bodyPr wrap="square" rtlCol="0" anchor="ctr"/>
          <a:lstStyle/>
          <a:p>
            <a:pPr indent="0" marL="0">
              <a:buNone/>
            </a:pPr>
            <a:r>
              <a:rPr lang="en-US" sz="1400" b="1" dirty="0">
                <a:solidFill>
                  <a:srgbClr val="10B981"/>
                </a:solidFill>
                <a:latin typeface="Courier New" pitchFamily="34" charset="0"/>
                <a:ea typeface="Courier New" pitchFamily="34" charset="-122"/>
                <a:cs typeface="Courier New" pitchFamily="34" charset="-120"/>
              </a:rPr>
              <a:t>01</a:t>
            </a:r>
            <a:endParaRPr lang="en-US" sz="1400" dirty="0"/>
          </a:p>
        </p:txBody>
      </p:sp>
      <p:sp>
        <p:nvSpPr>
          <p:cNvPr id="6" name="Text 4"/>
          <p:cNvSpPr/>
          <p:nvPr/>
        </p:nvSpPr>
        <p:spPr>
          <a:xfrm>
            <a:off x="640080" y="1783080"/>
            <a:ext cx="1920240" cy="320040"/>
          </a:xfrm>
          <a:prstGeom prst="rect">
            <a:avLst/>
          </a:prstGeom>
          <a:noFill/>
          <a:ln/>
        </p:spPr>
        <p:txBody>
          <a:bodyPr wrap="square"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Discover</a:t>
            </a:r>
            <a:endParaRPr lang="en-US" sz="1200" dirty="0"/>
          </a:p>
        </p:txBody>
      </p:sp>
      <p:sp>
        <p:nvSpPr>
          <p:cNvPr id="7" name="Text 5"/>
          <p:cNvSpPr/>
          <p:nvPr/>
        </p:nvSpPr>
        <p:spPr>
          <a:xfrm>
            <a:off x="640080" y="2148840"/>
            <a:ext cx="1920240" cy="457200"/>
          </a:xfrm>
          <a:prstGeom prst="rect">
            <a:avLst/>
          </a:prstGeom>
          <a:noFill/>
          <a:ln/>
        </p:spPr>
        <p:txBody>
          <a:bodyPr wrap="square" rtlCol="0" anchor="t"/>
          <a:lstStyle/>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Register AI system in inventory</a:t>
            </a:r>
            <a:endParaRPr lang="en-US" sz="900" dirty="0"/>
          </a:p>
        </p:txBody>
      </p:sp>
      <p:sp>
        <p:nvSpPr>
          <p:cNvPr id="8" name="Text 6"/>
          <p:cNvSpPr/>
          <p:nvPr/>
        </p:nvSpPr>
        <p:spPr>
          <a:xfrm>
            <a:off x="640080" y="2651760"/>
            <a:ext cx="192024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API key sync, system metadata</a:t>
            </a:r>
            <a:endParaRPr lang="en-US" sz="800" dirty="0"/>
          </a:p>
        </p:txBody>
      </p:sp>
      <p:sp>
        <p:nvSpPr>
          <p:cNvPr id="9" name="Shape 7"/>
          <p:cNvSpPr/>
          <p:nvPr/>
        </p:nvSpPr>
        <p:spPr>
          <a:xfrm>
            <a:off x="2697480" y="2286000"/>
            <a:ext cx="137160" cy="0"/>
          </a:xfrm>
          <a:prstGeom prst="line">
            <a:avLst/>
          </a:prstGeom>
          <a:noFill/>
          <a:ln w="19050">
            <a:solidFill>
              <a:srgbClr val="10B981"/>
            </a:solidFill>
            <a:prstDash val="solid"/>
            <a:tailEnd type="triangle"/>
          </a:ln>
        </p:spPr>
      </p:sp>
      <p:sp>
        <p:nvSpPr>
          <p:cNvPr id="10" name="Shape 8"/>
          <p:cNvSpPr/>
          <p:nvPr/>
        </p:nvSpPr>
        <p:spPr>
          <a:xfrm>
            <a:off x="2834640" y="1371600"/>
            <a:ext cx="2103120" cy="1828800"/>
          </a:xfrm>
          <a:prstGeom prst="rect">
            <a:avLst>
              <a:gd name="adj" fmla="val 2500"/>
            </a:avLst>
          </a:prstGeom>
          <a:solidFill>
            <a:srgbClr val="1E293B"/>
          </a:solidFill>
          <a:ln w="6350">
            <a:solidFill>
              <a:srgbClr val="334155"/>
            </a:solidFill>
            <a:prstDash val="solid"/>
          </a:ln>
        </p:spPr>
      </p:sp>
      <p:sp>
        <p:nvSpPr>
          <p:cNvPr id="11" name="Text 9"/>
          <p:cNvSpPr/>
          <p:nvPr/>
        </p:nvSpPr>
        <p:spPr>
          <a:xfrm>
            <a:off x="2926080" y="1463040"/>
            <a:ext cx="731520" cy="274320"/>
          </a:xfrm>
          <a:prstGeom prst="rect">
            <a:avLst/>
          </a:prstGeom>
          <a:noFill/>
          <a:ln/>
        </p:spPr>
        <p:txBody>
          <a:bodyPr wrap="square" rtlCol="0" anchor="ctr"/>
          <a:lstStyle/>
          <a:p>
            <a:pPr indent="0" marL="0">
              <a:buNone/>
            </a:pPr>
            <a:r>
              <a:rPr lang="en-US" sz="1400" b="1" dirty="0">
                <a:solidFill>
                  <a:srgbClr val="10B981"/>
                </a:solidFill>
                <a:latin typeface="Courier New" pitchFamily="34" charset="0"/>
                <a:ea typeface="Courier New" pitchFamily="34" charset="-122"/>
                <a:cs typeface="Courier New" pitchFamily="34" charset="-120"/>
              </a:rPr>
              <a:t>02</a:t>
            </a:r>
            <a:endParaRPr lang="en-US" sz="1400" dirty="0"/>
          </a:p>
        </p:txBody>
      </p:sp>
      <p:sp>
        <p:nvSpPr>
          <p:cNvPr id="12" name="Text 10"/>
          <p:cNvSpPr/>
          <p:nvPr/>
        </p:nvSpPr>
        <p:spPr>
          <a:xfrm>
            <a:off x="2926080" y="1783080"/>
            <a:ext cx="1920240" cy="320040"/>
          </a:xfrm>
          <a:prstGeom prst="rect">
            <a:avLst/>
          </a:prstGeom>
          <a:noFill/>
          <a:ln/>
        </p:spPr>
        <p:txBody>
          <a:bodyPr wrap="square"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Scan</a:t>
            </a:r>
            <a:endParaRPr lang="en-US" sz="1200" dirty="0"/>
          </a:p>
        </p:txBody>
      </p:sp>
      <p:sp>
        <p:nvSpPr>
          <p:cNvPr id="13" name="Text 11"/>
          <p:cNvSpPr/>
          <p:nvPr/>
        </p:nvSpPr>
        <p:spPr>
          <a:xfrm>
            <a:off x="2926080" y="2148840"/>
            <a:ext cx="1920240" cy="457200"/>
          </a:xfrm>
          <a:prstGeom prst="rect">
            <a:avLst/>
          </a:prstGeom>
          <a:noFill/>
          <a:ln/>
        </p:spPr>
        <p:txBody>
          <a:bodyPr wrap="square" rtlCol="0" anchor="t"/>
          <a:lstStyle/>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Static analysis on codebase</a:t>
            </a:r>
            <a:endParaRPr lang="en-US" sz="900" dirty="0"/>
          </a:p>
        </p:txBody>
      </p:sp>
      <p:sp>
        <p:nvSpPr>
          <p:cNvPr id="14" name="Text 12"/>
          <p:cNvSpPr/>
          <p:nvPr/>
        </p:nvSpPr>
        <p:spPr>
          <a:xfrm>
            <a:off x="2926080" y="2651760"/>
            <a:ext cx="192024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188 rules, Semgrep + custom</a:t>
            </a:r>
            <a:endParaRPr lang="en-US" sz="800" dirty="0"/>
          </a:p>
        </p:txBody>
      </p:sp>
      <p:sp>
        <p:nvSpPr>
          <p:cNvPr id="15" name="Shape 13"/>
          <p:cNvSpPr/>
          <p:nvPr/>
        </p:nvSpPr>
        <p:spPr>
          <a:xfrm>
            <a:off x="4983480" y="2286000"/>
            <a:ext cx="137160" cy="0"/>
          </a:xfrm>
          <a:prstGeom prst="line">
            <a:avLst/>
          </a:prstGeom>
          <a:noFill/>
          <a:ln w="19050">
            <a:solidFill>
              <a:srgbClr val="10B981"/>
            </a:solidFill>
            <a:prstDash val="solid"/>
            <a:tailEnd type="triangle"/>
          </a:ln>
        </p:spPr>
      </p:sp>
      <p:sp>
        <p:nvSpPr>
          <p:cNvPr id="16" name="Shape 14"/>
          <p:cNvSpPr/>
          <p:nvPr/>
        </p:nvSpPr>
        <p:spPr>
          <a:xfrm>
            <a:off x="5120640" y="1371600"/>
            <a:ext cx="2103120" cy="1828800"/>
          </a:xfrm>
          <a:prstGeom prst="rect">
            <a:avLst>
              <a:gd name="adj" fmla="val 2500"/>
            </a:avLst>
          </a:prstGeom>
          <a:solidFill>
            <a:srgbClr val="1E293B"/>
          </a:solidFill>
          <a:ln w="6350">
            <a:solidFill>
              <a:srgbClr val="334155"/>
            </a:solidFill>
            <a:prstDash val="solid"/>
          </a:ln>
        </p:spPr>
      </p:sp>
      <p:sp>
        <p:nvSpPr>
          <p:cNvPr id="17" name="Text 15"/>
          <p:cNvSpPr/>
          <p:nvPr/>
        </p:nvSpPr>
        <p:spPr>
          <a:xfrm>
            <a:off x="5212080" y="1463040"/>
            <a:ext cx="731520" cy="274320"/>
          </a:xfrm>
          <a:prstGeom prst="rect">
            <a:avLst/>
          </a:prstGeom>
          <a:noFill/>
          <a:ln/>
        </p:spPr>
        <p:txBody>
          <a:bodyPr wrap="square" rtlCol="0" anchor="ctr"/>
          <a:lstStyle/>
          <a:p>
            <a:pPr indent="0" marL="0">
              <a:buNone/>
            </a:pPr>
            <a:r>
              <a:rPr lang="en-US" sz="1400" b="1" dirty="0">
                <a:solidFill>
                  <a:srgbClr val="10B981"/>
                </a:solidFill>
                <a:latin typeface="Courier New" pitchFamily="34" charset="0"/>
                <a:ea typeface="Courier New" pitchFamily="34" charset="-122"/>
                <a:cs typeface="Courier New" pitchFamily="34" charset="-120"/>
              </a:rPr>
              <a:t>03</a:t>
            </a:r>
            <a:endParaRPr lang="en-US" sz="1400" dirty="0"/>
          </a:p>
        </p:txBody>
      </p:sp>
      <p:sp>
        <p:nvSpPr>
          <p:cNvPr id="18" name="Text 16"/>
          <p:cNvSpPr/>
          <p:nvPr/>
        </p:nvSpPr>
        <p:spPr>
          <a:xfrm>
            <a:off x="5212080" y="1783080"/>
            <a:ext cx="1920240" cy="320040"/>
          </a:xfrm>
          <a:prstGeom prst="rect">
            <a:avLst/>
          </a:prstGeom>
          <a:noFill/>
          <a:ln/>
        </p:spPr>
        <p:txBody>
          <a:bodyPr wrap="square"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Attack-Test</a:t>
            </a:r>
            <a:endParaRPr lang="en-US" sz="1200" dirty="0"/>
          </a:p>
        </p:txBody>
      </p:sp>
      <p:sp>
        <p:nvSpPr>
          <p:cNvPr id="19" name="Text 17"/>
          <p:cNvSpPr/>
          <p:nvPr/>
        </p:nvSpPr>
        <p:spPr>
          <a:xfrm>
            <a:off x="5212080" y="2148840"/>
            <a:ext cx="1920240" cy="457200"/>
          </a:xfrm>
          <a:prstGeom prst="rect">
            <a:avLst/>
          </a:prstGeom>
          <a:noFill/>
          <a:ln/>
        </p:spPr>
        <p:txBody>
          <a:bodyPr wrap="square" rtlCol="0" anchor="t"/>
          <a:lstStyle/>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Runtime adversarial testing</a:t>
            </a:r>
            <a:endParaRPr lang="en-US" sz="900" dirty="0"/>
          </a:p>
        </p:txBody>
      </p:sp>
      <p:sp>
        <p:nvSpPr>
          <p:cNvPr id="20" name="Text 18"/>
          <p:cNvSpPr/>
          <p:nvPr/>
        </p:nvSpPr>
        <p:spPr>
          <a:xfrm>
            <a:off x="5212080" y="2651760"/>
            <a:ext cx="192024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269 templates, 14 safety properties</a:t>
            </a:r>
            <a:endParaRPr lang="en-US" sz="800" dirty="0"/>
          </a:p>
        </p:txBody>
      </p:sp>
      <p:sp>
        <p:nvSpPr>
          <p:cNvPr id="21" name="Shape 19"/>
          <p:cNvSpPr/>
          <p:nvPr/>
        </p:nvSpPr>
        <p:spPr>
          <a:xfrm>
            <a:off x="7269480" y="2286000"/>
            <a:ext cx="137160" cy="0"/>
          </a:xfrm>
          <a:prstGeom prst="line">
            <a:avLst/>
          </a:prstGeom>
          <a:noFill/>
          <a:ln w="19050">
            <a:solidFill>
              <a:srgbClr val="10B981"/>
            </a:solidFill>
            <a:prstDash val="solid"/>
            <a:tailEnd type="triangle"/>
          </a:ln>
        </p:spPr>
      </p:sp>
      <p:sp>
        <p:nvSpPr>
          <p:cNvPr id="22" name="Shape 20"/>
          <p:cNvSpPr/>
          <p:nvPr/>
        </p:nvSpPr>
        <p:spPr>
          <a:xfrm>
            <a:off x="7406640" y="1371600"/>
            <a:ext cx="2103120" cy="1828800"/>
          </a:xfrm>
          <a:prstGeom prst="rect">
            <a:avLst>
              <a:gd name="adj" fmla="val 2500"/>
            </a:avLst>
          </a:prstGeom>
          <a:solidFill>
            <a:srgbClr val="1E293B"/>
          </a:solidFill>
          <a:ln w="6350">
            <a:solidFill>
              <a:srgbClr val="334155"/>
            </a:solidFill>
            <a:prstDash val="solid"/>
          </a:ln>
        </p:spPr>
      </p:sp>
      <p:sp>
        <p:nvSpPr>
          <p:cNvPr id="23" name="Text 21"/>
          <p:cNvSpPr/>
          <p:nvPr/>
        </p:nvSpPr>
        <p:spPr>
          <a:xfrm>
            <a:off x="7498080" y="1463040"/>
            <a:ext cx="731520" cy="274320"/>
          </a:xfrm>
          <a:prstGeom prst="rect">
            <a:avLst/>
          </a:prstGeom>
          <a:noFill/>
          <a:ln/>
        </p:spPr>
        <p:txBody>
          <a:bodyPr wrap="square" rtlCol="0" anchor="ctr"/>
          <a:lstStyle/>
          <a:p>
            <a:pPr indent="0" marL="0">
              <a:buNone/>
            </a:pPr>
            <a:r>
              <a:rPr lang="en-US" sz="1400" b="1" dirty="0">
                <a:solidFill>
                  <a:srgbClr val="10B981"/>
                </a:solidFill>
                <a:latin typeface="Courier New" pitchFamily="34" charset="0"/>
                <a:ea typeface="Courier New" pitchFamily="34" charset="-122"/>
                <a:cs typeface="Courier New" pitchFamily="34" charset="-120"/>
              </a:rPr>
              <a:t>04</a:t>
            </a:r>
            <a:endParaRPr lang="en-US" sz="1400" dirty="0"/>
          </a:p>
        </p:txBody>
      </p:sp>
      <p:sp>
        <p:nvSpPr>
          <p:cNvPr id="24" name="Text 22"/>
          <p:cNvSpPr/>
          <p:nvPr/>
        </p:nvSpPr>
        <p:spPr>
          <a:xfrm>
            <a:off x="7498080" y="1783080"/>
            <a:ext cx="1920240" cy="320040"/>
          </a:xfrm>
          <a:prstGeom prst="rect">
            <a:avLst/>
          </a:prstGeom>
          <a:noFill/>
          <a:ln/>
        </p:spPr>
        <p:txBody>
          <a:bodyPr wrap="square"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Map</a:t>
            </a:r>
            <a:endParaRPr lang="en-US" sz="1200" dirty="0"/>
          </a:p>
        </p:txBody>
      </p:sp>
      <p:sp>
        <p:nvSpPr>
          <p:cNvPr id="25" name="Text 23"/>
          <p:cNvSpPr/>
          <p:nvPr/>
        </p:nvSpPr>
        <p:spPr>
          <a:xfrm>
            <a:off x="7498080" y="2148840"/>
            <a:ext cx="1920240" cy="457200"/>
          </a:xfrm>
          <a:prstGeom prst="rect">
            <a:avLst/>
          </a:prstGeom>
          <a:noFill/>
          <a:ln/>
        </p:spPr>
        <p:txBody>
          <a:bodyPr wrap="square" rtlCol="0" anchor="t"/>
          <a:lstStyle/>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Findings → control mappings</a:t>
            </a:r>
            <a:endParaRPr lang="en-US" sz="900" dirty="0"/>
          </a:p>
        </p:txBody>
      </p:sp>
      <p:sp>
        <p:nvSpPr>
          <p:cNvPr id="26" name="Text 24"/>
          <p:cNvSpPr/>
          <p:nvPr/>
        </p:nvSpPr>
        <p:spPr>
          <a:xfrm>
            <a:off x="7498080" y="2651760"/>
            <a:ext cx="192024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SOC2, ISO 27001, OWASP, NIST AI RMF</a:t>
            </a:r>
            <a:endParaRPr lang="en-US" sz="800" dirty="0"/>
          </a:p>
        </p:txBody>
      </p:sp>
      <p:sp>
        <p:nvSpPr>
          <p:cNvPr id="27" name="Shape 25"/>
          <p:cNvSpPr/>
          <p:nvPr/>
        </p:nvSpPr>
        <p:spPr>
          <a:xfrm>
            <a:off x="9555480" y="2286000"/>
            <a:ext cx="137160" cy="0"/>
          </a:xfrm>
          <a:prstGeom prst="line">
            <a:avLst/>
          </a:prstGeom>
          <a:noFill/>
          <a:ln w="19050">
            <a:solidFill>
              <a:srgbClr val="10B981"/>
            </a:solidFill>
            <a:prstDash val="solid"/>
            <a:tailEnd type="triangle"/>
          </a:ln>
        </p:spPr>
      </p:sp>
      <p:sp>
        <p:nvSpPr>
          <p:cNvPr id="28" name="Shape 26"/>
          <p:cNvSpPr/>
          <p:nvPr/>
        </p:nvSpPr>
        <p:spPr>
          <a:xfrm>
            <a:off x="9692640" y="1371600"/>
            <a:ext cx="2103120" cy="1828800"/>
          </a:xfrm>
          <a:prstGeom prst="rect">
            <a:avLst>
              <a:gd name="adj" fmla="val 2500"/>
            </a:avLst>
          </a:prstGeom>
          <a:solidFill>
            <a:srgbClr val="1E293B"/>
          </a:solidFill>
          <a:ln w="6350">
            <a:solidFill>
              <a:srgbClr val="334155"/>
            </a:solidFill>
            <a:prstDash val="solid"/>
          </a:ln>
        </p:spPr>
      </p:sp>
      <p:sp>
        <p:nvSpPr>
          <p:cNvPr id="29" name="Text 27"/>
          <p:cNvSpPr/>
          <p:nvPr/>
        </p:nvSpPr>
        <p:spPr>
          <a:xfrm>
            <a:off x="9784080" y="1463040"/>
            <a:ext cx="731520" cy="274320"/>
          </a:xfrm>
          <a:prstGeom prst="rect">
            <a:avLst/>
          </a:prstGeom>
          <a:noFill/>
          <a:ln/>
        </p:spPr>
        <p:txBody>
          <a:bodyPr wrap="square" rtlCol="0" anchor="ctr"/>
          <a:lstStyle/>
          <a:p>
            <a:pPr indent="0" marL="0">
              <a:buNone/>
            </a:pPr>
            <a:r>
              <a:rPr lang="en-US" sz="1400" b="1" dirty="0">
                <a:solidFill>
                  <a:srgbClr val="10B981"/>
                </a:solidFill>
                <a:latin typeface="Courier New" pitchFamily="34" charset="0"/>
                <a:ea typeface="Courier New" pitchFamily="34" charset="-122"/>
                <a:cs typeface="Courier New" pitchFamily="34" charset="-120"/>
              </a:rPr>
              <a:t>05</a:t>
            </a:r>
            <a:endParaRPr lang="en-US" sz="1400" dirty="0"/>
          </a:p>
        </p:txBody>
      </p:sp>
      <p:sp>
        <p:nvSpPr>
          <p:cNvPr id="30" name="Text 28"/>
          <p:cNvSpPr/>
          <p:nvPr/>
        </p:nvSpPr>
        <p:spPr>
          <a:xfrm>
            <a:off x="9784080" y="1783080"/>
            <a:ext cx="1920240" cy="320040"/>
          </a:xfrm>
          <a:prstGeom prst="rect">
            <a:avLst/>
          </a:prstGeom>
          <a:noFill/>
          <a:ln/>
        </p:spPr>
        <p:txBody>
          <a:bodyPr wrap="square"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Prove</a:t>
            </a:r>
            <a:endParaRPr lang="en-US" sz="1200" dirty="0"/>
          </a:p>
        </p:txBody>
      </p:sp>
      <p:sp>
        <p:nvSpPr>
          <p:cNvPr id="31" name="Text 29"/>
          <p:cNvSpPr/>
          <p:nvPr/>
        </p:nvSpPr>
        <p:spPr>
          <a:xfrm>
            <a:off x="9784080" y="2148840"/>
            <a:ext cx="1920240" cy="457200"/>
          </a:xfrm>
          <a:prstGeom prst="rect">
            <a:avLst/>
          </a:prstGeom>
          <a:noFill/>
          <a:ln/>
        </p:spPr>
        <p:txBody>
          <a:bodyPr wrap="square" rtlCol="0" anchor="t"/>
          <a:lstStyle/>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Evidence manifest + audit package</a:t>
            </a:r>
            <a:endParaRPr lang="en-US" sz="900" dirty="0"/>
          </a:p>
        </p:txBody>
      </p:sp>
      <p:sp>
        <p:nvSpPr>
          <p:cNvPr id="32" name="Text 30"/>
          <p:cNvSpPr/>
          <p:nvPr/>
        </p:nvSpPr>
        <p:spPr>
          <a:xfrm>
            <a:off x="9784080" y="2651760"/>
            <a:ext cx="192024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Hash-chained, fingerprinted</a:t>
            </a:r>
            <a:endParaRPr lang="en-US" sz="800" dirty="0"/>
          </a:p>
        </p:txBody>
      </p:sp>
      <p:sp>
        <p:nvSpPr>
          <p:cNvPr id="33" name="Shape 31"/>
          <p:cNvSpPr/>
          <p:nvPr/>
        </p:nvSpPr>
        <p:spPr>
          <a:xfrm>
            <a:off x="548640" y="3474720"/>
            <a:ext cx="2103120" cy="1828800"/>
          </a:xfrm>
          <a:prstGeom prst="rect">
            <a:avLst>
              <a:gd name="adj" fmla="val 2500"/>
            </a:avLst>
          </a:prstGeom>
          <a:solidFill>
            <a:srgbClr val="1E293B"/>
          </a:solidFill>
          <a:ln w="6350">
            <a:solidFill>
              <a:srgbClr val="334155"/>
            </a:solidFill>
            <a:prstDash val="solid"/>
          </a:ln>
        </p:spPr>
      </p:sp>
      <p:sp>
        <p:nvSpPr>
          <p:cNvPr id="34" name="Text 32"/>
          <p:cNvSpPr/>
          <p:nvPr/>
        </p:nvSpPr>
        <p:spPr>
          <a:xfrm>
            <a:off x="640080" y="3566160"/>
            <a:ext cx="731520" cy="274320"/>
          </a:xfrm>
          <a:prstGeom prst="rect">
            <a:avLst/>
          </a:prstGeom>
          <a:noFill/>
          <a:ln/>
        </p:spPr>
        <p:txBody>
          <a:bodyPr wrap="square" rtlCol="0" anchor="ctr"/>
          <a:lstStyle/>
          <a:p>
            <a:pPr indent="0" marL="0">
              <a:buNone/>
            </a:pPr>
            <a:r>
              <a:rPr lang="en-US" sz="1400" b="1" dirty="0">
                <a:solidFill>
                  <a:srgbClr val="10B981"/>
                </a:solidFill>
                <a:latin typeface="Courier New" pitchFamily="34" charset="0"/>
                <a:ea typeface="Courier New" pitchFamily="34" charset="-122"/>
                <a:cs typeface="Courier New" pitchFamily="34" charset="-120"/>
              </a:rPr>
              <a:t>06</a:t>
            </a:r>
            <a:endParaRPr lang="en-US" sz="1400" dirty="0"/>
          </a:p>
        </p:txBody>
      </p:sp>
      <p:sp>
        <p:nvSpPr>
          <p:cNvPr id="35" name="Text 33"/>
          <p:cNvSpPr/>
          <p:nvPr/>
        </p:nvSpPr>
        <p:spPr>
          <a:xfrm>
            <a:off x="640080" y="3886200"/>
            <a:ext cx="1920240" cy="320040"/>
          </a:xfrm>
          <a:prstGeom prst="rect">
            <a:avLst/>
          </a:prstGeom>
          <a:noFill/>
          <a:ln/>
        </p:spPr>
        <p:txBody>
          <a:bodyPr wrap="square"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Monitor</a:t>
            </a:r>
            <a:endParaRPr lang="en-US" sz="1200" dirty="0"/>
          </a:p>
        </p:txBody>
      </p:sp>
      <p:sp>
        <p:nvSpPr>
          <p:cNvPr id="36" name="Text 34"/>
          <p:cNvSpPr/>
          <p:nvPr/>
        </p:nvSpPr>
        <p:spPr>
          <a:xfrm>
            <a:off x="640080" y="4251960"/>
            <a:ext cx="1920240" cy="457200"/>
          </a:xfrm>
          <a:prstGeom prst="rect">
            <a:avLst/>
          </a:prstGeom>
          <a:noFill/>
          <a:ln/>
        </p:spPr>
        <p:txBody>
          <a:bodyPr wrap="square" rtlCol="0" anchor="t"/>
          <a:lstStyle/>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Compliance Twin drift detection</a:t>
            </a:r>
            <a:endParaRPr lang="en-US" sz="900" dirty="0"/>
          </a:p>
        </p:txBody>
      </p:sp>
      <p:sp>
        <p:nvSpPr>
          <p:cNvPr id="37" name="Text 35"/>
          <p:cNvSpPr/>
          <p:nvPr/>
        </p:nvSpPr>
        <p:spPr>
          <a:xfrm>
            <a:off x="640080" y="4754880"/>
            <a:ext cx="192024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Delta engine, anomaly detection</a:t>
            </a:r>
            <a:endParaRPr lang="en-US" sz="800" dirty="0"/>
          </a:p>
        </p:txBody>
      </p:sp>
      <p:sp>
        <p:nvSpPr>
          <p:cNvPr id="38" name="Shape 36"/>
          <p:cNvSpPr/>
          <p:nvPr/>
        </p:nvSpPr>
        <p:spPr>
          <a:xfrm>
            <a:off x="2697480" y="4389120"/>
            <a:ext cx="137160" cy="0"/>
          </a:xfrm>
          <a:prstGeom prst="line">
            <a:avLst/>
          </a:prstGeom>
          <a:noFill/>
          <a:ln w="19050">
            <a:solidFill>
              <a:srgbClr val="10B981"/>
            </a:solidFill>
            <a:prstDash val="solid"/>
            <a:tailEnd type="triangle"/>
          </a:ln>
        </p:spPr>
      </p:sp>
      <p:sp>
        <p:nvSpPr>
          <p:cNvPr id="39" name="Shape 37"/>
          <p:cNvSpPr/>
          <p:nvPr/>
        </p:nvSpPr>
        <p:spPr>
          <a:xfrm>
            <a:off x="2834640" y="3474720"/>
            <a:ext cx="2103120" cy="1828800"/>
          </a:xfrm>
          <a:prstGeom prst="rect">
            <a:avLst>
              <a:gd name="adj" fmla="val 2500"/>
            </a:avLst>
          </a:prstGeom>
          <a:solidFill>
            <a:srgbClr val="1E293B"/>
          </a:solidFill>
          <a:ln w="6350">
            <a:solidFill>
              <a:srgbClr val="334155"/>
            </a:solidFill>
            <a:prstDash val="solid"/>
          </a:ln>
        </p:spPr>
      </p:sp>
      <p:sp>
        <p:nvSpPr>
          <p:cNvPr id="40" name="Text 38"/>
          <p:cNvSpPr/>
          <p:nvPr/>
        </p:nvSpPr>
        <p:spPr>
          <a:xfrm>
            <a:off x="2926080" y="3566160"/>
            <a:ext cx="731520" cy="274320"/>
          </a:xfrm>
          <a:prstGeom prst="rect">
            <a:avLst/>
          </a:prstGeom>
          <a:noFill/>
          <a:ln/>
        </p:spPr>
        <p:txBody>
          <a:bodyPr wrap="square" rtlCol="0" anchor="ctr"/>
          <a:lstStyle/>
          <a:p>
            <a:pPr indent="0" marL="0">
              <a:buNone/>
            </a:pPr>
            <a:r>
              <a:rPr lang="en-US" sz="1400" b="1" dirty="0">
                <a:solidFill>
                  <a:srgbClr val="10B981"/>
                </a:solidFill>
                <a:latin typeface="Courier New" pitchFamily="34" charset="0"/>
                <a:ea typeface="Courier New" pitchFamily="34" charset="-122"/>
                <a:cs typeface="Courier New" pitchFamily="34" charset="-120"/>
              </a:rPr>
              <a:t>07</a:t>
            </a:r>
            <a:endParaRPr lang="en-US" sz="1400" dirty="0"/>
          </a:p>
        </p:txBody>
      </p:sp>
      <p:sp>
        <p:nvSpPr>
          <p:cNvPr id="41" name="Text 39"/>
          <p:cNvSpPr/>
          <p:nvPr/>
        </p:nvSpPr>
        <p:spPr>
          <a:xfrm>
            <a:off x="2926080" y="3886200"/>
            <a:ext cx="1920240" cy="320040"/>
          </a:xfrm>
          <a:prstGeom prst="rect">
            <a:avLst/>
          </a:prstGeom>
          <a:noFill/>
          <a:ln/>
        </p:spPr>
        <p:txBody>
          <a:bodyPr wrap="square"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Score</a:t>
            </a:r>
            <a:endParaRPr lang="en-US" sz="1200" dirty="0"/>
          </a:p>
        </p:txBody>
      </p:sp>
      <p:sp>
        <p:nvSpPr>
          <p:cNvPr id="42" name="Text 40"/>
          <p:cNvSpPr/>
          <p:nvPr/>
        </p:nvSpPr>
        <p:spPr>
          <a:xfrm>
            <a:off x="2926080" y="4251960"/>
            <a:ext cx="1920240" cy="457200"/>
          </a:xfrm>
          <a:prstGeom prst="rect">
            <a:avLst/>
          </a:prstGeom>
          <a:noFill/>
          <a:ln/>
        </p:spPr>
        <p:txBody>
          <a:bodyPr wrap="square" rtlCol="0" anchor="t"/>
          <a:lstStyle/>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Decision Integrity Score (DIS)</a:t>
            </a:r>
            <a:endParaRPr lang="en-US" sz="900" dirty="0"/>
          </a:p>
        </p:txBody>
      </p:sp>
      <p:sp>
        <p:nvSpPr>
          <p:cNvPr id="43" name="Text 41"/>
          <p:cNvSpPr/>
          <p:nvPr/>
        </p:nvSpPr>
        <p:spPr>
          <a:xfrm>
            <a:off x="2926080" y="4754880"/>
            <a:ext cx="192024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6 pipeline nodes, weighted</a:t>
            </a:r>
            <a:endParaRPr lang="en-US" sz="800" dirty="0"/>
          </a:p>
        </p:txBody>
      </p:sp>
      <p:sp>
        <p:nvSpPr>
          <p:cNvPr id="44" name="Shape 42"/>
          <p:cNvSpPr/>
          <p:nvPr/>
        </p:nvSpPr>
        <p:spPr>
          <a:xfrm>
            <a:off x="4983480" y="4389120"/>
            <a:ext cx="137160" cy="0"/>
          </a:xfrm>
          <a:prstGeom prst="line">
            <a:avLst/>
          </a:prstGeom>
          <a:noFill/>
          <a:ln w="19050">
            <a:solidFill>
              <a:srgbClr val="10B981"/>
            </a:solidFill>
            <a:prstDash val="solid"/>
            <a:tailEnd type="triangle"/>
          </a:ln>
        </p:spPr>
      </p:sp>
      <p:sp>
        <p:nvSpPr>
          <p:cNvPr id="45" name="Shape 43"/>
          <p:cNvSpPr/>
          <p:nvPr/>
        </p:nvSpPr>
        <p:spPr>
          <a:xfrm>
            <a:off x="5120640" y="3474720"/>
            <a:ext cx="2103120" cy="1828800"/>
          </a:xfrm>
          <a:prstGeom prst="rect">
            <a:avLst>
              <a:gd name="adj" fmla="val 2500"/>
            </a:avLst>
          </a:prstGeom>
          <a:solidFill>
            <a:srgbClr val="1E293B"/>
          </a:solidFill>
          <a:ln w="6350">
            <a:solidFill>
              <a:srgbClr val="334155"/>
            </a:solidFill>
            <a:prstDash val="solid"/>
          </a:ln>
        </p:spPr>
      </p:sp>
      <p:sp>
        <p:nvSpPr>
          <p:cNvPr id="46" name="Text 44"/>
          <p:cNvSpPr/>
          <p:nvPr/>
        </p:nvSpPr>
        <p:spPr>
          <a:xfrm>
            <a:off x="5212080" y="3566160"/>
            <a:ext cx="731520" cy="274320"/>
          </a:xfrm>
          <a:prstGeom prst="rect">
            <a:avLst/>
          </a:prstGeom>
          <a:noFill/>
          <a:ln/>
        </p:spPr>
        <p:txBody>
          <a:bodyPr wrap="square" rtlCol="0" anchor="ctr"/>
          <a:lstStyle/>
          <a:p>
            <a:pPr indent="0" marL="0">
              <a:buNone/>
            </a:pPr>
            <a:r>
              <a:rPr lang="en-US" sz="1400" b="1" dirty="0">
                <a:solidFill>
                  <a:srgbClr val="10B981"/>
                </a:solidFill>
                <a:latin typeface="Courier New" pitchFamily="34" charset="0"/>
                <a:ea typeface="Courier New" pitchFamily="34" charset="-122"/>
                <a:cs typeface="Courier New" pitchFamily="34" charset="-120"/>
              </a:rPr>
              <a:t>08</a:t>
            </a:r>
            <a:endParaRPr lang="en-US" sz="1400" dirty="0"/>
          </a:p>
        </p:txBody>
      </p:sp>
      <p:sp>
        <p:nvSpPr>
          <p:cNvPr id="47" name="Text 45"/>
          <p:cNvSpPr/>
          <p:nvPr/>
        </p:nvSpPr>
        <p:spPr>
          <a:xfrm>
            <a:off x="5212080" y="3886200"/>
            <a:ext cx="1920240" cy="320040"/>
          </a:xfrm>
          <a:prstGeom prst="rect">
            <a:avLst/>
          </a:prstGeom>
          <a:noFill/>
          <a:ln/>
        </p:spPr>
        <p:txBody>
          <a:bodyPr wrap="square"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Review</a:t>
            </a:r>
            <a:endParaRPr lang="en-US" sz="1200" dirty="0"/>
          </a:p>
        </p:txBody>
      </p:sp>
      <p:sp>
        <p:nvSpPr>
          <p:cNvPr id="48" name="Text 46"/>
          <p:cNvSpPr/>
          <p:nvPr/>
        </p:nvSpPr>
        <p:spPr>
          <a:xfrm>
            <a:off x="5212080" y="4251960"/>
            <a:ext cx="1920240" cy="457200"/>
          </a:xfrm>
          <a:prstGeom prst="rect">
            <a:avLst/>
          </a:prstGeom>
          <a:noFill/>
          <a:ln/>
        </p:spPr>
        <p:txBody>
          <a:bodyPr wrap="square" rtlCol="0" anchor="t"/>
          <a:lstStyle/>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Human reviewer sign-off</a:t>
            </a:r>
            <a:endParaRPr lang="en-US" sz="900" dirty="0"/>
          </a:p>
        </p:txBody>
      </p:sp>
      <p:sp>
        <p:nvSpPr>
          <p:cNvPr id="49" name="Text 47"/>
          <p:cNvSpPr/>
          <p:nvPr/>
        </p:nvSpPr>
        <p:spPr>
          <a:xfrm>
            <a:off x="5212080" y="4754880"/>
            <a:ext cx="192024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Signature hash, IP, user-agent</a:t>
            </a:r>
            <a:endParaRPr lang="en-US" sz="800" dirty="0"/>
          </a:p>
        </p:txBody>
      </p:sp>
      <p:sp>
        <p:nvSpPr>
          <p:cNvPr id="50" name="Shape 48"/>
          <p:cNvSpPr/>
          <p:nvPr/>
        </p:nvSpPr>
        <p:spPr>
          <a:xfrm>
            <a:off x="7269480" y="4389120"/>
            <a:ext cx="137160" cy="0"/>
          </a:xfrm>
          <a:prstGeom prst="line">
            <a:avLst/>
          </a:prstGeom>
          <a:noFill/>
          <a:ln w="19050">
            <a:solidFill>
              <a:srgbClr val="10B981"/>
            </a:solidFill>
            <a:prstDash val="solid"/>
            <a:tailEnd type="triangle"/>
          </a:ln>
        </p:spPr>
      </p:sp>
      <p:sp>
        <p:nvSpPr>
          <p:cNvPr id="51" name="Shape 49"/>
          <p:cNvSpPr/>
          <p:nvPr/>
        </p:nvSpPr>
        <p:spPr>
          <a:xfrm>
            <a:off x="7406640" y="3474720"/>
            <a:ext cx="2103120" cy="1828800"/>
          </a:xfrm>
          <a:prstGeom prst="rect">
            <a:avLst>
              <a:gd name="adj" fmla="val 2500"/>
            </a:avLst>
          </a:prstGeom>
          <a:solidFill>
            <a:srgbClr val="1E293B"/>
          </a:solidFill>
          <a:ln w="6350">
            <a:solidFill>
              <a:srgbClr val="334155"/>
            </a:solidFill>
            <a:prstDash val="solid"/>
          </a:ln>
        </p:spPr>
      </p:sp>
      <p:sp>
        <p:nvSpPr>
          <p:cNvPr id="52" name="Text 50"/>
          <p:cNvSpPr/>
          <p:nvPr/>
        </p:nvSpPr>
        <p:spPr>
          <a:xfrm>
            <a:off x="7498080" y="3566160"/>
            <a:ext cx="731520" cy="274320"/>
          </a:xfrm>
          <a:prstGeom prst="rect">
            <a:avLst/>
          </a:prstGeom>
          <a:noFill/>
          <a:ln/>
        </p:spPr>
        <p:txBody>
          <a:bodyPr wrap="square" rtlCol="0" anchor="ctr"/>
          <a:lstStyle/>
          <a:p>
            <a:pPr indent="0" marL="0">
              <a:buNone/>
            </a:pPr>
            <a:r>
              <a:rPr lang="en-US" sz="1400" b="1" dirty="0">
                <a:solidFill>
                  <a:srgbClr val="10B981"/>
                </a:solidFill>
                <a:latin typeface="Courier New" pitchFamily="34" charset="0"/>
                <a:ea typeface="Courier New" pitchFamily="34" charset="-122"/>
                <a:cs typeface="Courier New" pitchFamily="34" charset="-120"/>
              </a:rPr>
              <a:t>09</a:t>
            </a:r>
            <a:endParaRPr lang="en-US" sz="1400" dirty="0"/>
          </a:p>
        </p:txBody>
      </p:sp>
      <p:sp>
        <p:nvSpPr>
          <p:cNvPr id="53" name="Text 51"/>
          <p:cNvSpPr/>
          <p:nvPr/>
        </p:nvSpPr>
        <p:spPr>
          <a:xfrm>
            <a:off x="7498080" y="3886200"/>
            <a:ext cx="1920240" cy="320040"/>
          </a:xfrm>
          <a:prstGeom prst="rect">
            <a:avLst/>
          </a:prstGeom>
          <a:noFill/>
          <a:ln/>
        </p:spPr>
        <p:txBody>
          <a:bodyPr wrap="square"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Distribute</a:t>
            </a:r>
            <a:endParaRPr lang="en-US" sz="1200" dirty="0"/>
          </a:p>
        </p:txBody>
      </p:sp>
      <p:sp>
        <p:nvSpPr>
          <p:cNvPr id="54" name="Text 52"/>
          <p:cNvSpPr/>
          <p:nvPr/>
        </p:nvSpPr>
        <p:spPr>
          <a:xfrm>
            <a:off x="7498080" y="4251960"/>
            <a:ext cx="1920240" cy="457200"/>
          </a:xfrm>
          <a:prstGeom prst="rect">
            <a:avLst/>
          </a:prstGeom>
          <a:noFill/>
          <a:ln/>
        </p:spPr>
        <p:txBody>
          <a:bodyPr wrap="square" rtlCol="0" anchor="t"/>
          <a:lstStyle/>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Trust artifact + verification API</a:t>
            </a:r>
            <a:endParaRPr lang="en-US" sz="900" dirty="0"/>
          </a:p>
        </p:txBody>
      </p:sp>
      <p:sp>
        <p:nvSpPr>
          <p:cNvPr id="55" name="Text 53"/>
          <p:cNvSpPr/>
          <p:nvPr/>
        </p:nvSpPr>
        <p:spPr>
          <a:xfrm>
            <a:off x="7498080" y="4754880"/>
            <a:ext cx="192024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HMAC-signed, revocation support</a:t>
            </a:r>
            <a:endParaRPr lang="en-US" sz="800" dirty="0"/>
          </a:p>
        </p:txBody>
      </p:sp>
      <p:sp>
        <p:nvSpPr>
          <p:cNvPr id="56" name="Shape 54"/>
          <p:cNvSpPr/>
          <p:nvPr/>
        </p:nvSpPr>
        <p:spPr>
          <a:xfrm>
            <a:off x="9555480" y="4389120"/>
            <a:ext cx="137160" cy="0"/>
          </a:xfrm>
          <a:prstGeom prst="line">
            <a:avLst/>
          </a:prstGeom>
          <a:noFill/>
          <a:ln w="19050">
            <a:solidFill>
              <a:srgbClr val="10B981"/>
            </a:solidFill>
            <a:prstDash val="solid"/>
            <a:tailEnd type="triangle"/>
          </a:ln>
        </p:spPr>
      </p:sp>
      <p:sp>
        <p:nvSpPr>
          <p:cNvPr id="57" name="Shape 55"/>
          <p:cNvSpPr/>
          <p:nvPr/>
        </p:nvSpPr>
        <p:spPr>
          <a:xfrm>
            <a:off x="9692640" y="3474720"/>
            <a:ext cx="2103120" cy="1828800"/>
          </a:xfrm>
          <a:prstGeom prst="rect">
            <a:avLst>
              <a:gd name="adj" fmla="val 2500"/>
            </a:avLst>
          </a:prstGeom>
          <a:solidFill>
            <a:srgbClr val="1E293B"/>
          </a:solidFill>
          <a:ln w="6350">
            <a:solidFill>
              <a:srgbClr val="334155"/>
            </a:solidFill>
            <a:prstDash val="solid"/>
          </a:ln>
        </p:spPr>
      </p:sp>
      <p:sp>
        <p:nvSpPr>
          <p:cNvPr id="58" name="Text 56"/>
          <p:cNvSpPr/>
          <p:nvPr/>
        </p:nvSpPr>
        <p:spPr>
          <a:xfrm>
            <a:off x="9784080" y="3566160"/>
            <a:ext cx="731520" cy="274320"/>
          </a:xfrm>
          <a:prstGeom prst="rect">
            <a:avLst/>
          </a:prstGeom>
          <a:noFill/>
          <a:ln/>
        </p:spPr>
        <p:txBody>
          <a:bodyPr wrap="square" rtlCol="0" anchor="ctr"/>
          <a:lstStyle/>
          <a:p>
            <a:pPr indent="0" marL="0">
              <a:buNone/>
            </a:pPr>
            <a:r>
              <a:rPr lang="en-US" sz="1400" b="1" dirty="0">
                <a:solidFill>
                  <a:srgbClr val="10B981"/>
                </a:solidFill>
                <a:latin typeface="Courier New" pitchFamily="34" charset="0"/>
                <a:ea typeface="Courier New" pitchFamily="34" charset="-122"/>
                <a:cs typeface="Courier New" pitchFamily="34" charset="-120"/>
              </a:rPr>
              <a:t>10</a:t>
            </a:r>
            <a:endParaRPr lang="en-US" sz="1400" dirty="0"/>
          </a:p>
        </p:txBody>
      </p:sp>
      <p:sp>
        <p:nvSpPr>
          <p:cNvPr id="59" name="Text 57"/>
          <p:cNvSpPr/>
          <p:nvPr/>
        </p:nvSpPr>
        <p:spPr>
          <a:xfrm>
            <a:off x="9784080" y="3886200"/>
            <a:ext cx="1920240" cy="320040"/>
          </a:xfrm>
          <a:prstGeom prst="rect">
            <a:avLst/>
          </a:prstGeom>
          <a:noFill/>
          <a:ln/>
        </p:spPr>
        <p:txBody>
          <a:bodyPr wrap="square"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Re-verify</a:t>
            </a:r>
            <a:endParaRPr lang="en-US" sz="1200" dirty="0"/>
          </a:p>
        </p:txBody>
      </p:sp>
      <p:sp>
        <p:nvSpPr>
          <p:cNvPr id="60" name="Text 58"/>
          <p:cNvSpPr/>
          <p:nvPr/>
        </p:nvSpPr>
        <p:spPr>
          <a:xfrm>
            <a:off x="9784080" y="4251960"/>
            <a:ext cx="1920240" cy="457200"/>
          </a:xfrm>
          <a:prstGeom prst="rect">
            <a:avLst/>
          </a:prstGeom>
          <a:noFill/>
          <a:ln/>
        </p:spPr>
        <p:txBody>
          <a:bodyPr wrap="square" rtlCol="0" anchor="t"/>
          <a:lstStyle/>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Scheduled re-verification + drift</a:t>
            </a:r>
            <a:endParaRPr lang="en-US" sz="900" dirty="0"/>
          </a:p>
        </p:txBody>
      </p:sp>
      <p:sp>
        <p:nvSpPr>
          <p:cNvPr id="61" name="Text 59"/>
          <p:cNvSpPr/>
          <p:nvPr/>
        </p:nvSpPr>
        <p:spPr>
          <a:xfrm>
            <a:off x="9784080" y="4754880"/>
            <a:ext cx="192024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Cron-based, drift alerts</a:t>
            </a:r>
            <a:endParaRPr lang="en-US" sz="800" dirty="0"/>
          </a:p>
        </p:txBody>
      </p:sp>
      <p:sp>
        <p:nvSpPr>
          <p:cNvPr id="62" name="Shape 60"/>
          <p:cNvSpPr/>
          <p:nvPr/>
        </p:nvSpPr>
        <p:spPr>
          <a:xfrm>
            <a:off x="10972800" y="3200400"/>
            <a:ext cx="0" cy="274320"/>
          </a:xfrm>
          <a:prstGeom prst="line">
            <a:avLst/>
          </a:prstGeom>
          <a:noFill/>
          <a:ln w="19050">
            <a:solidFill>
              <a:srgbClr val="10B981"/>
            </a:solidFill>
            <a:prstDash val="solid"/>
            <a:tailEnd type="triangle"/>
          </a:ln>
        </p:spPr>
      </p:sp>
      <p:sp>
        <p:nvSpPr>
          <p:cNvPr id="63" name="Text 61"/>
          <p:cNvSpPr/>
          <p:nvPr/>
        </p:nvSpPr>
        <p:spPr>
          <a:xfrm>
            <a:off x="548640" y="5943600"/>
            <a:ext cx="10972800" cy="365760"/>
          </a:xfrm>
          <a:prstGeom prst="rect">
            <a:avLst/>
          </a:prstGeom>
          <a:noFill/>
          <a:ln/>
        </p:spPr>
        <p:txBody>
          <a:bodyPr wrap="square" rtlCol="0" anchor="t"/>
          <a:lstStyle/>
          <a:p>
            <a:pPr algn="l" indent="0" marL="0">
              <a:lnSpc>
                <a:spcPct val="120000"/>
              </a:lnSpc>
              <a:buNone/>
            </a:pPr>
            <a:r>
              <a:rPr lang="en-US" sz="1100" b="1" dirty="0">
                <a:solidFill>
                  <a:srgbClr val="10B981"/>
                </a:solidFill>
                <a:latin typeface="Calibri" pitchFamily="34" charset="0"/>
                <a:ea typeface="Calibri" pitchFamily="34" charset="-122"/>
                <a:cs typeface="Calibri" pitchFamily="34" charset="-120"/>
              </a:rPr>
              <a:t>Each step produces verifiable evidence anchored to the system, the engine version, and the point in time it was generated.</a:t>
            </a:r>
            <a:endParaRPr lang="en-US" sz="1100" dirty="0"/>
          </a:p>
        </p:txBody>
      </p:sp>
      <p:sp>
        <p:nvSpPr>
          <p:cNvPr id="64" name="Text 62"/>
          <p:cNvSpPr/>
          <p:nvPr/>
        </p:nvSpPr>
        <p:spPr>
          <a:xfrm>
            <a:off x="274320" y="6537960"/>
            <a:ext cx="7315200" cy="22860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HAIEC  ·  Confidential Discussion Brief  ·  5/14</a:t>
            </a:r>
            <a:endParaRPr lang="en-US" sz="800" dirty="0"/>
          </a:p>
        </p:txBody>
      </p:sp>
      <p:sp>
        <p:nvSpPr>
          <p:cNvPr id="65" name="Text 63"/>
          <p:cNvSpPr/>
          <p:nvPr/>
        </p:nvSpPr>
        <p:spPr>
          <a:xfrm>
            <a:off x="9448495" y="6537960"/>
            <a:ext cx="2468880" cy="228600"/>
          </a:xfrm>
          <a:prstGeom prst="rect">
            <a:avLst/>
          </a:prstGeom>
          <a:noFill/>
          <a:ln/>
        </p:spPr>
        <p:txBody>
          <a:bodyPr wrap="square" rtlCol="0" anchor="ctr"/>
          <a:lstStyle/>
          <a:p>
            <a:pPr algn="r" indent="0" marL="0">
              <a:buNone/>
            </a:pPr>
            <a:r>
              <a:rPr lang="en-US" sz="800" dirty="0">
                <a:solidFill>
                  <a:srgbClr val="64748B"/>
                </a:solidFill>
                <a:latin typeface="Courier New" pitchFamily="34" charset="0"/>
                <a:ea typeface="Courier New" pitchFamily="34" charset="-122"/>
                <a:cs typeface="Courier New" pitchFamily="34" charset="-120"/>
              </a:rPr>
              <a:t>v1.0  ·  2026-07-31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365760"/>
            <a:ext cx="11094415" cy="502920"/>
          </a:xfrm>
          <a:prstGeom prst="rect">
            <a:avLst/>
          </a:prstGeom>
          <a:noFill/>
          <a:ln/>
        </p:spPr>
        <p:txBody>
          <a:bodyPr wrap="square" rtlCol="0" anchor="ctr"/>
          <a:lstStyle/>
          <a:p>
            <a:pPr algn="l" indent="0" marL="0">
              <a:buNone/>
            </a:pPr>
            <a:r>
              <a:rPr lang="en-US" sz="2600" b="1" dirty="0">
                <a:solidFill>
                  <a:srgbClr val="F8FAFC"/>
                </a:solidFill>
                <a:latin typeface="Calibri" pitchFamily="34" charset="0"/>
                <a:ea typeface="Calibri" pitchFamily="34" charset="-122"/>
                <a:cs typeface="Calibri" pitchFamily="34" charset="-120"/>
              </a:rPr>
              <a:t>Traditional application testing stops before the full AI decision path.</a:t>
            </a:r>
            <a:endParaRPr lang="en-US" sz="2600" dirty="0"/>
          </a:p>
        </p:txBody>
      </p:sp>
      <p:sp>
        <p:nvSpPr>
          <p:cNvPr id="3" name="Shape 1"/>
          <p:cNvSpPr/>
          <p:nvPr/>
        </p:nvSpPr>
        <p:spPr>
          <a:xfrm>
            <a:off x="548640" y="914400"/>
            <a:ext cx="1371600" cy="36576"/>
          </a:xfrm>
          <a:prstGeom prst="rect">
            <a:avLst/>
          </a:prstGeom>
          <a:solidFill>
            <a:srgbClr val="10B981"/>
          </a:solidFill>
          <a:ln/>
        </p:spPr>
      </p:sp>
      <p:sp>
        <p:nvSpPr>
          <p:cNvPr id="4" name="Shape 2"/>
          <p:cNvSpPr/>
          <p:nvPr/>
        </p:nvSpPr>
        <p:spPr>
          <a:xfrm>
            <a:off x="548640" y="1280160"/>
            <a:ext cx="1554480" cy="457200"/>
          </a:xfrm>
          <a:prstGeom prst="rect">
            <a:avLst>
              <a:gd name="adj" fmla="val 10000"/>
            </a:avLst>
          </a:prstGeom>
          <a:solidFill>
            <a:srgbClr val="1E293B"/>
          </a:solidFill>
          <a:ln w="6350">
            <a:solidFill>
              <a:srgbClr val="10B981"/>
            </a:solidFill>
            <a:prstDash val="solid"/>
          </a:ln>
        </p:spPr>
      </p:sp>
      <p:sp>
        <p:nvSpPr>
          <p:cNvPr id="5" name="Text 3"/>
          <p:cNvSpPr/>
          <p:nvPr/>
        </p:nvSpPr>
        <p:spPr>
          <a:xfrm>
            <a:off x="548640" y="1280160"/>
            <a:ext cx="1554480" cy="457200"/>
          </a:xfrm>
          <a:prstGeom prst="rect">
            <a:avLst/>
          </a:prstGeom>
          <a:noFill/>
          <a:ln/>
        </p:spPr>
        <p:txBody>
          <a:bodyPr wrap="square" rtlCol="0" anchor="ctr"/>
          <a:lstStyle/>
          <a:p>
            <a:pPr algn="ctr" indent="0" marL="0">
              <a:buNone/>
            </a:pPr>
            <a:r>
              <a:rPr lang="en-US" sz="1000" dirty="0">
                <a:solidFill>
                  <a:srgbClr val="F8FAFC"/>
                </a:solidFill>
                <a:latin typeface="Courier New" pitchFamily="34" charset="0"/>
                <a:ea typeface="Courier New" pitchFamily="34" charset="-122"/>
                <a:cs typeface="Courier New" pitchFamily="34" charset="-120"/>
              </a:rPr>
              <a:t>INPUT</a:t>
            </a:r>
            <a:endParaRPr lang="en-US" sz="1000" dirty="0"/>
          </a:p>
        </p:txBody>
      </p:sp>
      <p:sp>
        <p:nvSpPr>
          <p:cNvPr id="6" name="Shape 4"/>
          <p:cNvSpPr/>
          <p:nvPr/>
        </p:nvSpPr>
        <p:spPr>
          <a:xfrm>
            <a:off x="2121408" y="1508760"/>
            <a:ext cx="192024" cy="0"/>
          </a:xfrm>
          <a:prstGeom prst="line">
            <a:avLst/>
          </a:prstGeom>
          <a:noFill/>
          <a:ln w="19050">
            <a:solidFill>
              <a:srgbClr val="10B981"/>
            </a:solidFill>
            <a:prstDash val="solid"/>
            <a:tailEnd type="triangle"/>
          </a:ln>
        </p:spPr>
      </p:sp>
      <p:sp>
        <p:nvSpPr>
          <p:cNvPr id="7" name="Shape 5"/>
          <p:cNvSpPr/>
          <p:nvPr/>
        </p:nvSpPr>
        <p:spPr>
          <a:xfrm>
            <a:off x="2331720" y="1280160"/>
            <a:ext cx="1554480" cy="457200"/>
          </a:xfrm>
          <a:prstGeom prst="rect">
            <a:avLst>
              <a:gd name="adj" fmla="val 10000"/>
            </a:avLst>
          </a:prstGeom>
          <a:solidFill>
            <a:srgbClr val="1E293B"/>
          </a:solidFill>
          <a:ln w="6350">
            <a:solidFill>
              <a:srgbClr val="10B981"/>
            </a:solidFill>
            <a:prstDash val="solid"/>
          </a:ln>
        </p:spPr>
      </p:sp>
      <p:sp>
        <p:nvSpPr>
          <p:cNvPr id="8" name="Text 6"/>
          <p:cNvSpPr/>
          <p:nvPr/>
        </p:nvSpPr>
        <p:spPr>
          <a:xfrm>
            <a:off x="2331720" y="1280160"/>
            <a:ext cx="1554480" cy="457200"/>
          </a:xfrm>
          <a:prstGeom prst="rect">
            <a:avLst/>
          </a:prstGeom>
          <a:noFill/>
          <a:ln/>
        </p:spPr>
        <p:txBody>
          <a:bodyPr wrap="square" rtlCol="0" anchor="ctr"/>
          <a:lstStyle/>
          <a:p>
            <a:pPr algn="ctr" indent="0" marL="0">
              <a:buNone/>
            </a:pPr>
            <a:r>
              <a:rPr lang="en-US" sz="1000" dirty="0">
                <a:solidFill>
                  <a:srgbClr val="F8FAFC"/>
                </a:solidFill>
                <a:latin typeface="Courier New" pitchFamily="34" charset="0"/>
                <a:ea typeface="Courier New" pitchFamily="34" charset="-122"/>
                <a:cs typeface="Courier New" pitchFamily="34" charset="-120"/>
              </a:rPr>
              <a:t>PROMPT</a:t>
            </a:r>
            <a:endParaRPr lang="en-US" sz="1000" dirty="0"/>
          </a:p>
        </p:txBody>
      </p:sp>
      <p:sp>
        <p:nvSpPr>
          <p:cNvPr id="9" name="Shape 7"/>
          <p:cNvSpPr/>
          <p:nvPr/>
        </p:nvSpPr>
        <p:spPr>
          <a:xfrm>
            <a:off x="3904488" y="1508760"/>
            <a:ext cx="192024" cy="0"/>
          </a:xfrm>
          <a:prstGeom prst="line">
            <a:avLst/>
          </a:prstGeom>
          <a:noFill/>
          <a:ln w="19050">
            <a:solidFill>
              <a:srgbClr val="10B981"/>
            </a:solidFill>
            <a:prstDash val="solid"/>
            <a:tailEnd type="triangle"/>
          </a:ln>
        </p:spPr>
      </p:sp>
      <p:sp>
        <p:nvSpPr>
          <p:cNvPr id="10" name="Shape 8"/>
          <p:cNvSpPr/>
          <p:nvPr/>
        </p:nvSpPr>
        <p:spPr>
          <a:xfrm>
            <a:off x="4114800" y="1280160"/>
            <a:ext cx="1554480" cy="457200"/>
          </a:xfrm>
          <a:prstGeom prst="rect">
            <a:avLst>
              <a:gd name="adj" fmla="val 10000"/>
            </a:avLst>
          </a:prstGeom>
          <a:solidFill>
            <a:srgbClr val="1E293B"/>
          </a:solidFill>
          <a:ln w="6350">
            <a:solidFill>
              <a:srgbClr val="10B981"/>
            </a:solidFill>
            <a:prstDash val="solid"/>
          </a:ln>
        </p:spPr>
      </p:sp>
      <p:sp>
        <p:nvSpPr>
          <p:cNvPr id="11" name="Text 9"/>
          <p:cNvSpPr/>
          <p:nvPr/>
        </p:nvSpPr>
        <p:spPr>
          <a:xfrm>
            <a:off x="4114800" y="1280160"/>
            <a:ext cx="1554480" cy="457200"/>
          </a:xfrm>
          <a:prstGeom prst="rect">
            <a:avLst/>
          </a:prstGeom>
          <a:noFill/>
          <a:ln/>
        </p:spPr>
        <p:txBody>
          <a:bodyPr wrap="square" rtlCol="0" anchor="ctr"/>
          <a:lstStyle/>
          <a:p>
            <a:pPr algn="ctr" indent="0" marL="0">
              <a:buNone/>
            </a:pPr>
            <a:r>
              <a:rPr lang="en-US" sz="1000" dirty="0">
                <a:solidFill>
                  <a:srgbClr val="F8FAFC"/>
                </a:solidFill>
                <a:latin typeface="Courier New" pitchFamily="34" charset="0"/>
                <a:ea typeface="Courier New" pitchFamily="34" charset="-122"/>
                <a:cs typeface="Courier New" pitchFamily="34" charset="-120"/>
              </a:rPr>
              <a:t>RETRIEVAL</a:t>
            </a:r>
            <a:endParaRPr lang="en-US" sz="1000" dirty="0"/>
          </a:p>
        </p:txBody>
      </p:sp>
      <p:sp>
        <p:nvSpPr>
          <p:cNvPr id="12" name="Shape 10"/>
          <p:cNvSpPr/>
          <p:nvPr/>
        </p:nvSpPr>
        <p:spPr>
          <a:xfrm>
            <a:off x="5687568" y="1508760"/>
            <a:ext cx="192024" cy="0"/>
          </a:xfrm>
          <a:prstGeom prst="line">
            <a:avLst/>
          </a:prstGeom>
          <a:noFill/>
          <a:ln w="19050">
            <a:solidFill>
              <a:srgbClr val="10B981"/>
            </a:solidFill>
            <a:prstDash val="solid"/>
            <a:tailEnd type="triangle"/>
          </a:ln>
        </p:spPr>
      </p:sp>
      <p:sp>
        <p:nvSpPr>
          <p:cNvPr id="13" name="Shape 11"/>
          <p:cNvSpPr/>
          <p:nvPr/>
        </p:nvSpPr>
        <p:spPr>
          <a:xfrm>
            <a:off x="5897880" y="1280160"/>
            <a:ext cx="1554480" cy="457200"/>
          </a:xfrm>
          <a:prstGeom prst="rect">
            <a:avLst>
              <a:gd name="adj" fmla="val 10000"/>
            </a:avLst>
          </a:prstGeom>
          <a:solidFill>
            <a:srgbClr val="1E293B"/>
          </a:solidFill>
          <a:ln w="6350">
            <a:solidFill>
              <a:srgbClr val="10B981"/>
            </a:solidFill>
            <a:prstDash val="solid"/>
          </a:ln>
        </p:spPr>
      </p:sp>
      <p:sp>
        <p:nvSpPr>
          <p:cNvPr id="14" name="Text 12"/>
          <p:cNvSpPr/>
          <p:nvPr/>
        </p:nvSpPr>
        <p:spPr>
          <a:xfrm>
            <a:off x="5897880" y="1280160"/>
            <a:ext cx="1554480" cy="457200"/>
          </a:xfrm>
          <a:prstGeom prst="rect">
            <a:avLst/>
          </a:prstGeom>
          <a:noFill/>
          <a:ln/>
        </p:spPr>
        <p:txBody>
          <a:bodyPr wrap="square" rtlCol="0" anchor="ctr"/>
          <a:lstStyle/>
          <a:p>
            <a:pPr algn="ctr" indent="0" marL="0">
              <a:buNone/>
            </a:pPr>
            <a:r>
              <a:rPr lang="en-US" sz="1000" dirty="0">
                <a:solidFill>
                  <a:srgbClr val="F8FAFC"/>
                </a:solidFill>
                <a:latin typeface="Courier New" pitchFamily="34" charset="0"/>
                <a:ea typeface="Courier New" pitchFamily="34" charset="-122"/>
                <a:cs typeface="Courier New" pitchFamily="34" charset="-120"/>
              </a:rPr>
              <a:t>MODEL</a:t>
            </a:r>
            <a:endParaRPr lang="en-US" sz="1000" dirty="0"/>
          </a:p>
        </p:txBody>
      </p:sp>
      <p:sp>
        <p:nvSpPr>
          <p:cNvPr id="15" name="Shape 13"/>
          <p:cNvSpPr/>
          <p:nvPr/>
        </p:nvSpPr>
        <p:spPr>
          <a:xfrm>
            <a:off x="7470648" y="1508760"/>
            <a:ext cx="192024" cy="0"/>
          </a:xfrm>
          <a:prstGeom prst="line">
            <a:avLst/>
          </a:prstGeom>
          <a:noFill/>
          <a:ln w="19050">
            <a:solidFill>
              <a:srgbClr val="10B981"/>
            </a:solidFill>
            <a:prstDash val="solid"/>
            <a:tailEnd type="triangle"/>
          </a:ln>
        </p:spPr>
      </p:sp>
      <p:sp>
        <p:nvSpPr>
          <p:cNvPr id="16" name="Shape 14"/>
          <p:cNvSpPr/>
          <p:nvPr/>
        </p:nvSpPr>
        <p:spPr>
          <a:xfrm>
            <a:off x="7680960" y="1280160"/>
            <a:ext cx="1554480" cy="457200"/>
          </a:xfrm>
          <a:prstGeom prst="rect">
            <a:avLst>
              <a:gd name="adj" fmla="val 10000"/>
            </a:avLst>
          </a:prstGeom>
          <a:solidFill>
            <a:srgbClr val="1E293B"/>
          </a:solidFill>
          <a:ln w="6350">
            <a:solidFill>
              <a:srgbClr val="10B981"/>
            </a:solidFill>
            <a:prstDash val="solid"/>
          </a:ln>
        </p:spPr>
      </p:sp>
      <p:sp>
        <p:nvSpPr>
          <p:cNvPr id="17" name="Text 15"/>
          <p:cNvSpPr/>
          <p:nvPr/>
        </p:nvSpPr>
        <p:spPr>
          <a:xfrm>
            <a:off x="7680960" y="1280160"/>
            <a:ext cx="1554480" cy="457200"/>
          </a:xfrm>
          <a:prstGeom prst="rect">
            <a:avLst/>
          </a:prstGeom>
          <a:noFill/>
          <a:ln/>
        </p:spPr>
        <p:txBody>
          <a:bodyPr wrap="square" rtlCol="0" anchor="ctr"/>
          <a:lstStyle/>
          <a:p>
            <a:pPr algn="ctr" indent="0" marL="0">
              <a:buNone/>
            </a:pPr>
            <a:r>
              <a:rPr lang="en-US" sz="1000" dirty="0">
                <a:solidFill>
                  <a:srgbClr val="F8FAFC"/>
                </a:solidFill>
                <a:latin typeface="Courier New" pitchFamily="34" charset="0"/>
                <a:ea typeface="Courier New" pitchFamily="34" charset="-122"/>
                <a:cs typeface="Courier New" pitchFamily="34" charset="-120"/>
              </a:rPr>
              <a:t>TOOLS</a:t>
            </a:r>
            <a:endParaRPr lang="en-US" sz="1000" dirty="0"/>
          </a:p>
        </p:txBody>
      </p:sp>
      <p:sp>
        <p:nvSpPr>
          <p:cNvPr id="18" name="Shape 16"/>
          <p:cNvSpPr/>
          <p:nvPr/>
        </p:nvSpPr>
        <p:spPr>
          <a:xfrm>
            <a:off x="9253728" y="1508760"/>
            <a:ext cx="192024" cy="0"/>
          </a:xfrm>
          <a:prstGeom prst="line">
            <a:avLst/>
          </a:prstGeom>
          <a:noFill/>
          <a:ln w="19050">
            <a:solidFill>
              <a:srgbClr val="10B981"/>
            </a:solidFill>
            <a:prstDash val="solid"/>
            <a:tailEnd type="triangle"/>
          </a:ln>
        </p:spPr>
      </p:sp>
      <p:sp>
        <p:nvSpPr>
          <p:cNvPr id="19" name="Shape 17"/>
          <p:cNvSpPr/>
          <p:nvPr/>
        </p:nvSpPr>
        <p:spPr>
          <a:xfrm>
            <a:off x="9464040" y="1280160"/>
            <a:ext cx="1554480" cy="457200"/>
          </a:xfrm>
          <a:prstGeom prst="rect">
            <a:avLst>
              <a:gd name="adj" fmla="val 10000"/>
            </a:avLst>
          </a:prstGeom>
          <a:solidFill>
            <a:srgbClr val="1E293B"/>
          </a:solidFill>
          <a:ln w="6350">
            <a:solidFill>
              <a:srgbClr val="10B981"/>
            </a:solidFill>
            <a:prstDash val="solid"/>
          </a:ln>
        </p:spPr>
      </p:sp>
      <p:sp>
        <p:nvSpPr>
          <p:cNvPr id="20" name="Text 18"/>
          <p:cNvSpPr/>
          <p:nvPr/>
        </p:nvSpPr>
        <p:spPr>
          <a:xfrm>
            <a:off x="9464040" y="1280160"/>
            <a:ext cx="1554480" cy="457200"/>
          </a:xfrm>
          <a:prstGeom prst="rect">
            <a:avLst/>
          </a:prstGeom>
          <a:noFill/>
          <a:ln/>
        </p:spPr>
        <p:txBody>
          <a:bodyPr wrap="square" rtlCol="0" anchor="ctr"/>
          <a:lstStyle/>
          <a:p>
            <a:pPr algn="ctr" indent="0" marL="0">
              <a:buNone/>
            </a:pPr>
            <a:r>
              <a:rPr lang="en-US" sz="1000" dirty="0">
                <a:solidFill>
                  <a:srgbClr val="F8FAFC"/>
                </a:solidFill>
                <a:latin typeface="Courier New" pitchFamily="34" charset="0"/>
                <a:ea typeface="Courier New" pitchFamily="34" charset="-122"/>
                <a:cs typeface="Courier New" pitchFamily="34" charset="-120"/>
              </a:rPr>
              <a:t>DECISION</a:t>
            </a:r>
            <a:endParaRPr lang="en-US" sz="1000" dirty="0"/>
          </a:p>
        </p:txBody>
      </p:sp>
      <p:sp>
        <p:nvSpPr>
          <p:cNvPr id="21" name="Shape 19"/>
          <p:cNvSpPr/>
          <p:nvPr/>
        </p:nvSpPr>
        <p:spPr>
          <a:xfrm>
            <a:off x="548640" y="1828800"/>
            <a:ext cx="3383280" cy="36576"/>
          </a:xfrm>
          <a:prstGeom prst="rect">
            <a:avLst/>
          </a:prstGeom>
          <a:solidFill>
            <a:srgbClr val="F59E0B"/>
          </a:solidFill>
          <a:ln/>
        </p:spPr>
      </p:sp>
      <p:sp>
        <p:nvSpPr>
          <p:cNvPr id="22" name="Text 20"/>
          <p:cNvSpPr/>
          <p:nvPr/>
        </p:nvSpPr>
        <p:spPr>
          <a:xfrm>
            <a:off x="548640" y="1874520"/>
            <a:ext cx="3657600" cy="228600"/>
          </a:xfrm>
          <a:prstGeom prst="rect">
            <a:avLst/>
          </a:prstGeom>
          <a:noFill/>
          <a:ln/>
        </p:spPr>
        <p:txBody>
          <a:bodyPr wrap="square" rtlCol="0" anchor="ctr"/>
          <a:lstStyle/>
          <a:p>
            <a:pPr indent="0" marL="0">
              <a:buNone/>
            </a:pPr>
            <a:r>
              <a:rPr lang="en-US" sz="800" dirty="0">
                <a:solidFill>
                  <a:srgbClr val="F59E0B"/>
                </a:solidFill>
                <a:latin typeface="Courier New" pitchFamily="34" charset="0"/>
                <a:ea typeface="Courier New" pitchFamily="34" charset="-122"/>
                <a:cs typeface="Courier New" pitchFamily="34" charset="-120"/>
              </a:rPr>
              <a:t>Traditional testing coverage</a:t>
            </a:r>
            <a:endParaRPr lang="en-US" sz="800" dirty="0"/>
          </a:p>
        </p:txBody>
      </p:sp>
      <p:sp>
        <p:nvSpPr>
          <p:cNvPr id="23" name="Shape 21"/>
          <p:cNvSpPr/>
          <p:nvPr/>
        </p:nvSpPr>
        <p:spPr>
          <a:xfrm>
            <a:off x="548640" y="2103120"/>
            <a:ext cx="11064240" cy="36576"/>
          </a:xfrm>
          <a:prstGeom prst="rect">
            <a:avLst/>
          </a:prstGeom>
          <a:solidFill>
            <a:srgbClr val="10B981"/>
          </a:solidFill>
          <a:ln/>
        </p:spPr>
      </p:sp>
      <p:sp>
        <p:nvSpPr>
          <p:cNvPr id="24" name="Text 22"/>
          <p:cNvSpPr/>
          <p:nvPr/>
        </p:nvSpPr>
        <p:spPr>
          <a:xfrm>
            <a:off x="548640" y="2148840"/>
            <a:ext cx="4572000" cy="228600"/>
          </a:xfrm>
          <a:prstGeom prst="rect">
            <a:avLst/>
          </a:prstGeom>
          <a:noFill/>
          <a:ln/>
        </p:spPr>
        <p:txBody>
          <a:bodyPr wrap="square" rtlCol="0" anchor="ctr"/>
          <a:lstStyle/>
          <a:p>
            <a:pPr indent="0" marL="0">
              <a:buNone/>
            </a:pPr>
            <a:r>
              <a:rPr lang="en-US" sz="800" dirty="0">
                <a:solidFill>
                  <a:srgbClr val="10B981"/>
                </a:solidFill>
                <a:latin typeface="Courier New" pitchFamily="34" charset="0"/>
                <a:ea typeface="Courier New" pitchFamily="34" charset="-122"/>
                <a:cs typeface="Courier New" pitchFamily="34" charset="-120"/>
              </a:rPr>
              <a:t>HAIEC full decision path coverage</a:t>
            </a:r>
            <a:endParaRPr lang="en-US" sz="800" dirty="0"/>
          </a:p>
        </p:txBody>
      </p:sp>
      <p:sp>
        <p:nvSpPr>
          <p:cNvPr id="25" name="Text 23"/>
          <p:cNvSpPr/>
          <p:nvPr/>
        </p:nvSpPr>
        <p:spPr>
          <a:xfrm>
            <a:off x="548640" y="2560320"/>
            <a:ext cx="10972800" cy="365760"/>
          </a:xfrm>
          <a:prstGeom prst="rect">
            <a:avLst/>
          </a:prstGeom>
          <a:noFill/>
          <a:ln/>
        </p:spPr>
        <p:txBody>
          <a:bodyPr wrap="square" rtlCol="0" anchor="t"/>
          <a:lstStyle/>
          <a:p>
            <a:pPr algn="l" indent="0" marL="0">
              <a:lnSpc>
                <a:spcPct val="120000"/>
              </a:lnSpc>
              <a:buNone/>
            </a:pPr>
            <a:r>
              <a:rPr lang="en-US" sz="1000" dirty="0">
                <a:solidFill>
                  <a:srgbClr val="94A3B8"/>
                </a:solidFill>
                <a:latin typeface="Calibri" pitchFamily="34" charset="0"/>
                <a:ea typeface="Calibri" pitchFamily="34" charset="-122"/>
                <a:cs typeface="Calibri" pitchFamily="34" charset="-120"/>
              </a:rPr>
              <a:t>Risks: Prompt injection · Tool abuse · RAG poisoning · Data leakage · Model extraction · Agent loops · SSRF · PII exposure</a:t>
            </a:r>
            <a:endParaRPr lang="en-US" sz="1000" dirty="0"/>
          </a:p>
        </p:txBody>
      </p:sp>
      <p:sp>
        <p:nvSpPr>
          <p:cNvPr id="26" name="Shape 24"/>
          <p:cNvSpPr/>
          <p:nvPr/>
        </p:nvSpPr>
        <p:spPr>
          <a:xfrm>
            <a:off x="548640" y="3108960"/>
            <a:ext cx="5303520" cy="2560320"/>
          </a:xfrm>
          <a:prstGeom prst="rect">
            <a:avLst>
              <a:gd name="adj" fmla="val 1786"/>
            </a:avLst>
          </a:prstGeom>
          <a:solidFill>
            <a:srgbClr val="1E293B"/>
          </a:solidFill>
          <a:ln w="6350">
            <a:solidFill>
              <a:srgbClr val="334155"/>
            </a:solidFill>
            <a:prstDash val="solid"/>
          </a:ln>
        </p:spPr>
      </p:sp>
      <p:sp>
        <p:nvSpPr>
          <p:cNvPr id="27" name="Text 25"/>
          <p:cNvSpPr/>
          <p:nvPr/>
        </p:nvSpPr>
        <p:spPr>
          <a:xfrm>
            <a:off x="731520" y="3200400"/>
            <a:ext cx="4937760" cy="320040"/>
          </a:xfrm>
          <a:prstGeom prst="rect">
            <a:avLst/>
          </a:prstGeom>
          <a:noFill/>
          <a:ln/>
        </p:spPr>
        <p:txBody>
          <a:bodyPr wrap="square"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Static Analysis</a:t>
            </a:r>
            <a:endParaRPr lang="en-US" sz="1300" dirty="0"/>
          </a:p>
        </p:txBody>
      </p:sp>
      <p:sp>
        <p:nvSpPr>
          <p:cNvPr id="28" name="Shape 26"/>
          <p:cNvSpPr/>
          <p:nvPr/>
        </p:nvSpPr>
        <p:spPr>
          <a:xfrm>
            <a:off x="731520" y="3566160"/>
            <a:ext cx="1645920" cy="274320"/>
          </a:xfrm>
          <a:prstGeom prst="roundRect">
            <a:avLst>
              <a:gd name="adj" fmla="val 10000"/>
            </a:avLst>
          </a:prstGeom>
          <a:solidFill>
            <a:srgbClr val="10B981"/>
          </a:solidFill>
          <a:ln/>
        </p:spPr>
      </p:sp>
      <p:sp>
        <p:nvSpPr>
          <p:cNvPr id="29" name="Text 27"/>
          <p:cNvSpPr/>
          <p:nvPr/>
        </p:nvSpPr>
        <p:spPr>
          <a:xfrm>
            <a:off x="731520" y="3566160"/>
            <a:ext cx="1645920" cy="274320"/>
          </a:xfrm>
          <a:prstGeom prst="rect">
            <a:avLst/>
          </a:prstGeom>
          <a:noFill/>
          <a:ln/>
        </p:spPr>
        <p:txBody>
          <a:bodyPr wrap="square"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IMPLEMENTED</a:t>
            </a:r>
            <a:endParaRPr lang="en-US" sz="800" dirty="0"/>
          </a:p>
        </p:txBody>
      </p:sp>
      <p:sp>
        <p:nvSpPr>
          <p:cNvPr id="30" name="Text 28"/>
          <p:cNvSpPr/>
          <p:nvPr/>
        </p:nvSpPr>
        <p:spPr>
          <a:xfrm>
            <a:off x="731520" y="3931920"/>
            <a:ext cx="4937760" cy="274320"/>
          </a:xfrm>
          <a:prstGeom prst="rect">
            <a:avLst/>
          </a:prstGeom>
          <a:noFill/>
          <a:ln/>
        </p:spPr>
        <p:txBody>
          <a:bodyPr wrap="square" rtlCol="0" anchor="ctr"/>
          <a:lstStyle/>
          <a:p>
            <a:pPr indent="0" marL="0">
              <a:buNone/>
            </a:pPr>
            <a:r>
              <a:rPr lang="en-US" sz="900" dirty="0">
                <a:solidFill>
                  <a:srgbClr val="F8FAFC"/>
                </a:solidFill>
                <a:latin typeface="Calibri" pitchFamily="34" charset="0"/>
                <a:ea typeface="Calibri" pitchFamily="34" charset="-122"/>
                <a:cs typeface="Calibri" pitchFamily="34" charset="-120"/>
              </a:rPr>
              <a:t>•  188 rules: 91 Semgrep YAML + 15 core TS + 82 rulepack</a:t>
            </a:r>
            <a:endParaRPr lang="en-US" sz="900" dirty="0"/>
          </a:p>
        </p:txBody>
      </p:sp>
      <p:sp>
        <p:nvSpPr>
          <p:cNvPr id="31" name="Text 29"/>
          <p:cNvSpPr/>
          <p:nvPr/>
        </p:nvSpPr>
        <p:spPr>
          <a:xfrm>
            <a:off x="731520" y="4224528"/>
            <a:ext cx="4937760" cy="274320"/>
          </a:xfrm>
          <a:prstGeom prst="rect">
            <a:avLst/>
          </a:prstGeom>
          <a:noFill/>
          <a:ln/>
        </p:spPr>
        <p:txBody>
          <a:bodyPr wrap="square" rtlCol="0" anchor="ctr"/>
          <a:lstStyle/>
          <a:p>
            <a:pPr indent="0" marL="0">
              <a:buNone/>
            </a:pPr>
            <a:r>
              <a:rPr lang="en-US" sz="900" dirty="0">
                <a:solidFill>
                  <a:srgbClr val="F8FAFC"/>
                </a:solidFill>
                <a:latin typeface="Calibri" pitchFamily="34" charset="0"/>
                <a:ea typeface="Calibri" pitchFamily="34" charset="-122"/>
                <a:cs typeface="Calibri" pitchFamily="34" charset="-120"/>
              </a:rPr>
              <a:t>•  Taint analysis, flow graphs, call graphs</a:t>
            </a:r>
            <a:endParaRPr lang="en-US" sz="900" dirty="0"/>
          </a:p>
        </p:txBody>
      </p:sp>
      <p:sp>
        <p:nvSpPr>
          <p:cNvPr id="32" name="Text 30"/>
          <p:cNvSpPr/>
          <p:nvPr/>
        </p:nvSpPr>
        <p:spPr>
          <a:xfrm>
            <a:off x="731520" y="4517136"/>
            <a:ext cx="4937760" cy="274320"/>
          </a:xfrm>
          <a:prstGeom prst="rect">
            <a:avLst/>
          </a:prstGeom>
          <a:noFill/>
          <a:ln/>
        </p:spPr>
        <p:txBody>
          <a:bodyPr wrap="square" rtlCol="0" anchor="ctr"/>
          <a:lstStyle/>
          <a:p>
            <a:pPr indent="0" marL="0">
              <a:buNone/>
            </a:pPr>
            <a:r>
              <a:rPr lang="en-US" sz="900" dirty="0">
                <a:solidFill>
                  <a:srgbClr val="F8FAFC"/>
                </a:solidFill>
                <a:latin typeface="Calibri" pitchFamily="34" charset="0"/>
                <a:ea typeface="Calibri" pitchFamily="34" charset="-122"/>
                <a:cs typeface="Calibri" pitchFamily="34" charset="-120"/>
              </a:rPr>
              <a:t>•  Multi-language: JS/TS, Python, Go sidecars</a:t>
            </a:r>
            <a:endParaRPr lang="en-US" sz="900" dirty="0"/>
          </a:p>
        </p:txBody>
      </p:sp>
      <p:sp>
        <p:nvSpPr>
          <p:cNvPr id="33" name="Text 31"/>
          <p:cNvSpPr/>
          <p:nvPr/>
        </p:nvSpPr>
        <p:spPr>
          <a:xfrm>
            <a:off x="731520" y="4809744"/>
            <a:ext cx="4937760" cy="274320"/>
          </a:xfrm>
          <a:prstGeom prst="rect">
            <a:avLst/>
          </a:prstGeom>
          <a:noFill/>
          <a:ln/>
        </p:spPr>
        <p:txBody>
          <a:bodyPr wrap="square" rtlCol="0" anchor="ctr"/>
          <a:lstStyle/>
          <a:p>
            <a:pPr indent="0" marL="0">
              <a:buNone/>
            </a:pPr>
            <a:r>
              <a:rPr lang="en-US" sz="900" dirty="0">
                <a:solidFill>
                  <a:srgbClr val="F8FAFC"/>
                </a:solidFill>
                <a:latin typeface="Calibri" pitchFamily="34" charset="0"/>
                <a:ea typeface="Calibri" pitchFamily="34" charset="-122"/>
                <a:cs typeface="Calibri" pitchFamily="34" charset="-120"/>
              </a:rPr>
              <a:t>•  SHA256 finding fingerprints for evidence</a:t>
            </a:r>
            <a:endParaRPr lang="en-US" sz="900" dirty="0"/>
          </a:p>
        </p:txBody>
      </p:sp>
      <p:sp>
        <p:nvSpPr>
          <p:cNvPr id="34" name="Text 32"/>
          <p:cNvSpPr/>
          <p:nvPr/>
        </p:nvSpPr>
        <p:spPr>
          <a:xfrm>
            <a:off x="731520" y="5102352"/>
            <a:ext cx="4937760" cy="274320"/>
          </a:xfrm>
          <a:prstGeom prst="rect">
            <a:avLst/>
          </a:prstGeom>
          <a:noFill/>
          <a:ln/>
        </p:spPr>
        <p:txBody>
          <a:bodyPr wrap="square" rtlCol="0" anchor="ctr"/>
          <a:lstStyle/>
          <a:p>
            <a:pPr indent="0" marL="0">
              <a:buNone/>
            </a:pPr>
            <a:r>
              <a:rPr lang="en-US" sz="900" dirty="0">
                <a:solidFill>
                  <a:srgbClr val="F8FAFC"/>
                </a:solidFill>
                <a:latin typeface="Calibri" pitchFamily="34" charset="0"/>
                <a:ea typeface="Calibri" pitchFamily="34" charset="-122"/>
                <a:cs typeface="Calibri" pitchFamily="34" charset="-120"/>
              </a:rPr>
              <a:t>•  CI integration with policy enforcement engine</a:t>
            </a:r>
            <a:endParaRPr lang="en-US" sz="900" dirty="0"/>
          </a:p>
        </p:txBody>
      </p:sp>
      <p:sp>
        <p:nvSpPr>
          <p:cNvPr id="35" name="Text 33"/>
          <p:cNvSpPr/>
          <p:nvPr/>
        </p:nvSpPr>
        <p:spPr>
          <a:xfrm>
            <a:off x="731520" y="5394960"/>
            <a:ext cx="4937760" cy="274320"/>
          </a:xfrm>
          <a:prstGeom prst="rect">
            <a:avLst/>
          </a:prstGeom>
          <a:noFill/>
          <a:ln/>
        </p:spPr>
        <p:txBody>
          <a:bodyPr wrap="square" rtlCol="0" anchor="ctr"/>
          <a:lstStyle/>
          <a:p>
            <a:pPr indent="0" marL="0">
              <a:buNone/>
            </a:pPr>
            <a:r>
              <a:rPr lang="en-US" sz="900" dirty="0">
                <a:solidFill>
                  <a:srgbClr val="F8FAFC"/>
                </a:solidFill>
                <a:latin typeface="Calibri" pitchFamily="34" charset="0"/>
                <a:ea typeface="Calibri" pitchFamily="34" charset="-122"/>
                <a:cs typeface="Calibri" pitchFamily="34" charset="-120"/>
              </a:rPr>
              <a:t>•  SARIF export, compliance-mapped findings</a:t>
            </a:r>
            <a:endParaRPr lang="en-US" sz="900" dirty="0"/>
          </a:p>
        </p:txBody>
      </p:sp>
      <p:sp>
        <p:nvSpPr>
          <p:cNvPr id="36" name="Shape 34"/>
          <p:cNvSpPr/>
          <p:nvPr/>
        </p:nvSpPr>
        <p:spPr>
          <a:xfrm>
            <a:off x="6309360" y="3108960"/>
            <a:ext cx="5303520" cy="2560320"/>
          </a:xfrm>
          <a:prstGeom prst="rect">
            <a:avLst>
              <a:gd name="adj" fmla="val 1786"/>
            </a:avLst>
          </a:prstGeom>
          <a:solidFill>
            <a:srgbClr val="1E293B"/>
          </a:solidFill>
          <a:ln w="6350">
            <a:solidFill>
              <a:srgbClr val="334155"/>
            </a:solidFill>
            <a:prstDash val="solid"/>
          </a:ln>
        </p:spPr>
      </p:sp>
      <p:sp>
        <p:nvSpPr>
          <p:cNvPr id="37" name="Text 35"/>
          <p:cNvSpPr/>
          <p:nvPr/>
        </p:nvSpPr>
        <p:spPr>
          <a:xfrm>
            <a:off x="6492240" y="3200400"/>
            <a:ext cx="4937760" cy="320040"/>
          </a:xfrm>
          <a:prstGeom prst="rect">
            <a:avLst/>
          </a:prstGeom>
          <a:noFill/>
          <a:ln/>
        </p:spPr>
        <p:txBody>
          <a:bodyPr wrap="square"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Runtime Testing</a:t>
            </a:r>
            <a:endParaRPr lang="en-US" sz="1300" dirty="0"/>
          </a:p>
        </p:txBody>
      </p:sp>
      <p:sp>
        <p:nvSpPr>
          <p:cNvPr id="38" name="Shape 36"/>
          <p:cNvSpPr/>
          <p:nvPr/>
        </p:nvSpPr>
        <p:spPr>
          <a:xfrm>
            <a:off x="6492240" y="3566160"/>
            <a:ext cx="1645920" cy="274320"/>
          </a:xfrm>
          <a:prstGeom prst="roundRect">
            <a:avLst>
              <a:gd name="adj" fmla="val 10000"/>
            </a:avLst>
          </a:prstGeom>
          <a:solidFill>
            <a:srgbClr val="10B981"/>
          </a:solidFill>
          <a:ln/>
        </p:spPr>
      </p:sp>
      <p:sp>
        <p:nvSpPr>
          <p:cNvPr id="39" name="Text 37"/>
          <p:cNvSpPr/>
          <p:nvPr/>
        </p:nvSpPr>
        <p:spPr>
          <a:xfrm>
            <a:off x="6492240" y="3566160"/>
            <a:ext cx="1645920" cy="274320"/>
          </a:xfrm>
          <a:prstGeom prst="rect">
            <a:avLst/>
          </a:prstGeom>
          <a:noFill/>
          <a:ln/>
        </p:spPr>
        <p:txBody>
          <a:bodyPr wrap="square"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ACTIVE DEVELOPMENT</a:t>
            </a:r>
            <a:endParaRPr lang="en-US" sz="800" dirty="0"/>
          </a:p>
        </p:txBody>
      </p:sp>
      <p:sp>
        <p:nvSpPr>
          <p:cNvPr id="40" name="Text 38"/>
          <p:cNvSpPr/>
          <p:nvPr/>
        </p:nvSpPr>
        <p:spPr>
          <a:xfrm>
            <a:off x="6492240" y="3931920"/>
            <a:ext cx="4937760" cy="274320"/>
          </a:xfrm>
          <a:prstGeom prst="rect">
            <a:avLst/>
          </a:prstGeom>
          <a:noFill/>
          <a:ln/>
        </p:spPr>
        <p:txBody>
          <a:bodyPr wrap="square" rtlCol="0" anchor="ctr"/>
          <a:lstStyle/>
          <a:p>
            <a:pPr indent="0" marL="0">
              <a:buNone/>
            </a:pPr>
            <a:r>
              <a:rPr lang="en-US" sz="900" dirty="0">
                <a:solidFill>
                  <a:srgbClr val="F8FAFC"/>
                </a:solidFill>
                <a:latin typeface="Calibri" pitchFamily="34" charset="0"/>
                <a:ea typeface="Calibri" pitchFamily="34" charset="-122"/>
                <a:cs typeface="Calibri" pitchFamily="34" charset="-120"/>
              </a:rPr>
              <a:t>•  269 attack templates across 6 domain packs</a:t>
            </a:r>
            <a:endParaRPr lang="en-US" sz="900" dirty="0"/>
          </a:p>
        </p:txBody>
      </p:sp>
      <p:sp>
        <p:nvSpPr>
          <p:cNvPr id="41" name="Text 39"/>
          <p:cNvSpPr/>
          <p:nvPr/>
        </p:nvSpPr>
        <p:spPr>
          <a:xfrm>
            <a:off x="6492240" y="4224528"/>
            <a:ext cx="4937760" cy="274320"/>
          </a:xfrm>
          <a:prstGeom prst="rect">
            <a:avLst/>
          </a:prstGeom>
          <a:noFill/>
          <a:ln/>
        </p:spPr>
        <p:txBody>
          <a:bodyPr wrap="square" rtlCol="0" anchor="ctr"/>
          <a:lstStyle/>
          <a:p>
            <a:pPr indent="0" marL="0">
              <a:buNone/>
            </a:pPr>
            <a:r>
              <a:rPr lang="en-US" sz="900" dirty="0">
                <a:solidFill>
                  <a:srgbClr val="F8FAFC"/>
                </a:solidFill>
                <a:latin typeface="Calibri" pitchFamily="34" charset="0"/>
                <a:ea typeface="Calibri" pitchFamily="34" charset="-122"/>
                <a:cs typeface="Calibri" pitchFamily="34" charset="-120"/>
              </a:rPr>
              <a:t>•  14 safety properties (secret leakage, injection, behavior)</a:t>
            </a:r>
            <a:endParaRPr lang="en-US" sz="900" dirty="0"/>
          </a:p>
        </p:txBody>
      </p:sp>
      <p:sp>
        <p:nvSpPr>
          <p:cNvPr id="42" name="Text 40"/>
          <p:cNvSpPr/>
          <p:nvPr/>
        </p:nvSpPr>
        <p:spPr>
          <a:xfrm>
            <a:off x="6492240" y="4517136"/>
            <a:ext cx="4937760" cy="274320"/>
          </a:xfrm>
          <a:prstGeom prst="rect">
            <a:avLst/>
          </a:prstGeom>
          <a:noFill/>
          <a:ln/>
        </p:spPr>
        <p:txBody>
          <a:bodyPr wrap="square" rtlCol="0" anchor="ctr"/>
          <a:lstStyle/>
          <a:p>
            <a:pPr indent="0" marL="0">
              <a:buNone/>
            </a:pPr>
            <a:r>
              <a:rPr lang="en-US" sz="900" dirty="0">
                <a:solidFill>
                  <a:srgbClr val="F8FAFC"/>
                </a:solidFill>
                <a:latin typeface="Calibri" pitchFamily="34" charset="0"/>
                <a:ea typeface="Calibri" pitchFamily="34" charset="-122"/>
                <a:cs typeface="Calibri" pitchFamily="34" charset="-120"/>
              </a:rPr>
              <a:t>•  Domain authorization required before testing</a:t>
            </a:r>
            <a:endParaRPr lang="en-US" sz="900" dirty="0"/>
          </a:p>
        </p:txBody>
      </p:sp>
      <p:sp>
        <p:nvSpPr>
          <p:cNvPr id="43" name="Text 41"/>
          <p:cNvSpPr/>
          <p:nvPr/>
        </p:nvSpPr>
        <p:spPr>
          <a:xfrm>
            <a:off x="6492240" y="4809744"/>
            <a:ext cx="4937760" cy="274320"/>
          </a:xfrm>
          <a:prstGeom prst="rect">
            <a:avLst/>
          </a:prstGeom>
          <a:noFill/>
          <a:ln/>
        </p:spPr>
        <p:txBody>
          <a:bodyPr wrap="square" rtlCol="0" anchor="ctr"/>
          <a:lstStyle/>
          <a:p>
            <a:pPr indent="0" marL="0">
              <a:buNone/>
            </a:pPr>
            <a:r>
              <a:rPr lang="en-US" sz="900" dirty="0">
                <a:solidFill>
                  <a:srgbClr val="F8FAFC"/>
                </a:solidFill>
                <a:latin typeface="Calibri" pitchFamily="34" charset="0"/>
                <a:ea typeface="Calibri" pitchFamily="34" charset="-122"/>
                <a:cs typeface="Calibri" pitchFamily="34" charset="-120"/>
              </a:rPr>
              <a:t>•  Rate-limited, tiered orchestration (4 tiers)</a:t>
            </a:r>
            <a:endParaRPr lang="en-US" sz="900" dirty="0"/>
          </a:p>
        </p:txBody>
      </p:sp>
      <p:sp>
        <p:nvSpPr>
          <p:cNvPr id="44" name="Text 42"/>
          <p:cNvSpPr/>
          <p:nvPr/>
        </p:nvSpPr>
        <p:spPr>
          <a:xfrm>
            <a:off x="6492240" y="5102352"/>
            <a:ext cx="4937760" cy="274320"/>
          </a:xfrm>
          <a:prstGeom prst="rect">
            <a:avLst/>
          </a:prstGeom>
          <a:noFill/>
          <a:ln/>
        </p:spPr>
        <p:txBody>
          <a:bodyPr wrap="square" rtlCol="0" anchor="ctr"/>
          <a:lstStyle/>
          <a:p>
            <a:pPr indent="0" marL="0">
              <a:buNone/>
            </a:pPr>
            <a:r>
              <a:rPr lang="en-US" sz="900" dirty="0">
                <a:solidFill>
                  <a:srgbClr val="F8FAFC"/>
                </a:solidFill>
                <a:latin typeface="Calibri" pitchFamily="34" charset="0"/>
                <a:ea typeface="Calibri" pitchFamily="34" charset="-122"/>
                <a:cs typeface="Calibri" pitchFamily="34" charset="-120"/>
              </a:rPr>
              <a:t>•  Two-phase atomic finalization with Prisma transaction</a:t>
            </a:r>
            <a:endParaRPr lang="en-US" sz="900" dirty="0"/>
          </a:p>
        </p:txBody>
      </p:sp>
      <p:sp>
        <p:nvSpPr>
          <p:cNvPr id="45" name="Text 43"/>
          <p:cNvSpPr/>
          <p:nvPr/>
        </p:nvSpPr>
        <p:spPr>
          <a:xfrm>
            <a:off x="6492240" y="5394960"/>
            <a:ext cx="4937760" cy="274320"/>
          </a:xfrm>
          <a:prstGeom prst="rect">
            <a:avLst/>
          </a:prstGeom>
          <a:noFill/>
          <a:ln/>
        </p:spPr>
        <p:txBody>
          <a:bodyPr wrap="square" rtlCol="0" anchor="ctr"/>
          <a:lstStyle/>
          <a:p>
            <a:pPr indent="0" marL="0">
              <a:buNone/>
            </a:pPr>
            <a:r>
              <a:rPr lang="en-US" sz="900" dirty="0">
                <a:solidFill>
                  <a:srgbClr val="F8FAFC"/>
                </a:solidFill>
                <a:latin typeface="Calibri" pitchFamily="34" charset="0"/>
                <a:ea typeface="Calibri" pitchFamily="34" charset="-122"/>
                <a:cs typeface="Calibri" pitchFamily="34" charset="-120"/>
              </a:rPr>
              <a:t>•  Static-runtime finding correlation</a:t>
            </a:r>
            <a:endParaRPr lang="en-US" sz="900" dirty="0"/>
          </a:p>
        </p:txBody>
      </p:sp>
      <p:sp>
        <p:nvSpPr>
          <p:cNvPr id="46" name="Text 44"/>
          <p:cNvSpPr/>
          <p:nvPr/>
        </p:nvSpPr>
        <p:spPr>
          <a:xfrm>
            <a:off x="548640" y="5760720"/>
            <a:ext cx="10972800" cy="274320"/>
          </a:xfrm>
          <a:prstGeom prst="rect">
            <a:avLst/>
          </a:prstGeom>
          <a:noFill/>
          <a:ln/>
        </p:spPr>
        <p:txBody>
          <a:bodyPr wrap="square" rtlCol="0" anchor="t"/>
          <a:lstStyle/>
          <a:p>
            <a:pPr algn="l" indent="0" marL="0">
              <a:lnSpc>
                <a:spcPct val="120000"/>
              </a:lnSpc>
              <a:buNone/>
            </a:pPr>
            <a:r>
              <a:rPr lang="en-US" sz="1000" b="1" dirty="0">
                <a:solidFill>
                  <a:srgbClr val="10B981"/>
                </a:solidFill>
                <a:latin typeface="Calibri" pitchFamily="34" charset="0"/>
                <a:ea typeface="Calibri" pitchFamily="34" charset="-122"/>
                <a:cs typeface="Calibri" pitchFamily="34" charset="-120"/>
              </a:rPr>
              <a:t>Every finding carries a rule ID, a code path, a line number, and the missing guard. Deterministic rule-based analysis. Every finding is traceable.</a:t>
            </a:r>
            <a:endParaRPr lang="en-US" sz="1000" dirty="0"/>
          </a:p>
        </p:txBody>
      </p:sp>
      <p:sp>
        <p:nvSpPr>
          <p:cNvPr id="47" name="Text 45"/>
          <p:cNvSpPr/>
          <p:nvPr/>
        </p:nvSpPr>
        <p:spPr>
          <a:xfrm>
            <a:off x="548640" y="6126480"/>
            <a:ext cx="10972800" cy="274320"/>
          </a:xfrm>
          <a:prstGeom prst="rect">
            <a:avLst/>
          </a:prstGeom>
          <a:noFill/>
          <a:ln/>
        </p:spPr>
        <p:txBody>
          <a:bodyPr wrap="square" rtlCol="0" anchor="t"/>
          <a:lstStyle/>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Maturity: Static engine — Implemented. Runtime engine — Active development with full execution path operational.</a:t>
            </a:r>
            <a:endParaRPr lang="en-US" sz="900" dirty="0"/>
          </a:p>
        </p:txBody>
      </p:sp>
      <p:sp>
        <p:nvSpPr>
          <p:cNvPr id="48" name="Text 46"/>
          <p:cNvSpPr/>
          <p:nvPr/>
        </p:nvSpPr>
        <p:spPr>
          <a:xfrm>
            <a:off x="274320" y="6537960"/>
            <a:ext cx="7315200" cy="22860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HAIEC  ·  Confidential Discussion Brief  ·  6/14</a:t>
            </a:r>
            <a:endParaRPr lang="en-US" sz="800" dirty="0"/>
          </a:p>
        </p:txBody>
      </p:sp>
      <p:sp>
        <p:nvSpPr>
          <p:cNvPr id="49" name="Text 47"/>
          <p:cNvSpPr/>
          <p:nvPr/>
        </p:nvSpPr>
        <p:spPr>
          <a:xfrm>
            <a:off x="9448495" y="6537960"/>
            <a:ext cx="2468880" cy="228600"/>
          </a:xfrm>
          <a:prstGeom prst="rect">
            <a:avLst/>
          </a:prstGeom>
          <a:noFill/>
          <a:ln/>
        </p:spPr>
        <p:txBody>
          <a:bodyPr wrap="square" rtlCol="0" anchor="ctr"/>
          <a:lstStyle/>
          <a:p>
            <a:pPr algn="r" indent="0" marL="0">
              <a:buNone/>
            </a:pPr>
            <a:r>
              <a:rPr lang="en-US" sz="800" dirty="0">
                <a:solidFill>
                  <a:srgbClr val="64748B"/>
                </a:solidFill>
                <a:latin typeface="Courier New" pitchFamily="34" charset="0"/>
                <a:ea typeface="Courier New" pitchFamily="34" charset="-122"/>
                <a:cs typeface="Courier New" pitchFamily="34" charset="-120"/>
              </a:rPr>
              <a:t>v1.0  ·  2026-07-31</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365760"/>
            <a:ext cx="11094415" cy="502920"/>
          </a:xfrm>
          <a:prstGeom prst="rect">
            <a:avLst/>
          </a:prstGeom>
          <a:noFill/>
          <a:ln/>
        </p:spPr>
        <p:txBody>
          <a:bodyPr wrap="square" rtlCol="0" anchor="ctr"/>
          <a:lstStyle/>
          <a:p>
            <a:pPr algn="l" indent="0" marL="0">
              <a:buNone/>
            </a:pPr>
            <a:r>
              <a:rPr lang="en-US" sz="2600" b="1" dirty="0">
                <a:solidFill>
                  <a:srgbClr val="F8FAFC"/>
                </a:solidFill>
                <a:latin typeface="Calibri" pitchFamily="34" charset="0"/>
                <a:ea typeface="Calibri" pitchFamily="34" charset="-122"/>
                <a:cs typeface="Calibri" pitchFamily="34" charset="-120"/>
              </a:rPr>
              <a:t>The evidence architecture is the core asset.</a:t>
            </a:r>
            <a:endParaRPr lang="en-US" sz="2600" dirty="0"/>
          </a:p>
        </p:txBody>
      </p:sp>
      <p:sp>
        <p:nvSpPr>
          <p:cNvPr id="3" name="Shape 1"/>
          <p:cNvSpPr/>
          <p:nvPr/>
        </p:nvSpPr>
        <p:spPr>
          <a:xfrm>
            <a:off x="548640" y="914400"/>
            <a:ext cx="1371600" cy="36576"/>
          </a:xfrm>
          <a:prstGeom prst="rect">
            <a:avLst/>
          </a:prstGeom>
          <a:solidFill>
            <a:srgbClr val="10B981"/>
          </a:solidFill>
          <a:ln/>
        </p:spPr>
      </p:sp>
      <p:sp>
        <p:nvSpPr>
          <p:cNvPr id="4" name="Shape 2"/>
          <p:cNvSpPr/>
          <p:nvPr/>
        </p:nvSpPr>
        <p:spPr>
          <a:xfrm>
            <a:off x="548640" y="1371600"/>
            <a:ext cx="2011680" cy="2011680"/>
          </a:xfrm>
          <a:prstGeom prst="rect">
            <a:avLst>
              <a:gd name="adj" fmla="val 2273"/>
            </a:avLst>
          </a:prstGeom>
          <a:solidFill>
            <a:srgbClr val="059669"/>
          </a:solidFill>
          <a:ln w="6350">
            <a:solidFill>
              <a:srgbClr val="10B981"/>
            </a:solidFill>
            <a:prstDash val="solid"/>
          </a:ln>
        </p:spPr>
      </p:sp>
      <p:sp>
        <p:nvSpPr>
          <p:cNvPr id="5" name="Text 3"/>
          <p:cNvSpPr/>
          <p:nvPr/>
        </p:nvSpPr>
        <p:spPr>
          <a:xfrm>
            <a:off x="640080" y="1463040"/>
            <a:ext cx="1828800" cy="640080"/>
          </a:xfrm>
          <a:prstGeom prst="rect">
            <a:avLst/>
          </a:prstGeom>
          <a:noFill/>
          <a:ln/>
        </p:spPr>
        <p:txBody>
          <a:bodyPr wrap="square"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Finding</a:t>
            </a:r>
            <a:endParaRPr lang="en-US" sz="1100" dirty="0"/>
          </a:p>
        </p:txBody>
      </p:sp>
      <p:sp>
        <p:nvSpPr>
          <p:cNvPr id="6" name="Text 4"/>
          <p:cNvSpPr/>
          <p:nvPr/>
        </p:nvSpPr>
        <p:spPr>
          <a:xfrm>
            <a:off x="640080" y="2194560"/>
            <a:ext cx="1828800" cy="1097280"/>
          </a:xfrm>
          <a:prstGeom prst="rect">
            <a:avLst/>
          </a:prstGeom>
          <a:noFill/>
          <a:ln/>
        </p:spPr>
        <p:txBody>
          <a:bodyPr wrap="square" rtlCol="0" anchor="t"/>
          <a:lstStyle/>
          <a:p>
            <a:pPr algn="ctr" indent="0" marL="0">
              <a:buNone/>
            </a:pPr>
            <a:r>
              <a:rPr lang="en-US" sz="800" dirty="0">
                <a:solidFill>
                  <a:srgbClr val="94A3B8"/>
                </a:solidFill>
                <a:latin typeface="Courier New" pitchFamily="34" charset="0"/>
                <a:ea typeface="Courier New" pitchFamily="34" charset="-122"/>
                <a:cs typeface="Courier New" pitchFamily="34" charset="-120"/>
              </a:rPr>
              <a:t>+ Source/Response</a:t>
            </a:r>
            <a:endParaRPr lang="en-US" sz="800" dirty="0"/>
          </a:p>
          <a:p>
            <a:pPr algn="ctr" indent="0" marL="0">
              <a:buNone/>
            </a:pPr>
            <a:r>
              <a:rPr lang="en-US" sz="800" dirty="0">
                <a:solidFill>
                  <a:srgbClr val="94A3B8"/>
                </a:solidFill>
                <a:latin typeface="Courier New" pitchFamily="34" charset="0"/>
                <a:ea typeface="Courier New" pitchFamily="34" charset="-122"/>
                <a:cs typeface="Courier New" pitchFamily="34" charset="-120"/>
              </a:rPr>
              <a:t>+ Trace + Scope</a:t>
            </a:r>
            <a:endParaRPr lang="en-US" sz="800" dirty="0"/>
          </a:p>
          <a:p>
            <a:pPr algn="ctr" indent="0" marL="0">
              <a:buNone/>
            </a:pPr>
            <a:r>
              <a:rPr lang="en-US" sz="800" dirty="0">
                <a:solidFill>
                  <a:srgbClr val="94A3B8"/>
                </a:solidFill>
                <a:latin typeface="Courier New" pitchFamily="34" charset="0"/>
                <a:ea typeface="Courier New" pitchFamily="34" charset="-122"/>
                <a:cs typeface="Courier New" pitchFamily="34" charset="-120"/>
              </a:rPr>
              <a:t>+ Version + Mapping</a:t>
            </a:r>
            <a:endParaRPr lang="en-US" sz="800" dirty="0"/>
          </a:p>
          <a:p>
            <a:pPr algn="ctr" indent="0" marL="0">
              <a:buNone/>
            </a:pPr>
            <a:r>
              <a:rPr lang="en-US" sz="800" dirty="0">
                <a:solidFill>
                  <a:srgbClr val="94A3B8"/>
                </a:solidFill>
                <a:latin typeface="Courier New" pitchFamily="34" charset="0"/>
                <a:ea typeface="Courier New" pitchFamily="34" charset="-122"/>
                <a:cs typeface="Courier New" pitchFamily="34" charset="-120"/>
              </a:rPr>
              <a:t>+ Timestamp</a:t>
            </a:r>
            <a:endParaRPr lang="en-US" sz="800" dirty="0"/>
          </a:p>
        </p:txBody>
      </p:sp>
      <p:sp>
        <p:nvSpPr>
          <p:cNvPr id="7" name="Shape 5"/>
          <p:cNvSpPr/>
          <p:nvPr/>
        </p:nvSpPr>
        <p:spPr>
          <a:xfrm>
            <a:off x="2606040" y="2377440"/>
            <a:ext cx="182880" cy="0"/>
          </a:xfrm>
          <a:prstGeom prst="line">
            <a:avLst/>
          </a:prstGeom>
          <a:noFill/>
          <a:ln w="19050">
            <a:solidFill>
              <a:srgbClr val="10B981"/>
            </a:solidFill>
            <a:prstDash val="solid"/>
            <a:tailEnd type="triangle"/>
          </a:ln>
        </p:spPr>
      </p:sp>
      <p:sp>
        <p:nvSpPr>
          <p:cNvPr id="8" name="Shape 6"/>
          <p:cNvSpPr/>
          <p:nvPr/>
        </p:nvSpPr>
        <p:spPr>
          <a:xfrm>
            <a:off x="2834640" y="1371600"/>
            <a:ext cx="1828800" cy="2011680"/>
          </a:xfrm>
          <a:prstGeom prst="rect">
            <a:avLst>
              <a:gd name="adj" fmla="val 2500"/>
            </a:avLst>
          </a:prstGeom>
          <a:solidFill>
            <a:srgbClr val="1E293B"/>
          </a:solidFill>
          <a:ln w="6350">
            <a:solidFill>
              <a:srgbClr val="334155"/>
            </a:solidFill>
            <a:prstDash val="solid"/>
          </a:ln>
        </p:spPr>
      </p:sp>
      <p:sp>
        <p:nvSpPr>
          <p:cNvPr id="9" name="Text 7"/>
          <p:cNvSpPr/>
          <p:nvPr/>
        </p:nvSpPr>
        <p:spPr>
          <a:xfrm>
            <a:off x="2926080" y="1463040"/>
            <a:ext cx="1645920" cy="640080"/>
          </a:xfrm>
          <a:prstGeom prst="rect">
            <a:avLst/>
          </a:prstGeom>
          <a:noFill/>
          <a:ln/>
        </p:spPr>
        <p:txBody>
          <a:bodyPr wrap="square"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Canonical</a:t>
            </a:r>
            <a:endParaRPr lang="en-US" sz="1100" dirty="0"/>
          </a:p>
          <a:p>
            <a:pPr algn="ctr" indent="0" marL="0">
              <a:buNone/>
            </a:pPr>
            <a:r>
              <a:rPr lang="en-US" sz="1100" b="1" dirty="0">
                <a:solidFill>
                  <a:srgbClr val="F8FAFC"/>
                </a:solidFill>
                <a:latin typeface="Calibri" pitchFamily="34" charset="0"/>
                <a:ea typeface="Calibri" pitchFamily="34" charset="-122"/>
                <a:cs typeface="Calibri" pitchFamily="34" charset="-120"/>
              </a:rPr>
              <a:t>Evidence</a:t>
            </a:r>
            <a:endParaRPr lang="en-US" sz="1100" dirty="0"/>
          </a:p>
          <a:p>
            <a:pPr algn="ctr" indent="0" marL="0">
              <a:buNone/>
            </a:pPr>
            <a:r>
              <a:rPr lang="en-US" sz="1100" b="1" dirty="0">
                <a:solidFill>
                  <a:srgbClr val="F8FAFC"/>
                </a:solidFill>
                <a:latin typeface="Calibri" pitchFamily="34" charset="0"/>
                <a:ea typeface="Calibri" pitchFamily="34" charset="-122"/>
                <a:cs typeface="Calibri" pitchFamily="34" charset="-120"/>
              </a:rPr>
              <a:t>Manifest</a:t>
            </a:r>
            <a:endParaRPr lang="en-US" sz="1100" dirty="0"/>
          </a:p>
        </p:txBody>
      </p:sp>
      <p:sp>
        <p:nvSpPr>
          <p:cNvPr id="10" name="Text 8"/>
          <p:cNvSpPr/>
          <p:nvPr/>
        </p:nvSpPr>
        <p:spPr>
          <a:xfrm>
            <a:off x="2926080" y="2194560"/>
            <a:ext cx="1645920" cy="1097280"/>
          </a:xfrm>
          <a:prstGeom prst="rect">
            <a:avLst/>
          </a:prstGeom>
          <a:noFill/>
          <a:ln/>
        </p:spPr>
        <p:txBody>
          <a:bodyPr wrap="square" rtlCol="0" anchor="t"/>
          <a:lstStyle/>
          <a:p>
            <a:pPr algn="ctr" indent="0" marL="0">
              <a:buNone/>
            </a:pPr>
            <a:r>
              <a:rPr lang="en-US" sz="800" dirty="0">
                <a:solidFill>
                  <a:srgbClr val="94A3B8"/>
                </a:solidFill>
                <a:latin typeface="Courier New" pitchFamily="34" charset="0"/>
                <a:ea typeface="Courier New" pitchFamily="34" charset="-122"/>
                <a:cs typeface="Courier New" pitchFamily="34" charset="-120"/>
              </a:rPr>
              <a:t>Structured</a:t>
            </a:r>
            <a:endParaRPr lang="en-US" sz="800" dirty="0"/>
          </a:p>
          <a:p>
            <a:pPr algn="ctr" indent="0" marL="0">
              <a:buNone/>
            </a:pPr>
            <a:r>
              <a:rPr lang="en-US" sz="800" dirty="0">
                <a:solidFill>
                  <a:srgbClr val="94A3B8"/>
                </a:solidFill>
                <a:latin typeface="Courier New" pitchFamily="34" charset="0"/>
                <a:ea typeface="Courier New" pitchFamily="34" charset="-122"/>
                <a:cs typeface="Courier New" pitchFamily="34" charset="-120"/>
              </a:rPr>
              <a:t>normalized</a:t>
            </a:r>
            <a:endParaRPr lang="en-US" sz="800" dirty="0"/>
          </a:p>
          <a:p>
            <a:pPr algn="ctr" indent="0" marL="0">
              <a:buNone/>
            </a:pPr>
            <a:r>
              <a:rPr lang="en-US" sz="800" dirty="0">
                <a:solidFill>
                  <a:srgbClr val="94A3B8"/>
                </a:solidFill>
                <a:latin typeface="Courier New" pitchFamily="34" charset="0"/>
                <a:ea typeface="Courier New" pitchFamily="34" charset="-122"/>
                <a:cs typeface="Courier New" pitchFamily="34" charset="-120"/>
              </a:rPr>
              <a:t>record</a:t>
            </a:r>
            <a:endParaRPr lang="en-US" sz="800" dirty="0"/>
          </a:p>
        </p:txBody>
      </p:sp>
      <p:sp>
        <p:nvSpPr>
          <p:cNvPr id="11" name="Shape 9"/>
          <p:cNvSpPr/>
          <p:nvPr/>
        </p:nvSpPr>
        <p:spPr>
          <a:xfrm>
            <a:off x="4709160" y="2377440"/>
            <a:ext cx="182880" cy="0"/>
          </a:xfrm>
          <a:prstGeom prst="line">
            <a:avLst/>
          </a:prstGeom>
          <a:noFill/>
          <a:ln w="19050">
            <a:solidFill>
              <a:srgbClr val="10B981"/>
            </a:solidFill>
            <a:prstDash val="solid"/>
            <a:tailEnd type="triangle"/>
          </a:ln>
        </p:spPr>
      </p:sp>
      <p:sp>
        <p:nvSpPr>
          <p:cNvPr id="12" name="Shape 10"/>
          <p:cNvSpPr/>
          <p:nvPr/>
        </p:nvSpPr>
        <p:spPr>
          <a:xfrm>
            <a:off x="4937760" y="1371600"/>
            <a:ext cx="1828800" cy="2011680"/>
          </a:xfrm>
          <a:prstGeom prst="rect">
            <a:avLst>
              <a:gd name="adj" fmla="val 2500"/>
            </a:avLst>
          </a:prstGeom>
          <a:solidFill>
            <a:srgbClr val="1E293B"/>
          </a:solidFill>
          <a:ln w="6350">
            <a:solidFill>
              <a:srgbClr val="334155"/>
            </a:solidFill>
            <a:prstDash val="solid"/>
          </a:ln>
        </p:spPr>
      </p:sp>
      <p:sp>
        <p:nvSpPr>
          <p:cNvPr id="13" name="Text 11"/>
          <p:cNvSpPr/>
          <p:nvPr/>
        </p:nvSpPr>
        <p:spPr>
          <a:xfrm>
            <a:off x="5029200" y="1463040"/>
            <a:ext cx="1645920" cy="640080"/>
          </a:xfrm>
          <a:prstGeom prst="rect">
            <a:avLst/>
          </a:prstGeom>
          <a:noFill/>
          <a:ln/>
        </p:spPr>
        <p:txBody>
          <a:bodyPr wrap="square"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Integrity</a:t>
            </a:r>
            <a:endParaRPr lang="en-US" sz="1100" dirty="0"/>
          </a:p>
          <a:p>
            <a:pPr algn="ctr" indent="0" marL="0">
              <a:buNone/>
            </a:pPr>
            <a:r>
              <a:rPr lang="en-US" sz="1100" b="1" dirty="0">
                <a:solidFill>
                  <a:srgbClr val="F8FAFC"/>
                </a:solidFill>
                <a:latin typeface="Calibri" pitchFamily="34" charset="0"/>
                <a:ea typeface="Calibri" pitchFamily="34" charset="-122"/>
                <a:cs typeface="Calibri" pitchFamily="34" charset="-120"/>
              </a:rPr>
              <a:t>Fingerprint</a:t>
            </a:r>
            <a:endParaRPr lang="en-US" sz="1100" dirty="0"/>
          </a:p>
        </p:txBody>
      </p:sp>
      <p:sp>
        <p:nvSpPr>
          <p:cNvPr id="14" name="Text 12"/>
          <p:cNvSpPr/>
          <p:nvPr/>
        </p:nvSpPr>
        <p:spPr>
          <a:xfrm>
            <a:off x="5029200" y="2194560"/>
            <a:ext cx="1645920" cy="1097280"/>
          </a:xfrm>
          <a:prstGeom prst="rect">
            <a:avLst/>
          </a:prstGeom>
          <a:noFill/>
          <a:ln/>
        </p:spPr>
        <p:txBody>
          <a:bodyPr wrap="square" rtlCol="0" anchor="t"/>
          <a:lstStyle/>
          <a:p>
            <a:pPr algn="ctr" indent="0" marL="0">
              <a:buNone/>
            </a:pPr>
            <a:r>
              <a:rPr lang="en-US" sz="800" dirty="0">
                <a:solidFill>
                  <a:srgbClr val="94A3B8"/>
                </a:solidFill>
                <a:latin typeface="Courier New" pitchFamily="34" charset="0"/>
                <a:ea typeface="Courier New" pitchFamily="34" charset="-122"/>
                <a:cs typeface="Courier New" pitchFamily="34" charset="-120"/>
              </a:rPr>
              <a:t>SHA256</a:t>
            </a:r>
            <a:endParaRPr lang="en-US" sz="800" dirty="0"/>
          </a:p>
          <a:p>
            <a:pPr algn="ctr" indent="0" marL="0">
              <a:buNone/>
            </a:pPr>
            <a:r>
              <a:rPr lang="en-US" sz="800" dirty="0">
                <a:solidFill>
                  <a:srgbClr val="94A3B8"/>
                </a:solidFill>
                <a:latin typeface="Courier New" pitchFamily="34" charset="0"/>
                <a:ea typeface="Courier New" pitchFamily="34" charset="-122"/>
                <a:cs typeface="Courier New" pitchFamily="34" charset="-120"/>
              </a:rPr>
              <a:t>content hash</a:t>
            </a:r>
            <a:endParaRPr lang="en-US" sz="800" dirty="0"/>
          </a:p>
          <a:p>
            <a:pPr algn="ctr" indent="0" marL="0">
              <a:buNone/>
            </a:pPr>
            <a:r>
              <a:rPr lang="en-US" sz="800" dirty="0">
                <a:solidFill>
                  <a:srgbClr val="94A3B8"/>
                </a:solidFill>
                <a:latin typeface="Courier New" pitchFamily="34" charset="0"/>
                <a:ea typeface="Courier New" pitchFamily="34" charset="-122"/>
                <a:cs typeface="Courier New" pitchFamily="34" charset="-120"/>
              </a:rPr>
              <a:t>+ version pin</a:t>
            </a:r>
            <a:endParaRPr lang="en-US" sz="800" dirty="0"/>
          </a:p>
        </p:txBody>
      </p:sp>
      <p:sp>
        <p:nvSpPr>
          <p:cNvPr id="15" name="Shape 13"/>
          <p:cNvSpPr/>
          <p:nvPr/>
        </p:nvSpPr>
        <p:spPr>
          <a:xfrm>
            <a:off x="6812280" y="2377440"/>
            <a:ext cx="182880" cy="0"/>
          </a:xfrm>
          <a:prstGeom prst="line">
            <a:avLst/>
          </a:prstGeom>
          <a:noFill/>
          <a:ln w="19050">
            <a:solidFill>
              <a:srgbClr val="10B981"/>
            </a:solidFill>
            <a:prstDash val="solid"/>
            <a:tailEnd type="triangle"/>
          </a:ln>
        </p:spPr>
      </p:sp>
      <p:sp>
        <p:nvSpPr>
          <p:cNvPr id="16" name="Shape 14"/>
          <p:cNvSpPr/>
          <p:nvPr/>
        </p:nvSpPr>
        <p:spPr>
          <a:xfrm>
            <a:off x="7040880" y="1371600"/>
            <a:ext cx="1828800" cy="2011680"/>
          </a:xfrm>
          <a:prstGeom prst="rect">
            <a:avLst>
              <a:gd name="adj" fmla="val 2500"/>
            </a:avLst>
          </a:prstGeom>
          <a:solidFill>
            <a:srgbClr val="1E293B"/>
          </a:solidFill>
          <a:ln w="6350">
            <a:solidFill>
              <a:srgbClr val="334155"/>
            </a:solidFill>
            <a:prstDash val="solid"/>
          </a:ln>
        </p:spPr>
      </p:sp>
      <p:sp>
        <p:nvSpPr>
          <p:cNvPr id="17" name="Text 15"/>
          <p:cNvSpPr/>
          <p:nvPr/>
        </p:nvSpPr>
        <p:spPr>
          <a:xfrm>
            <a:off x="7132320" y="1463040"/>
            <a:ext cx="1645920" cy="640080"/>
          </a:xfrm>
          <a:prstGeom prst="rect">
            <a:avLst/>
          </a:prstGeom>
          <a:noFill/>
          <a:ln/>
        </p:spPr>
        <p:txBody>
          <a:bodyPr wrap="square"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Audit</a:t>
            </a:r>
            <a:endParaRPr lang="en-US" sz="1100" dirty="0"/>
          </a:p>
          <a:p>
            <a:pPr algn="ctr" indent="0" marL="0">
              <a:buNone/>
            </a:pPr>
            <a:r>
              <a:rPr lang="en-US" sz="1100" b="1" dirty="0">
                <a:solidFill>
                  <a:srgbClr val="F8FAFC"/>
                </a:solidFill>
                <a:latin typeface="Calibri" pitchFamily="34" charset="0"/>
                <a:ea typeface="Calibri" pitchFamily="34" charset="-122"/>
                <a:cs typeface="Calibri" pitchFamily="34" charset="-120"/>
              </a:rPr>
              <a:t>Package</a:t>
            </a:r>
            <a:endParaRPr lang="en-US" sz="1100" dirty="0"/>
          </a:p>
        </p:txBody>
      </p:sp>
      <p:sp>
        <p:nvSpPr>
          <p:cNvPr id="18" name="Text 16"/>
          <p:cNvSpPr/>
          <p:nvPr/>
        </p:nvSpPr>
        <p:spPr>
          <a:xfrm>
            <a:off x="7132320" y="2194560"/>
            <a:ext cx="1645920" cy="1097280"/>
          </a:xfrm>
          <a:prstGeom prst="rect">
            <a:avLst/>
          </a:prstGeom>
          <a:noFill/>
          <a:ln/>
        </p:spPr>
        <p:txBody>
          <a:bodyPr wrap="square" rtlCol="0" anchor="t"/>
          <a:lstStyle/>
          <a:p>
            <a:pPr algn="ctr" indent="0" marL="0">
              <a:buNone/>
            </a:pPr>
            <a:r>
              <a:rPr lang="en-US" sz="800" dirty="0">
                <a:solidFill>
                  <a:srgbClr val="94A3B8"/>
                </a:solidFill>
                <a:latin typeface="Courier New" pitchFamily="34" charset="0"/>
                <a:ea typeface="Courier New" pitchFamily="34" charset="-122"/>
                <a:cs typeface="Courier New" pitchFamily="34" charset="-120"/>
              </a:rPr>
              <a:t>DIS + nodes</a:t>
            </a:r>
            <a:endParaRPr lang="en-US" sz="800" dirty="0"/>
          </a:p>
          <a:p>
            <a:pPr algn="ctr" indent="0" marL="0">
              <a:buNone/>
            </a:pPr>
            <a:r>
              <a:rPr lang="en-US" sz="800" dirty="0">
                <a:solidFill>
                  <a:srgbClr val="94A3B8"/>
                </a:solidFill>
                <a:latin typeface="Courier New" pitchFamily="34" charset="0"/>
                <a:ea typeface="Courier New" pitchFamily="34" charset="-122"/>
                <a:cs typeface="Courier New" pitchFamily="34" charset="-120"/>
              </a:rPr>
              <a:t>+ framework</a:t>
            </a:r>
            <a:endParaRPr lang="en-US" sz="800" dirty="0"/>
          </a:p>
          <a:p>
            <a:pPr algn="ctr" indent="0" marL="0">
              <a:buNone/>
            </a:pPr>
            <a:r>
              <a:rPr lang="en-US" sz="800" dirty="0">
                <a:solidFill>
                  <a:srgbClr val="94A3B8"/>
                </a:solidFill>
                <a:latin typeface="Courier New" pitchFamily="34" charset="0"/>
                <a:ea typeface="Courier New" pitchFamily="34" charset="-122"/>
                <a:cs typeface="Courier New" pitchFamily="34" charset="-120"/>
              </a:rPr>
              <a:t>mappings</a:t>
            </a:r>
            <a:endParaRPr lang="en-US" sz="800" dirty="0"/>
          </a:p>
          <a:p>
            <a:pPr algn="ctr" indent="0" marL="0">
              <a:buNone/>
            </a:pPr>
            <a:r>
              <a:rPr lang="en-US" sz="800" dirty="0">
                <a:solidFill>
                  <a:srgbClr val="94A3B8"/>
                </a:solidFill>
                <a:latin typeface="Courier New" pitchFamily="34" charset="0"/>
                <a:ea typeface="Courier New" pitchFamily="34" charset="-122"/>
                <a:cs typeface="Courier New" pitchFamily="34" charset="-120"/>
              </a:rPr>
              <a:t>+ review chain</a:t>
            </a:r>
            <a:endParaRPr lang="en-US" sz="800" dirty="0"/>
          </a:p>
        </p:txBody>
      </p:sp>
      <p:sp>
        <p:nvSpPr>
          <p:cNvPr id="19" name="Shape 17"/>
          <p:cNvSpPr/>
          <p:nvPr/>
        </p:nvSpPr>
        <p:spPr>
          <a:xfrm>
            <a:off x="8915400" y="2377440"/>
            <a:ext cx="182880" cy="0"/>
          </a:xfrm>
          <a:prstGeom prst="line">
            <a:avLst/>
          </a:prstGeom>
          <a:noFill/>
          <a:ln w="19050">
            <a:solidFill>
              <a:srgbClr val="10B981"/>
            </a:solidFill>
            <a:prstDash val="solid"/>
            <a:tailEnd type="triangle"/>
          </a:ln>
        </p:spPr>
      </p:sp>
      <p:sp>
        <p:nvSpPr>
          <p:cNvPr id="20" name="Shape 18"/>
          <p:cNvSpPr/>
          <p:nvPr/>
        </p:nvSpPr>
        <p:spPr>
          <a:xfrm>
            <a:off x="9144000" y="1371600"/>
            <a:ext cx="1828800" cy="2011680"/>
          </a:xfrm>
          <a:prstGeom prst="rect">
            <a:avLst>
              <a:gd name="adj" fmla="val 2500"/>
            </a:avLst>
          </a:prstGeom>
          <a:solidFill>
            <a:srgbClr val="1E293B"/>
          </a:solidFill>
          <a:ln w="6350">
            <a:solidFill>
              <a:srgbClr val="334155"/>
            </a:solidFill>
            <a:prstDash val="solid"/>
          </a:ln>
        </p:spPr>
      </p:sp>
      <p:sp>
        <p:nvSpPr>
          <p:cNvPr id="21" name="Text 19"/>
          <p:cNvSpPr/>
          <p:nvPr/>
        </p:nvSpPr>
        <p:spPr>
          <a:xfrm>
            <a:off x="9235440" y="1463040"/>
            <a:ext cx="1645920" cy="640080"/>
          </a:xfrm>
          <a:prstGeom prst="rect">
            <a:avLst/>
          </a:prstGeom>
          <a:noFill/>
          <a:ln/>
        </p:spPr>
        <p:txBody>
          <a:bodyPr wrap="square"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Trust</a:t>
            </a:r>
            <a:endParaRPr lang="en-US" sz="1100" dirty="0"/>
          </a:p>
          <a:p>
            <a:pPr algn="ctr" indent="0" marL="0">
              <a:buNone/>
            </a:pPr>
            <a:r>
              <a:rPr lang="en-US" sz="1100" b="1" dirty="0">
                <a:solidFill>
                  <a:srgbClr val="F8FAFC"/>
                </a:solidFill>
                <a:latin typeface="Calibri" pitchFamily="34" charset="0"/>
                <a:ea typeface="Calibri" pitchFamily="34" charset="-122"/>
                <a:cs typeface="Calibri" pitchFamily="34" charset="-120"/>
              </a:rPr>
              <a:t>Artifact</a:t>
            </a:r>
            <a:endParaRPr lang="en-US" sz="1100" dirty="0"/>
          </a:p>
        </p:txBody>
      </p:sp>
      <p:sp>
        <p:nvSpPr>
          <p:cNvPr id="22" name="Text 20"/>
          <p:cNvSpPr/>
          <p:nvPr/>
        </p:nvSpPr>
        <p:spPr>
          <a:xfrm>
            <a:off x="9235440" y="2194560"/>
            <a:ext cx="1645920" cy="1097280"/>
          </a:xfrm>
          <a:prstGeom prst="rect">
            <a:avLst/>
          </a:prstGeom>
          <a:noFill/>
          <a:ln/>
        </p:spPr>
        <p:txBody>
          <a:bodyPr wrap="square" rtlCol="0" anchor="t"/>
          <a:lstStyle/>
          <a:p>
            <a:pPr algn="ctr" indent="0" marL="0">
              <a:buNone/>
            </a:pPr>
            <a:r>
              <a:rPr lang="en-US" sz="800" dirty="0">
                <a:solidFill>
                  <a:srgbClr val="94A3B8"/>
                </a:solidFill>
                <a:latin typeface="Courier New" pitchFamily="34" charset="0"/>
                <a:ea typeface="Courier New" pitchFamily="34" charset="-122"/>
                <a:cs typeface="Courier New" pitchFamily="34" charset="-120"/>
              </a:rPr>
              <a:t>Verifiable</a:t>
            </a:r>
            <a:endParaRPr lang="en-US" sz="800" dirty="0"/>
          </a:p>
          <a:p>
            <a:pPr algn="ctr" indent="0" marL="0">
              <a:buNone/>
            </a:pPr>
            <a:r>
              <a:rPr lang="en-US" sz="800" dirty="0">
                <a:solidFill>
                  <a:srgbClr val="94A3B8"/>
                </a:solidFill>
                <a:latin typeface="Courier New" pitchFamily="34" charset="0"/>
                <a:ea typeface="Courier New" pitchFamily="34" charset="-122"/>
                <a:cs typeface="Courier New" pitchFamily="34" charset="-120"/>
              </a:rPr>
              <a:t>status badge</a:t>
            </a:r>
            <a:endParaRPr lang="en-US" sz="800" dirty="0"/>
          </a:p>
          <a:p>
            <a:pPr algn="ctr" indent="0" marL="0">
              <a:buNone/>
            </a:pPr>
            <a:r>
              <a:rPr lang="en-US" sz="800" dirty="0">
                <a:solidFill>
                  <a:srgbClr val="94A3B8"/>
                </a:solidFill>
                <a:latin typeface="Courier New" pitchFamily="34" charset="0"/>
                <a:ea typeface="Courier New" pitchFamily="34" charset="-122"/>
                <a:cs typeface="Courier New" pitchFamily="34" charset="-120"/>
              </a:rPr>
              <a:t>+ revocation</a:t>
            </a:r>
            <a:endParaRPr lang="en-US" sz="800" dirty="0"/>
          </a:p>
        </p:txBody>
      </p:sp>
      <p:sp>
        <p:nvSpPr>
          <p:cNvPr id="23" name="Text 21"/>
          <p:cNvSpPr/>
          <p:nvPr/>
        </p:nvSpPr>
        <p:spPr>
          <a:xfrm>
            <a:off x="548640" y="3749040"/>
            <a:ext cx="10972800" cy="365760"/>
          </a:xfrm>
          <a:prstGeom prst="rect">
            <a:avLst/>
          </a:prstGeom>
          <a:noFill/>
          <a:ln/>
        </p:spPr>
        <p:txBody>
          <a:bodyPr wrap="square" rtlCol="0" anchor="t"/>
          <a:lstStyle/>
          <a:p>
            <a:pPr algn="l" indent="0" marL="0">
              <a:lnSpc>
                <a:spcPct val="120000"/>
              </a:lnSpc>
              <a:buNone/>
            </a:pPr>
            <a:r>
              <a:rPr lang="en-US" sz="1200" b="1" dirty="0">
                <a:solidFill>
                  <a:srgbClr val="10B981"/>
                </a:solidFill>
                <a:latin typeface="Calibri" pitchFamily="34" charset="0"/>
                <a:ea typeface="Calibri" pitchFamily="34" charset="-122"/>
                <a:cs typeface="Calibri" pitchFamily="34" charset="-120"/>
              </a:rPr>
              <a:t>Every evidence record binds a finding to its source, its scope, its engine version, and its compliance mapping — at the point of generation.</a:t>
            </a:r>
            <a:endParaRPr lang="en-US" sz="1200" dirty="0"/>
          </a:p>
        </p:txBody>
      </p:sp>
      <p:sp>
        <p:nvSpPr>
          <p:cNvPr id="24" name="Shape 22"/>
          <p:cNvSpPr/>
          <p:nvPr/>
        </p:nvSpPr>
        <p:spPr>
          <a:xfrm>
            <a:off x="548640" y="4297680"/>
            <a:ext cx="5303520" cy="1645920"/>
          </a:xfrm>
          <a:prstGeom prst="rect">
            <a:avLst>
              <a:gd name="adj" fmla="val 2778"/>
            </a:avLst>
          </a:prstGeom>
          <a:solidFill>
            <a:srgbClr val="1E293B"/>
          </a:solidFill>
          <a:ln w="6350">
            <a:solidFill>
              <a:srgbClr val="334155"/>
            </a:solidFill>
            <a:prstDash val="solid"/>
          </a:ln>
        </p:spPr>
      </p:sp>
      <p:sp>
        <p:nvSpPr>
          <p:cNvPr id="25" name="Text 23"/>
          <p:cNvSpPr/>
          <p:nvPr/>
        </p:nvSpPr>
        <p:spPr>
          <a:xfrm>
            <a:off x="731520" y="4389120"/>
            <a:ext cx="4937760" cy="320040"/>
          </a:xfrm>
          <a:prstGeom prst="rect">
            <a:avLst/>
          </a:prstGeom>
          <a:noFill/>
          <a:ln/>
        </p:spPr>
        <p:txBody>
          <a:bodyPr wrap="square"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Evidence Integrity Components</a:t>
            </a:r>
            <a:endParaRPr lang="en-US" sz="1100" dirty="0"/>
          </a:p>
        </p:txBody>
      </p:sp>
      <p:sp>
        <p:nvSpPr>
          <p:cNvPr id="26" name="Text 24"/>
          <p:cNvSpPr/>
          <p:nvPr/>
        </p:nvSpPr>
        <p:spPr>
          <a:xfrm>
            <a:off x="731520" y="4754880"/>
            <a:ext cx="4937760" cy="228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  Config hash frozen at run creation (R2-01)</a:t>
            </a:r>
            <a:endParaRPr lang="en-US" sz="900" dirty="0"/>
          </a:p>
        </p:txBody>
      </p:sp>
      <p:sp>
        <p:nvSpPr>
          <p:cNvPr id="27" name="Text 25"/>
          <p:cNvSpPr/>
          <p:nvPr/>
        </p:nvSpPr>
        <p:spPr>
          <a:xfrm>
            <a:off x="731520" y="5010912"/>
            <a:ext cx="4937760" cy="228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  Hash-chained append-only event log</a:t>
            </a:r>
            <a:endParaRPr lang="en-US" sz="900" dirty="0"/>
          </a:p>
        </p:txBody>
      </p:sp>
      <p:sp>
        <p:nvSpPr>
          <p:cNvPr id="28" name="Text 26"/>
          <p:cNvSpPr/>
          <p:nvPr/>
        </p:nvSpPr>
        <p:spPr>
          <a:xfrm>
            <a:off x="731520" y="5266944"/>
            <a:ext cx="4937760" cy="228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  Engine output contract validation (R3-02)</a:t>
            </a:r>
            <a:endParaRPr lang="en-US" sz="900" dirty="0"/>
          </a:p>
        </p:txBody>
      </p:sp>
      <p:sp>
        <p:nvSpPr>
          <p:cNvPr id="29" name="Text 27"/>
          <p:cNvSpPr/>
          <p:nvPr/>
        </p:nvSpPr>
        <p:spPr>
          <a:xfrm>
            <a:off x="731520" y="5522976"/>
            <a:ext cx="4937760" cy="228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  SHA256 finding fingerprints (truncated to 16 chars)</a:t>
            </a:r>
            <a:endParaRPr lang="en-US" sz="900" dirty="0"/>
          </a:p>
        </p:txBody>
      </p:sp>
      <p:sp>
        <p:nvSpPr>
          <p:cNvPr id="30" name="Text 28"/>
          <p:cNvSpPr/>
          <p:nvPr/>
        </p:nvSpPr>
        <p:spPr>
          <a:xfrm>
            <a:off x="731520" y="5779008"/>
            <a:ext cx="4937760" cy="228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  Methodology version locked at compute time</a:t>
            </a:r>
            <a:endParaRPr lang="en-US" sz="900" dirty="0"/>
          </a:p>
        </p:txBody>
      </p:sp>
      <p:sp>
        <p:nvSpPr>
          <p:cNvPr id="31" name="Shape 29"/>
          <p:cNvSpPr/>
          <p:nvPr/>
        </p:nvSpPr>
        <p:spPr>
          <a:xfrm>
            <a:off x="6309360" y="4297680"/>
            <a:ext cx="5303520" cy="1645920"/>
          </a:xfrm>
          <a:prstGeom prst="rect">
            <a:avLst>
              <a:gd name="adj" fmla="val 2778"/>
            </a:avLst>
          </a:prstGeom>
          <a:solidFill>
            <a:srgbClr val="1E293B"/>
          </a:solidFill>
          <a:ln w="6350">
            <a:solidFill>
              <a:srgbClr val="334155"/>
            </a:solidFill>
            <a:prstDash val="solid"/>
          </a:ln>
        </p:spPr>
      </p:sp>
      <p:sp>
        <p:nvSpPr>
          <p:cNvPr id="32" name="Text 30"/>
          <p:cNvSpPr/>
          <p:nvPr/>
        </p:nvSpPr>
        <p:spPr>
          <a:xfrm>
            <a:off x="6492240" y="4389120"/>
            <a:ext cx="4937760" cy="320040"/>
          </a:xfrm>
          <a:prstGeom prst="rect">
            <a:avLst/>
          </a:prstGeom>
          <a:noFill/>
          <a:ln/>
        </p:spPr>
        <p:txBody>
          <a:bodyPr wrap="square"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Verification Model</a:t>
            </a:r>
            <a:endParaRPr lang="en-US" sz="1100" dirty="0"/>
          </a:p>
        </p:txBody>
      </p:sp>
      <p:sp>
        <p:nvSpPr>
          <p:cNvPr id="33" name="Shape 31"/>
          <p:cNvSpPr/>
          <p:nvPr/>
        </p:nvSpPr>
        <p:spPr>
          <a:xfrm>
            <a:off x="6492240" y="4754880"/>
            <a:ext cx="1645920" cy="274320"/>
          </a:xfrm>
          <a:prstGeom prst="roundRect">
            <a:avLst>
              <a:gd name="adj" fmla="val 10000"/>
            </a:avLst>
          </a:prstGeom>
          <a:solidFill>
            <a:srgbClr val="10B981"/>
          </a:solidFill>
          <a:ln/>
        </p:spPr>
      </p:sp>
      <p:sp>
        <p:nvSpPr>
          <p:cNvPr id="34" name="Text 32"/>
          <p:cNvSpPr/>
          <p:nvPr/>
        </p:nvSpPr>
        <p:spPr>
          <a:xfrm>
            <a:off x="6492240" y="4754880"/>
            <a:ext cx="1645920" cy="274320"/>
          </a:xfrm>
          <a:prstGeom prst="rect">
            <a:avLst/>
          </a:prstGeom>
          <a:noFill/>
          <a:ln/>
        </p:spPr>
        <p:txBody>
          <a:bodyPr wrap="square"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IMPLEMENTED</a:t>
            </a:r>
            <a:endParaRPr lang="en-US" sz="800" dirty="0"/>
          </a:p>
        </p:txBody>
      </p:sp>
      <p:sp>
        <p:nvSpPr>
          <p:cNvPr id="35" name="Text 33"/>
          <p:cNvSpPr/>
          <p:nvPr/>
        </p:nvSpPr>
        <p:spPr>
          <a:xfrm>
            <a:off x="6492240" y="5120640"/>
            <a:ext cx="4937760" cy="228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  HMAC-SHA256 issuer signature on verification responses</a:t>
            </a:r>
            <a:endParaRPr lang="en-US" sz="900" dirty="0"/>
          </a:p>
        </p:txBody>
      </p:sp>
      <p:sp>
        <p:nvSpPr>
          <p:cNvPr id="36" name="Text 34"/>
          <p:cNvSpPr/>
          <p:nvPr/>
        </p:nvSpPr>
        <p:spPr>
          <a:xfrm>
            <a:off x="6492240" y="5376672"/>
            <a:ext cx="4937760" cy="228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  Integrity verification with replay protection via nonces</a:t>
            </a:r>
            <a:endParaRPr lang="en-US" sz="900" dirty="0"/>
          </a:p>
        </p:txBody>
      </p:sp>
      <p:sp>
        <p:nvSpPr>
          <p:cNvPr id="37" name="Text 35"/>
          <p:cNvSpPr/>
          <p:nvPr/>
        </p:nvSpPr>
        <p:spPr>
          <a:xfrm>
            <a:off x="6492240" y="5632704"/>
            <a:ext cx="4937760" cy="228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  Redis-backed nonce store for production scale</a:t>
            </a:r>
            <a:endParaRPr lang="en-US" sz="900" dirty="0"/>
          </a:p>
        </p:txBody>
      </p:sp>
      <p:sp>
        <p:nvSpPr>
          <p:cNvPr id="38" name="Text 36"/>
          <p:cNvSpPr/>
          <p:nvPr/>
        </p:nvSpPr>
        <p:spPr>
          <a:xfrm>
            <a:off x="6492240" y="5888736"/>
            <a:ext cx="4937760" cy="228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  Key rotation support (primary, previous, legacy)</a:t>
            </a:r>
            <a:endParaRPr lang="en-US" sz="900" dirty="0"/>
          </a:p>
        </p:txBody>
      </p:sp>
      <p:sp>
        <p:nvSpPr>
          <p:cNvPr id="39" name="Text 37"/>
          <p:cNvSpPr/>
          <p:nvPr/>
        </p:nvSpPr>
        <p:spPr>
          <a:xfrm>
            <a:off x="6492240" y="6144768"/>
            <a:ext cx="4937760" cy="228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  Verification via HAIEC /api/verify endpoint</a:t>
            </a:r>
            <a:endParaRPr lang="en-US" sz="900" dirty="0"/>
          </a:p>
        </p:txBody>
      </p:sp>
      <p:sp>
        <p:nvSpPr>
          <p:cNvPr id="40" name="Text 38"/>
          <p:cNvSpPr/>
          <p:nvPr/>
        </p:nvSpPr>
        <p:spPr>
          <a:xfrm>
            <a:off x="548640" y="6126480"/>
            <a:ext cx="10972800" cy="274320"/>
          </a:xfrm>
          <a:prstGeom prst="rect">
            <a:avLst/>
          </a:prstGeom>
          <a:noFill/>
          <a:ln/>
        </p:spPr>
        <p:txBody>
          <a:bodyPr wrap="square" rtlCol="0" anchor="t"/>
          <a:lstStyle/>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Maturity: Evidence integrity — Implemented. HMAC-SHA256 with key rotation and replay protection. Upgrade path: Ed25519 asymmetric signatures for third-party-verifiable non-repudiation.</a:t>
            </a:r>
            <a:endParaRPr lang="en-US" sz="900" dirty="0"/>
          </a:p>
        </p:txBody>
      </p:sp>
      <p:sp>
        <p:nvSpPr>
          <p:cNvPr id="41" name="Text 39"/>
          <p:cNvSpPr/>
          <p:nvPr/>
        </p:nvSpPr>
        <p:spPr>
          <a:xfrm>
            <a:off x="274320" y="6537960"/>
            <a:ext cx="7315200" cy="22860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HAIEC  ·  Confidential Discussion Brief  ·  7/14</a:t>
            </a:r>
            <a:endParaRPr lang="en-US" sz="800" dirty="0"/>
          </a:p>
        </p:txBody>
      </p:sp>
      <p:sp>
        <p:nvSpPr>
          <p:cNvPr id="42" name="Text 40"/>
          <p:cNvSpPr/>
          <p:nvPr/>
        </p:nvSpPr>
        <p:spPr>
          <a:xfrm>
            <a:off x="9448495" y="6537960"/>
            <a:ext cx="2468880" cy="228600"/>
          </a:xfrm>
          <a:prstGeom prst="rect">
            <a:avLst/>
          </a:prstGeom>
          <a:noFill/>
          <a:ln/>
        </p:spPr>
        <p:txBody>
          <a:bodyPr wrap="square" rtlCol="0" anchor="ctr"/>
          <a:lstStyle/>
          <a:p>
            <a:pPr algn="r" indent="0" marL="0">
              <a:buNone/>
            </a:pPr>
            <a:r>
              <a:rPr lang="en-US" sz="800" dirty="0">
                <a:solidFill>
                  <a:srgbClr val="64748B"/>
                </a:solidFill>
                <a:latin typeface="Courier New" pitchFamily="34" charset="0"/>
                <a:ea typeface="Courier New" pitchFamily="34" charset="-122"/>
                <a:cs typeface="Courier New" pitchFamily="34" charset="-120"/>
              </a:rPr>
              <a:t>v1.0  ·  2026-07-31</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365760"/>
            <a:ext cx="11094415" cy="502920"/>
          </a:xfrm>
          <a:prstGeom prst="rect">
            <a:avLst/>
          </a:prstGeom>
          <a:noFill/>
          <a:ln/>
        </p:spPr>
        <p:txBody>
          <a:bodyPr wrap="square" rtlCol="0" anchor="ctr"/>
          <a:lstStyle/>
          <a:p>
            <a:pPr algn="l" indent="0" marL="0">
              <a:buNone/>
            </a:pPr>
            <a:r>
              <a:rPr lang="en-US" sz="2600" b="1" dirty="0">
                <a:solidFill>
                  <a:srgbClr val="F8FAFC"/>
                </a:solidFill>
                <a:latin typeface="Calibri" pitchFamily="34" charset="0"/>
                <a:ea typeface="Calibri" pitchFamily="34" charset="-122"/>
                <a:cs typeface="Calibri" pitchFamily="34" charset="-120"/>
              </a:rPr>
              <a:t>One remediation can support multiple assurance requirements.</a:t>
            </a:r>
            <a:endParaRPr lang="en-US" sz="2600" dirty="0"/>
          </a:p>
        </p:txBody>
      </p:sp>
      <p:sp>
        <p:nvSpPr>
          <p:cNvPr id="3" name="Shape 1"/>
          <p:cNvSpPr/>
          <p:nvPr/>
        </p:nvSpPr>
        <p:spPr>
          <a:xfrm>
            <a:off x="548640" y="914400"/>
            <a:ext cx="1371600" cy="36576"/>
          </a:xfrm>
          <a:prstGeom prst="rect">
            <a:avLst/>
          </a:prstGeom>
          <a:solidFill>
            <a:srgbClr val="10B981"/>
          </a:solidFill>
          <a:ln/>
        </p:spPr>
      </p:sp>
      <p:sp>
        <p:nvSpPr>
          <p:cNvPr id="4" name="Shape 2"/>
          <p:cNvSpPr/>
          <p:nvPr/>
        </p:nvSpPr>
        <p:spPr>
          <a:xfrm>
            <a:off x="548640" y="1188720"/>
            <a:ext cx="3200400" cy="1645920"/>
          </a:xfrm>
          <a:prstGeom prst="rect">
            <a:avLst>
              <a:gd name="adj" fmla="val 2778"/>
            </a:avLst>
          </a:prstGeom>
          <a:solidFill>
            <a:srgbClr val="1E293B"/>
          </a:solidFill>
          <a:ln w="6350">
            <a:solidFill>
              <a:srgbClr val="F59E0B"/>
            </a:solidFill>
            <a:prstDash val="solid"/>
          </a:ln>
        </p:spPr>
      </p:sp>
      <p:sp>
        <p:nvSpPr>
          <p:cNvPr id="5" name="Text 3"/>
          <p:cNvSpPr/>
          <p:nvPr/>
        </p:nvSpPr>
        <p:spPr>
          <a:xfrm>
            <a:off x="685800" y="1280160"/>
            <a:ext cx="292608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EXAMPLE FINDING</a:t>
            </a:r>
            <a:endParaRPr lang="en-US" sz="800" dirty="0"/>
          </a:p>
        </p:txBody>
      </p:sp>
      <p:sp>
        <p:nvSpPr>
          <p:cNvPr id="6" name="Text 4"/>
          <p:cNvSpPr/>
          <p:nvPr/>
        </p:nvSpPr>
        <p:spPr>
          <a:xfrm>
            <a:off x="685800" y="1508760"/>
            <a:ext cx="2926080" cy="320040"/>
          </a:xfrm>
          <a:prstGeom prst="rect">
            <a:avLst/>
          </a:prstGeom>
          <a:noFill/>
          <a:ln/>
        </p:spPr>
        <p:txBody>
          <a:bodyPr wrap="square"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R1: Prompt Injection</a:t>
            </a:r>
            <a:endParaRPr lang="en-US" sz="1200" dirty="0"/>
          </a:p>
        </p:txBody>
      </p:sp>
      <p:sp>
        <p:nvSpPr>
          <p:cNvPr id="7" name="Text 5"/>
          <p:cNvSpPr/>
          <p:nvPr/>
        </p:nvSpPr>
        <p:spPr>
          <a:xfrm>
            <a:off x="685800" y="1874520"/>
            <a:ext cx="2926080" cy="822960"/>
          </a:xfrm>
          <a:prstGeom prst="rect">
            <a:avLst/>
          </a:prstGeom>
          <a:noFill/>
          <a:ln/>
        </p:spPr>
        <p:txBody>
          <a:bodyPr wrap="square" rtlCol="0" anchor="t"/>
          <a:lstStyle/>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User input reaches system prompt without validation guard. Source: API endpoint. Sink: LLM call.</a:t>
            </a:r>
            <a:endParaRPr lang="en-US" sz="900" dirty="0"/>
          </a:p>
        </p:txBody>
      </p:sp>
      <p:sp>
        <p:nvSpPr>
          <p:cNvPr id="8" name="Shape 6"/>
          <p:cNvSpPr/>
          <p:nvPr/>
        </p:nvSpPr>
        <p:spPr>
          <a:xfrm>
            <a:off x="4023360" y="1188720"/>
            <a:ext cx="2286000" cy="1645920"/>
          </a:xfrm>
          <a:prstGeom prst="rect">
            <a:avLst>
              <a:gd name="adj" fmla="val 2778"/>
            </a:avLst>
          </a:prstGeom>
          <a:solidFill>
            <a:srgbClr val="1E293B"/>
          </a:solidFill>
          <a:ln w="6350">
            <a:solidFill>
              <a:srgbClr val="10B981"/>
            </a:solidFill>
            <a:prstDash val="solid"/>
          </a:ln>
        </p:spPr>
      </p:sp>
      <p:sp>
        <p:nvSpPr>
          <p:cNvPr id="9" name="Text 7"/>
          <p:cNvSpPr/>
          <p:nvPr/>
        </p:nvSpPr>
        <p:spPr>
          <a:xfrm>
            <a:off x="4160520" y="1280160"/>
            <a:ext cx="201168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EVIDENCE</a:t>
            </a:r>
            <a:endParaRPr lang="en-US" sz="800" dirty="0"/>
          </a:p>
        </p:txBody>
      </p:sp>
      <p:sp>
        <p:nvSpPr>
          <p:cNvPr id="10" name="Text 8"/>
          <p:cNvSpPr/>
          <p:nvPr/>
        </p:nvSpPr>
        <p:spPr>
          <a:xfrm>
            <a:off x="4160520" y="1554480"/>
            <a:ext cx="2011680" cy="201168"/>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  Rule ID: R1</a:t>
            </a:r>
            <a:endParaRPr lang="en-US" sz="800" dirty="0"/>
          </a:p>
        </p:txBody>
      </p:sp>
      <p:sp>
        <p:nvSpPr>
          <p:cNvPr id="11" name="Text 9"/>
          <p:cNvSpPr/>
          <p:nvPr/>
        </p:nvSpPr>
        <p:spPr>
          <a:xfrm>
            <a:off x="4160520" y="1792224"/>
            <a:ext cx="2011680" cy="201168"/>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  Code path + line</a:t>
            </a:r>
            <a:endParaRPr lang="en-US" sz="800" dirty="0"/>
          </a:p>
        </p:txBody>
      </p:sp>
      <p:sp>
        <p:nvSpPr>
          <p:cNvPr id="12" name="Text 10"/>
          <p:cNvSpPr/>
          <p:nvPr/>
        </p:nvSpPr>
        <p:spPr>
          <a:xfrm>
            <a:off x="4160520" y="2029968"/>
            <a:ext cx="2011680" cy="201168"/>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  Fingerprint: SHA256</a:t>
            </a:r>
            <a:endParaRPr lang="en-US" sz="800" dirty="0"/>
          </a:p>
        </p:txBody>
      </p:sp>
      <p:sp>
        <p:nvSpPr>
          <p:cNvPr id="13" name="Text 11"/>
          <p:cNvSpPr/>
          <p:nvPr/>
        </p:nvSpPr>
        <p:spPr>
          <a:xfrm>
            <a:off x="4160520" y="2267712"/>
            <a:ext cx="2011680" cy="201168"/>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  Engine v2025.1.0</a:t>
            </a:r>
            <a:endParaRPr lang="en-US" sz="800" dirty="0"/>
          </a:p>
        </p:txBody>
      </p:sp>
      <p:sp>
        <p:nvSpPr>
          <p:cNvPr id="14" name="Text 12"/>
          <p:cNvSpPr/>
          <p:nvPr/>
        </p:nvSpPr>
        <p:spPr>
          <a:xfrm>
            <a:off x="4160520" y="2505456"/>
            <a:ext cx="2011680" cy="201168"/>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  Timestamp: ISO8601</a:t>
            </a:r>
            <a:endParaRPr lang="en-US" sz="800" dirty="0"/>
          </a:p>
        </p:txBody>
      </p:sp>
      <p:sp>
        <p:nvSpPr>
          <p:cNvPr id="15" name="Shape 13"/>
          <p:cNvSpPr/>
          <p:nvPr/>
        </p:nvSpPr>
        <p:spPr>
          <a:xfrm>
            <a:off x="6400800" y="2011680"/>
            <a:ext cx="274320" cy="0"/>
          </a:xfrm>
          <a:prstGeom prst="line">
            <a:avLst/>
          </a:prstGeom>
          <a:noFill/>
          <a:ln w="19050">
            <a:solidFill>
              <a:srgbClr val="10B981"/>
            </a:solidFill>
            <a:prstDash val="solid"/>
            <a:tailEnd type="triangle"/>
          </a:ln>
        </p:spPr>
      </p:sp>
      <p:sp>
        <p:nvSpPr>
          <p:cNvPr id="16" name="Shape 14"/>
          <p:cNvSpPr/>
          <p:nvPr/>
        </p:nvSpPr>
        <p:spPr>
          <a:xfrm>
            <a:off x="6858000" y="1188720"/>
            <a:ext cx="2286000" cy="502920"/>
          </a:xfrm>
          <a:prstGeom prst="rect">
            <a:avLst>
              <a:gd name="adj" fmla="val 9091"/>
            </a:avLst>
          </a:prstGeom>
          <a:solidFill>
            <a:srgbClr val="1E293B"/>
          </a:solidFill>
          <a:ln w="6350">
            <a:solidFill>
              <a:srgbClr val="10B981"/>
            </a:solidFill>
            <a:prstDash val="solid"/>
          </a:ln>
        </p:spPr>
      </p:sp>
      <p:sp>
        <p:nvSpPr>
          <p:cNvPr id="17" name="Text 15"/>
          <p:cNvSpPr/>
          <p:nvPr/>
        </p:nvSpPr>
        <p:spPr>
          <a:xfrm>
            <a:off x="6949440" y="1234440"/>
            <a:ext cx="2103120" cy="228600"/>
          </a:xfrm>
          <a:prstGeom prst="rect">
            <a:avLst/>
          </a:prstGeom>
          <a:noFill/>
          <a:ln/>
        </p:spPr>
        <p:txBody>
          <a:bodyPr wrap="square" rtlCol="0" anchor="ctr"/>
          <a:lstStyle/>
          <a:p>
            <a:pPr indent="0" marL="0">
              <a:buNone/>
            </a:pPr>
            <a:r>
              <a:rPr lang="en-US" sz="900" b="1" dirty="0">
                <a:solidFill>
                  <a:srgbClr val="F8FAFC"/>
                </a:solidFill>
                <a:latin typeface="Calibri" pitchFamily="34" charset="0"/>
                <a:ea typeface="Calibri" pitchFamily="34" charset="-122"/>
                <a:cs typeface="Calibri" pitchFamily="34" charset="-120"/>
              </a:rPr>
              <a:t>OWASP LLM01</a:t>
            </a:r>
            <a:endParaRPr lang="en-US" sz="900" dirty="0"/>
          </a:p>
        </p:txBody>
      </p:sp>
      <p:sp>
        <p:nvSpPr>
          <p:cNvPr id="18" name="Text 16"/>
          <p:cNvSpPr/>
          <p:nvPr/>
        </p:nvSpPr>
        <p:spPr>
          <a:xfrm>
            <a:off x="6949440" y="1463040"/>
            <a:ext cx="2103120" cy="18288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Prompt Injection</a:t>
            </a:r>
            <a:endParaRPr lang="en-US" sz="800" dirty="0"/>
          </a:p>
        </p:txBody>
      </p:sp>
      <p:sp>
        <p:nvSpPr>
          <p:cNvPr id="19" name="Shape 17"/>
          <p:cNvSpPr/>
          <p:nvPr/>
        </p:nvSpPr>
        <p:spPr>
          <a:xfrm>
            <a:off x="9326880" y="1188720"/>
            <a:ext cx="2286000" cy="502920"/>
          </a:xfrm>
          <a:prstGeom prst="rect">
            <a:avLst>
              <a:gd name="adj" fmla="val 9091"/>
            </a:avLst>
          </a:prstGeom>
          <a:solidFill>
            <a:srgbClr val="1E293B"/>
          </a:solidFill>
          <a:ln w="6350">
            <a:solidFill>
              <a:srgbClr val="10B981"/>
            </a:solidFill>
            <a:prstDash val="solid"/>
          </a:ln>
        </p:spPr>
      </p:sp>
      <p:sp>
        <p:nvSpPr>
          <p:cNvPr id="20" name="Text 18"/>
          <p:cNvSpPr/>
          <p:nvPr/>
        </p:nvSpPr>
        <p:spPr>
          <a:xfrm>
            <a:off x="9418320" y="1234440"/>
            <a:ext cx="2103120" cy="228600"/>
          </a:xfrm>
          <a:prstGeom prst="rect">
            <a:avLst/>
          </a:prstGeom>
          <a:noFill/>
          <a:ln/>
        </p:spPr>
        <p:txBody>
          <a:bodyPr wrap="square" rtlCol="0" anchor="ctr"/>
          <a:lstStyle/>
          <a:p>
            <a:pPr indent="0" marL="0">
              <a:buNone/>
            </a:pPr>
            <a:r>
              <a:rPr lang="en-US" sz="900" b="1" dirty="0">
                <a:solidFill>
                  <a:srgbClr val="F8FAFC"/>
                </a:solidFill>
                <a:latin typeface="Calibri" pitchFamily="34" charset="0"/>
                <a:ea typeface="Calibri" pitchFamily="34" charset="-122"/>
                <a:cs typeface="Calibri" pitchFamily="34" charset="-120"/>
              </a:rPr>
              <a:t>SOC2 CC7.2</a:t>
            </a:r>
            <a:endParaRPr lang="en-US" sz="900" dirty="0"/>
          </a:p>
        </p:txBody>
      </p:sp>
      <p:sp>
        <p:nvSpPr>
          <p:cNvPr id="21" name="Text 19"/>
          <p:cNvSpPr/>
          <p:nvPr/>
        </p:nvSpPr>
        <p:spPr>
          <a:xfrm>
            <a:off x="9418320" y="1463040"/>
            <a:ext cx="2103120" cy="18288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System Monitoring</a:t>
            </a:r>
            <a:endParaRPr lang="en-US" sz="800" dirty="0"/>
          </a:p>
        </p:txBody>
      </p:sp>
      <p:sp>
        <p:nvSpPr>
          <p:cNvPr id="22" name="Shape 20"/>
          <p:cNvSpPr/>
          <p:nvPr/>
        </p:nvSpPr>
        <p:spPr>
          <a:xfrm>
            <a:off x="6858000" y="1783080"/>
            <a:ext cx="2286000" cy="502920"/>
          </a:xfrm>
          <a:prstGeom prst="rect">
            <a:avLst>
              <a:gd name="adj" fmla="val 9091"/>
            </a:avLst>
          </a:prstGeom>
          <a:solidFill>
            <a:srgbClr val="1E293B"/>
          </a:solidFill>
          <a:ln w="6350">
            <a:solidFill>
              <a:srgbClr val="10B981"/>
            </a:solidFill>
            <a:prstDash val="solid"/>
          </a:ln>
        </p:spPr>
      </p:sp>
      <p:sp>
        <p:nvSpPr>
          <p:cNvPr id="23" name="Text 21"/>
          <p:cNvSpPr/>
          <p:nvPr/>
        </p:nvSpPr>
        <p:spPr>
          <a:xfrm>
            <a:off x="6949440" y="1828800"/>
            <a:ext cx="2103120" cy="228600"/>
          </a:xfrm>
          <a:prstGeom prst="rect">
            <a:avLst/>
          </a:prstGeom>
          <a:noFill/>
          <a:ln/>
        </p:spPr>
        <p:txBody>
          <a:bodyPr wrap="square" rtlCol="0" anchor="ctr"/>
          <a:lstStyle/>
          <a:p>
            <a:pPr indent="0" marL="0">
              <a:buNone/>
            </a:pPr>
            <a:r>
              <a:rPr lang="en-US" sz="900" b="1" dirty="0">
                <a:solidFill>
                  <a:srgbClr val="F8FAFC"/>
                </a:solidFill>
                <a:latin typeface="Calibri" pitchFamily="34" charset="0"/>
                <a:ea typeface="Calibri" pitchFamily="34" charset="-122"/>
                <a:cs typeface="Calibri" pitchFamily="34" charset="-120"/>
              </a:rPr>
              <a:t>ISO 27001 A.12.6.1</a:t>
            </a:r>
            <a:endParaRPr lang="en-US" sz="900" dirty="0"/>
          </a:p>
        </p:txBody>
      </p:sp>
      <p:sp>
        <p:nvSpPr>
          <p:cNvPr id="24" name="Text 22"/>
          <p:cNvSpPr/>
          <p:nvPr/>
        </p:nvSpPr>
        <p:spPr>
          <a:xfrm>
            <a:off x="6949440" y="2057400"/>
            <a:ext cx="2103120" cy="18288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Technical Vulnerability</a:t>
            </a:r>
            <a:endParaRPr lang="en-US" sz="800" dirty="0"/>
          </a:p>
        </p:txBody>
      </p:sp>
      <p:sp>
        <p:nvSpPr>
          <p:cNvPr id="25" name="Shape 23"/>
          <p:cNvSpPr/>
          <p:nvPr/>
        </p:nvSpPr>
        <p:spPr>
          <a:xfrm>
            <a:off x="9326880" y="1783080"/>
            <a:ext cx="2286000" cy="502920"/>
          </a:xfrm>
          <a:prstGeom prst="rect">
            <a:avLst>
              <a:gd name="adj" fmla="val 9091"/>
            </a:avLst>
          </a:prstGeom>
          <a:solidFill>
            <a:srgbClr val="1E293B"/>
          </a:solidFill>
          <a:ln w="6350">
            <a:solidFill>
              <a:srgbClr val="10B981"/>
            </a:solidFill>
            <a:prstDash val="solid"/>
          </a:ln>
        </p:spPr>
      </p:sp>
      <p:sp>
        <p:nvSpPr>
          <p:cNvPr id="26" name="Text 24"/>
          <p:cNvSpPr/>
          <p:nvPr/>
        </p:nvSpPr>
        <p:spPr>
          <a:xfrm>
            <a:off x="9418320" y="1828800"/>
            <a:ext cx="2103120" cy="228600"/>
          </a:xfrm>
          <a:prstGeom prst="rect">
            <a:avLst/>
          </a:prstGeom>
          <a:noFill/>
          <a:ln/>
        </p:spPr>
        <p:txBody>
          <a:bodyPr wrap="square" rtlCol="0" anchor="ctr"/>
          <a:lstStyle/>
          <a:p>
            <a:pPr indent="0" marL="0">
              <a:buNone/>
            </a:pPr>
            <a:r>
              <a:rPr lang="en-US" sz="900" b="1" dirty="0">
                <a:solidFill>
                  <a:srgbClr val="F8FAFC"/>
                </a:solidFill>
                <a:latin typeface="Calibri" pitchFamily="34" charset="0"/>
                <a:ea typeface="Calibri" pitchFamily="34" charset="-122"/>
                <a:cs typeface="Calibri" pitchFamily="34" charset="-120"/>
              </a:rPr>
              <a:t>NIST AI RMF</a:t>
            </a:r>
            <a:endParaRPr lang="en-US" sz="900" dirty="0"/>
          </a:p>
        </p:txBody>
      </p:sp>
      <p:sp>
        <p:nvSpPr>
          <p:cNvPr id="27" name="Text 25"/>
          <p:cNvSpPr/>
          <p:nvPr/>
        </p:nvSpPr>
        <p:spPr>
          <a:xfrm>
            <a:off x="9418320" y="2057400"/>
            <a:ext cx="2103120" cy="18288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MEASURE-2.7, MANAGE-1.1</a:t>
            </a:r>
            <a:endParaRPr lang="en-US" sz="800" dirty="0"/>
          </a:p>
        </p:txBody>
      </p:sp>
      <p:sp>
        <p:nvSpPr>
          <p:cNvPr id="28" name="Shape 26"/>
          <p:cNvSpPr/>
          <p:nvPr/>
        </p:nvSpPr>
        <p:spPr>
          <a:xfrm>
            <a:off x="6858000" y="2377440"/>
            <a:ext cx="2286000" cy="502920"/>
          </a:xfrm>
          <a:prstGeom prst="rect">
            <a:avLst>
              <a:gd name="adj" fmla="val 9091"/>
            </a:avLst>
          </a:prstGeom>
          <a:solidFill>
            <a:srgbClr val="1E293B"/>
          </a:solidFill>
          <a:ln w="6350">
            <a:solidFill>
              <a:srgbClr val="10B981"/>
            </a:solidFill>
            <a:prstDash val="solid"/>
          </a:ln>
        </p:spPr>
      </p:sp>
      <p:sp>
        <p:nvSpPr>
          <p:cNvPr id="29" name="Text 27"/>
          <p:cNvSpPr/>
          <p:nvPr/>
        </p:nvSpPr>
        <p:spPr>
          <a:xfrm>
            <a:off x="6949440" y="2423160"/>
            <a:ext cx="2103120" cy="228600"/>
          </a:xfrm>
          <a:prstGeom prst="rect">
            <a:avLst/>
          </a:prstGeom>
          <a:noFill/>
          <a:ln/>
        </p:spPr>
        <p:txBody>
          <a:bodyPr wrap="square" rtlCol="0" anchor="ctr"/>
          <a:lstStyle/>
          <a:p>
            <a:pPr indent="0" marL="0">
              <a:buNone/>
            </a:pPr>
            <a:r>
              <a:rPr lang="en-US" sz="900" b="1" dirty="0">
                <a:solidFill>
                  <a:srgbClr val="F8FAFC"/>
                </a:solidFill>
                <a:latin typeface="Calibri" pitchFamily="34" charset="0"/>
                <a:ea typeface="Calibri" pitchFamily="34" charset="-122"/>
                <a:cs typeface="Calibri" pitchFamily="34" charset="-120"/>
              </a:rPr>
              <a:t>EU AI Act</a:t>
            </a:r>
            <a:endParaRPr lang="en-US" sz="900" dirty="0"/>
          </a:p>
        </p:txBody>
      </p:sp>
      <p:sp>
        <p:nvSpPr>
          <p:cNvPr id="30" name="Text 28"/>
          <p:cNvSpPr/>
          <p:nvPr/>
        </p:nvSpPr>
        <p:spPr>
          <a:xfrm>
            <a:off x="6949440" y="2651760"/>
            <a:ext cx="2103120" cy="18288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Art15-Robustness, Art12-Logging</a:t>
            </a:r>
            <a:endParaRPr lang="en-US" sz="800" dirty="0"/>
          </a:p>
        </p:txBody>
      </p:sp>
      <p:sp>
        <p:nvSpPr>
          <p:cNvPr id="31" name="Shape 29"/>
          <p:cNvSpPr/>
          <p:nvPr/>
        </p:nvSpPr>
        <p:spPr>
          <a:xfrm>
            <a:off x="9326880" y="2377440"/>
            <a:ext cx="2286000" cy="502920"/>
          </a:xfrm>
          <a:prstGeom prst="rect">
            <a:avLst>
              <a:gd name="adj" fmla="val 9091"/>
            </a:avLst>
          </a:prstGeom>
          <a:solidFill>
            <a:srgbClr val="1E293B"/>
          </a:solidFill>
          <a:ln w="6350">
            <a:solidFill>
              <a:srgbClr val="10B981"/>
            </a:solidFill>
            <a:prstDash val="solid"/>
          </a:ln>
        </p:spPr>
      </p:sp>
      <p:sp>
        <p:nvSpPr>
          <p:cNvPr id="32" name="Text 30"/>
          <p:cNvSpPr/>
          <p:nvPr/>
        </p:nvSpPr>
        <p:spPr>
          <a:xfrm>
            <a:off x="9418320" y="2423160"/>
            <a:ext cx="2103120" cy="228600"/>
          </a:xfrm>
          <a:prstGeom prst="rect">
            <a:avLst/>
          </a:prstGeom>
          <a:noFill/>
          <a:ln/>
        </p:spPr>
        <p:txBody>
          <a:bodyPr wrap="square" rtlCol="0" anchor="ctr"/>
          <a:lstStyle/>
          <a:p>
            <a:pPr indent="0" marL="0">
              <a:buNone/>
            </a:pPr>
            <a:r>
              <a:rPr lang="en-US" sz="900" b="1" dirty="0">
                <a:solidFill>
                  <a:srgbClr val="F8FAFC"/>
                </a:solidFill>
                <a:latin typeface="Calibri" pitchFamily="34" charset="0"/>
                <a:ea typeface="Calibri" pitchFamily="34" charset="-122"/>
                <a:cs typeface="Calibri" pitchFamily="34" charset="-120"/>
              </a:rPr>
              <a:t>ISO 42001</a:t>
            </a:r>
            <a:endParaRPr lang="en-US" sz="900" dirty="0"/>
          </a:p>
        </p:txBody>
      </p:sp>
      <p:sp>
        <p:nvSpPr>
          <p:cNvPr id="33" name="Text 31"/>
          <p:cNvSpPr/>
          <p:nvPr/>
        </p:nvSpPr>
        <p:spPr>
          <a:xfrm>
            <a:off x="9418320" y="2651760"/>
            <a:ext cx="2103120" cy="18288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8.2, 8.4, 9.1</a:t>
            </a:r>
            <a:endParaRPr lang="en-US" sz="800" dirty="0"/>
          </a:p>
        </p:txBody>
      </p:sp>
      <p:sp>
        <p:nvSpPr>
          <p:cNvPr id="34" name="Text 32"/>
          <p:cNvSpPr/>
          <p:nvPr/>
        </p:nvSpPr>
        <p:spPr>
          <a:xfrm>
            <a:off x="548640" y="3108960"/>
            <a:ext cx="10972800" cy="274320"/>
          </a:xfrm>
          <a:prstGeom prst="rect">
            <a:avLst/>
          </a:prstGeom>
          <a:noFill/>
          <a:ln/>
        </p:spPr>
        <p:txBody>
          <a:bodyPr wrap="square" rtlCol="0" anchor="t"/>
          <a:lstStyle/>
          <a:p>
            <a:pPr algn="l" indent="0" marL="0">
              <a:lnSpc>
                <a:spcPct val="120000"/>
              </a:lnSpc>
              <a:buNone/>
            </a:pPr>
            <a:r>
              <a:rPr lang="en-US" sz="1000" b="1" dirty="0">
                <a:solidFill>
                  <a:srgbClr val="10B981"/>
                </a:solidFill>
                <a:latin typeface="Calibri" pitchFamily="34" charset="0"/>
                <a:ea typeface="Calibri" pitchFamily="34" charset="-122"/>
                <a:cs typeface="Calibri" pitchFamily="34" charset="-120"/>
              </a:rPr>
              <a:t>Flow: Finding → Evidence → Framework Mapping → Control Coverage → Audit Package</a:t>
            </a:r>
            <a:endParaRPr lang="en-US" sz="1000" dirty="0"/>
          </a:p>
        </p:txBody>
      </p:sp>
      <p:sp>
        <p:nvSpPr>
          <p:cNvPr id="35" name="Shape 33"/>
          <p:cNvSpPr/>
          <p:nvPr/>
        </p:nvSpPr>
        <p:spPr>
          <a:xfrm>
            <a:off x="548640" y="3566160"/>
            <a:ext cx="11064240" cy="1097280"/>
          </a:xfrm>
          <a:prstGeom prst="rect">
            <a:avLst>
              <a:gd name="adj" fmla="val 4167"/>
            </a:avLst>
          </a:prstGeom>
          <a:solidFill>
            <a:srgbClr val="1E293B"/>
          </a:solidFill>
          <a:ln w="6350">
            <a:solidFill>
              <a:srgbClr val="10B981"/>
            </a:solidFill>
            <a:prstDash val="solid"/>
          </a:ln>
        </p:spPr>
      </p:sp>
      <p:sp>
        <p:nvSpPr>
          <p:cNvPr id="36" name="Text 34"/>
          <p:cNvSpPr/>
          <p:nvPr/>
        </p:nvSpPr>
        <p:spPr>
          <a:xfrm>
            <a:off x="731520" y="3657600"/>
            <a:ext cx="10698480" cy="274320"/>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Strategic Value</a:t>
            </a:r>
            <a:endParaRPr lang="en-US" sz="1100" dirty="0"/>
          </a:p>
        </p:txBody>
      </p:sp>
      <p:sp>
        <p:nvSpPr>
          <p:cNvPr id="37" name="Text 35"/>
          <p:cNvSpPr/>
          <p:nvPr/>
        </p:nvSpPr>
        <p:spPr>
          <a:xfrm>
            <a:off x="731520" y="3931920"/>
            <a:ext cx="10698480" cy="640080"/>
          </a:xfrm>
          <a:prstGeom prst="rect">
            <a:avLst/>
          </a:prstGeom>
          <a:noFill/>
          <a:ln/>
        </p:spPr>
        <p:txBody>
          <a:bodyPr wrap="square" rtlCol="0" anchor="t"/>
          <a:lstStyle/>
          <a:p>
            <a:pPr algn="l" indent="0" marL="0">
              <a:lnSpc>
                <a:spcPct val="120000"/>
              </a:lnSpc>
              <a:buNone/>
            </a:pPr>
            <a:r>
              <a:rPr lang="en-US" sz="1000" dirty="0">
                <a:solidFill>
                  <a:srgbClr val="F8FAFC"/>
                </a:solidFill>
                <a:latin typeface="Calibri" pitchFamily="34" charset="0"/>
                <a:ea typeface="Calibri" pitchFamily="34" charset="-122"/>
                <a:cs typeface="Calibri" pitchFamily="34" charset="-120"/>
              </a:rPr>
              <a:t>A single remediation (e.g., adding input validation guard) can simultaneously satisfy OWASP LLM01, SOC2 CC7.2, ISO 27001 A.12.6.1, NIST AI RMF MEASURE-2.7, EU AI Act Art15, and ISO 42001 8.2 — with one evidence record. This is the multiplier effect: remediate once, prove across frameworks.</a:t>
            </a:r>
            <a:endParaRPr lang="en-US" sz="1000" dirty="0"/>
          </a:p>
        </p:txBody>
      </p:sp>
      <p:sp>
        <p:nvSpPr>
          <p:cNvPr id="38" name="Text 36"/>
          <p:cNvSpPr/>
          <p:nvPr/>
        </p:nvSpPr>
        <p:spPr>
          <a:xfrm>
            <a:off x="548640" y="4937760"/>
            <a:ext cx="10972800" cy="274320"/>
          </a:xfrm>
          <a:prstGeom prst="rect">
            <a:avLst/>
          </a:prstGeom>
          <a:noFill/>
          <a:ln/>
        </p:spPr>
        <p:txBody>
          <a:bodyPr wrap="square" rtlCol="0" anchor="t"/>
          <a:lstStyle/>
          <a:p>
            <a:pPr algn="l" indent="0" marL="0">
              <a:lnSpc>
                <a:spcPct val="120000"/>
              </a:lnSpc>
              <a:buNone/>
            </a:pPr>
            <a:r>
              <a:rPr lang="en-US" sz="800" dirty="0">
                <a:solidFill>
                  <a:srgbClr val="64748B"/>
                </a:solidFill>
                <a:latin typeface="Calibri" pitchFamily="34" charset="0"/>
                <a:ea typeface="Calibri" pitchFamily="34" charset="-122"/>
                <a:cs typeface="Calibri" pitchFamily="34" charset="-120"/>
              </a:rPr>
              <a:t>Source: lib/ai-security/compliance-mappings.ts — 82 unique rule IDs mapped to 13 compliance frameworks.</a:t>
            </a:r>
            <a:endParaRPr lang="en-US" sz="800" dirty="0"/>
          </a:p>
        </p:txBody>
      </p:sp>
      <p:sp>
        <p:nvSpPr>
          <p:cNvPr id="39" name="Text 37"/>
          <p:cNvSpPr/>
          <p:nvPr/>
        </p:nvSpPr>
        <p:spPr>
          <a:xfrm>
            <a:off x="548640" y="5303520"/>
            <a:ext cx="10972800" cy="457200"/>
          </a:xfrm>
          <a:prstGeom prst="rect">
            <a:avLst/>
          </a:prstGeom>
          <a:noFill/>
          <a:ln/>
        </p:spPr>
        <p:txBody>
          <a:bodyPr wrap="square" rtlCol="0" anchor="t"/>
          <a:lstStyle/>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Mapped frameworks: SOC 2 · ISO 27001 · ISO 42001 · OWASP LLM Top 10 · GDPR · HIPAA · CWE · NIST AI RMF · EU AI Act · CCPA · NYC LL144 · Colorado AI Act · FTC Act</a:t>
            </a:r>
            <a:endParaRPr lang="en-US" sz="900" dirty="0"/>
          </a:p>
        </p:txBody>
      </p:sp>
      <p:sp>
        <p:nvSpPr>
          <p:cNvPr id="40" name="Text 38"/>
          <p:cNvSpPr/>
          <p:nvPr/>
        </p:nvSpPr>
        <p:spPr>
          <a:xfrm>
            <a:off x="274320" y="6537960"/>
            <a:ext cx="7315200" cy="22860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HAIEC  ·  Confidential Discussion Brief  ·  8/14</a:t>
            </a:r>
            <a:endParaRPr lang="en-US" sz="800" dirty="0"/>
          </a:p>
        </p:txBody>
      </p:sp>
      <p:sp>
        <p:nvSpPr>
          <p:cNvPr id="41" name="Text 39"/>
          <p:cNvSpPr/>
          <p:nvPr/>
        </p:nvSpPr>
        <p:spPr>
          <a:xfrm>
            <a:off x="9448495" y="6537960"/>
            <a:ext cx="2468880" cy="228600"/>
          </a:xfrm>
          <a:prstGeom prst="rect">
            <a:avLst/>
          </a:prstGeom>
          <a:noFill/>
          <a:ln/>
        </p:spPr>
        <p:txBody>
          <a:bodyPr wrap="square" rtlCol="0" anchor="ctr"/>
          <a:lstStyle/>
          <a:p>
            <a:pPr algn="r" indent="0" marL="0">
              <a:buNone/>
            </a:pPr>
            <a:r>
              <a:rPr lang="en-US" sz="800" dirty="0">
                <a:solidFill>
                  <a:srgbClr val="64748B"/>
                </a:solidFill>
                <a:latin typeface="Courier New" pitchFamily="34" charset="0"/>
                <a:ea typeface="Courier New" pitchFamily="34" charset="-122"/>
                <a:cs typeface="Courier New" pitchFamily="34" charset="-120"/>
              </a:rPr>
              <a:t>v1.0  ·  2026-07-31</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365760"/>
            <a:ext cx="11094415" cy="502920"/>
          </a:xfrm>
          <a:prstGeom prst="rect">
            <a:avLst/>
          </a:prstGeom>
          <a:noFill/>
          <a:ln/>
        </p:spPr>
        <p:txBody>
          <a:bodyPr wrap="square" rtlCol="0" anchor="ctr"/>
          <a:lstStyle/>
          <a:p>
            <a:pPr algn="l" indent="0" marL="0">
              <a:buNone/>
            </a:pPr>
            <a:r>
              <a:rPr lang="en-US" sz="2600" b="1" dirty="0">
                <a:solidFill>
                  <a:srgbClr val="F8FAFC"/>
                </a:solidFill>
                <a:latin typeface="Calibri" pitchFamily="34" charset="0"/>
                <a:ea typeface="Calibri" pitchFamily="34" charset="-122"/>
                <a:cs typeface="Calibri" pitchFamily="34" charset="-120"/>
              </a:rPr>
              <a:t>Scores summarize. Critical gates decide. Evidence explains.</a:t>
            </a:r>
            <a:endParaRPr lang="en-US" sz="2600" dirty="0"/>
          </a:p>
        </p:txBody>
      </p:sp>
      <p:sp>
        <p:nvSpPr>
          <p:cNvPr id="3" name="Shape 1"/>
          <p:cNvSpPr/>
          <p:nvPr/>
        </p:nvSpPr>
        <p:spPr>
          <a:xfrm>
            <a:off x="548640" y="914400"/>
            <a:ext cx="1371600" cy="36576"/>
          </a:xfrm>
          <a:prstGeom prst="rect">
            <a:avLst/>
          </a:prstGeom>
          <a:solidFill>
            <a:srgbClr val="10B981"/>
          </a:solidFill>
          <a:ln/>
        </p:spPr>
      </p:sp>
      <p:sp>
        <p:nvSpPr>
          <p:cNvPr id="4" name="Shape 2"/>
          <p:cNvSpPr/>
          <p:nvPr/>
        </p:nvSpPr>
        <p:spPr>
          <a:xfrm>
            <a:off x="548640" y="1188720"/>
            <a:ext cx="2743200" cy="1371600"/>
          </a:xfrm>
          <a:prstGeom prst="rect">
            <a:avLst>
              <a:gd name="adj" fmla="val 3333"/>
            </a:avLst>
          </a:prstGeom>
          <a:solidFill>
            <a:srgbClr val="1E293B"/>
          </a:solidFill>
          <a:ln w="6350">
            <a:solidFill>
              <a:srgbClr val="334155"/>
            </a:solidFill>
            <a:prstDash val="solid"/>
          </a:ln>
        </p:spPr>
      </p:sp>
      <p:sp>
        <p:nvSpPr>
          <p:cNvPr id="5" name="Text 3"/>
          <p:cNvSpPr/>
          <p:nvPr/>
        </p:nvSpPr>
        <p:spPr>
          <a:xfrm>
            <a:off x="685800" y="1280160"/>
            <a:ext cx="246888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ENGINE INPUTS</a:t>
            </a:r>
            <a:endParaRPr lang="en-US" sz="800" dirty="0"/>
          </a:p>
        </p:txBody>
      </p:sp>
      <p:sp>
        <p:nvSpPr>
          <p:cNvPr id="6" name="Text 4"/>
          <p:cNvSpPr/>
          <p:nvPr/>
        </p:nvSpPr>
        <p:spPr>
          <a:xfrm>
            <a:off x="685800" y="1554480"/>
            <a:ext cx="2468880" cy="18288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Static scan results</a:t>
            </a:r>
            <a:endParaRPr lang="en-US" sz="800" dirty="0"/>
          </a:p>
        </p:txBody>
      </p:sp>
      <p:sp>
        <p:nvSpPr>
          <p:cNvPr id="7" name="Text 5"/>
          <p:cNvSpPr/>
          <p:nvPr/>
        </p:nvSpPr>
        <p:spPr>
          <a:xfrm>
            <a:off x="685800" y="1755648"/>
            <a:ext cx="2468880" cy="18288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Runtime test results</a:t>
            </a:r>
            <a:endParaRPr lang="en-US" sz="800" dirty="0"/>
          </a:p>
        </p:txBody>
      </p:sp>
      <p:sp>
        <p:nvSpPr>
          <p:cNvPr id="8" name="Text 6"/>
          <p:cNvSpPr/>
          <p:nvPr/>
        </p:nvSpPr>
        <p:spPr>
          <a:xfrm>
            <a:off x="685800" y="1956816"/>
            <a:ext cx="2468880" cy="18288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Wizard assessment</a:t>
            </a:r>
            <a:endParaRPr lang="en-US" sz="800" dirty="0"/>
          </a:p>
        </p:txBody>
      </p:sp>
      <p:sp>
        <p:nvSpPr>
          <p:cNvPr id="9" name="Text 7"/>
          <p:cNvSpPr/>
          <p:nvPr/>
        </p:nvSpPr>
        <p:spPr>
          <a:xfrm>
            <a:off x="685800" y="2157984"/>
            <a:ext cx="2468880" cy="18288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AI inventory</a:t>
            </a:r>
            <a:endParaRPr lang="en-US" sz="800" dirty="0"/>
          </a:p>
        </p:txBody>
      </p:sp>
      <p:sp>
        <p:nvSpPr>
          <p:cNvPr id="10" name="Text 8"/>
          <p:cNvSpPr/>
          <p:nvPr/>
        </p:nvSpPr>
        <p:spPr>
          <a:xfrm>
            <a:off x="685800" y="2359152"/>
            <a:ext cx="2468880" cy="18288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Compliance Twin state</a:t>
            </a:r>
            <a:endParaRPr lang="en-US" sz="800" dirty="0"/>
          </a:p>
        </p:txBody>
      </p:sp>
      <p:sp>
        <p:nvSpPr>
          <p:cNvPr id="11" name="Shape 9"/>
          <p:cNvSpPr/>
          <p:nvPr/>
        </p:nvSpPr>
        <p:spPr>
          <a:xfrm>
            <a:off x="3383280" y="1828800"/>
            <a:ext cx="274320" cy="0"/>
          </a:xfrm>
          <a:prstGeom prst="line">
            <a:avLst/>
          </a:prstGeom>
          <a:noFill/>
          <a:ln w="19050">
            <a:solidFill>
              <a:srgbClr val="10B981"/>
            </a:solidFill>
            <a:prstDash val="solid"/>
            <a:tailEnd type="triangle"/>
          </a:ln>
        </p:spPr>
      </p:sp>
      <p:sp>
        <p:nvSpPr>
          <p:cNvPr id="12" name="Shape 10"/>
          <p:cNvSpPr/>
          <p:nvPr/>
        </p:nvSpPr>
        <p:spPr>
          <a:xfrm>
            <a:off x="3749040" y="1188720"/>
            <a:ext cx="4114800" cy="1371600"/>
          </a:xfrm>
          <a:prstGeom prst="rect">
            <a:avLst>
              <a:gd name="adj" fmla="val 3333"/>
            </a:avLst>
          </a:prstGeom>
          <a:solidFill>
            <a:srgbClr val="1E293B"/>
          </a:solidFill>
          <a:ln w="6350">
            <a:solidFill>
              <a:srgbClr val="10B981"/>
            </a:solidFill>
            <a:prstDash val="solid"/>
          </a:ln>
        </p:spPr>
      </p:sp>
      <p:sp>
        <p:nvSpPr>
          <p:cNvPr id="13" name="Text 11"/>
          <p:cNvSpPr/>
          <p:nvPr/>
        </p:nvSpPr>
        <p:spPr>
          <a:xfrm>
            <a:off x="3886200" y="1280160"/>
            <a:ext cx="384048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DECISION PIPELINE</a:t>
            </a:r>
            <a:endParaRPr lang="en-US" sz="800" dirty="0"/>
          </a:p>
        </p:txBody>
      </p:sp>
      <p:sp>
        <p:nvSpPr>
          <p:cNvPr id="14" name="Text 12"/>
          <p:cNvSpPr/>
          <p:nvPr/>
        </p:nvSpPr>
        <p:spPr>
          <a:xfrm>
            <a:off x="3886200" y="1554480"/>
            <a:ext cx="3840480" cy="274320"/>
          </a:xfrm>
          <a:prstGeom prst="rect">
            <a:avLst/>
          </a:prstGeom>
          <a:noFill/>
          <a:ln/>
        </p:spPr>
        <p:txBody>
          <a:bodyPr wrap="square" rtlCol="0" anchor="ctr"/>
          <a:lstStyle/>
          <a:p>
            <a:pPr indent="0" marL="0">
              <a:buNone/>
            </a:pPr>
            <a:r>
              <a:rPr lang="en-US" sz="900" dirty="0">
                <a:solidFill>
                  <a:srgbClr val="F8FAFC"/>
                </a:solidFill>
                <a:latin typeface="Courier New" pitchFamily="34" charset="0"/>
                <a:ea typeface="Courier New" pitchFamily="34" charset="-122"/>
                <a:cs typeface="Courier New" pitchFamily="34" charset="-120"/>
              </a:rPr>
              <a:t>6 Nodes: INPUT → PROMPT → RETRIEVAL → TOOLS → MODEL → DECISION</a:t>
            </a:r>
            <a:endParaRPr lang="en-US" sz="900" dirty="0"/>
          </a:p>
        </p:txBody>
      </p:sp>
      <p:sp>
        <p:nvSpPr>
          <p:cNvPr id="15" name="Text 13"/>
          <p:cNvSpPr/>
          <p:nvPr/>
        </p:nvSpPr>
        <p:spPr>
          <a:xfrm>
            <a:off x="3886200" y="1920240"/>
            <a:ext cx="3840480" cy="274320"/>
          </a:xfrm>
          <a:prstGeom prst="rect">
            <a:avLst/>
          </a:prstGeom>
          <a:noFill/>
          <a:ln/>
        </p:spPr>
        <p:txBody>
          <a:bodyPr wrap="square" rtlCol="0" anchor="ctr"/>
          <a:lstStyle/>
          <a:p>
            <a:pPr indent="0" marL="0">
              <a:buNone/>
            </a:pPr>
            <a:r>
              <a:rPr lang="en-US" sz="900" dirty="0">
                <a:solidFill>
                  <a:srgbClr val="10B981"/>
                </a:solidFill>
                <a:latin typeface="Calibri" pitchFamily="34" charset="0"/>
                <a:ea typeface="Calibri" pitchFamily="34" charset="-122"/>
                <a:cs typeface="Calibri" pitchFamily="34" charset="-120"/>
              </a:rPr>
              <a:t>Decision Integrity Score (DIS) = weighted average × coverage penalty</a:t>
            </a:r>
            <a:endParaRPr lang="en-US" sz="900" dirty="0"/>
          </a:p>
        </p:txBody>
      </p:sp>
      <p:sp>
        <p:nvSpPr>
          <p:cNvPr id="16" name="Text 14"/>
          <p:cNvSpPr/>
          <p:nvPr/>
        </p:nvSpPr>
        <p:spPr>
          <a:xfrm>
            <a:off x="3886200" y="2194560"/>
            <a:ext cx="3840480"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NIST AI RMF: GOVERN · MAP · MEASURE · MANAGE</a:t>
            </a:r>
            <a:endParaRPr lang="en-US" sz="900" dirty="0"/>
          </a:p>
        </p:txBody>
      </p:sp>
      <p:sp>
        <p:nvSpPr>
          <p:cNvPr id="17" name="Shape 15"/>
          <p:cNvSpPr/>
          <p:nvPr/>
        </p:nvSpPr>
        <p:spPr>
          <a:xfrm>
            <a:off x="7955280" y="1828800"/>
            <a:ext cx="274320" cy="0"/>
          </a:xfrm>
          <a:prstGeom prst="line">
            <a:avLst/>
          </a:prstGeom>
          <a:noFill/>
          <a:ln w="19050">
            <a:solidFill>
              <a:srgbClr val="10B981"/>
            </a:solidFill>
            <a:prstDash val="solid"/>
            <a:tailEnd type="triangle"/>
          </a:ln>
        </p:spPr>
      </p:sp>
      <p:sp>
        <p:nvSpPr>
          <p:cNvPr id="18" name="Shape 16"/>
          <p:cNvSpPr/>
          <p:nvPr/>
        </p:nvSpPr>
        <p:spPr>
          <a:xfrm>
            <a:off x="8321040" y="1188720"/>
            <a:ext cx="3291840" cy="1371600"/>
          </a:xfrm>
          <a:prstGeom prst="rect">
            <a:avLst>
              <a:gd name="adj" fmla="val 3333"/>
            </a:avLst>
          </a:prstGeom>
          <a:solidFill>
            <a:srgbClr val="1E293B"/>
          </a:solidFill>
          <a:ln w="6350">
            <a:solidFill>
              <a:srgbClr val="10B981"/>
            </a:solidFill>
            <a:prstDash val="solid"/>
          </a:ln>
        </p:spPr>
      </p:sp>
      <p:sp>
        <p:nvSpPr>
          <p:cNvPr id="19" name="Text 17"/>
          <p:cNvSpPr/>
          <p:nvPr/>
        </p:nvSpPr>
        <p:spPr>
          <a:xfrm>
            <a:off x="8458200" y="1280160"/>
            <a:ext cx="301752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OUTPUT</a:t>
            </a:r>
            <a:endParaRPr lang="en-US" sz="800" dirty="0"/>
          </a:p>
        </p:txBody>
      </p:sp>
      <p:sp>
        <p:nvSpPr>
          <p:cNvPr id="20" name="Text 18"/>
          <p:cNvSpPr/>
          <p:nvPr/>
        </p:nvSpPr>
        <p:spPr>
          <a:xfrm>
            <a:off x="8458200" y="1554480"/>
            <a:ext cx="3017520" cy="18288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DIS score (0–100)</a:t>
            </a:r>
            <a:endParaRPr lang="en-US" sz="800" dirty="0"/>
          </a:p>
        </p:txBody>
      </p:sp>
      <p:sp>
        <p:nvSpPr>
          <p:cNvPr id="21" name="Text 19"/>
          <p:cNvSpPr/>
          <p:nvPr/>
        </p:nvSpPr>
        <p:spPr>
          <a:xfrm>
            <a:off x="8458200" y="1755648"/>
            <a:ext cx="3017520" cy="18288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Per-node breakdown</a:t>
            </a:r>
            <a:endParaRPr lang="en-US" sz="800" dirty="0"/>
          </a:p>
        </p:txBody>
      </p:sp>
      <p:sp>
        <p:nvSpPr>
          <p:cNvPr id="22" name="Text 20"/>
          <p:cNvSpPr/>
          <p:nvPr/>
        </p:nvSpPr>
        <p:spPr>
          <a:xfrm>
            <a:off x="8458200" y="1956816"/>
            <a:ext cx="3017520" cy="18288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Audit package (JSON)</a:t>
            </a:r>
            <a:endParaRPr lang="en-US" sz="800" dirty="0"/>
          </a:p>
        </p:txBody>
      </p:sp>
      <p:sp>
        <p:nvSpPr>
          <p:cNvPr id="23" name="Text 21"/>
          <p:cNvSpPr/>
          <p:nvPr/>
        </p:nvSpPr>
        <p:spPr>
          <a:xfrm>
            <a:off x="8458200" y="2157984"/>
            <a:ext cx="3017520" cy="18288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Review sign-off chain</a:t>
            </a:r>
            <a:endParaRPr lang="en-US" sz="800" dirty="0"/>
          </a:p>
        </p:txBody>
      </p:sp>
      <p:sp>
        <p:nvSpPr>
          <p:cNvPr id="24" name="Text 22"/>
          <p:cNvSpPr/>
          <p:nvPr/>
        </p:nvSpPr>
        <p:spPr>
          <a:xfrm>
            <a:off x="8458200" y="2359152"/>
            <a:ext cx="3017520" cy="18288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Drift detection</a:t>
            </a:r>
            <a:endParaRPr lang="en-US" sz="800" dirty="0"/>
          </a:p>
        </p:txBody>
      </p:sp>
      <p:sp>
        <p:nvSpPr>
          <p:cNvPr id="25" name="Shape 23"/>
          <p:cNvSpPr/>
          <p:nvPr/>
        </p:nvSpPr>
        <p:spPr>
          <a:xfrm>
            <a:off x="548640" y="2834640"/>
            <a:ext cx="5303520" cy="2560320"/>
          </a:xfrm>
          <a:prstGeom prst="rect">
            <a:avLst>
              <a:gd name="adj" fmla="val 1786"/>
            </a:avLst>
          </a:prstGeom>
          <a:solidFill>
            <a:srgbClr val="1E293B"/>
          </a:solidFill>
          <a:ln w="6350">
            <a:solidFill>
              <a:srgbClr val="334155"/>
            </a:solidFill>
            <a:prstDash val="solid"/>
          </a:ln>
        </p:spPr>
      </p:sp>
      <p:sp>
        <p:nvSpPr>
          <p:cNvPr id="26" name="Text 24"/>
          <p:cNvSpPr/>
          <p:nvPr/>
        </p:nvSpPr>
        <p:spPr>
          <a:xfrm>
            <a:off x="731520" y="2926080"/>
            <a:ext cx="4937760" cy="320040"/>
          </a:xfrm>
          <a:prstGeom prst="rect">
            <a:avLst/>
          </a:prstGeom>
          <a:noFill/>
          <a:ln/>
        </p:spPr>
        <p:txBody>
          <a:bodyPr wrap="square"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Current Implementation</a:t>
            </a:r>
            <a:endParaRPr lang="en-US" sz="1200" dirty="0"/>
          </a:p>
        </p:txBody>
      </p:sp>
      <p:sp>
        <p:nvSpPr>
          <p:cNvPr id="27" name="Shape 25"/>
          <p:cNvSpPr/>
          <p:nvPr/>
        </p:nvSpPr>
        <p:spPr>
          <a:xfrm>
            <a:off x="731520" y="3291840"/>
            <a:ext cx="1645920" cy="274320"/>
          </a:xfrm>
          <a:prstGeom prst="roundRect">
            <a:avLst>
              <a:gd name="adj" fmla="val 10000"/>
            </a:avLst>
          </a:prstGeom>
          <a:solidFill>
            <a:srgbClr val="10B981"/>
          </a:solidFill>
          <a:ln/>
        </p:spPr>
      </p:sp>
      <p:sp>
        <p:nvSpPr>
          <p:cNvPr id="28" name="Text 26"/>
          <p:cNvSpPr/>
          <p:nvPr/>
        </p:nvSpPr>
        <p:spPr>
          <a:xfrm>
            <a:off x="731520" y="3291840"/>
            <a:ext cx="1645920" cy="274320"/>
          </a:xfrm>
          <a:prstGeom prst="rect">
            <a:avLst/>
          </a:prstGeom>
          <a:noFill/>
          <a:ln/>
        </p:spPr>
        <p:txBody>
          <a:bodyPr wrap="square"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IMPLEMENTED</a:t>
            </a:r>
            <a:endParaRPr lang="en-US" sz="800" dirty="0"/>
          </a:p>
        </p:txBody>
      </p:sp>
      <p:sp>
        <p:nvSpPr>
          <p:cNvPr id="29" name="Text 27"/>
          <p:cNvSpPr/>
          <p:nvPr/>
        </p:nvSpPr>
        <p:spPr>
          <a:xfrm>
            <a:off x="731520" y="3657600"/>
            <a:ext cx="4937760" cy="201168"/>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Aggregation job normalizes all engine outputs to 6 nodes</a:t>
            </a:r>
            <a:endParaRPr lang="en-US" sz="800" dirty="0"/>
          </a:p>
        </p:txBody>
      </p:sp>
      <p:sp>
        <p:nvSpPr>
          <p:cNvPr id="30" name="Text 28"/>
          <p:cNvSpPr/>
          <p:nvPr/>
        </p:nvSpPr>
        <p:spPr>
          <a:xfrm>
            <a:off x="731520" y="3877056"/>
            <a:ext cx="4937760" cy="201168"/>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DIS formula v1.0 with locked methodology version</a:t>
            </a:r>
            <a:endParaRPr lang="en-US" sz="800" dirty="0"/>
          </a:p>
        </p:txBody>
      </p:sp>
      <p:sp>
        <p:nvSpPr>
          <p:cNvPr id="31" name="Text 29"/>
          <p:cNvSpPr/>
          <p:nvPr/>
        </p:nvSpPr>
        <p:spPr>
          <a:xfrm>
            <a:off x="731520" y="4096512"/>
            <a:ext cx="4937760" cy="201168"/>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Coverage penalty: &lt;50% → ×0.85, 50-74% → ×0.95, ≥75% → ×1.00</a:t>
            </a:r>
            <a:endParaRPr lang="en-US" sz="800" dirty="0"/>
          </a:p>
        </p:txBody>
      </p:sp>
      <p:sp>
        <p:nvSpPr>
          <p:cNvPr id="32" name="Text 30"/>
          <p:cNvSpPr/>
          <p:nvPr/>
        </p:nvSpPr>
        <p:spPr>
          <a:xfrm>
            <a:off x="731520" y="4315968"/>
            <a:ext cx="4937760" cy="201168"/>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Audit eligibility: FULL_RUN + all required nodes VERIFIED + ≥75% coverage</a:t>
            </a:r>
            <a:endParaRPr lang="en-US" sz="800" dirty="0"/>
          </a:p>
        </p:txBody>
      </p:sp>
      <p:sp>
        <p:nvSpPr>
          <p:cNvPr id="33" name="Text 31"/>
          <p:cNvSpPr/>
          <p:nvPr/>
        </p:nvSpPr>
        <p:spPr>
          <a:xfrm>
            <a:off x="731520" y="4535424"/>
            <a:ext cx="4937760" cy="201168"/>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Human review workflow with signature hash + IP + user-agent</a:t>
            </a:r>
            <a:endParaRPr lang="en-US" sz="800" dirty="0"/>
          </a:p>
        </p:txBody>
      </p:sp>
      <p:sp>
        <p:nvSpPr>
          <p:cNvPr id="34" name="Text 32"/>
          <p:cNvSpPr/>
          <p:nvPr/>
        </p:nvSpPr>
        <p:spPr>
          <a:xfrm>
            <a:off x="731520" y="4754880"/>
            <a:ext cx="4937760" cy="201168"/>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Drift detection: ≥10pt overall drop or ≥15pt node drop or eligibility flip</a:t>
            </a:r>
            <a:endParaRPr lang="en-US" sz="800" dirty="0"/>
          </a:p>
        </p:txBody>
      </p:sp>
      <p:sp>
        <p:nvSpPr>
          <p:cNvPr id="35" name="Text 33"/>
          <p:cNvSpPr/>
          <p:nvPr/>
        </p:nvSpPr>
        <p:spPr>
          <a:xfrm>
            <a:off x="731520" y="4974336"/>
            <a:ext cx="4937760" cy="201168"/>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Enterprise V1 API with feature gate and rate limiting</a:t>
            </a:r>
            <a:endParaRPr lang="en-US" sz="800" dirty="0"/>
          </a:p>
        </p:txBody>
      </p:sp>
      <p:sp>
        <p:nvSpPr>
          <p:cNvPr id="36" name="Text 34"/>
          <p:cNvSpPr/>
          <p:nvPr/>
        </p:nvSpPr>
        <p:spPr>
          <a:xfrm>
            <a:off x="731520" y="5193792"/>
            <a:ext cx="4937760" cy="201168"/>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Idempotent aggregation (unique constraint on orchestratorRunId)</a:t>
            </a:r>
            <a:endParaRPr lang="en-US" sz="800" dirty="0"/>
          </a:p>
        </p:txBody>
      </p:sp>
      <p:sp>
        <p:nvSpPr>
          <p:cNvPr id="37" name="Shape 35"/>
          <p:cNvSpPr/>
          <p:nvPr/>
        </p:nvSpPr>
        <p:spPr>
          <a:xfrm>
            <a:off x="6309360" y="2834640"/>
            <a:ext cx="5303520" cy="2560320"/>
          </a:xfrm>
          <a:prstGeom prst="rect">
            <a:avLst>
              <a:gd name="adj" fmla="val 1786"/>
            </a:avLst>
          </a:prstGeom>
          <a:solidFill>
            <a:srgbClr val="1E293B"/>
          </a:solidFill>
          <a:ln w="6350">
            <a:solidFill>
              <a:srgbClr val="10B981"/>
            </a:solidFill>
            <a:prstDash val="solid"/>
          </a:ln>
        </p:spPr>
      </p:sp>
      <p:sp>
        <p:nvSpPr>
          <p:cNvPr id="38" name="Text 36"/>
          <p:cNvSpPr/>
          <p:nvPr/>
        </p:nvSpPr>
        <p:spPr>
          <a:xfrm>
            <a:off x="6492240" y="2926080"/>
            <a:ext cx="4937760" cy="320040"/>
          </a:xfrm>
          <a:prstGeom prst="rect">
            <a:avLst/>
          </a:prstGeom>
          <a:noFill/>
          <a:ln/>
        </p:spPr>
        <p:txBody>
          <a:bodyPr wrap="square"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Roadmap &amp; Next Capabilities</a:t>
            </a:r>
            <a:endParaRPr lang="en-US" sz="1200" dirty="0"/>
          </a:p>
        </p:txBody>
      </p:sp>
      <p:sp>
        <p:nvSpPr>
          <p:cNvPr id="39" name="Shape 37"/>
          <p:cNvSpPr/>
          <p:nvPr/>
        </p:nvSpPr>
        <p:spPr>
          <a:xfrm>
            <a:off x="6492240" y="3291840"/>
            <a:ext cx="1645920" cy="274320"/>
          </a:xfrm>
          <a:prstGeom prst="roundRect">
            <a:avLst>
              <a:gd name="adj" fmla="val 10000"/>
            </a:avLst>
          </a:prstGeom>
          <a:solidFill>
            <a:srgbClr val="10B981"/>
          </a:solidFill>
          <a:ln/>
        </p:spPr>
      </p:sp>
      <p:sp>
        <p:nvSpPr>
          <p:cNvPr id="40" name="Text 38"/>
          <p:cNvSpPr/>
          <p:nvPr/>
        </p:nvSpPr>
        <p:spPr>
          <a:xfrm>
            <a:off x="6492240" y="3291840"/>
            <a:ext cx="1645920" cy="274320"/>
          </a:xfrm>
          <a:prstGeom prst="rect">
            <a:avLst/>
          </a:prstGeom>
          <a:noFill/>
          <a:ln/>
        </p:spPr>
        <p:txBody>
          <a:bodyPr wrap="square"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ACTIVE DEVELOPMENT</a:t>
            </a:r>
            <a:endParaRPr lang="en-US" sz="800" dirty="0"/>
          </a:p>
        </p:txBody>
      </p:sp>
      <p:sp>
        <p:nvSpPr>
          <p:cNvPr id="41" name="Text 39"/>
          <p:cNvSpPr/>
          <p:nvPr/>
        </p:nvSpPr>
        <p:spPr>
          <a:xfrm>
            <a:off x="6492240" y="3657600"/>
            <a:ext cx="4937760" cy="201168"/>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Findings-level blocker gates: scoring implemented, enforcement activation next</a:t>
            </a:r>
            <a:endParaRPr lang="en-US" sz="800" dirty="0"/>
          </a:p>
        </p:txBody>
      </p:sp>
      <p:sp>
        <p:nvSpPr>
          <p:cNvPr id="42" name="Text 40"/>
          <p:cNvSpPr/>
          <p:nvPr/>
        </p:nvSpPr>
        <p:spPr>
          <a:xfrm>
            <a:off x="6492240" y="3877056"/>
            <a:ext cx="4937760" cy="201168"/>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Critical-finding gates: eligibility enforcement in active development</a:t>
            </a:r>
            <a:endParaRPr lang="en-US" sz="800" dirty="0"/>
          </a:p>
        </p:txBody>
      </p:sp>
      <p:sp>
        <p:nvSpPr>
          <p:cNvPr id="43" name="Text 41"/>
          <p:cNvSpPr/>
          <p:nvPr/>
        </p:nvSpPr>
        <p:spPr>
          <a:xfrm>
            <a:off x="6492240" y="4096512"/>
            <a:ext cx="4937760" cy="201168"/>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QStash async job: infrastructure ready, production token configuration next</a:t>
            </a:r>
            <a:endParaRPr lang="en-US" sz="800" dirty="0"/>
          </a:p>
        </p:txBody>
      </p:sp>
      <p:sp>
        <p:nvSpPr>
          <p:cNvPr id="44" name="Text 42"/>
          <p:cNvSpPr/>
          <p:nvPr/>
        </p:nvSpPr>
        <p:spPr>
          <a:xfrm>
            <a:off x="6492240" y="4315968"/>
            <a:ext cx="4937760" cy="201168"/>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Scheduled re-verification: cron infrastructure ready, scheduling activation next</a:t>
            </a:r>
            <a:endParaRPr lang="en-US" sz="800" dirty="0"/>
          </a:p>
        </p:txBody>
      </p:sp>
      <p:sp>
        <p:nvSpPr>
          <p:cNvPr id="45" name="Text 43"/>
          <p:cNvSpPr/>
          <p:nvPr/>
        </p:nvSpPr>
        <p:spPr>
          <a:xfrm>
            <a:off x="6492240" y="4535424"/>
            <a:ext cx="4937760" cy="201168"/>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Review workflow: sign-off chain implemented, production rollout next</a:t>
            </a:r>
            <a:endParaRPr lang="en-US" sz="800" dirty="0"/>
          </a:p>
        </p:txBody>
      </p:sp>
      <p:sp>
        <p:nvSpPr>
          <p:cNvPr id="46" name="Text 44"/>
          <p:cNvSpPr/>
          <p:nvPr/>
        </p:nvSpPr>
        <p:spPr>
          <a:xfrm>
            <a:off x="6492240" y="4754880"/>
            <a:ext cx="4937760" cy="201168"/>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PARTIAL_RUN results consistently excluded from audit eligibility</a:t>
            </a:r>
            <a:endParaRPr lang="en-US" sz="800" dirty="0"/>
          </a:p>
        </p:txBody>
      </p:sp>
      <p:sp>
        <p:nvSpPr>
          <p:cNvPr id="47" name="Text 45"/>
          <p:cNvSpPr/>
          <p:nvPr/>
        </p:nvSpPr>
        <p:spPr>
          <a:xfrm>
            <a:off x="548640" y="5669280"/>
            <a:ext cx="10972800" cy="274320"/>
          </a:xfrm>
          <a:prstGeom prst="rect">
            <a:avLst/>
          </a:prstGeom>
          <a:noFill/>
          <a:ln/>
        </p:spPr>
        <p:txBody>
          <a:bodyPr wrap="square" rtlCol="0" anchor="t"/>
          <a:lstStyle/>
          <a:p>
            <a:pPr algn="l" indent="0" marL="0">
              <a:lnSpc>
                <a:spcPct val="120000"/>
              </a:lnSpc>
              <a:buNone/>
            </a:pPr>
            <a:r>
              <a:rPr lang="en-US" sz="1000" b="1" dirty="0">
                <a:solidFill>
                  <a:srgbClr val="10B981"/>
                </a:solidFill>
                <a:latin typeface="Calibri" pitchFamily="34" charset="0"/>
                <a:ea typeface="Calibri" pitchFamily="34" charset="-122"/>
                <a:cs typeface="Calibri" pitchFamily="34" charset="-120"/>
              </a:rPr>
              <a:t>Product principle: UI never computes scores — it only reads from aggregation output tables. Methodology version is locked at compute time.</a:t>
            </a:r>
            <a:endParaRPr lang="en-US" sz="1000" dirty="0"/>
          </a:p>
        </p:txBody>
      </p:sp>
      <p:sp>
        <p:nvSpPr>
          <p:cNvPr id="48" name="Text 46"/>
          <p:cNvSpPr/>
          <p:nvPr/>
        </p:nvSpPr>
        <p:spPr>
          <a:xfrm>
            <a:off x="548640" y="6035040"/>
            <a:ext cx="10972800" cy="274320"/>
          </a:xfrm>
          <a:prstGeom prst="rect">
            <a:avLst/>
          </a:prstGeom>
          <a:noFill/>
          <a:ln/>
        </p:spPr>
        <p:txBody>
          <a:bodyPr wrap="square" rtlCol="0" anchor="t"/>
          <a:lstStyle/>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Maturity: Decision Pipeline — Implemented (scoring, aggregation, audit package). Findings-level blocker enforcement in active development for eligibility gate activation.</a:t>
            </a:r>
            <a:endParaRPr lang="en-US" sz="900" dirty="0"/>
          </a:p>
        </p:txBody>
      </p:sp>
      <p:sp>
        <p:nvSpPr>
          <p:cNvPr id="49" name="Text 47"/>
          <p:cNvSpPr/>
          <p:nvPr/>
        </p:nvSpPr>
        <p:spPr>
          <a:xfrm>
            <a:off x="274320" y="6537960"/>
            <a:ext cx="7315200" cy="22860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HAIEC  ·  Confidential Discussion Brief  ·  9/14</a:t>
            </a:r>
            <a:endParaRPr lang="en-US" sz="800" dirty="0"/>
          </a:p>
        </p:txBody>
      </p:sp>
      <p:sp>
        <p:nvSpPr>
          <p:cNvPr id="50" name="Text 48"/>
          <p:cNvSpPr/>
          <p:nvPr/>
        </p:nvSpPr>
        <p:spPr>
          <a:xfrm>
            <a:off x="9448495" y="6537960"/>
            <a:ext cx="2468880" cy="228600"/>
          </a:xfrm>
          <a:prstGeom prst="rect">
            <a:avLst/>
          </a:prstGeom>
          <a:noFill/>
          <a:ln/>
        </p:spPr>
        <p:txBody>
          <a:bodyPr wrap="square" rtlCol="0" anchor="ctr"/>
          <a:lstStyle/>
          <a:p>
            <a:pPr algn="r" indent="0" marL="0">
              <a:buNone/>
            </a:pPr>
            <a:r>
              <a:rPr lang="en-US" sz="800" dirty="0">
                <a:solidFill>
                  <a:srgbClr val="64748B"/>
                </a:solidFill>
                <a:latin typeface="Courier New" pitchFamily="34" charset="0"/>
                <a:ea typeface="Courier New" pitchFamily="34" charset="-122"/>
                <a:cs typeface="Courier New" pitchFamily="34" charset="-120"/>
              </a:rPr>
              <a:t>v1.0  ·  2026-07-31</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365760"/>
            <a:ext cx="11094415" cy="502920"/>
          </a:xfrm>
          <a:prstGeom prst="rect">
            <a:avLst/>
          </a:prstGeom>
          <a:noFill/>
          <a:ln/>
        </p:spPr>
        <p:txBody>
          <a:bodyPr wrap="square" rtlCol="0" anchor="ctr"/>
          <a:lstStyle/>
          <a:p>
            <a:pPr algn="l" indent="0" marL="0">
              <a:buNone/>
            </a:pPr>
            <a:r>
              <a:rPr lang="en-US" sz="2600" b="1" dirty="0">
                <a:solidFill>
                  <a:srgbClr val="F8FAFC"/>
                </a:solidFill>
                <a:latin typeface="Calibri" pitchFamily="34" charset="0"/>
                <a:ea typeface="Calibri" pitchFamily="34" charset="-122"/>
                <a:cs typeface="Calibri" pitchFamily="34" charset="-120"/>
              </a:rPr>
              <a:t>Validation should change when the system changes.</a:t>
            </a:r>
            <a:endParaRPr lang="en-US" sz="2600" dirty="0"/>
          </a:p>
        </p:txBody>
      </p:sp>
      <p:sp>
        <p:nvSpPr>
          <p:cNvPr id="3" name="Shape 1"/>
          <p:cNvSpPr/>
          <p:nvPr/>
        </p:nvSpPr>
        <p:spPr>
          <a:xfrm>
            <a:off x="548640" y="914400"/>
            <a:ext cx="1371600" cy="36576"/>
          </a:xfrm>
          <a:prstGeom prst="rect">
            <a:avLst/>
          </a:prstGeom>
          <a:solidFill>
            <a:srgbClr val="10B981"/>
          </a:solidFill>
          <a:ln/>
        </p:spPr>
      </p:sp>
      <p:sp>
        <p:nvSpPr>
          <p:cNvPr id="4" name="Shape 2"/>
          <p:cNvSpPr/>
          <p:nvPr/>
        </p:nvSpPr>
        <p:spPr>
          <a:xfrm>
            <a:off x="548640" y="1188720"/>
            <a:ext cx="5303520" cy="2743200"/>
          </a:xfrm>
          <a:prstGeom prst="rect">
            <a:avLst>
              <a:gd name="adj" fmla="val 1667"/>
            </a:avLst>
          </a:prstGeom>
          <a:solidFill>
            <a:srgbClr val="1E293B"/>
          </a:solidFill>
          <a:ln w="6350">
            <a:solidFill>
              <a:srgbClr val="10B981"/>
            </a:solidFill>
            <a:prstDash val="solid"/>
          </a:ln>
        </p:spPr>
      </p:sp>
      <p:sp>
        <p:nvSpPr>
          <p:cNvPr id="5" name="Text 3"/>
          <p:cNvSpPr/>
          <p:nvPr/>
        </p:nvSpPr>
        <p:spPr>
          <a:xfrm>
            <a:off x="731520" y="1280160"/>
            <a:ext cx="4937760" cy="320040"/>
          </a:xfrm>
          <a:prstGeom prst="rect">
            <a:avLst/>
          </a:prstGeom>
          <a:noFill/>
          <a:ln/>
        </p:spPr>
        <p:txBody>
          <a:bodyPr wrap="square"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Compliance Twin</a:t>
            </a:r>
            <a:endParaRPr lang="en-US" sz="1300" dirty="0"/>
          </a:p>
        </p:txBody>
      </p:sp>
      <p:sp>
        <p:nvSpPr>
          <p:cNvPr id="6" name="Shape 4"/>
          <p:cNvSpPr/>
          <p:nvPr/>
        </p:nvSpPr>
        <p:spPr>
          <a:xfrm>
            <a:off x="731520" y="1645920"/>
            <a:ext cx="1645920" cy="274320"/>
          </a:xfrm>
          <a:prstGeom prst="roundRect">
            <a:avLst>
              <a:gd name="adj" fmla="val 10000"/>
            </a:avLst>
          </a:prstGeom>
          <a:solidFill>
            <a:srgbClr val="10B981"/>
          </a:solidFill>
          <a:ln/>
        </p:spPr>
      </p:sp>
      <p:sp>
        <p:nvSpPr>
          <p:cNvPr id="7" name="Text 5"/>
          <p:cNvSpPr/>
          <p:nvPr/>
        </p:nvSpPr>
        <p:spPr>
          <a:xfrm>
            <a:off x="731520" y="1645920"/>
            <a:ext cx="1645920" cy="274320"/>
          </a:xfrm>
          <a:prstGeom prst="rect">
            <a:avLst/>
          </a:prstGeom>
          <a:noFill/>
          <a:ln/>
        </p:spPr>
        <p:txBody>
          <a:bodyPr wrap="square"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SUBSTANTIVE SUBSYSTEM</a:t>
            </a:r>
            <a:endParaRPr lang="en-US" sz="800" dirty="0"/>
          </a:p>
        </p:txBody>
      </p:sp>
      <p:sp>
        <p:nvSpPr>
          <p:cNvPr id="8" name="Text 6"/>
          <p:cNvSpPr/>
          <p:nvPr/>
        </p:nvSpPr>
        <p:spPr>
          <a:xfrm>
            <a:off x="731520" y="2011680"/>
            <a:ext cx="4937760" cy="18288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17 files in lib/compliance-twin/ — entirely TypeScript</a:t>
            </a:r>
            <a:endParaRPr lang="en-US" sz="800" dirty="0"/>
          </a:p>
        </p:txBody>
      </p:sp>
      <p:sp>
        <p:nvSpPr>
          <p:cNvPr id="9" name="Text 7"/>
          <p:cNvSpPr/>
          <p:nvPr/>
        </p:nvSpPr>
        <p:spPr>
          <a:xfrm>
            <a:off x="731520" y="2203704"/>
            <a:ext cx="4937760" cy="18288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6 jurisdictions: NYC LL144, Colorado SB24-205, EU AI Act, US Federal, UK, International</a:t>
            </a:r>
            <a:endParaRPr lang="en-US" sz="800" dirty="0"/>
          </a:p>
        </p:txBody>
      </p:sp>
      <p:sp>
        <p:nvSpPr>
          <p:cNvPr id="10" name="Text 8"/>
          <p:cNvSpPr/>
          <p:nvPr/>
        </p:nvSpPr>
        <p:spPr>
          <a:xfrm>
            <a:off x="731520" y="2395728"/>
            <a:ext cx="4937760" cy="18288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Delta engine: structured diff between compliance snapshots (Patent P1)</a:t>
            </a:r>
            <a:endParaRPr lang="en-US" sz="800" dirty="0"/>
          </a:p>
        </p:txBody>
      </p:sp>
      <p:sp>
        <p:nvSpPr>
          <p:cNvPr id="11" name="Text 9"/>
          <p:cNvSpPr/>
          <p:nvPr/>
        </p:nvSpPr>
        <p:spPr>
          <a:xfrm>
            <a:off x="731520" y="2587752"/>
            <a:ext cx="4937760" cy="18288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Anomaly detector: Z-score + IQR statistical methods</a:t>
            </a:r>
            <a:endParaRPr lang="en-US" sz="800" dirty="0"/>
          </a:p>
        </p:txBody>
      </p:sp>
      <p:sp>
        <p:nvSpPr>
          <p:cNvPr id="12" name="Text 10"/>
          <p:cNvSpPr/>
          <p:nvPr/>
        </p:nvSpPr>
        <p:spPr>
          <a:xfrm>
            <a:off x="731520" y="2779776"/>
            <a:ext cx="4937760" cy="18288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Alert engine: deduplication + 4-level escalation</a:t>
            </a:r>
            <a:endParaRPr lang="en-US" sz="800" dirty="0"/>
          </a:p>
        </p:txBody>
      </p:sp>
      <p:sp>
        <p:nvSpPr>
          <p:cNvPr id="13" name="Text 11"/>
          <p:cNvSpPr/>
          <p:nvPr/>
        </p:nvSpPr>
        <p:spPr>
          <a:xfrm>
            <a:off x="731520" y="2971800"/>
            <a:ext cx="4937760" cy="18288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Rulepack engine: 23 seed rules across 4 frameworks</a:t>
            </a:r>
            <a:endParaRPr lang="en-US" sz="800" dirty="0"/>
          </a:p>
        </p:txBody>
      </p:sp>
      <p:sp>
        <p:nvSpPr>
          <p:cNvPr id="14" name="Text 12"/>
          <p:cNvSpPr/>
          <p:nvPr/>
        </p:nvSpPr>
        <p:spPr>
          <a:xfrm>
            <a:off x="731520" y="3163824"/>
            <a:ext cx="4937760" cy="18288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Snapshot engine: immutable, SHA256-hashed state snapshots</a:t>
            </a:r>
            <a:endParaRPr lang="en-US" sz="800" dirty="0"/>
          </a:p>
        </p:txBody>
      </p:sp>
      <p:sp>
        <p:nvSpPr>
          <p:cNvPr id="15" name="Text 13"/>
          <p:cNvSpPr/>
          <p:nvPr/>
        </p:nvSpPr>
        <p:spPr>
          <a:xfrm>
            <a:off x="731520" y="3355848"/>
            <a:ext cx="4937760" cy="18288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Provenance engine: compliance record anchoring (Patent P3)</a:t>
            </a:r>
            <a:endParaRPr lang="en-US" sz="800" dirty="0"/>
          </a:p>
        </p:txBody>
      </p:sp>
      <p:sp>
        <p:nvSpPr>
          <p:cNvPr id="16" name="Text 14"/>
          <p:cNvSpPr/>
          <p:nvPr/>
        </p:nvSpPr>
        <p:spPr>
          <a:xfrm>
            <a:off x="731520" y="3547872"/>
            <a:ext cx="4937760" cy="18288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Regression engine: detects previously-passing rules that now fail</a:t>
            </a:r>
            <a:endParaRPr lang="en-US" sz="800" dirty="0"/>
          </a:p>
        </p:txBody>
      </p:sp>
      <p:sp>
        <p:nvSpPr>
          <p:cNvPr id="17" name="Text 15"/>
          <p:cNvSpPr/>
          <p:nvPr/>
        </p:nvSpPr>
        <p:spPr>
          <a:xfrm>
            <a:off x="731520" y="3739896"/>
            <a:ext cx="4937760" cy="18288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  17 API routes for full lifecycle management</a:t>
            </a:r>
            <a:endParaRPr lang="en-US" sz="800" dirty="0"/>
          </a:p>
        </p:txBody>
      </p:sp>
      <p:sp>
        <p:nvSpPr>
          <p:cNvPr id="18" name="Shape 16"/>
          <p:cNvSpPr/>
          <p:nvPr/>
        </p:nvSpPr>
        <p:spPr>
          <a:xfrm>
            <a:off x="6309360" y="1188720"/>
            <a:ext cx="5303520" cy="2743200"/>
          </a:xfrm>
          <a:prstGeom prst="rect">
            <a:avLst>
              <a:gd name="adj" fmla="val 1667"/>
            </a:avLst>
          </a:prstGeom>
          <a:solidFill>
            <a:srgbClr val="1E293B"/>
          </a:solidFill>
          <a:ln w="6350">
            <a:solidFill>
              <a:srgbClr val="334155"/>
            </a:solidFill>
            <a:prstDash val="solid"/>
          </a:ln>
        </p:spPr>
      </p:sp>
      <p:sp>
        <p:nvSpPr>
          <p:cNvPr id="19" name="Text 17"/>
          <p:cNvSpPr/>
          <p:nvPr/>
        </p:nvSpPr>
        <p:spPr>
          <a:xfrm>
            <a:off x="6492240" y="1280160"/>
            <a:ext cx="4937760" cy="32004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Kill Switch</a:t>
            </a:r>
            <a:endParaRPr lang="en-US" sz="1300" dirty="0"/>
          </a:p>
        </p:txBody>
      </p:sp>
      <p:sp>
        <p:nvSpPr>
          <p:cNvPr id="20" name="Shape 18"/>
          <p:cNvSpPr/>
          <p:nvPr/>
        </p:nvSpPr>
        <p:spPr>
          <a:xfrm>
            <a:off x="6492240" y="1645920"/>
            <a:ext cx="1645920" cy="274320"/>
          </a:xfrm>
          <a:prstGeom prst="roundRect">
            <a:avLst>
              <a:gd name="adj" fmla="val 10000"/>
            </a:avLst>
          </a:prstGeom>
          <a:solidFill>
            <a:srgbClr val="10B981"/>
          </a:solidFill>
          <a:ln/>
        </p:spPr>
      </p:sp>
      <p:sp>
        <p:nvSpPr>
          <p:cNvPr id="21" name="Text 19"/>
          <p:cNvSpPr/>
          <p:nvPr/>
        </p:nvSpPr>
        <p:spPr>
          <a:xfrm>
            <a:off x="6492240" y="1645920"/>
            <a:ext cx="1645920" cy="274320"/>
          </a:xfrm>
          <a:prstGeom prst="rect">
            <a:avLst/>
          </a:prstGeom>
          <a:noFill/>
          <a:ln/>
        </p:spPr>
        <p:txBody>
          <a:bodyPr wrap="square" rtlCol="0" anchor="ctr"/>
          <a:lstStyle/>
          <a:p>
            <a:pPr algn="ctr" indent="0" marL="0">
              <a:buNone/>
            </a:pPr>
            <a:r>
              <a:rPr lang="en-US" sz="800" dirty="0">
                <a:solidFill>
                  <a:srgbClr val="FFFFFF"/>
                </a:solidFill>
                <a:latin typeface="Courier New" pitchFamily="34" charset="0"/>
                <a:ea typeface="Courier New" pitchFamily="34" charset="-122"/>
                <a:cs typeface="Courier New" pitchFamily="34" charset="-120"/>
              </a:rPr>
              <a:t>ACTIVE DEVELOPMENT</a:t>
            </a:r>
            <a:endParaRPr lang="en-US" sz="800" dirty="0"/>
          </a:p>
        </p:txBody>
      </p:sp>
      <p:sp>
        <p:nvSpPr>
          <p:cNvPr id="22" name="Text 20"/>
          <p:cNvSpPr/>
          <p:nvPr/>
        </p:nvSpPr>
        <p:spPr>
          <a:xfrm>
            <a:off x="6492240" y="2011680"/>
            <a:ext cx="365760" cy="274320"/>
          </a:xfrm>
          <a:prstGeom prst="rect">
            <a:avLst/>
          </a:prstGeom>
          <a:noFill/>
          <a:ln/>
        </p:spPr>
        <p:txBody>
          <a:bodyPr wrap="square" rtlCol="0" anchor="ctr"/>
          <a:lstStyle/>
          <a:p>
            <a:pPr indent="0" marL="0">
              <a:buNone/>
            </a:pPr>
            <a:r>
              <a:rPr lang="en-US" sz="1000" b="1" dirty="0">
                <a:solidFill>
                  <a:srgbClr val="10B981"/>
                </a:solidFill>
                <a:latin typeface="Courier New" pitchFamily="34" charset="0"/>
                <a:ea typeface="Courier New" pitchFamily="34" charset="-122"/>
                <a:cs typeface="Courier New" pitchFamily="34" charset="-120"/>
              </a:rPr>
              <a:t>L1</a:t>
            </a:r>
            <a:endParaRPr lang="en-US" sz="1000" dirty="0"/>
          </a:p>
        </p:txBody>
      </p:sp>
      <p:sp>
        <p:nvSpPr>
          <p:cNvPr id="23" name="Text 21"/>
          <p:cNvSpPr/>
          <p:nvPr/>
        </p:nvSpPr>
        <p:spPr>
          <a:xfrm>
            <a:off x="6949440" y="2011680"/>
            <a:ext cx="3200400" cy="274320"/>
          </a:xfrm>
          <a:prstGeom prst="rect">
            <a:avLst/>
          </a:prstGeom>
          <a:noFill/>
          <a:ln/>
        </p:spPr>
        <p:txBody>
          <a:bodyPr wrap="square" rtlCol="0" anchor="ctr"/>
          <a:lstStyle/>
          <a:p>
            <a:pPr indent="0" marL="0">
              <a:buNone/>
            </a:pPr>
            <a:r>
              <a:rPr lang="en-US" sz="900" dirty="0">
                <a:solidFill>
                  <a:srgbClr val="F8FAFC"/>
                </a:solidFill>
                <a:latin typeface="Calibri" pitchFamily="34" charset="0"/>
                <a:ea typeface="Calibri" pitchFamily="34" charset="-122"/>
                <a:cs typeface="Calibri" pitchFamily="34" charset="-120"/>
              </a:rPr>
              <a:t>Throttle</a:t>
            </a:r>
            <a:endParaRPr lang="en-US" sz="900" dirty="0"/>
          </a:p>
        </p:txBody>
      </p:sp>
      <p:sp>
        <p:nvSpPr>
          <p:cNvPr id="24" name="Shape 22"/>
          <p:cNvSpPr/>
          <p:nvPr/>
        </p:nvSpPr>
        <p:spPr>
          <a:xfrm>
            <a:off x="10241280" y="2029968"/>
            <a:ext cx="1188720" cy="237744"/>
          </a:xfrm>
          <a:prstGeom prst="roundRect">
            <a:avLst>
              <a:gd name="adj" fmla="val 11538"/>
            </a:avLst>
          </a:prstGeom>
          <a:solidFill>
            <a:srgbClr val="10B981"/>
          </a:solidFill>
          <a:ln/>
        </p:spPr>
      </p:sp>
      <p:sp>
        <p:nvSpPr>
          <p:cNvPr id="25" name="Text 23"/>
          <p:cNvSpPr/>
          <p:nvPr/>
        </p:nvSpPr>
        <p:spPr>
          <a:xfrm>
            <a:off x="10241280" y="2029968"/>
            <a:ext cx="1188720" cy="237744"/>
          </a:xfrm>
          <a:prstGeom prst="rect">
            <a:avLst/>
          </a:prstGeom>
          <a:noFill/>
          <a:ln/>
        </p:spPr>
        <p:txBody>
          <a:bodyPr wrap="square" rtlCol="0" anchor="ctr"/>
          <a:lstStyle/>
          <a:p>
            <a:pPr algn="ctr" indent="0" marL="0">
              <a:buNone/>
            </a:pPr>
            <a:r>
              <a:rPr lang="en-US" sz="700" dirty="0">
                <a:solidFill>
                  <a:srgbClr val="FFFFFF"/>
                </a:solidFill>
                <a:latin typeface="Courier New" pitchFamily="34" charset="0"/>
                <a:ea typeface="Courier New" pitchFamily="34" charset="-122"/>
                <a:cs typeface="Courier New" pitchFamily="34" charset="-120"/>
              </a:rPr>
              <a:t>AVAILABLE</a:t>
            </a:r>
            <a:endParaRPr lang="en-US" sz="700" dirty="0"/>
          </a:p>
        </p:txBody>
      </p:sp>
      <p:sp>
        <p:nvSpPr>
          <p:cNvPr id="26" name="Text 24"/>
          <p:cNvSpPr/>
          <p:nvPr/>
        </p:nvSpPr>
        <p:spPr>
          <a:xfrm>
            <a:off x="6492240" y="2331720"/>
            <a:ext cx="365760" cy="274320"/>
          </a:xfrm>
          <a:prstGeom prst="rect">
            <a:avLst/>
          </a:prstGeom>
          <a:noFill/>
          <a:ln/>
        </p:spPr>
        <p:txBody>
          <a:bodyPr wrap="square" rtlCol="0" anchor="ctr"/>
          <a:lstStyle/>
          <a:p>
            <a:pPr indent="0" marL="0">
              <a:buNone/>
            </a:pPr>
            <a:r>
              <a:rPr lang="en-US" sz="1000" b="1" dirty="0">
                <a:solidFill>
                  <a:srgbClr val="10B981"/>
                </a:solidFill>
                <a:latin typeface="Courier New" pitchFamily="34" charset="0"/>
                <a:ea typeface="Courier New" pitchFamily="34" charset="-122"/>
                <a:cs typeface="Courier New" pitchFamily="34" charset="-120"/>
              </a:rPr>
              <a:t>L2</a:t>
            </a:r>
            <a:endParaRPr lang="en-US" sz="1000" dirty="0"/>
          </a:p>
        </p:txBody>
      </p:sp>
      <p:sp>
        <p:nvSpPr>
          <p:cNvPr id="27" name="Text 25"/>
          <p:cNvSpPr/>
          <p:nvPr/>
        </p:nvSpPr>
        <p:spPr>
          <a:xfrm>
            <a:off x="6949440" y="2331720"/>
            <a:ext cx="3200400" cy="274320"/>
          </a:xfrm>
          <a:prstGeom prst="rect">
            <a:avLst/>
          </a:prstGeom>
          <a:noFill/>
          <a:ln/>
        </p:spPr>
        <p:txBody>
          <a:bodyPr wrap="square" rtlCol="0" anchor="ctr"/>
          <a:lstStyle/>
          <a:p>
            <a:pPr indent="0" marL="0">
              <a:buNone/>
            </a:pPr>
            <a:r>
              <a:rPr lang="en-US" sz="900" dirty="0">
                <a:solidFill>
                  <a:srgbClr val="F8FAFC"/>
                </a:solidFill>
                <a:latin typeface="Calibri" pitchFamily="34" charset="0"/>
                <a:ea typeface="Calibri" pitchFamily="34" charset="-122"/>
                <a:cs typeface="Calibri" pitchFamily="34" charset="-120"/>
              </a:rPr>
              <a:t>Rate limit + alert</a:t>
            </a:r>
            <a:endParaRPr lang="en-US" sz="900" dirty="0"/>
          </a:p>
        </p:txBody>
      </p:sp>
      <p:sp>
        <p:nvSpPr>
          <p:cNvPr id="28" name="Shape 26"/>
          <p:cNvSpPr/>
          <p:nvPr/>
        </p:nvSpPr>
        <p:spPr>
          <a:xfrm>
            <a:off x="10241280" y="2350008"/>
            <a:ext cx="1188720" cy="237744"/>
          </a:xfrm>
          <a:prstGeom prst="roundRect">
            <a:avLst>
              <a:gd name="adj" fmla="val 11538"/>
            </a:avLst>
          </a:prstGeom>
          <a:solidFill>
            <a:srgbClr val="10B981"/>
          </a:solidFill>
          <a:ln/>
        </p:spPr>
      </p:sp>
      <p:sp>
        <p:nvSpPr>
          <p:cNvPr id="29" name="Text 27"/>
          <p:cNvSpPr/>
          <p:nvPr/>
        </p:nvSpPr>
        <p:spPr>
          <a:xfrm>
            <a:off x="10241280" y="2350008"/>
            <a:ext cx="1188720" cy="237744"/>
          </a:xfrm>
          <a:prstGeom prst="rect">
            <a:avLst/>
          </a:prstGeom>
          <a:noFill/>
          <a:ln/>
        </p:spPr>
        <p:txBody>
          <a:bodyPr wrap="square" rtlCol="0" anchor="ctr"/>
          <a:lstStyle/>
          <a:p>
            <a:pPr algn="ctr" indent="0" marL="0">
              <a:buNone/>
            </a:pPr>
            <a:r>
              <a:rPr lang="en-US" sz="700" dirty="0">
                <a:solidFill>
                  <a:srgbClr val="FFFFFF"/>
                </a:solidFill>
                <a:latin typeface="Courier New" pitchFamily="34" charset="0"/>
                <a:ea typeface="Courier New" pitchFamily="34" charset="-122"/>
                <a:cs typeface="Courier New" pitchFamily="34" charset="-120"/>
              </a:rPr>
              <a:t>AVAILABLE</a:t>
            </a:r>
            <a:endParaRPr lang="en-US" sz="700" dirty="0"/>
          </a:p>
        </p:txBody>
      </p:sp>
      <p:sp>
        <p:nvSpPr>
          <p:cNvPr id="30" name="Text 28"/>
          <p:cNvSpPr/>
          <p:nvPr/>
        </p:nvSpPr>
        <p:spPr>
          <a:xfrm>
            <a:off x="6492240" y="2651760"/>
            <a:ext cx="365760" cy="274320"/>
          </a:xfrm>
          <a:prstGeom prst="rect">
            <a:avLst/>
          </a:prstGeom>
          <a:noFill/>
          <a:ln/>
        </p:spPr>
        <p:txBody>
          <a:bodyPr wrap="square" rtlCol="0" anchor="ctr"/>
          <a:lstStyle/>
          <a:p>
            <a:pPr indent="0" marL="0">
              <a:buNone/>
            </a:pPr>
            <a:r>
              <a:rPr lang="en-US" sz="1000" b="1" dirty="0">
                <a:solidFill>
                  <a:srgbClr val="10B981"/>
                </a:solidFill>
                <a:latin typeface="Courier New" pitchFamily="34" charset="0"/>
                <a:ea typeface="Courier New" pitchFamily="34" charset="-122"/>
                <a:cs typeface="Courier New" pitchFamily="34" charset="-120"/>
              </a:rPr>
              <a:t>L3</a:t>
            </a:r>
            <a:endParaRPr lang="en-US" sz="1000" dirty="0"/>
          </a:p>
        </p:txBody>
      </p:sp>
      <p:sp>
        <p:nvSpPr>
          <p:cNvPr id="31" name="Text 29"/>
          <p:cNvSpPr/>
          <p:nvPr/>
        </p:nvSpPr>
        <p:spPr>
          <a:xfrm>
            <a:off x="6949440" y="2651760"/>
            <a:ext cx="3200400" cy="274320"/>
          </a:xfrm>
          <a:prstGeom prst="rect">
            <a:avLst/>
          </a:prstGeom>
          <a:noFill/>
          <a:ln/>
        </p:spPr>
        <p:txBody>
          <a:bodyPr wrap="square" rtlCol="0" anchor="ctr"/>
          <a:lstStyle/>
          <a:p>
            <a:pPr indent="0" marL="0">
              <a:buNone/>
            </a:pPr>
            <a:r>
              <a:rPr lang="en-US" sz="900" dirty="0">
                <a:solidFill>
                  <a:srgbClr val="F8FAFC"/>
                </a:solidFill>
                <a:latin typeface="Calibri" pitchFamily="34" charset="0"/>
                <a:ea typeface="Calibri" pitchFamily="34" charset="-122"/>
                <a:cs typeface="Calibri" pitchFamily="34" charset="-120"/>
              </a:rPr>
              <a:t>Selective block</a:t>
            </a:r>
            <a:endParaRPr lang="en-US" sz="900" dirty="0"/>
          </a:p>
        </p:txBody>
      </p:sp>
      <p:sp>
        <p:nvSpPr>
          <p:cNvPr id="32" name="Shape 30"/>
          <p:cNvSpPr/>
          <p:nvPr/>
        </p:nvSpPr>
        <p:spPr>
          <a:xfrm>
            <a:off x="10241280" y="2670048"/>
            <a:ext cx="1188720" cy="237744"/>
          </a:xfrm>
          <a:prstGeom prst="roundRect">
            <a:avLst>
              <a:gd name="adj" fmla="val 11538"/>
            </a:avLst>
          </a:prstGeom>
          <a:solidFill>
            <a:srgbClr val="10B981"/>
          </a:solidFill>
          <a:ln/>
        </p:spPr>
      </p:sp>
      <p:sp>
        <p:nvSpPr>
          <p:cNvPr id="33" name="Text 31"/>
          <p:cNvSpPr/>
          <p:nvPr/>
        </p:nvSpPr>
        <p:spPr>
          <a:xfrm>
            <a:off x="10241280" y="2670048"/>
            <a:ext cx="1188720" cy="237744"/>
          </a:xfrm>
          <a:prstGeom prst="rect">
            <a:avLst/>
          </a:prstGeom>
          <a:noFill/>
          <a:ln/>
        </p:spPr>
        <p:txBody>
          <a:bodyPr wrap="square" rtlCol="0" anchor="ctr"/>
          <a:lstStyle/>
          <a:p>
            <a:pPr algn="ctr" indent="0" marL="0">
              <a:buNone/>
            </a:pPr>
            <a:r>
              <a:rPr lang="en-US" sz="700" dirty="0">
                <a:solidFill>
                  <a:srgbClr val="FFFFFF"/>
                </a:solidFill>
                <a:latin typeface="Courier New" pitchFamily="34" charset="0"/>
                <a:ea typeface="Courier New" pitchFamily="34" charset="-122"/>
                <a:cs typeface="Courier New" pitchFamily="34" charset="-120"/>
              </a:rPr>
              <a:t>AVAILABLE</a:t>
            </a:r>
            <a:endParaRPr lang="en-US" sz="700" dirty="0"/>
          </a:p>
        </p:txBody>
      </p:sp>
      <p:sp>
        <p:nvSpPr>
          <p:cNvPr id="34" name="Text 32"/>
          <p:cNvSpPr/>
          <p:nvPr/>
        </p:nvSpPr>
        <p:spPr>
          <a:xfrm>
            <a:off x="6492240" y="2971800"/>
            <a:ext cx="365760" cy="274320"/>
          </a:xfrm>
          <a:prstGeom prst="rect">
            <a:avLst/>
          </a:prstGeom>
          <a:noFill/>
          <a:ln/>
        </p:spPr>
        <p:txBody>
          <a:bodyPr wrap="square" rtlCol="0" anchor="ctr"/>
          <a:lstStyle/>
          <a:p>
            <a:pPr indent="0" marL="0">
              <a:buNone/>
            </a:pPr>
            <a:r>
              <a:rPr lang="en-US" sz="1000" b="1" dirty="0">
                <a:solidFill>
                  <a:srgbClr val="10B981"/>
                </a:solidFill>
                <a:latin typeface="Courier New" pitchFamily="34" charset="0"/>
                <a:ea typeface="Courier New" pitchFamily="34" charset="-122"/>
                <a:cs typeface="Courier New" pitchFamily="34" charset="-120"/>
              </a:rPr>
              <a:t>L4</a:t>
            </a:r>
            <a:endParaRPr lang="en-US" sz="1000" dirty="0"/>
          </a:p>
        </p:txBody>
      </p:sp>
      <p:sp>
        <p:nvSpPr>
          <p:cNvPr id="35" name="Text 33"/>
          <p:cNvSpPr/>
          <p:nvPr/>
        </p:nvSpPr>
        <p:spPr>
          <a:xfrm>
            <a:off x="6949440" y="2971800"/>
            <a:ext cx="3200400" cy="274320"/>
          </a:xfrm>
          <a:prstGeom prst="rect">
            <a:avLst/>
          </a:prstGeom>
          <a:noFill/>
          <a:ln/>
        </p:spPr>
        <p:txBody>
          <a:bodyPr wrap="square" rtlCol="0" anchor="ctr"/>
          <a:lstStyle/>
          <a:p>
            <a:pPr indent="0" marL="0">
              <a:buNone/>
            </a:pPr>
            <a:r>
              <a:rPr lang="en-US" sz="900" dirty="0">
                <a:solidFill>
                  <a:srgbClr val="F8FAFC"/>
                </a:solidFill>
                <a:latin typeface="Calibri" pitchFamily="34" charset="0"/>
                <a:ea typeface="Calibri" pitchFamily="34" charset="-122"/>
                <a:cs typeface="Calibri" pitchFamily="34" charset="-120"/>
              </a:rPr>
              <a:t>Escalation + notify</a:t>
            </a:r>
            <a:endParaRPr lang="en-US" sz="900" dirty="0"/>
          </a:p>
        </p:txBody>
      </p:sp>
      <p:sp>
        <p:nvSpPr>
          <p:cNvPr id="36" name="Shape 34"/>
          <p:cNvSpPr/>
          <p:nvPr/>
        </p:nvSpPr>
        <p:spPr>
          <a:xfrm>
            <a:off x="10241280" y="2990088"/>
            <a:ext cx="1188720" cy="237744"/>
          </a:xfrm>
          <a:prstGeom prst="roundRect">
            <a:avLst>
              <a:gd name="adj" fmla="val 11538"/>
            </a:avLst>
          </a:prstGeom>
          <a:solidFill>
            <a:srgbClr val="F59E0B"/>
          </a:solidFill>
          <a:ln/>
        </p:spPr>
      </p:sp>
      <p:sp>
        <p:nvSpPr>
          <p:cNvPr id="37" name="Text 35"/>
          <p:cNvSpPr/>
          <p:nvPr/>
        </p:nvSpPr>
        <p:spPr>
          <a:xfrm>
            <a:off x="10241280" y="2990088"/>
            <a:ext cx="1188720" cy="237744"/>
          </a:xfrm>
          <a:prstGeom prst="rect">
            <a:avLst/>
          </a:prstGeom>
          <a:noFill/>
          <a:ln/>
        </p:spPr>
        <p:txBody>
          <a:bodyPr wrap="square" rtlCol="0" anchor="ctr"/>
          <a:lstStyle/>
          <a:p>
            <a:pPr algn="ctr" indent="0" marL="0">
              <a:buNone/>
            </a:pPr>
            <a:r>
              <a:rPr lang="en-US" sz="700" dirty="0">
                <a:solidFill>
                  <a:srgbClr val="FFFFFF"/>
                </a:solidFill>
                <a:latin typeface="Courier New" pitchFamily="34" charset="0"/>
                <a:ea typeface="Courier New" pitchFamily="34" charset="-122"/>
                <a:cs typeface="Courier New" pitchFamily="34" charset="-120"/>
              </a:rPr>
              <a:t>ROADMAP</a:t>
            </a:r>
            <a:endParaRPr lang="en-US" sz="700" dirty="0"/>
          </a:p>
        </p:txBody>
      </p:sp>
      <p:sp>
        <p:nvSpPr>
          <p:cNvPr id="38" name="Text 36"/>
          <p:cNvSpPr/>
          <p:nvPr/>
        </p:nvSpPr>
        <p:spPr>
          <a:xfrm>
            <a:off x="6492240" y="3291840"/>
            <a:ext cx="365760" cy="274320"/>
          </a:xfrm>
          <a:prstGeom prst="rect">
            <a:avLst/>
          </a:prstGeom>
          <a:noFill/>
          <a:ln/>
        </p:spPr>
        <p:txBody>
          <a:bodyPr wrap="square" rtlCol="0" anchor="ctr"/>
          <a:lstStyle/>
          <a:p>
            <a:pPr indent="0" marL="0">
              <a:buNone/>
            </a:pPr>
            <a:r>
              <a:rPr lang="en-US" sz="1000" b="1" dirty="0">
                <a:solidFill>
                  <a:srgbClr val="10B981"/>
                </a:solidFill>
                <a:latin typeface="Courier New" pitchFamily="34" charset="0"/>
                <a:ea typeface="Courier New" pitchFamily="34" charset="-122"/>
                <a:cs typeface="Courier New" pitchFamily="34" charset="-120"/>
              </a:rPr>
              <a:t>L5</a:t>
            </a:r>
            <a:endParaRPr lang="en-US" sz="1000" dirty="0"/>
          </a:p>
        </p:txBody>
      </p:sp>
      <p:sp>
        <p:nvSpPr>
          <p:cNvPr id="39" name="Text 37"/>
          <p:cNvSpPr/>
          <p:nvPr/>
        </p:nvSpPr>
        <p:spPr>
          <a:xfrm>
            <a:off x="6949440" y="3291840"/>
            <a:ext cx="3200400" cy="274320"/>
          </a:xfrm>
          <a:prstGeom prst="rect">
            <a:avLst/>
          </a:prstGeom>
          <a:noFill/>
          <a:ln/>
        </p:spPr>
        <p:txBody>
          <a:bodyPr wrap="square" rtlCol="0" anchor="ctr"/>
          <a:lstStyle/>
          <a:p>
            <a:pPr indent="0" marL="0">
              <a:buNone/>
            </a:pPr>
            <a:r>
              <a:rPr lang="en-US" sz="900" dirty="0">
                <a:solidFill>
                  <a:srgbClr val="F8FAFC"/>
                </a:solidFill>
                <a:latin typeface="Calibri" pitchFamily="34" charset="0"/>
                <a:ea typeface="Calibri" pitchFamily="34" charset="-122"/>
                <a:cs typeface="Calibri" pitchFamily="34" charset="-120"/>
              </a:rPr>
              <a:t>Full kill</a:t>
            </a:r>
            <a:endParaRPr lang="en-US" sz="900" dirty="0"/>
          </a:p>
        </p:txBody>
      </p:sp>
      <p:sp>
        <p:nvSpPr>
          <p:cNvPr id="40" name="Shape 38"/>
          <p:cNvSpPr/>
          <p:nvPr/>
        </p:nvSpPr>
        <p:spPr>
          <a:xfrm>
            <a:off x="10241280" y="3310128"/>
            <a:ext cx="1188720" cy="237744"/>
          </a:xfrm>
          <a:prstGeom prst="roundRect">
            <a:avLst>
              <a:gd name="adj" fmla="val 11538"/>
            </a:avLst>
          </a:prstGeom>
          <a:solidFill>
            <a:srgbClr val="F59E0B"/>
          </a:solidFill>
          <a:ln/>
        </p:spPr>
      </p:sp>
      <p:sp>
        <p:nvSpPr>
          <p:cNvPr id="41" name="Text 39"/>
          <p:cNvSpPr/>
          <p:nvPr/>
        </p:nvSpPr>
        <p:spPr>
          <a:xfrm>
            <a:off x="10241280" y="3310128"/>
            <a:ext cx="1188720" cy="237744"/>
          </a:xfrm>
          <a:prstGeom prst="rect">
            <a:avLst/>
          </a:prstGeom>
          <a:noFill/>
          <a:ln/>
        </p:spPr>
        <p:txBody>
          <a:bodyPr wrap="square" rtlCol="0" anchor="ctr"/>
          <a:lstStyle/>
          <a:p>
            <a:pPr algn="ctr" indent="0" marL="0">
              <a:buNone/>
            </a:pPr>
            <a:r>
              <a:rPr lang="en-US" sz="700" dirty="0">
                <a:solidFill>
                  <a:srgbClr val="FFFFFF"/>
                </a:solidFill>
                <a:latin typeface="Courier New" pitchFamily="34" charset="0"/>
                <a:ea typeface="Courier New" pitchFamily="34" charset="-122"/>
                <a:cs typeface="Courier New" pitchFamily="34" charset="-120"/>
              </a:rPr>
              <a:t>ROADMAP</a:t>
            </a:r>
            <a:endParaRPr lang="en-US" sz="700" dirty="0"/>
          </a:p>
        </p:txBody>
      </p:sp>
      <p:sp>
        <p:nvSpPr>
          <p:cNvPr id="42" name="Text 40"/>
          <p:cNvSpPr/>
          <p:nvPr/>
        </p:nvSpPr>
        <p:spPr>
          <a:xfrm>
            <a:off x="6492240" y="3749040"/>
            <a:ext cx="4937760" cy="182880"/>
          </a:xfrm>
          <a:prstGeom prst="rect">
            <a:avLst/>
          </a:prstGeom>
          <a:noFill/>
          <a:ln/>
        </p:spPr>
        <p:txBody>
          <a:bodyPr wrap="square" rtlCol="0" anchor="ctr"/>
          <a:lstStyle/>
          <a:p>
            <a:pPr indent="0" marL="0">
              <a:buNone/>
            </a:pPr>
            <a:r>
              <a:rPr lang="en-US" sz="800" dirty="0">
                <a:solidFill>
                  <a:srgbClr val="94A3B8"/>
                </a:solidFill>
                <a:latin typeface="Courier New" pitchFamily="34" charset="0"/>
                <a:ea typeface="Courier New" pitchFamily="34" charset="-122"/>
                <a:cs typeface="Courier New" pitchFamily="34" charset="-120"/>
              </a:rPr>
              <a:t>Published SDK: @haiec/kill-switch v0.3.0</a:t>
            </a:r>
            <a:endParaRPr lang="en-US" sz="800" dirty="0"/>
          </a:p>
        </p:txBody>
      </p:sp>
      <p:sp>
        <p:nvSpPr>
          <p:cNvPr id="43" name="Text 41"/>
          <p:cNvSpPr/>
          <p:nvPr/>
        </p:nvSpPr>
        <p:spPr>
          <a:xfrm>
            <a:off x="548640" y="4206240"/>
            <a:ext cx="10972800" cy="365760"/>
          </a:xfrm>
          <a:prstGeom prst="rect">
            <a:avLst/>
          </a:prstGeom>
          <a:noFill/>
          <a:ln/>
        </p:spPr>
        <p:txBody>
          <a:bodyPr wrap="square" rtlCol="0" anchor="t"/>
          <a:lstStyle/>
          <a:p>
            <a:pPr algn="l" indent="0" marL="0">
              <a:lnSpc>
                <a:spcPct val="120000"/>
              </a:lnSpc>
              <a:buNone/>
            </a:pPr>
            <a:r>
              <a:rPr lang="en-US" sz="1100" b="1" dirty="0">
                <a:solidFill>
                  <a:srgbClr val="10B981"/>
                </a:solidFill>
                <a:latin typeface="Calibri" pitchFamily="34" charset="0"/>
                <a:ea typeface="Calibri" pitchFamily="34" charset="-122"/>
                <a:cs typeface="Calibri" pitchFamily="34" charset="-120"/>
              </a:rPr>
              <a:t>Compliance Twin maintains a live digital twin of regulatory state. Kill Switch provides emergency shutdown. Together: continuous assurance with enforcement capability.</a:t>
            </a:r>
            <a:endParaRPr lang="en-US" sz="1100" dirty="0"/>
          </a:p>
        </p:txBody>
      </p:sp>
      <p:sp>
        <p:nvSpPr>
          <p:cNvPr id="44" name="Shape 42"/>
          <p:cNvSpPr/>
          <p:nvPr/>
        </p:nvSpPr>
        <p:spPr>
          <a:xfrm>
            <a:off x="548640" y="4754880"/>
            <a:ext cx="11064240" cy="1371600"/>
          </a:xfrm>
          <a:prstGeom prst="rect">
            <a:avLst>
              <a:gd name="adj" fmla="val 3333"/>
            </a:avLst>
          </a:prstGeom>
          <a:solidFill>
            <a:srgbClr val="1E293B"/>
          </a:solidFill>
          <a:ln w="6350">
            <a:solidFill>
              <a:srgbClr val="10B981"/>
            </a:solidFill>
            <a:prstDash val="solid"/>
          </a:ln>
        </p:spPr>
      </p:sp>
      <p:sp>
        <p:nvSpPr>
          <p:cNvPr id="45" name="Text 43"/>
          <p:cNvSpPr/>
          <p:nvPr/>
        </p:nvSpPr>
        <p:spPr>
          <a:xfrm>
            <a:off x="731520" y="4846320"/>
            <a:ext cx="10698480" cy="274320"/>
          </a:xfrm>
          <a:prstGeom prst="rect">
            <a:avLst/>
          </a:prstGeom>
          <a:noFill/>
          <a:ln/>
        </p:spPr>
        <p:txBody>
          <a:bodyPr wrap="square" rtlCol="0" anchor="t"/>
          <a:lstStyle/>
          <a:p>
            <a:pPr algn="l" indent="0" marL="0">
              <a:lnSpc>
                <a:spcPct val="120000"/>
              </a:lnSpc>
              <a:buNone/>
            </a:pPr>
            <a:r>
              <a:rPr lang="en-US" sz="1000" b="1" dirty="0">
                <a:solidFill>
                  <a:srgbClr val="F8FAFC"/>
                </a:solidFill>
                <a:latin typeface="Calibri" pitchFamily="34" charset="0"/>
                <a:ea typeface="Calibri" pitchFamily="34" charset="-122"/>
                <a:cs typeface="Calibri" pitchFamily="34" charset="-120"/>
              </a:rPr>
              <a:t>Maturity Notes:</a:t>
            </a:r>
            <a:endParaRPr lang="en-US" sz="1000" dirty="0"/>
          </a:p>
        </p:txBody>
      </p:sp>
      <p:sp>
        <p:nvSpPr>
          <p:cNvPr id="46" name="Text 44"/>
          <p:cNvSpPr/>
          <p:nvPr/>
        </p:nvSpPr>
        <p:spPr>
          <a:xfrm>
            <a:off x="731520" y="5120640"/>
            <a:ext cx="10698480" cy="914400"/>
          </a:xfrm>
          <a:prstGeom prst="rect">
            <a:avLst/>
          </a:prstGeom>
          <a:noFill/>
          <a:ln/>
        </p:spPr>
        <p:txBody>
          <a:bodyPr wrap="square" rtlCol="0" anchor="t"/>
          <a:lstStyle/>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  Compliance Twin: Substantive implemented subsystem (17 files, 17 API routes, 8 DB models). Full lifecycle management across 6 jurisdictions.</a:t>
            </a:r>
            <a:endParaRPr lang="en-US" sz="900" dirty="0"/>
          </a:p>
          <a:p>
            <a:pPr algn="l" indent="0" marL="0">
              <a:lnSpc>
                <a:spcPct val="120000"/>
              </a:lnSpc>
              <a:buNone/>
            </a:pPr>
            <a:r>
              <a:rPr lang="en-US" sz="900" dirty="0">
                <a:solidFill>
                  <a:srgbClr val="94A3B8"/>
                </a:solidFill>
                <a:latin typeface="Calibri" pitchFamily="34" charset="0"/>
                <a:ea typeface="Calibri" pitchFamily="34" charset="-122"/>
                <a:cs typeface="Calibri" pitchFamily="34" charset="-120"/>
              </a:rPr>
              <a:t>•  Kill Switch: Layers 1–3 available (throttle, rate limit, selective block). Layers 4–5 (escalation, full kill) on roadmap. SDK published as npm package.</a:t>
            </a:r>
            <a:endParaRPr lang="en-US" sz="900" dirty="0"/>
          </a:p>
        </p:txBody>
      </p:sp>
      <p:sp>
        <p:nvSpPr>
          <p:cNvPr id="47" name="Text 45"/>
          <p:cNvSpPr/>
          <p:nvPr/>
        </p:nvSpPr>
        <p:spPr>
          <a:xfrm>
            <a:off x="274320" y="6537960"/>
            <a:ext cx="7315200" cy="22860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HAIEC  ·  Confidential Discussion Brief  ·  10/14</a:t>
            </a:r>
            <a:endParaRPr lang="en-US" sz="800" dirty="0"/>
          </a:p>
        </p:txBody>
      </p:sp>
      <p:sp>
        <p:nvSpPr>
          <p:cNvPr id="48" name="Text 46"/>
          <p:cNvSpPr/>
          <p:nvPr/>
        </p:nvSpPr>
        <p:spPr>
          <a:xfrm>
            <a:off x="9448495" y="6537960"/>
            <a:ext cx="2468880" cy="228600"/>
          </a:xfrm>
          <a:prstGeom prst="rect">
            <a:avLst/>
          </a:prstGeom>
          <a:noFill/>
          <a:ln/>
        </p:spPr>
        <p:txBody>
          <a:bodyPr wrap="square" rtlCol="0" anchor="ctr"/>
          <a:lstStyle/>
          <a:p>
            <a:pPr algn="r" indent="0" marL="0">
              <a:buNone/>
            </a:pPr>
            <a:r>
              <a:rPr lang="en-US" sz="800" dirty="0">
                <a:solidFill>
                  <a:srgbClr val="64748B"/>
                </a:solidFill>
                <a:latin typeface="Courier New" pitchFamily="34" charset="0"/>
                <a:ea typeface="Courier New" pitchFamily="34" charset="-122"/>
                <a:cs typeface="Courier New" pitchFamily="34" charset="-120"/>
              </a:rPr>
              <a:t>v1.0  ·  2026-07-31</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365760"/>
            <a:ext cx="11094415" cy="502920"/>
          </a:xfrm>
          <a:prstGeom prst="rect">
            <a:avLst/>
          </a:prstGeom>
          <a:noFill/>
          <a:ln/>
        </p:spPr>
        <p:txBody>
          <a:bodyPr wrap="square" rtlCol="0" anchor="ctr"/>
          <a:lstStyle/>
          <a:p>
            <a:pPr algn="l" indent="0" marL="0">
              <a:buNone/>
            </a:pPr>
            <a:r>
              <a:rPr lang="en-US" sz="2600" b="1" dirty="0">
                <a:solidFill>
                  <a:srgbClr val="F8FAFC"/>
                </a:solidFill>
                <a:latin typeface="Calibri" pitchFamily="34" charset="0"/>
                <a:ea typeface="Calibri" pitchFamily="34" charset="-122"/>
                <a:cs typeface="Calibri" pitchFamily="34" charset="-120"/>
              </a:rPr>
              <a:t>The defensibility compounds across the evidence lifecycle.</a:t>
            </a:r>
            <a:endParaRPr lang="en-US" sz="2600" dirty="0"/>
          </a:p>
        </p:txBody>
      </p:sp>
      <p:sp>
        <p:nvSpPr>
          <p:cNvPr id="3" name="Shape 1"/>
          <p:cNvSpPr/>
          <p:nvPr/>
        </p:nvSpPr>
        <p:spPr>
          <a:xfrm>
            <a:off x="548640" y="914400"/>
            <a:ext cx="1371600" cy="36576"/>
          </a:xfrm>
          <a:prstGeom prst="rect">
            <a:avLst/>
          </a:prstGeom>
          <a:solidFill>
            <a:srgbClr val="10B981"/>
          </a:solidFill>
          <a:ln/>
        </p:spPr>
      </p:sp>
      <p:sp>
        <p:nvSpPr>
          <p:cNvPr id="4" name="Shape 2"/>
          <p:cNvSpPr/>
          <p:nvPr/>
        </p:nvSpPr>
        <p:spPr>
          <a:xfrm>
            <a:off x="548640" y="1188720"/>
            <a:ext cx="7315200" cy="475488"/>
          </a:xfrm>
          <a:prstGeom prst="rect">
            <a:avLst>
              <a:gd name="adj" fmla="val 9615"/>
            </a:avLst>
          </a:prstGeom>
          <a:solidFill>
            <a:srgbClr val="1E293B"/>
          </a:solidFill>
          <a:ln w="6350">
            <a:solidFill>
              <a:srgbClr val="334155"/>
            </a:solidFill>
            <a:prstDash val="solid"/>
          </a:ln>
        </p:spPr>
      </p:sp>
      <p:sp>
        <p:nvSpPr>
          <p:cNvPr id="5" name="Text 3"/>
          <p:cNvSpPr/>
          <p:nvPr/>
        </p:nvSpPr>
        <p:spPr>
          <a:xfrm>
            <a:off x="731520" y="1234440"/>
            <a:ext cx="2286000" cy="365760"/>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1. Rule Depth</a:t>
            </a:r>
            <a:endParaRPr lang="en-US" sz="1000" dirty="0"/>
          </a:p>
        </p:txBody>
      </p:sp>
      <p:sp>
        <p:nvSpPr>
          <p:cNvPr id="6" name="Text 4"/>
          <p:cNvSpPr/>
          <p:nvPr/>
        </p:nvSpPr>
        <p:spPr>
          <a:xfrm>
            <a:off x="3017520" y="1234440"/>
            <a:ext cx="4754880" cy="365760"/>
          </a:xfrm>
          <a:prstGeom prst="rect">
            <a:avLst/>
          </a:prstGeom>
          <a:noFill/>
          <a:ln/>
        </p:spPr>
        <p:txBody>
          <a:bodyPr wrap="square" rtlCol="0" anchor="t"/>
          <a:lstStyle/>
          <a:p>
            <a:pPr algn="l" indent="0" marL="0">
              <a:lnSpc>
                <a:spcPct val="120000"/>
              </a:lnSpc>
              <a:buNone/>
            </a:pPr>
            <a:r>
              <a:rPr lang="en-US" sz="900" dirty="0">
                <a:solidFill>
                  <a:srgbClr val="F8FAFC"/>
                </a:solidFill>
                <a:latin typeface="Calibri" pitchFamily="34" charset="0"/>
                <a:ea typeface="Calibri" pitchFamily="34" charset="-122"/>
                <a:cs typeface="Calibri" pitchFamily="34" charset="-120"/>
              </a:rPr>
              <a:t>188 static rules + 269 attack templates. Multi-language, multi-provider, multi-domain.</a:t>
            </a:r>
            <a:endParaRPr lang="en-US" sz="900" dirty="0"/>
          </a:p>
        </p:txBody>
      </p:sp>
      <p:sp>
        <p:nvSpPr>
          <p:cNvPr id="7" name="Shape 5"/>
          <p:cNvSpPr/>
          <p:nvPr/>
        </p:nvSpPr>
        <p:spPr>
          <a:xfrm>
            <a:off x="548640" y="1755648"/>
            <a:ext cx="7315200" cy="475488"/>
          </a:xfrm>
          <a:prstGeom prst="rect">
            <a:avLst>
              <a:gd name="adj" fmla="val 9615"/>
            </a:avLst>
          </a:prstGeom>
          <a:solidFill>
            <a:srgbClr val="1E293B"/>
          </a:solidFill>
          <a:ln w="6350">
            <a:solidFill>
              <a:srgbClr val="334155"/>
            </a:solidFill>
            <a:prstDash val="solid"/>
          </a:ln>
        </p:spPr>
      </p:sp>
      <p:sp>
        <p:nvSpPr>
          <p:cNvPr id="8" name="Text 6"/>
          <p:cNvSpPr/>
          <p:nvPr/>
        </p:nvSpPr>
        <p:spPr>
          <a:xfrm>
            <a:off x="731520" y="1801368"/>
            <a:ext cx="2286000" cy="365760"/>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2. Evidence Architecture</a:t>
            </a:r>
            <a:endParaRPr lang="en-US" sz="1000" dirty="0"/>
          </a:p>
        </p:txBody>
      </p:sp>
      <p:sp>
        <p:nvSpPr>
          <p:cNvPr id="9" name="Text 7"/>
          <p:cNvSpPr/>
          <p:nvPr/>
        </p:nvSpPr>
        <p:spPr>
          <a:xfrm>
            <a:off x="3017520" y="1801368"/>
            <a:ext cx="4754880" cy="365760"/>
          </a:xfrm>
          <a:prstGeom prst="rect">
            <a:avLst/>
          </a:prstGeom>
          <a:noFill/>
          <a:ln/>
        </p:spPr>
        <p:txBody>
          <a:bodyPr wrap="square" rtlCol="0" anchor="t"/>
          <a:lstStyle/>
          <a:p>
            <a:pPr algn="l" indent="0" marL="0">
              <a:lnSpc>
                <a:spcPct val="120000"/>
              </a:lnSpc>
              <a:buNone/>
            </a:pPr>
            <a:r>
              <a:rPr lang="en-US" sz="900" dirty="0">
                <a:solidFill>
                  <a:srgbClr val="F8FAFC"/>
                </a:solidFill>
                <a:latin typeface="Calibri" pitchFamily="34" charset="0"/>
                <a:ea typeface="Calibri" pitchFamily="34" charset="-122"/>
                <a:cs typeface="Calibri" pitchFamily="34" charset="-120"/>
              </a:rPr>
              <a:t>Finding → manifest → fingerprint → audit package → trust artifact. Hash-chained, version-pinned.</a:t>
            </a:r>
            <a:endParaRPr lang="en-US" sz="900" dirty="0"/>
          </a:p>
        </p:txBody>
      </p:sp>
      <p:sp>
        <p:nvSpPr>
          <p:cNvPr id="10" name="Shape 8"/>
          <p:cNvSpPr/>
          <p:nvPr/>
        </p:nvSpPr>
        <p:spPr>
          <a:xfrm>
            <a:off x="548640" y="2322576"/>
            <a:ext cx="7315200" cy="475488"/>
          </a:xfrm>
          <a:prstGeom prst="rect">
            <a:avLst>
              <a:gd name="adj" fmla="val 9615"/>
            </a:avLst>
          </a:prstGeom>
          <a:solidFill>
            <a:srgbClr val="1E293B"/>
          </a:solidFill>
          <a:ln w="6350">
            <a:solidFill>
              <a:srgbClr val="334155"/>
            </a:solidFill>
            <a:prstDash val="solid"/>
          </a:ln>
        </p:spPr>
      </p:sp>
      <p:sp>
        <p:nvSpPr>
          <p:cNvPr id="11" name="Text 9"/>
          <p:cNvSpPr/>
          <p:nvPr/>
        </p:nvSpPr>
        <p:spPr>
          <a:xfrm>
            <a:off x="731520" y="2368296"/>
            <a:ext cx="2286000" cy="365760"/>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3. Framework Mapping</a:t>
            </a:r>
            <a:endParaRPr lang="en-US" sz="1000" dirty="0"/>
          </a:p>
        </p:txBody>
      </p:sp>
      <p:sp>
        <p:nvSpPr>
          <p:cNvPr id="12" name="Text 10"/>
          <p:cNvSpPr/>
          <p:nvPr/>
        </p:nvSpPr>
        <p:spPr>
          <a:xfrm>
            <a:off x="3017520" y="2368296"/>
            <a:ext cx="4754880" cy="365760"/>
          </a:xfrm>
          <a:prstGeom prst="rect">
            <a:avLst/>
          </a:prstGeom>
          <a:noFill/>
          <a:ln/>
        </p:spPr>
        <p:txBody>
          <a:bodyPr wrap="square" rtlCol="0" anchor="t"/>
          <a:lstStyle/>
          <a:p>
            <a:pPr algn="l" indent="0" marL="0">
              <a:lnSpc>
                <a:spcPct val="120000"/>
              </a:lnSpc>
              <a:buNone/>
            </a:pPr>
            <a:r>
              <a:rPr lang="en-US" sz="900" dirty="0">
                <a:solidFill>
                  <a:srgbClr val="F8FAFC"/>
                </a:solidFill>
                <a:latin typeface="Calibri" pitchFamily="34" charset="0"/>
                <a:ea typeface="Calibri" pitchFamily="34" charset="-122"/>
                <a:cs typeface="Calibri" pitchFamily="34" charset="-120"/>
              </a:rPr>
              <a:t>13 compliance frameworks mapped from 82 unique rule IDs. One remediation → multiple controls.</a:t>
            </a:r>
            <a:endParaRPr lang="en-US" sz="900" dirty="0"/>
          </a:p>
        </p:txBody>
      </p:sp>
      <p:sp>
        <p:nvSpPr>
          <p:cNvPr id="13" name="Shape 11"/>
          <p:cNvSpPr/>
          <p:nvPr/>
        </p:nvSpPr>
        <p:spPr>
          <a:xfrm>
            <a:off x="548640" y="2889504"/>
            <a:ext cx="7315200" cy="475488"/>
          </a:xfrm>
          <a:prstGeom prst="rect">
            <a:avLst>
              <a:gd name="adj" fmla="val 9615"/>
            </a:avLst>
          </a:prstGeom>
          <a:solidFill>
            <a:srgbClr val="1E293B"/>
          </a:solidFill>
          <a:ln w="6350">
            <a:solidFill>
              <a:srgbClr val="334155"/>
            </a:solidFill>
            <a:prstDash val="solid"/>
          </a:ln>
        </p:spPr>
      </p:sp>
      <p:sp>
        <p:nvSpPr>
          <p:cNvPr id="14" name="Text 12"/>
          <p:cNvSpPr/>
          <p:nvPr/>
        </p:nvSpPr>
        <p:spPr>
          <a:xfrm>
            <a:off x="731520" y="2935224"/>
            <a:ext cx="2286000" cy="365760"/>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4. Orchestrated Workflow</a:t>
            </a:r>
            <a:endParaRPr lang="en-US" sz="1000" dirty="0"/>
          </a:p>
        </p:txBody>
      </p:sp>
      <p:sp>
        <p:nvSpPr>
          <p:cNvPr id="15" name="Text 13"/>
          <p:cNvSpPr/>
          <p:nvPr/>
        </p:nvSpPr>
        <p:spPr>
          <a:xfrm>
            <a:off x="3017520" y="2935224"/>
            <a:ext cx="4754880" cy="365760"/>
          </a:xfrm>
          <a:prstGeom prst="rect">
            <a:avLst/>
          </a:prstGeom>
          <a:noFill/>
          <a:ln/>
        </p:spPr>
        <p:txBody>
          <a:bodyPr wrap="square" rtlCol="0" anchor="t"/>
          <a:lstStyle/>
          <a:p>
            <a:pPr algn="l" indent="0" marL="0">
              <a:lnSpc>
                <a:spcPct val="120000"/>
              </a:lnSpc>
              <a:buNone/>
            </a:pPr>
            <a:r>
              <a:rPr lang="en-US" sz="900" dirty="0">
                <a:solidFill>
                  <a:srgbClr val="F8FAFC"/>
                </a:solidFill>
                <a:latin typeface="Calibri" pitchFamily="34" charset="0"/>
                <a:ea typeface="Calibri" pitchFamily="34" charset="-122"/>
                <a:cs typeface="Calibri" pitchFamily="34" charset="-120"/>
              </a:rPr>
              <a:t>State machine, contract validation, hash-chained event log. DB as source of truth.</a:t>
            </a:r>
            <a:endParaRPr lang="en-US" sz="900" dirty="0"/>
          </a:p>
        </p:txBody>
      </p:sp>
      <p:sp>
        <p:nvSpPr>
          <p:cNvPr id="16" name="Shape 14"/>
          <p:cNvSpPr/>
          <p:nvPr/>
        </p:nvSpPr>
        <p:spPr>
          <a:xfrm>
            <a:off x="548640" y="3456432"/>
            <a:ext cx="7315200" cy="475488"/>
          </a:xfrm>
          <a:prstGeom prst="rect">
            <a:avLst>
              <a:gd name="adj" fmla="val 9615"/>
            </a:avLst>
          </a:prstGeom>
          <a:solidFill>
            <a:srgbClr val="1E293B"/>
          </a:solidFill>
          <a:ln w="6350">
            <a:solidFill>
              <a:srgbClr val="334155"/>
            </a:solidFill>
            <a:prstDash val="solid"/>
          </a:ln>
        </p:spPr>
      </p:sp>
      <p:sp>
        <p:nvSpPr>
          <p:cNvPr id="17" name="Text 15"/>
          <p:cNvSpPr/>
          <p:nvPr/>
        </p:nvSpPr>
        <p:spPr>
          <a:xfrm>
            <a:off x="731520" y="3502152"/>
            <a:ext cx="2286000" cy="365760"/>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5. Decision Pipeline</a:t>
            </a:r>
            <a:endParaRPr lang="en-US" sz="1000" dirty="0"/>
          </a:p>
        </p:txBody>
      </p:sp>
      <p:sp>
        <p:nvSpPr>
          <p:cNvPr id="18" name="Text 16"/>
          <p:cNvSpPr/>
          <p:nvPr/>
        </p:nvSpPr>
        <p:spPr>
          <a:xfrm>
            <a:off x="3017520" y="3502152"/>
            <a:ext cx="4754880" cy="365760"/>
          </a:xfrm>
          <a:prstGeom prst="rect">
            <a:avLst/>
          </a:prstGeom>
          <a:noFill/>
          <a:ln/>
        </p:spPr>
        <p:txBody>
          <a:bodyPr wrap="square" rtlCol="0" anchor="t"/>
          <a:lstStyle/>
          <a:p>
            <a:pPr algn="l" indent="0" marL="0">
              <a:lnSpc>
                <a:spcPct val="120000"/>
              </a:lnSpc>
              <a:buNone/>
            </a:pPr>
            <a:r>
              <a:rPr lang="en-US" sz="900" dirty="0">
                <a:solidFill>
                  <a:srgbClr val="F8FAFC"/>
                </a:solidFill>
                <a:latin typeface="Calibri" pitchFamily="34" charset="0"/>
                <a:ea typeface="Calibri" pitchFamily="34" charset="-122"/>
                <a:cs typeface="Calibri" pitchFamily="34" charset="-120"/>
              </a:rPr>
              <a:t>6-node DIS, NIST AI RMF breakdown, audit eligibility, human review sign-off.</a:t>
            </a:r>
            <a:endParaRPr lang="en-US" sz="900" dirty="0"/>
          </a:p>
        </p:txBody>
      </p:sp>
      <p:sp>
        <p:nvSpPr>
          <p:cNvPr id="19" name="Shape 17"/>
          <p:cNvSpPr/>
          <p:nvPr/>
        </p:nvSpPr>
        <p:spPr>
          <a:xfrm>
            <a:off x="548640" y="4023360"/>
            <a:ext cx="7315200" cy="475488"/>
          </a:xfrm>
          <a:prstGeom prst="rect">
            <a:avLst>
              <a:gd name="adj" fmla="val 9615"/>
            </a:avLst>
          </a:prstGeom>
          <a:solidFill>
            <a:srgbClr val="1E293B"/>
          </a:solidFill>
          <a:ln w="6350">
            <a:solidFill>
              <a:srgbClr val="334155"/>
            </a:solidFill>
            <a:prstDash val="solid"/>
          </a:ln>
        </p:spPr>
      </p:sp>
      <p:sp>
        <p:nvSpPr>
          <p:cNvPr id="20" name="Text 18"/>
          <p:cNvSpPr/>
          <p:nvPr/>
        </p:nvSpPr>
        <p:spPr>
          <a:xfrm>
            <a:off x="731520" y="4069080"/>
            <a:ext cx="2286000" cy="365760"/>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6. Continuous Assurance</a:t>
            </a:r>
            <a:endParaRPr lang="en-US" sz="1000" dirty="0"/>
          </a:p>
        </p:txBody>
      </p:sp>
      <p:sp>
        <p:nvSpPr>
          <p:cNvPr id="21" name="Text 19"/>
          <p:cNvSpPr/>
          <p:nvPr/>
        </p:nvSpPr>
        <p:spPr>
          <a:xfrm>
            <a:off x="3017520" y="4069080"/>
            <a:ext cx="4754880" cy="365760"/>
          </a:xfrm>
          <a:prstGeom prst="rect">
            <a:avLst/>
          </a:prstGeom>
          <a:noFill/>
          <a:ln/>
        </p:spPr>
        <p:txBody>
          <a:bodyPr wrap="square" rtlCol="0" anchor="t"/>
          <a:lstStyle/>
          <a:p>
            <a:pPr algn="l" indent="0" marL="0">
              <a:lnSpc>
                <a:spcPct val="120000"/>
              </a:lnSpc>
              <a:buNone/>
            </a:pPr>
            <a:r>
              <a:rPr lang="en-US" sz="900" dirty="0">
                <a:solidFill>
                  <a:srgbClr val="F8FAFC"/>
                </a:solidFill>
                <a:latin typeface="Calibri" pitchFamily="34" charset="0"/>
                <a:ea typeface="Calibri" pitchFamily="34" charset="-122"/>
                <a:cs typeface="Calibri" pitchFamily="34" charset="-120"/>
              </a:rPr>
              <a:t>Compliance Twin drift detection, scheduled re-verification, regression testing.</a:t>
            </a:r>
            <a:endParaRPr lang="en-US" sz="900" dirty="0"/>
          </a:p>
        </p:txBody>
      </p:sp>
      <p:sp>
        <p:nvSpPr>
          <p:cNvPr id="22" name="Shape 20"/>
          <p:cNvSpPr/>
          <p:nvPr/>
        </p:nvSpPr>
        <p:spPr>
          <a:xfrm>
            <a:off x="548640" y="4590288"/>
            <a:ext cx="7315200" cy="475488"/>
          </a:xfrm>
          <a:prstGeom prst="rect">
            <a:avLst>
              <a:gd name="adj" fmla="val 9615"/>
            </a:avLst>
          </a:prstGeom>
          <a:solidFill>
            <a:srgbClr val="1E293B"/>
          </a:solidFill>
          <a:ln w="6350">
            <a:solidFill>
              <a:srgbClr val="334155"/>
            </a:solidFill>
            <a:prstDash val="solid"/>
          </a:ln>
        </p:spPr>
      </p:sp>
      <p:sp>
        <p:nvSpPr>
          <p:cNvPr id="23" name="Text 21"/>
          <p:cNvSpPr/>
          <p:nvPr/>
        </p:nvSpPr>
        <p:spPr>
          <a:xfrm>
            <a:off x="731520" y="4636008"/>
            <a:ext cx="2286000" cy="365760"/>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7. Distribution</a:t>
            </a:r>
            <a:endParaRPr lang="en-US" sz="1000" dirty="0"/>
          </a:p>
        </p:txBody>
      </p:sp>
      <p:sp>
        <p:nvSpPr>
          <p:cNvPr id="24" name="Text 22"/>
          <p:cNvSpPr/>
          <p:nvPr/>
        </p:nvSpPr>
        <p:spPr>
          <a:xfrm>
            <a:off x="3017520" y="4636008"/>
            <a:ext cx="4754880" cy="365760"/>
          </a:xfrm>
          <a:prstGeom prst="rect">
            <a:avLst/>
          </a:prstGeom>
          <a:noFill/>
          <a:ln/>
        </p:spPr>
        <p:txBody>
          <a:bodyPr wrap="square" rtlCol="0" anchor="t"/>
          <a:lstStyle/>
          <a:p>
            <a:pPr algn="l" indent="0" marL="0">
              <a:lnSpc>
                <a:spcPct val="120000"/>
              </a:lnSpc>
              <a:buNone/>
            </a:pPr>
            <a:r>
              <a:rPr lang="en-US" sz="900" dirty="0">
                <a:solidFill>
                  <a:srgbClr val="F8FAFC"/>
                </a:solidFill>
                <a:latin typeface="Calibri" pitchFamily="34" charset="0"/>
                <a:ea typeface="Calibri" pitchFamily="34" charset="-122"/>
                <a:cs typeface="Calibri" pitchFamily="34" charset="-120"/>
              </a:rPr>
              <a:t>Trust artifacts, verification API, CI integration, enterprise V1 API.</a:t>
            </a:r>
            <a:endParaRPr lang="en-US" sz="900" dirty="0"/>
          </a:p>
        </p:txBody>
      </p:sp>
      <p:sp>
        <p:nvSpPr>
          <p:cNvPr id="25" name="Shape 23"/>
          <p:cNvSpPr/>
          <p:nvPr/>
        </p:nvSpPr>
        <p:spPr>
          <a:xfrm>
            <a:off x="7955280" y="3200400"/>
            <a:ext cx="274320" cy="0"/>
          </a:xfrm>
          <a:prstGeom prst="line">
            <a:avLst/>
          </a:prstGeom>
          <a:noFill/>
          <a:ln w="19050">
            <a:solidFill>
              <a:srgbClr val="10B981"/>
            </a:solidFill>
            <a:prstDash val="solid"/>
            <a:tailEnd type="triangle"/>
          </a:ln>
        </p:spPr>
      </p:sp>
      <p:sp>
        <p:nvSpPr>
          <p:cNvPr id="26" name="Shape 24"/>
          <p:cNvSpPr/>
          <p:nvPr/>
        </p:nvSpPr>
        <p:spPr>
          <a:xfrm>
            <a:off x="8321040" y="1371600"/>
            <a:ext cx="3291840" cy="1188720"/>
          </a:xfrm>
          <a:prstGeom prst="rect">
            <a:avLst>
              <a:gd name="adj" fmla="val 3846"/>
            </a:avLst>
          </a:prstGeom>
          <a:solidFill>
            <a:srgbClr val="059669"/>
          </a:solidFill>
          <a:ln w="6350">
            <a:solidFill>
              <a:srgbClr val="10B981"/>
            </a:solidFill>
            <a:prstDash val="solid"/>
          </a:ln>
        </p:spPr>
      </p:sp>
      <p:sp>
        <p:nvSpPr>
          <p:cNvPr id="27" name="Text 25"/>
          <p:cNvSpPr/>
          <p:nvPr/>
        </p:nvSpPr>
        <p:spPr>
          <a:xfrm>
            <a:off x="8503920" y="1463040"/>
            <a:ext cx="292608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Switching Cost</a:t>
            </a:r>
            <a:endParaRPr lang="en-US" sz="1200" dirty="0"/>
          </a:p>
        </p:txBody>
      </p:sp>
      <p:sp>
        <p:nvSpPr>
          <p:cNvPr id="28" name="Text 26"/>
          <p:cNvSpPr/>
          <p:nvPr/>
        </p:nvSpPr>
        <p:spPr>
          <a:xfrm>
            <a:off x="8503920" y="1828800"/>
            <a:ext cx="2926080" cy="640080"/>
          </a:xfrm>
          <a:prstGeom prst="rect">
            <a:avLst/>
          </a:prstGeom>
          <a:noFill/>
          <a:ln/>
        </p:spPr>
        <p:txBody>
          <a:bodyPr wrap="square" rtlCol="0" anchor="t"/>
          <a:lstStyle/>
          <a:p>
            <a:pPr algn="l" indent="0" marL="0">
              <a:lnSpc>
                <a:spcPct val="120000"/>
              </a:lnSpc>
              <a:buNone/>
            </a:pPr>
            <a:r>
              <a:rPr lang="en-US" sz="900" dirty="0">
                <a:solidFill>
                  <a:srgbClr val="FFFFFF"/>
                </a:solidFill>
                <a:latin typeface="Calibri" pitchFamily="34" charset="0"/>
                <a:ea typeface="Calibri" pitchFamily="34" charset="-122"/>
                <a:cs typeface="Calibri" pitchFamily="34" charset="-120"/>
              </a:rPr>
              <a:t>Each audit run accumulates evidence records, framework mappings, and compliance history. Rebuilding this in a new tool is prohibitive.</a:t>
            </a:r>
            <a:endParaRPr lang="en-US" sz="900" dirty="0"/>
          </a:p>
        </p:txBody>
      </p:sp>
      <p:sp>
        <p:nvSpPr>
          <p:cNvPr id="29" name="Shape 27"/>
          <p:cNvSpPr/>
          <p:nvPr/>
        </p:nvSpPr>
        <p:spPr>
          <a:xfrm>
            <a:off x="8321040" y="2743200"/>
            <a:ext cx="3291840" cy="1188720"/>
          </a:xfrm>
          <a:prstGeom prst="rect">
            <a:avLst>
              <a:gd name="adj" fmla="val 3846"/>
            </a:avLst>
          </a:prstGeom>
          <a:solidFill>
            <a:srgbClr val="059669"/>
          </a:solidFill>
          <a:ln w="6350">
            <a:solidFill>
              <a:srgbClr val="10B981"/>
            </a:solidFill>
            <a:prstDash val="solid"/>
          </a:ln>
        </p:spPr>
      </p:sp>
      <p:sp>
        <p:nvSpPr>
          <p:cNvPr id="30" name="Text 28"/>
          <p:cNvSpPr/>
          <p:nvPr/>
        </p:nvSpPr>
        <p:spPr>
          <a:xfrm>
            <a:off x="8503920" y="2834640"/>
            <a:ext cx="292608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Network Effects</a:t>
            </a:r>
            <a:endParaRPr lang="en-US" sz="1200" dirty="0"/>
          </a:p>
        </p:txBody>
      </p:sp>
      <p:sp>
        <p:nvSpPr>
          <p:cNvPr id="31" name="Text 29"/>
          <p:cNvSpPr/>
          <p:nvPr/>
        </p:nvSpPr>
        <p:spPr>
          <a:xfrm>
            <a:off x="8503920" y="3200400"/>
            <a:ext cx="2926080" cy="640080"/>
          </a:xfrm>
          <a:prstGeom prst="rect">
            <a:avLst/>
          </a:prstGeom>
          <a:noFill/>
          <a:ln/>
        </p:spPr>
        <p:txBody>
          <a:bodyPr wrap="square" rtlCol="0" anchor="t"/>
          <a:lstStyle/>
          <a:p>
            <a:pPr algn="l" indent="0" marL="0">
              <a:lnSpc>
                <a:spcPct val="120000"/>
              </a:lnSpc>
              <a:buNone/>
            </a:pPr>
            <a:r>
              <a:rPr lang="en-US" sz="900" dirty="0">
                <a:solidFill>
                  <a:srgbClr val="FFFFFF"/>
                </a:solidFill>
                <a:latin typeface="Calibri" pitchFamily="34" charset="0"/>
                <a:ea typeface="Calibri" pitchFamily="34" charset="-122"/>
                <a:cs typeface="Calibri" pitchFamily="34" charset="-120"/>
              </a:rPr>
              <a:t>More systems scanned → more findings → more framework mappings → more remediation patterns → better coverage.</a:t>
            </a:r>
            <a:endParaRPr lang="en-US" sz="900" dirty="0"/>
          </a:p>
        </p:txBody>
      </p:sp>
      <p:sp>
        <p:nvSpPr>
          <p:cNvPr id="32" name="Shape 30"/>
          <p:cNvSpPr/>
          <p:nvPr/>
        </p:nvSpPr>
        <p:spPr>
          <a:xfrm>
            <a:off x="8321040" y="4114800"/>
            <a:ext cx="3291840" cy="1188720"/>
          </a:xfrm>
          <a:prstGeom prst="rect">
            <a:avLst>
              <a:gd name="adj" fmla="val 3846"/>
            </a:avLst>
          </a:prstGeom>
          <a:solidFill>
            <a:srgbClr val="059669"/>
          </a:solidFill>
          <a:ln w="6350">
            <a:solidFill>
              <a:srgbClr val="10B981"/>
            </a:solidFill>
            <a:prstDash val="solid"/>
          </a:ln>
        </p:spPr>
      </p:sp>
      <p:sp>
        <p:nvSpPr>
          <p:cNvPr id="33" name="Text 31"/>
          <p:cNvSpPr/>
          <p:nvPr/>
        </p:nvSpPr>
        <p:spPr>
          <a:xfrm>
            <a:off x="8503920" y="4206240"/>
            <a:ext cx="292608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Regulatory Moat</a:t>
            </a:r>
            <a:endParaRPr lang="en-US" sz="1200" dirty="0"/>
          </a:p>
        </p:txBody>
      </p:sp>
      <p:sp>
        <p:nvSpPr>
          <p:cNvPr id="34" name="Text 32"/>
          <p:cNvSpPr/>
          <p:nvPr/>
        </p:nvSpPr>
        <p:spPr>
          <a:xfrm>
            <a:off x="8503920" y="4572000"/>
            <a:ext cx="2926080" cy="640080"/>
          </a:xfrm>
          <a:prstGeom prst="rect">
            <a:avLst/>
          </a:prstGeom>
          <a:noFill/>
          <a:ln/>
        </p:spPr>
        <p:txBody>
          <a:bodyPr wrap="square" rtlCol="0" anchor="t"/>
          <a:lstStyle/>
          <a:p>
            <a:pPr algn="l" indent="0" marL="0">
              <a:lnSpc>
                <a:spcPct val="120000"/>
              </a:lnSpc>
              <a:buNone/>
            </a:pPr>
            <a:r>
              <a:rPr lang="en-US" sz="900" dirty="0">
                <a:solidFill>
                  <a:srgbClr val="FFFFFF"/>
                </a:solidFill>
                <a:latin typeface="Calibri" pitchFamily="34" charset="0"/>
                <a:ea typeface="Calibri" pitchFamily="34" charset="-122"/>
                <a:cs typeface="Calibri" pitchFamily="34" charset="-120"/>
              </a:rPr>
              <a:t>6 jurisdictions, 13 frameworks, patent-pending delta engine and provenance anchoring.</a:t>
            </a:r>
            <a:endParaRPr lang="en-US" sz="900" dirty="0"/>
          </a:p>
        </p:txBody>
      </p:sp>
      <p:sp>
        <p:nvSpPr>
          <p:cNvPr id="35" name="Text 33"/>
          <p:cNvSpPr/>
          <p:nvPr/>
        </p:nvSpPr>
        <p:spPr>
          <a:xfrm>
            <a:off x="548640" y="5486400"/>
            <a:ext cx="10972800" cy="274320"/>
          </a:xfrm>
          <a:prstGeom prst="rect">
            <a:avLst/>
          </a:prstGeom>
          <a:noFill/>
          <a:ln/>
        </p:spPr>
        <p:txBody>
          <a:bodyPr wrap="square" rtlCol="0" anchor="t"/>
          <a:lstStyle/>
          <a:p>
            <a:pPr algn="l" indent="0" marL="0">
              <a:lnSpc>
                <a:spcPct val="120000"/>
              </a:lnSpc>
              <a:buNone/>
            </a:pPr>
            <a:r>
              <a:rPr lang="en-US" sz="1100" b="1" dirty="0">
                <a:solidFill>
                  <a:srgbClr val="10B981"/>
                </a:solidFill>
                <a:latin typeface="Calibri" pitchFamily="34" charset="0"/>
                <a:ea typeface="Calibri" pitchFamily="34" charset="-122"/>
                <a:cs typeface="Calibri" pitchFamily="34" charset="-120"/>
              </a:rPr>
              <a:t>Each layer reinforces the next. The evidence relationship — not any single scanner — is the defensible asset.</a:t>
            </a:r>
            <a:endParaRPr lang="en-US" sz="1100" dirty="0"/>
          </a:p>
        </p:txBody>
      </p:sp>
      <p:sp>
        <p:nvSpPr>
          <p:cNvPr id="36" name="Shape 34"/>
          <p:cNvSpPr/>
          <p:nvPr/>
        </p:nvSpPr>
        <p:spPr>
          <a:xfrm>
            <a:off x="548640" y="5852160"/>
            <a:ext cx="11064240" cy="640080"/>
          </a:xfrm>
          <a:prstGeom prst="rect">
            <a:avLst>
              <a:gd name="adj" fmla="val 7143"/>
            </a:avLst>
          </a:prstGeom>
          <a:solidFill>
            <a:srgbClr val="1E293B"/>
          </a:solidFill>
          <a:ln w="6350">
            <a:solidFill>
              <a:srgbClr val="10B981"/>
            </a:solidFill>
            <a:prstDash val="solid"/>
          </a:ln>
        </p:spPr>
      </p:sp>
      <p:sp>
        <p:nvSpPr>
          <p:cNvPr id="37" name="Text 35"/>
          <p:cNvSpPr/>
          <p:nvPr/>
        </p:nvSpPr>
        <p:spPr>
          <a:xfrm>
            <a:off x="731520" y="5852160"/>
            <a:ext cx="10698480" cy="640080"/>
          </a:xfrm>
          <a:prstGeom prst="rect">
            <a:avLst/>
          </a:prstGeom>
          <a:noFill/>
          <a:ln/>
        </p:spPr>
        <p:txBody>
          <a:bodyPr wrap="square" rtlCol="0" anchor="ctr"/>
          <a:lstStyle/>
          <a:p>
            <a:pPr algn="ctr" indent="0" marL="0">
              <a:buNone/>
            </a:pPr>
            <a:r>
              <a:rPr lang="en-US" sz="900" i="1" dirty="0">
                <a:solidFill>
                  <a:srgbClr val="94A3B8"/>
                </a:solidFill>
                <a:latin typeface="Calibri" pitchFamily="34" charset="0"/>
                <a:ea typeface="Calibri" pitchFamily="34" charset="-122"/>
                <a:cs typeface="Calibri" pitchFamily="34" charset="-120"/>
              </a:rPr>
              <a:t>Discussion:  What is the strongest initial product wedge?  ·  Which compliance framework drives the most urgent demand?  ·  Where does HAIEC create the most switching cost?</a:t>
            </a:r>
            <a:endParaRPr lang="en-US" sz="900" dirty="0"/>
          </a:p>
        </p:txBody>
      </p:sp>
      <p:sp>
        <p:nvSpPr>
          <p:cNvPr id="38" name="Text 36"/>
          <p:cNvSpPr/>
          <p:nvPr/>
        </p:nvSpPr>
        <p:spPr>
          <a:xfrm>
            <a:off x="274320" y="6537960"/>
            <a:ext cx="7315200" cy="22860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HAIEC  ·  Confidential Discussion Brief  ·  11/14</a:t>
            </a:r>
            <a:endParaRPr lang="en-US" sz="800" dirty="0"/>
          </a:p>
        </p:txBody>
      </p:sp>
      <p:sp>
        <p:nvSpPr>
          <p:cNvPr id="39" name="Text 37"/>
          <p:cNvSpPr/>
          <p:nvPr/>
        </p:nvSpPr>
        <p:spPr>
          <a:xfrm>
            <a:off x="9448495" y="6537960"/>
            <a:ext cx="2468880" cy="228600"/>
          </a:xfrm>
          <a:prstGeom prst="rect">
            <a:avLst/>
          </a:prstGeom>
          <a:noFill/>
          <a:ln/>
        </p:spPr>
        <p:txBody>
          <a:bodyPr wrap="square" rtlCol="0" anchor="ctr"/>
          <a:lstStyle/>
          <a:p>
            <a:pPr algn="r" indent="0" marL="0">
              <a:buNone/>
            </a:pPr>
            <a:r>
              <a:rPr lang="en-US" sz="800" dirty="0">
                <a:solidFill>
                  <a:srgbClr val="64748B"/>
                </a:solidFill>
                <a:latin typeface="Courier New" pitchFamily="34" charset="0"/>
                <a:ea typeface="Courier New" pitchFamily="34" charset="-122"/>
                <a:cs typeface="Courier New" pitchFamily="34" charset="-120"/>
              </a:rPr>
              <a:t>v1.0  ·  2026-07-31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365760"/>
            <a:ext cx="11094415" cy="502920"/>
          </a:xfrm>
          <a:prstGeom prst="rect">
            <a:avLst/>
          </a:prstGeom>
          <a:noFill/>
          <a:ln/>
        </p:spPr>
        <p:txBody>
          <a:bodyPr wrap="square" rtlCol="0" anchor="ctr"/>
          <a:lstStyle/>
          <a:p>
            <a:pPr algn="l" indent="0" marL="0">
              <a:buNone/>
            </a:pPr>
            <a:r>
              <a:rPr lang="en-US" sz="2600" b="1" dirty="0">
                <a:solidFill>
                  <a:srgbClr val="F8FAFC"/>
                </a:solidFill>
                <a:latin typeface="Calibri" pitchFamily="34" charset="0"/>
                <a:ea typeface="Calibri" pitchFamily="34" charset="-122"/>
                <a:cs typeface="Calibri" pitchFamily="34" charset="-120"/>
              </a:rPr>
              <a:t>Appendix A: Technical Maturity Matrix</a:t>
            </a:r>
            <a:endParaRPr lang="en-US" sz="2600" dirty="0"/>
          </a:p>
        </p:txBody>
      </p:sp>
      <p:sp>
        <p:nvSpPr>
          <p:cNvPr id="3" name="Shape 1"/>
          <p:cNvSpPr/>
          <p:nvPr/>
        </p:nvSpPr>
        <p:spPr>
          <a:xfrm>
            <a:off x="548640" y="914400"/>
            <a:ext cx="1371600" cy="36576"/>
          </a:xfrm>
          <a:prstGeom prst="rect">
            <a:avLst/>
          </a:prstGeom>
          <a:solidFill>
            <a:srgbClr val="10B981"/>
          </a:solidFill>
          <a:ln/>
        </p:spPr>
      </p:sp>
      <p:sp>
        <p:nvSpPr>
          <p:cNvPr id="4" name="Shape 2"/>
          <p:cNvSpPr/>
          <p:nvPr/>
        </p:nvSpPr>
        <p:spPr>
          <a:xfrm>
            <a:off x="365760" y="1097280"/>
            <a:ext cx="11430000" cy="365760"/>
          </a:xfrm>
          <a:prstGeom prst="rect">
            <a:avLst>
              <a:gd name="adj" fmla="val 12500"/>
            </a:avLst>
          </a:prstGeom>
          <a:solidFill>
            <a:srgbClr val="1E293B"/>
          </a:solidFill>
          <a:ln w="6350">
            <a:solidFill>
              <a:srgbClr val="10B981"/>
            </a:solidFill>
            <a:prstDash val="solid"/>
          </a:ln>
        </p:spPr>
      </p:sp>
      <p:sp>
        <p:nvSpPr>
          <p:cNvPr id="5" name="Text 3"/>
          <p:cNvSpPr/>
          <p:nvPr/>
        </p:nvSpPr>
        <p:spPr>
          <a:xfrm>
            <a:off x="457200" y="1115568"/>
            <a:ext cx="2011680" cy="320040"/>
          </a:xfrm>
          <a:prstGeom prst="rect">
            <a:avLst/>
          </a:prstGeom>
          <a:noFill/>
          <a:ln/>
        </p:spPr>
        <p:txBody>
          <a:bodyPr wrap="square"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Capability</a:t>
            </a:r>
            <a:endParaRPr lang="en-US" sz="900" dirty="0"/>
          </a:p>
        </p:txBody>
      </p:sp>
      <p:sp>
        <p:nvSpPr>
          <p:cNvPr id="6" name="Text 4"/>
          <p:cNvSpPr/>
          <p:nvPr/>
        </p:nvSpPr>
        <p:spPr>
          <a:xfrm>
            <a:off x="2560320" y="1115568"/>
            <a:ext cx="1920240" cy="320040"/>
          </a:xfrm>
          <a:prstGeom prst="rect">
            <a:avLst/>
          </a:prstGeom>
          <a:noFill/>
          <a:ln/>
        </p:spPr>
        <p:txBody>
          <a:bodyPr wrap="square"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Current Status</a:t>
            </a:r>
            <a:endParaRPr lang="en-US" sz="900" dirty="0"/>
          </a:p>
        </p:txBody>
      </p:sp>
      <p:sp>
        <p:nvSpPr>
          <p:cNvPr id="7" name="Text 5"/>
          <p:cNvSpPr/>
          <p:nvPr/>
        </p:nvSpPr>
        <p:spPr>
          <a:xfrm>
            <a:off x="4572000" y="1115568"/>
            <a:ext cx="2468880" cy="320040"/>
          </a:xfrm>
          <a:prstGeom prst="rect">
            <a:avLst/>
          </a:prstGeom>
          <a:noFill/>
          <a:ln/>
        </p:spPr>
        <p:txBody>
          <a:bodyPr wrap="square"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Source Proof</a:t>
            </a:r>
            <a:endParaRPr lang="en-US" sz="900" dirty="0"/>
          </a:p>
        </p:txBody>
      </p:sp>
      <p:sp>
        <p:nvSpPr>
          <p:cNvPr id="8" name="Text 6"/>
          <p:cNvSpPr/>
          <p:nvPr/>
        </p:nvSpPr>
        <p:spPr>
          <a:xfrm>
            <a:off x="7132320" y="1115568"/>
            <a:ext cx="2194560" cy="320040"/>
          </a:xfrm>
          <a:prstGeom prst="rect">
            <a:avLst/>
          </a:prstGeom>
          <a:noFill/>
          <a:ln/>
        </p:spPr>
        <p:txBody>
          <a:bodyPr wrap="square"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Strategic Value</a:t>
            </a:r>
            <a:endParaRPr lang="en-US" sz="900" dirty="0"/>
          </a:p>
        </p:txBody>
      </p:sp>
      <p:sp>
        <p:nvSpPr>
          <p:cNvPr id="9" name="Text 7"/>
          <p:cNvSpPr/>
          <p:nvPr/>
        </p:nvSpPr>
        <p:spPr>
          <a:xfrm>
            <a:off x="9418320" y="1115568"/>
            <a:ext cx="2011680" cy="320040"/>
          </a:xfrm>
          <a:prstGeom prst="rect">
            <a:avLst/>
          </a:prstGeom>
          <a:noFill/>
          <a:ln/>
        </p:spPr>
        <p:txBody>
          <a:bodyPr wrap="square"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Next Evolution</a:t>
            </a:r>
            <a:endParaRPr lang="en-US" sz="900" dirty="0"/>
          </a:p>
        </p:txBody>
      </p:sp>
      <p:sp>
        <p:nvSpPr>
          <p:cNvPr id="10" name="Shape 8"/>
          <p:cNvSpPr/>
          <p:nvPr/>
        </p:nvSpPr>
        <p:spPr>
          <a:xfrm>
            <a:off x="365760" y="1508760"/>
            <a:ext cx="11430000" cy="530352"/>
          </a:xfrm>
          <a:prstGeom prst="rect">
            <a:avLst>
              <a:gd name="adj" fmla="val 8621"/>
            </a:avLst>
          </a:prstGeom>
          <a:solidFill>
            <a:srgbClr val="0F172A"/>
          </a:solidFill>
          <a:ln w="6350">
            <a:solidFill>
              <a:srgbClr val="334155"/>
            </a:solidFill>
            <a:prstDash val="solid"/>
          </a:ln>
        </p:spPr>
      </p:sp>
      <p:sp>
        <p:nvSpPr>
          <p:cNvPr id="11" name="Text 9"/>
          <p:cNvSpPr/>
          <p:nvPr/>
        </p:nvSpPr>
        <p:spPr>
          <a:xfrm>
            <a:off x="457200" y="1527048"/>
            <a:ext cx="2011680" cy="502920"/>
          </a:xfrm>
          <a:prstGeom prst="rect">
            <a:avLst/>
          </a:prstGeom>
          <a:noFill/>
          <a:ln/>
        </p:spPr>
        <p:txBody>
          <a:bodyPr wrap="square" rtlCol="0" anchor="ctr"/>
          <a:lstStyle/>
          <a:p>
            <a:pPr indent="0" marL="0">
              <a:buNone/>
            </a:pPr>
            <a:r>
              <a:rPr lang="en-US" sz="800" b="1" dirty="0">
                <a:solidFill>
                  <a:srgbClr val="F8FAFC"/>
                </a:solidFill>
                <a:latin typeface="Calibri" pitchFamily="34" charset="0"/>
                <a:ea typeface="Calibri" pitchFamily="34" charset="-122"/>
                <a:cs typeface="Calibri" pitchFamily="34" charset="-120"/>
              </a:rPr>
              <a:t>Static AI Security</a:t>
            </a:r>
            <a:endParaRPr lang="en-US" sz="800" dirty="0"/>
          </a:p>
        </p:txBody>
      </p:sp>
      <p:sp>
        <p:nvSpPr>
          <p:cNvPr id="12" name="Text 10"/>
          <p:cNvSpPr/>
          <p:nvPr/>
        </p:nvSpPr>
        <p:spPr>
          <a:xfrm>
            <a:off x="2560320" y="1527048"/>
            <a:ext cx="1920240" cy="502920"/>
          </a:xfrm>
          <a:prstGeom prst="rect">
            <a:avLst/>
          </a:prstGeom>
          <a:noFill/>
          <a:ln/>
        </p:spPr>
        <p:txBody>
          <a:bodyPr wrap="square" rtlCol="0" anchor="ctr"/>
          <a:lstStyle/>
          <a:p>
            <a:pPr indent="0" marL="0">
              <a:buNone/>
            </a:pPr>
            <a:r>
              <a:rPr lang="en-US" sz="700" dirty="0">
                <a:solidFill>
                  <a:srgbClr val="10B981"/>
                </a:solidFill>
                <a:latin typeface="Courier New" pitchFamily="34" charset="0"/>
                <a:ea typeface="Courier New" pitchFamily="34" charset="-122"/>
                <a:cs typeface="Courier New" pitchFamily="34" charset="-120"/>
              </a:rPr>
              <a:t>Implemented</a:t>
            </a:r>
            <a:endParaRPr lang="en-US" sz="700" dirty="0"/>
          </a:p>
        </p:txBody>
      </p:sp>
      <p:sp>
        <p:nvSpPr>
          <p:cNvPr id="13" name="Text 11"/>
          <p:cNvSpPr/>
          <p:nvPr/>
        </p:nvSpPr>
        <p:spPr>
          <a:xfrm>
            <a:off x="4572000" y="1527048"/>
            <a:ext cx="2468880" cy="50292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188 rules, Modal Python scanner, 31 API routes, 8 DB models</a:t>
            </a:r>
            <a:endParaRPr lang="en-US" sz="700" dirty="0"/>
          </a:p>
        </p:txBody>
      </p:sp>
      <p:sp>
        <p:nvSpPr>
          <p:cNvPr id="14" name="Text 12"/>
          <p:cNvSpPr/>
          <p:nvPr/>
        </p:nvSpPr>
        <p:spPr>
          <a:xfrm>
            <a:off x="7132320" y="1527048"/>
            <a:ext cx="2194560" cy="502920"/>
          </a:xfrm>
          <a:prstGeom prst="rect">
            <a:avLst/>
          </a:prstGeom>
          <a:noFill/>
          <a:ln/>
        </p:spPr>
        <p:txBody>
          <a:bodyPr wrap="square" rtlCol="0" anchor="ctr"/>
          <a:lstStyle/>
          <a:p>
            <a:pPr indent="0" marL="0">
              <a:buNone/>
            </a:pPr>
            <a:r>
              <a:rPr lang="en-US" sz="700" dirty="0">
                <a:solidFill>
                  <a:srgbClr val="F8FAFC"/>
                </a:solidFill>
                <a:latin typeface="Calibri" pitchFamily="34" charset="0"/>
                <a:ea typeface="Calibri" pitchFamily="34" charset="-122"/>
                <a:cs typeface="Calibri" pitchFamily="34" charset="-120"/>
              </a:rPr>
              <a:t>Deterministic, audit-grade findings with fingerprints</a:t>
            </a:r>
            <a:endParaRPr lang="en-US" sz="700" dirty="0"/>
          </a:p>
        </p:txBody>
      </p:sp>
      <p:sp>
        <p:nvSpPr>
          <p:cNvPr id="15" name="Text 13"/>
          <p:cNvSpPr/>
          <p:nvPr/>
        </p:nvSpPr>
        <p:spPr>
          <a:xfrm>
            <a:off x="9418320" y="1527048"/>
            <a:ext cx="2011680" cy="502920"/>
          </a:xfrm>
          <a:prstGeom prst="rect">
            <a:avLst/>
          </a:prstGeom>
          <a:noFill/>
          <a:ln/>
        </p:spPr>
        <p:txBody>
          <a:bodyPr wrap="square" rtlCol="0" anchor="ctr"/>
          <a:lstStyle/>
          <a:p>
            <a:pPr indent="0" marL="0">
              <a:buNone/>
            </a:pPr>
            <a:r>
              <a:rPr lang="en-US" sz="700" dirty="0">
                <a:solidFill>
                  <a:srgbClr val="10B981"/>
                </a:solidFill>
                <a:latin typeface="Calibri" pitchFamily="34" charset="0"/>
                <a:ea typeface="Calibri" pitchFamily="34" charset="-122"/>
                <a:cs typeface="Calibri" pitchFamily="34" charset="-120"/>
              </a:rPr>
              <a:t>Multi-language sidecar expansion (Go, Rust)</a:t>
            </a:r>
            <a:endParaRPr lang="en-US" sz="700" dirty="0"/>
          </a:p>
        </p:txBody>
      </p:sp>
      <p:sp>
        <p:nvSpPr>
          <p:cNvPr id="16" name="Shape 14"/>
          <p:cNvSpPr/>
          <p:nvPr/>
        </p:nvSpPr>
        <p:spPr>
          <a:xfrm>
            <a:off x="365760" y="2075688"/>
            <a:ext cx="11430000" cy="530352"/>
          </a:xfrm>
          <a:prstGeom prst="rect">
            <a:avLst>
              <a:gd name="adj" fmla="val 8621"/>
            </a:avLst>
          </a:prstGeom>
          <a:solidFill>
            <a:srgbClr val="1E293B"/>
          </a:solidFill>
          <a:ln w="6350">
            <a:solidFill>
              <a:srgbClr val="334155"/>
            </a:solidFill>
            <a:prstDash val="solid"/>
          </a:ln>
        </p:spPr>
      </p:sp>
      <p:sp>
        <p:nvSpPr>
          <p:cNvPr id="17" name="Text 15"/>
          <p:cNvSpPr/>
          <p:nvPr/>
        </p:nvSpPr>
        <p:spPr>
          <a:xfrm>
            <a:off x="457200" y="2093976"/>
            <a:ext cx="2011680" cy="502920"/>
          </a:xfrm>
          <a:prstGeom prst="rect">
            <a:avLst/>
          </a:prstGeom>
          <a:noFill/>
          <a:ln/>
        </p:spPr>
        <p:txBody>
          <a:bodyPr wrap="square" rtlCol="0" anchor="ctr"/>
          <a:lstStyle/>
          <a:p>
            <a:pPr indent="0" marL="0">
              <a:buNone/>
            </a:pPr>
            <a:r>
              <a:rPr lang="en-US" sz="800" b="1" dirty="0">
                <a:solidFill>
                  <a:srgbClr val="F8FAFC"/>
                </a:solidFill>
                <a:latin typeface="Calibri" pitchFamily="34" charset="0"/>
                <a:ea typeface="Calibri" pitchFamily="34" charset="-122"/>
                <a:cs typeface="Calibri" pitchFamily="34" charset="-120"/>
              </a:rPr>
              <a:t>Runtime Adversarial Testing</a:t>
            </a:r>
            <a:endParaRPr lang="en-US" sz="800" dirty="0"/>
          </a:p>
        </p:txBody>
      </p:sp>
      <p:sp>
        <p:nvSpPr>
          <p:cNvPr id="18" name="Text 16"/>
          <p:cNvSpPr/>
          <p:nvPr/>
        </p:nvSpPr>
        <p:spPr>
          <a:xfrm>
            <a:off x="2560320" y="2093976"/>
            <a:ext cx="1920240" cy="502920"/>
          </a:xfrm>
          <a:prstGeom prst="rect">
            <a:avLst/>
          </a:prstGeom>
          <a:noFill/>
          <a:ln/>
        </p:spPr>
        <p:txBody>
          <a:bodyPr wrap="square" rtlCol="0" anchor="ctr"/>
          <a:lstStyle/>
          <a:p>
            <a:pPr indent="0" marL="0">
              <a:buNone/>
            </a:pPr>
            <a:r>
              <a:rPr lang="en-US" sz="700" dirty="0">
                <a:solidFill>
                  <a:srgbClr val="10B981"/>
                </a:solidFill>
                <a:latin typeface="Courier New" pitchFamily="34" charset="0"/>
                <a:ea typeface="Courier New" pitchFamily="34" charset="-122"/>
                <a:cs typeface="Courier New" pitchFamily="34" charset="-120"/>
              </a:rPr>
              <a:t>Active development</a:t>
            </a:r>
            <a:endParaRPr lang="en-US" sz="700" dirty="0"/>
          </a:p>
        </p:txBody>
      </p:sp>
      <p:sp>
        <p:nvSpPr>
          <p:cNvPr id="19" name="Text 17"/>
          <p:cNvSpPr/>
          <p:nvPr/>
        </p:nvSpPr>
        <p:spPr>
          <a:xfrm>
            <a:off x="4572000" y="2093976"/>
            <a:ext cx="2468880" cy="50292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269 templates, 14 safety properties, 22 API routes</a:t>
            </a:r>
            <a:endParaRPr lang="en-US" sz="700" dirty="0"/>
          </a:p>
        </p:txBody>
      </p:sp>
      <p:sp>
        <p:nvSpPr>
          <p:cNvPr id="20" name="Text 18"/>
          <p:cNvSpPr/>
          <p:nvPr/>
        </p:nvSpPr>
        <p:spPr>
          <a:xfrm>
            <a:off x="7132320" y="2093976"/>
            <a:ext cx="2194560" cy="502920"/>
          </a:xfrm>
          <a:prstGeom prst="rect">
            <a:avLst/>
          </a:prstGeom>
          <a:noFill/>
          <a:ln/>
        </p:spPr>
        <p:txBody>
          <a:bodyPr wrap="square" rtlCol="0" anchor="ctr"/>
          <a:lstStyle/>
          <a:p>
            <a:pPr indent="0" marL="0">
              <a:buNone/>
            </a:pPr>
            <a:r>
              <a:rPr lang="en-US" sz="700" dirty="0">
                <a:solidFill>
                  <a:srgbClr val="F8FAFC"/>
                </a:solidFill>
                <a:latin typeface="Calibri" pitchFamily="34" charset="0"/>
                <a:ea typeface="Calibri" pitchFamily="34" charset="-122"/>
                <a:cs typeface="Calibri" pitchFamily="34" charset="-120"/>
              </a:rPr>
              <a:t>Active testing of live AI endpoints with safety validation</a:t>
            </a:r>
            <a:endParaRPr lang="en-US" sz="700" dirty="0"/>
          </a:p>
        </p:txBody>
      </p:sp>
      <p:sp>
        <p:nvSpPr>
          <p:cNvPr id="21" name="Text 19"/>
          <p:cNvSpPr/>
          <p:nvPr/>
        </p:nvSpPr>
        <p:spPr>
          <a:xfrm>
            <a:off x="9418320" y="2093976"/>
            <a:ext cx="2011680" cy="502920"/>
          </a:xfrm>
          <a:prstGeom prst="rect">
            <a:avLst/>
          </a:prstGeom>
          <a:noFill/>
          <a:ln/>
        </p:spPr>
        <p:txBody>
          <a:bodyPr wrap="square" rtlCol="0" anchor="ctr"/>
          <a:lstStyle/>
          <a:p>
            <a:pPr indent="0" marL="0">
              <a:buNone/>
            </a:pPr>
            <a:r>
              <a:rPr lang="en-US" sz="700" dirty="0">
                <a:solidFill>
                  <a:srgbClr val="10B981"/>
                </a:solidFill>
                <a:latin typeface="Calibri" pitchFamily="34" charset="0"/>
                <a:ea typeface="Calibri" pitchFamily="34" charset="-122"/>
                <a:cs typeface="Calibri" pitchFamily="34" charset="-120"/>
              </a:rPr>
              <a:t>Production scale-out and additional domain packs</a:t>
            </a:r>
            <a:endParaRPr lang="en-US" sz="700" dirty="0"/>
          </a:p>
        </p:txBody>
      </p:sp>
      <p:sp>
        <p:nvSpPr>
          <p:cNvPr id="22" name="Shape 20"/>
          <p:cNvSpPr/>
          <p:nvPr/>
        </p:nvSpPr>
        <p:spPr>
          <a:xfrm>
            <a:off x="365760" y="2642616"/>
            <a:ext cx="11430000" cy="530352"/>
          </a:xfrm>
          <a:prstGeom prst="rect">
            <a:avLst>
              <a:gd name="adj" fmla="val 8621"/>
            </a:avLst>
          </a:prstGeom>
          <a:solidFill>
            <a:srgbClr val="0F172A"/>
          </a:solidFill>
          <a:ln w="6350">
            <a:solidFill>
              <a:srgbClr val="334155"/>
            </a:solidFill>
            <a:prstDash val="solid"/>
          </a:ln>
        </p:spPr>
      </p:sp>
      <p:sp>
        <p:nvSpPr>
          <p:cNvPr id="23" name="Text 21"/>
          <p:cNvSpPr/>
          <p:nvPr/>
        </p:nvSpPr>
        <p:spPr>
          <a:xfrm>
            <a:off x="457200" y="2660904"/>
            <a:ext cx="2011680" cy="502920"/>
          </a:xfrm>
          <a:prstGeom prst="rect">
            <a:avLst/>
          </a:prstGeom>
          <a:noFill/>
          <a:ln/>
        </p:spPr>
        <p:txBody>
          <a:bodyPr wrap="square" rtlCol="0" anchor="ctr"/>
          <a:lstStyle/>
          <a:p>
            <a:pPr indent="0" marL="0">
              <a:buNone/>
            </a:pPr>
            <a:r>
              <a:rPr lang="en-US" sz="800" b="1" dirty="0">
                <a:solidFill>
                  <a:srgbClr val="F8FAFC"/>
                </a:solidFill>
                <a:latin typeface="Calibri" pitchFamily="34" charset="0"/>
                <a:ea typeface="Calibri" pitchFamily="34" charset="-122"/>
                <a:cs typeface="Calibri" pitchFamily="34" charset="-120"/>
              </a:rPr>
              <a:t>Audit Orchestrator</a:t>
            </a:r>
            <a:endParaRPr lang="en-US" sz="800" dirty="0"/>
          </a:p>
        </p:txBody>
      </p:sp>
      <p:sp>
        <p:nvSpPr>
          <p:cNvPr id="24" name="Text 22"/>
          <p:cNvSpPr/>
          <p:nvPr/>
        </p:nvSpPr>
        <p:spPr>
          <a:xfrm>
            <a:off x="2560320" y="2660904"/>
            <a:ext cx="1920240" cy="502920"/>
          </a:xfrm>
          <a:prstGeom prst="rect">
            <a:avLst/>
          </a:prstGeom>
          <a:noFill/>
          <a:ln/>
        </p:spPr>
        <p:txBody>
          <a:bodyPr wrap="square" rtlCol="0" anchor="ctr"/>
          <a:lstStyle/>
          <a:p>
            <a:pPr indent="0" marL="0">
              <a:buNone/>
            </a:pPr>
            <a:r>
              <a:rPr lang="en-US" sz="700" dirty="0">
                <a:solidFill>
                  <a:srgbClr val="10B981"/>
                </a:solidFill>
                <a:latin typeface="Courier New" pitchFamily="34" charset="0"/>
                <a:ea typeface="Courier New" pitchFamily="34" charset="-122"/>
                <a:cs typeface="Courier New" pitchFamily="34" charset="-120"/>
              </a:rPr>
              <a:t>Implemented</a:t>
            </a:r>
            <a:endParaRPr lang="en-US" sz="700" dirty="0"/>
          </a:p>
        </p:txBody>
      </p:sp>
      <p:sp>
        <p:nvSpPr>
          <p:cNvPr id="25" name="Text 23"/>
          <p:cNvSpPr/>
          <p:nvPr/>
        </p:nvSpPr>
        <p:spPr>
          <a:xfrm>
            <a:off x="4572000" y="2660904"/>
            <a:ext cx="2468880" cy="50292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State machine, hash-chained event log, contract validation, 12 routes</a:t>
            </a:r>
            <a:endParaRPr lang="en-US" sz="700" dirty="0"/>
          </a:p>
        </p:txBody>
      </p:sp>
      <p:sp>
        <p:nvSpPr>
          <p:cNvPr id="26" name="Text 24"/>
          <p:cNvSpPr/>
          <p:nvPr/>
        </p:nvSpPr>
        <p:spPr>
          <a:xfrm>
            <a:off x="7132320" y="2660904"/>
            <a:ext cx="2194560" cy="502920"/>
          </a:xfrm>
          <a:prstGeom prst="rect">
            <a:avLst/>
          </a:prstGeom>
          <a:noFill/>
          <a:ln/>
        </p:spPr>
        <p:txBody>
          <a:bodyPr wrap="square" rtlCol="0" anchor="ctr"/>
          <a:lstStyle/>
          <a:p>
            <a:pPr indent="0" marL="0">
              <a:buNone/>
            </a:pPr>
            <a:r>
              <a:rPr lang="en-US" sz="700" dirty="0">
                <a:solidFill>
                  <a:srgbClr val="F8FAFC"/>
                </a:solidFill>
                <a:latin typeface="Calibri" pitchFamily="34" charset="0"/>
                <a:ea typeface="Calibri" pitchFamily="34" charset="-122"/>
                <a:cs typeface="Calibri" pitchFamily="34" charset="-120"/>
              </a:rPr>
              <a:t>Sequential engine execution with tamper-evident audit trail</a:t>
            </a:r>
            <a:endParaRPr lang="en-US" sz="700" dirty="0"/>
          </a:p>
        </p:txBody>
      </p:sp>
      <p:sp>
        <p:nvSpPr>
          <p:cNvPr id="27" name="Text 25"/>
          <p:cNvSpPr/>
          <p:nvPr/>
        </p:nvSpPr>
        <p:spPr>
          <a:xfrm>
            <a:off x="9418320" y="2660904"/>
            <a:ext cx="2011680" cy="502920"/>
          </a:xfrm>
          <a:prstGeom prst="rect">
            <a:avLst/>
          </a:prstGeom>
          <a:noFill/>
          <a:ln/>
        </p:spPr>
        <p:txBody>
          <a:bodyPr wrap="square" rtlCol="0" anchor="ctr"/>
          <a:lstStyle/>
          <a:p>
            <a:pPr indent="0" marL="0">
              <a:buNone/>
            </a:pPr>
            <a:r>
              <a:rPr lang="en-US" sz="700" dirty="0">
                <a:solidFill>
                  <a:srgbClr val="10B981"/>
                </a:solidFill>
                <a:latin typeface="Calibri" pitchFamily="34" charset="0"/>
                <a:ea typeface="Calibri" pitchFamily="34" charset="-122"/>
                <a:cs typeface="Calibri" pitchFamily="34" charset="-120"/>
              </a:rPr>
              <a:t>Engine contract version pinning for all engines</a:t>
            </a:r>
            <a:endParaRPr lang="en-US" sz="700" dirty="0"/>
          </a:p>
        </p:txBody>
      </p:sp>
      <p:sp>
        <p:nvSpPr>
          <p:cNvPr id="28" name="Shape 26"/>
          <p:cNvSpPr/>
          <p:nvPr/>
        </p:nvSpPr>
        <p:spPr>
          <a:xfrm>
            <a:off x="365760" y="3209544"/>
            <a:ext cx="11430000" cy="530352"/>
          </a:xfrm>
          <a:prstGeom prst="rect">
            <a:avLst>
              <a:gd name="adj" fmla="val 8621"/>
            </a:avLst>
          </a:prstGeom>
          <a:solidFill>
            <a:srgbClr val="1E293B"/>
          </a:solidFill>
          <a:ln w="6350">
            <a:solidFill>
              <a:srgbClr val="334155"/>
            </a:solidFill>
            <a:prstDash val="solid"/>
          </a:ln>
        </p:spPr>
      </p:sp>
      <p:sp>
        <p:nvSpPr>
          <p:cNvPr id="29" name="Text 27"/>
          <p:cNvSpPr/>
          <p:nvPr/>
        </p:nvSpPr>
        <p:spPr>
          <a:xfrm>
            <a:off x="457200" y="3227832"/>
            <a:ext cx="2011680" cy="502920"/>
          </a:xfrm>
          <a:prstGeom prst="rect">
            <a:avLst/>
          </a:prstGeom>
          <a:noFill/>
          <a:ln/>
        </p:spPr>
        <p:txBody>
          <a:bodyPr wrap="square" rtlCol="0" anchor="ctr"/>
          <a:lstStyle/>
          <a:p>
            <a:pPr indent="0" marL="0">
              <a:buNone/>
            </a:pPr>
            <a:r>
              <a:rPr lang="en-US" sz="800" b="1" dirty="0">
                <a:solidFill>
                  <a:srgbClr val="F8FAFC"/>
                </a:solidFill>
                <a:latin typeface="Calibri" pitchFamily="34" charset="0"/>
                <a:ea typeface="Calibri" pitchFamily="34" charset="-122"/>
                <a:cs typeface="Calibri" pitchFamily="34" charset="-120"/>
              </a:rPr>
              <a:t>Decision Pipeline</a:t>
            </a:r>
            <a:endParaRPr lang="en-US" sz="800" dirty="0"/>
          </a:p>
        </p:txBody>
      </p:sp>
      <p:sp>
        <p:nvSpPr>
          <p:cNvPr id="30" name="Text 28"/>
          <p:cNvSpPr/>
          <p:nvPr/>
        </p:nvSpPr>
        <p:spPr>
          <a:xfrm>
            <a:off x="2560320" y="3227832"/>
            <a:ext cx="1920240" cy="502920"/>
          </a:xfrm>
          <a:prstGeom prst="rect">
            <a:avLst/>
          </a:prstGeom>
          <a:noFill/>
          <a:ln/>
        </p:spPr>
        <p:txBody>
          <a:bodyPr wrap="square" rtlCol="0" anchor="ctr"/>
          <a:lstStyle/>
          <a:p>
            <a:pPr indent="0" marL="0">
              <a:buNone/>
            </a:pPr>
            <a:r>
              <a:rPr lang="en-US" sz="700" dirty="0">
                <a:solidFill>
                  <a:srgbClr val="10B981"/>
                </a:solidFill>
                <a:latin typeface="Courier New" pitchFamily="34" charset="0"/>
                <a:ea typeface="Courier New" pitchFamily="34" charset="-122"/>
                <a:cs typeface="Courier New" pitchFamily="34" charset="-120"/>
              </a:rPr>
              <a:t>Implemented (scoring); active development</a:t>
            </a:r>
            <a:endParaRPr lang="en-US" sz="700" dirty="0"/>
          </a:p>
        </p:txBody>
      </p:sp>
      <p:sp>
        <p:nvSpPr>
          <p:cNvPr id="31" name="Text 29"/>
          <p:cNvSpPr/>
          <p:nvPr/>
        </p:nvSpPr>
        <p:spPr>
          <a:xfrm>
            <a:off x="4572000" y="3227832"/>
            <a:ext cx="2468880" cy="50292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6 nodes, DIS v1.0, 14 API routes, NIST RMF mapping</a:t>
            </a:r>
            <a:endParaRPr lang="en-US" sz="700" dirty="0"/>
          </a:p>
        </p:txBody>
      </p:sp>
      <p:sp>
        <p:nvSpPr>
          <p:cNvPr id="32" name="Text 30"/>
          <p:cNvSpPr/>
          <p:nvPr/>
        </p:nvSpPr>
        <p:spPr>
          <a:xfrm>
            <a:off x="7132320" y="3227832"/>
            <a:ext cx="2194560" cy="502920"/>
          </a:xfrm>
          <a:prstGeom prst="rect">
            <a:avLst/>
          </a:prstGeom>
          <a:noFill/>
          <a:ln/>
        </p:spPr>
        <p:txBody>
          <a:bodyPr wrap="square" rtlCol="0" anchor="ctr"/>
          <a:lstStyle/>
          <a:p>
            <a:pPr indent="0" marL="0">
              <a:buNone/>
            </a:pPr>
            <a:r>
              <a:rPr lang="en-US" sz="700" dirty="0">
                <a:solidFill>
                  <a:srgbClr val="F8FAFC"/>
                </a:solidFill>
                <a:latin typeface="Calibri" pitchFamily="34" charset="0"/>
                <a:ea typeface="Calibri" pitchFamily="34" charset="-122"/>
                <a:cs typeface="Calibri" pitchFamily="34" charset="-120"/>
              </a:rPr>
              <a:t>Composite scoring with audit eligibility and human review</a:t>
            </a:r>
            <a:endParaRPr lang="en-US" sz="700" dirty="0"/>
          </a:p>
        </p:txBody>
      </p:sp>
      <p:sp>
        <p:nvSpPr>
          <p:cNvPr id="33" name="Text 31"/>
          <p:cNvSpPr/>
          <p:nvPr/>
        </p:nvSpPr>
        <p:spPr>
          <a:xfrm>
            <a:off x="9418320" y="3227832"/>
            <a:ext cx="2011680" cy="502920"/>
          </a:xfrm>
          <a:prstGeom prst="rect">
            <a:avLst/>
          </a:prstGeom>
          <a:noFill/>
          <a:ln/>
        </p:spPr>
        <p:txBody>
          <a:bodyPr wrap="square" rtlCol="0" anchor="ctr"/>
          <a:lstStyle/>
          <a:p>
            <a:pPr indent="0" marL="0">
              <a:buNone/>
            </a:pPr>
            <a:r>
              <a:rPr lang="en-US" sz="700" dirty="0">
                <a:solidFill>
                  <a:srgbClr val="10B981"/>
                </a:solidFill>
                <a:latin typeface="Calibri" pitchFamily="34" charset="0"/>
                <a:ea typeface="Calibri" pitchFamily="34" charset="-122"/>
                <a:cs typeface="Calibri" pitchFamily="34" charset="-120"/>
              </a:rPr>
              <a:t>Findings-level blocker gate activation for eligibility</a:t>
            </a:r>
            <a:endParaRPr lang="en-US" sz="700" dirty="0"/>
          </a:p>
        </p:txBody>
      </p:sp>
      <p:sp>
        <p:nvSpPr>
          <p:cNvPr id="34" name="Shape 32"/>
          <p:cNvSpPr/>
          <p:nvPr/>
        </p:nvSpPr>
        <p:spPr>
          <a:xfrm>
            <a:off x="365760" y="3776472"/>
            <a:ext cx="11430000" cy="530352"/>
          </a:xfrm>
          <a:prstGeom prst="rect">
            <a:avLst>
              <a:gd name="adj" fmla="val 8621"/>
            </a:avLst>
          </a:prstGeom>
          <a:solidFill>
            <a:srgbClr val="0F172A"/>
          </a:solidFill>
          <a:ln w="6350">
            <a:solidFill>
              <a:srgbClr val="334155"/>
            </a:solidFill>
            <a:prstDash val="solid"/>
          </a:ln>
        </p:spPr>
      </p:sp>
      <p:sp>
        <p:nvSpPr>
          <p:cNvPr id="35" name="Text 33"/>
          <p:cNvSpPr/>
          <p:nvPr/>
        </p:nvSpPr>
        <p:spPr>
          <a:xfrm>
            <a:off x="457200" y="3794760"/>
            <a:ext cx="2011680" cy="502920"/>
          </a:xfrm>
          <a:prstGeom prst="rect">
            <a:avLst/>
          </a:prstGeom>
          <a:noFill/>
          <a:ln/>
        </p:spPr>
        <p:txBody>
          <a:bodyPr wrap="square" rtlCol="0" anchor="ctr"/>
          <a:lstStyle/>
          <a:p>
            <a:pPr indent="0" marL="0">
              <a:buNone/>
            </a:pPr>
            <a:r>
              <a:rPr lang="en-US" sz="800" b="1" dirty="0">
                <a:solidFill>
                  <a:srgbClr val="F8FAFC"/>
                </a:solidFill>
                <a:latin typeface="Calibri" pitchFamily="34" charset="0"/>
                <a:ea typeface="Calibri" pitchFamily="34" charset="-122"/>
                <a:cs typeface="Calibri" pitchFamily="34" charset="-120"/>
              </a:rPr>
              <a:t>Evidence Integrity</a:t>
            </a:r>
            <a:endParaRPr lang="en-US" sz="800" dirty="0"/>
          </a:p>
        </p:txBody>
      </p:sp>
      <p:sp>
        <p:nvSpPr>
          <p:cNvPr id="36" name="Text 34"/>
          <p:cNvSpPr/>
          <p:nvPr/>
        </p:nvSpPr>
        <p:spPr>
          <a:xfrm>
            <a:off x="2560320" y="3794760"/>
            <a:ext cx="1920240" cy="502920"/>
          </a:xfrm>
          <a:prstGeom prst="rect">
            <a:avLst/>
          </a:prstGeom>
          <a:noFill/>
          <a:ln/>
        </p:spPr>
        <p:txBody>
          <a:bodyPr wrap="square" rtlCol="0" anchor="ctr"/>
          <a:lstStyle/>
          <a:p>
            <a:pPr indent="0" marL="0">
              <a:buNone/>
            </a:pPr>
            <a:r>
              <a:rPr lang="en-US" sz="700" dirty="0">
                <a:solidFill>
                  <a:srgbClr val="10B981"/>
                </a:solidFill>
                <a:latin typeface="Courier New" pitchFamily="34" charset="0"/>
                <a:ea typeface="Courier New" pitchFamily="34" charset="-122"/>
                <a:cs typeface="Courier New" pitchFamily="34" charset="-120"/>
              </a:rPr>
              <a:t>Implemented</a:t>
            </a:r>
            <a:endParaRPr lang="en-US" sz="700" dirty="0"/>
          </a:p>
        </p:txBody>
      </p:sp>
      <p:sp>
        <p:nvSpPr>
          <p:cNvPr id="37" name="Text 35"/>
          <p:cNvSpPr/>
          <p:nvPr/>
        </p:nvSpPr>
        <p:spPr>
          <a:xfrm>
            <a:off x="4572000" y="3794760"/>
            <a:ext cx="2468880" cy="50292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HMAC-SHA256, key rotation, replay protection, /api/verify</a:t>
            </a:r>
            <a:endParaRPr lang="en-US" sz="700" dirty="0"/>
          </a:p>
        </p:txBody>
      </p:sp>
      <p:sp>
        <p:nvSpPr>
          <p:cNvPr id="38" name="Text 36"/>
          <p:cNvSpPr/>
          <p:nvPr/>
        </p:nvSpPr>
        <p:spPr>
          <a:xfrm>
            <a:off x="7132320" y="3794760"/>
            <a:ext cx="2194560" cy="502920"/>
          </a:xfrm>
          <a:prstGeom prst="rect">
            <a:avLst/>
          </a:prstGeom>
          <a:noFill/>
          <a:ln/>
        </p:spPr>
        <p:txBody>
          <a:bodyPr wrap="square" rtlCol="0" anchor="ctr"/>
          <a:lstStyle/>
          <a:p>
            <a:pPr indent="0" marL="0">
              <a:buNone/>
            </a:pPr>
            <a:r>
              <a:rPr lang="en-US" sz="700" dirty="0">
                <a:solidFill>
                  <a:srgbClr val="F8FAFC"/>
                </a:solidFill>
                <a:latin typeface="Calibri" pitchFamily="34" charset="0"/>
                <a:ea typeface="Calibri" pitchFamily="34" charset="-122"/>
                <a:cs typeface="Calibri" pitchFamily="34" charset="-120"/>
              </a:rPr>
              <a:t>Integrity verification for evidence transit and storage</a:t>
            </a:r>
            <a:endParaRPr lang="en-US" sz="700" dirty="0"/>
          </a:p>
        </p:txBody>
      </p:sp>
      <p:sp>
        <p:nvSpPr>
          <p:cNvPr id="39" name="Text 37"/>
          <p:cNvSpPr/>
          <p:nvPr/>
        </p:nvSpPr>
        <p:spPr>
          <a:xfrm>
            <a:off x="9418320" y="3794760"/>
            <a:ext cx="2011680" cy="502920"/>
          </a:xfrm>
          <a:prstGeom prst="rect">
            <a:avLst/>
          </a:prstGeom>
          <a:noFill/>
          <a:ln/>
        </p:spPr>
        <p:txBody>
          <a:bodyPr wrap="square" rtlCol="0" anchor="ctr"/>
          <a:lstStyle/>
          <a:p>
            <a:pPr indent="0" marL="0">
              <a:buNone/>
            </a:pPr>
            <a:r>
              <a:rPr lang="en-US" sz="700" dirty="0">
                <a:solidFill>
                  <a:srgbClr val="10B981"/>
                </a:solidFill>
                <a:latin typeface="Calibri" pitchFamily="34" charset="0"/>
                <a:ea typeface="Calibri" pitchFamily="34" charset="-122"/>
                <a:cs typeface="Calibri" pitchFamily="34" charset="-120"/>
              </a:rPr>
              <a:t>Ed25519 asymmetric signatures for third-party non-repudiation</a:t>
            </a:r>
            <a:endParaRPr lang="en-US" sz="700" dirty="0"/>
          </a:p>
        </p:txBody>
      </p:sp>
      <p:sp>
        <p:nvSpPr>
          <p:cNvPr id="40" name="Shape 38"/>
          <p:cNvSpPr/>
          <p:nvPr/>
        </p:nvSpPr>
        <p:spPr>
          <a:xfrm>
            <a:off x="365760" y="4343400"/>
            <a:ext cx="11430000" cy="530352"/>
          </a:xfrm>
          <a:prstGeom prst="rect">
            <a:avLst>
              <a:gd name="adj" fmla="val 8621"/>
            </a:avLst>
          </a:prstGeom>
          <a:solidFill>
            <a:srgbClr val="1E293B"/>
          </a:solidFill>
          <a:ln w="6350">
            <a:solidFill>
              <a:srgbClr val="334155"/>
            </a:solidFill>
            <a:prstDash val="solid"/>
          </a:ln>
        </p:spPr>
      </p:sp>
      <p:sp>
        <p:nvSpPr>
          <p:cNvPr id="41" name="Text 39"/>
          <p:cNvSpPr/>
          <p:nvPr/>
        </p:nvSpPr>
        <p:spPr>
          <a:xfrm>
            <a:off x="457200" y="4361688"/>
            <a:ext cx="2011680" cy="502920"/>
          </a:xfrm>
          <a:prstGeom prst="rect">
            <a:avLst/>
          </a:prstGeom>
          <a:noFill/>
          <a:ln/>
        </p:spPr>
        <p:txBody>
          <a:bodyPr wrap="square" rtlCol="0" anchor="ctr"/>
          <a:lstStyle/>
          <a:p>
            <a:pPr indent="0" marL="0">
              <a:buNone/>
            </a:pPr>
            <a:r>
              <a:rPr lang="en-US" sz="800" b="1" dirty="0">
                <a:solidFill>
                  <a:srgbClr val="F8FAFC"/>
                </a:solidFill>
                <a:latin typeface="Calibri" pitchFamily="34" charset="0"/>
                <a:ea typeface="Calibri" pitchFamily="34" charset="-122"/>
                <a:cs typeface="Calibri" pitchFamily="34" charset="-120"/>
              </a:rPr>
              <a:t>Trust Artifacts</a:t>
            </a:r>
            <a:endParaRPr lang="en-US" sz="800" dirty="0"/>
          </a:p>
        </p:txBody>
      </p:sp>
      <p:sp>
        <p:nvSpPr>
          <p:cNvPr id="42" name="Text 40"/>
          <p:cNvSpPr/>
          <p:nvPr/>
        </p:nvSpPr>
        <p:spPr>
          <a:xfrm>
            <a:off x="2560320" y="4361688"/>
            <a:ext cx="1920240" cy="502920"/>
          </a:xfrm>
          <a:prstGeom prst="rect">
            <a:avLst/>
          </a:prstGeom>
          <a:noFill/>
          <a:ln/>
        </p:spPr>
        <p:txBody>
          <a:bodyPr wrap="square" rtlCol="0" anchor="ctr"/>
          <a:lstStyle/>
          <a:p>
            <a:pPr indent="0" marL="0">
              <a:buNone/>
            </a:pPr>
            <a:r>
              <a:rPr lang="en-US" sz="700" dirty="0">
                <a:solidFill>
                  <a:srgbClr val="059669"/>
                </a:solidFill>
                <a:latin typeface="Courier New" pitchFamily="34" charset="0"/>
                <a:ea typeface="Courier New" pitchFamily="34" charset="-122"/>
                <a:cs typeface="Courier New" pitchFamily="34" charset="-120"/>
              </a:rPr>
              <a:t>Implemented foundation</a:t>
            </a:r>
            <a:endParaRPr lang="en-US" sz="700" dirty="0"/>
          </a:p>
        </p:txBody>
      </p:sp>
      <p:sp>
        <p:nvSpPr>
          <p:cNvPr id="43" name="Text 41"/>
          <p:cNvSpPr/>
          <p:nvPr/>
        </p:nvSpPr>
        <p:spPr>
          <a:xfrm>
            <a:off x="4572000" y="4361688"/>
            <a:ext cx="2468880" cy="50292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4 artifact types, 6 frameworks, revocation, verification API</a:t>
            </a:r>
            <a:endParaRPr lang="en-US" sz="700" dirty="0"/>
          </a:p>
        </p:txBody>
      </p:sp>
      <p:sp>
        <p:nvSpPr>
          <p:cNvPr id="44" name="Text 42"/>
          <p:cNvSpPr/>
          <p:nvPr/>
        </p:nvSpPr>
        <p:spPr>
          <a:xfrm>
            <a:off x="7132320" y="4361688"/>
            <a:ext cx="2194560" cy="502920"/>
          </a:xfrm>
          <a:prstGeom prst="rect">
            <a:avLst/>
          </a:prstGeom>
          <a:noFill/>
          <a:ln/>
        </p:spPr>
        <p:txBody>
          <a:bodyPr wrap="square" rtlCol="0" anchor="ctr"/>
          <a:lstStyle/>
          <a:p>
            <a:pPr indent="0" marL="0">
              <a:buNone/>
            </a:pPr>
            <a:r>
              <a:rPr lang="en-US" sz="700" dirty="0">
                <a:solidFill>
                  <a:srgbClr val="F8FAFC"/>
                </a:solidFill>
                <a:latin typeface="Calibri" pitchFamily="34" charset="0"/>
                <a:ea typeface="Calibri" pitchFamily="34" charset="-122"/>
                <a:cs typeface="Calibri" pitchFamily="34" charset="-120"/>
              </a:rPr>
              <a:t>Verifiable status badges with scope and risk posture</a:t>
            </a:r>
            <a:endParaRPr lang="en-US" sz="700" dirty="0"/>
          </a:p>
        </p:txBody>
      </p:sp>
      <p:sp>
        <p:nvSpPr>
          <p:cNvPr id="45" name="Text 43"/>
          <p:cNvSpPr/>
          <p:nvPr/>
        </p:nvSpPr>
        <p:spPr>
          <a:xfrm>
            <a:off x="9418320" y="4361688"/>
            <a:ext cx="2011680" cy="502920"/>
          </a:xfrm>
          <a:prstGeom prst="rect">
            <a:avLst/>
          </a:prstGeom>
          <a:noFill/>
          <a:ln/>
        </p:spPr>
        <p:txBody>
          <a:bodyPr wrap="square" rtlCol="0" anchor="ctr"/>
          <a:lstStyle/>
          <a:p>
            <a:pPr indent="0" marL="0">
              <a:buNone/>
            </a:pPr>
            <a:r>
              <a:rPr lang="en-US" sz="700" dirty="0">
                <a:solidFill>
                  <a:srgbClr val="10B981"/>
                </a:solidFill>
                <a:latin typeface="Calibri" pitchFamily="34" charset="0"/>
                <a:ea typeface="Calibri" pitchFamily="34" charset="-122"/>
                <a:cs typeface="Calibri" pitchFamily="34" charset="-120"/>
              </a:rPr>
              <a:t>External badge display network and partner integrations</a:t>
            </a:r>
            <a:endParaRPr lang="en-US" sz="700" dirty="0"/>
          </a:p>
        </p:txBody>
      </p:sp>
      <p:sp>
        <p:nvSpPr>
          <p:cNvPr id="46" name="Shape 44"/>
          <p:cNvSpPr/>
          <p:nvPr/>
        </p:nvSpPr>
        <p:spPr>
          <a:xfrm>
            <a:off x="365760" y="4910328"/>
            <a:ext cx="11430000" cy="530352"/>
          </a:xfrm>
          <a:prstGeom prst="rect">
            <a:avLst>
              <a:gd name="adj" fmla="val 8621"/>
            </a:avLst>
          </a:prstGeom>
          <a:solidFill>
            <a:srgbClr val="0F172A"/>
          </a:solidFill>
          <a:ln w="6350">
            <a:solidFill>
              <a:srgbClr val="334155"/>
            </a:solidFill>
            <a:prstDash val="solid"/>
          </a:ln>
        </p:spPr>
      </p:sp>
      <p:sp>
        <p:nvSpPr>
          <p:cNvPr id="47" name="Text 45"/>
          <p:cNvSpPr/>
          <p:nvPr/>
        </p:nvSpPr>
        <p:spPr>
          <a:xfrm>
            <a:off x="457200" y="4928616"/>
            <a:ext cx="2011680" cy="502920"/>
          </a:xfrm>
          <a:prstGeom prst="rect">
            <a:avLst/>
          </a:prstGeom>
          <a:noFill/>
          <a:ln/>
        </p:spPr>
        <p:txBody>
          <a:bodyPr wrap="square" rtlCol="0" anchor="ctr"/>
          <a:lstStyle/>
          <a:p>
            <a:pPr indent="0" marL="0">
              <a:buNone/>
            </a:pPr>
            <a:r>
              <a:rPr lang="en-US" sz="800" b="1" dirty="0">
                <a:solidFill>
                  <a:srgbClr val="F8FAFC"/>
                </a:solidFill>
                <a:latin typeface="Calibri" pitchFamily="34" charset="0"/>
                <a:ea typeface="Calibri" pitchFamily="34" charset="-122"/>
                <a:cs typeface="Calibri" pitchFamily="34" charset="-120"/>
              </a:rPr>
              <a:t>Compliance Twin</a:t>
            </a:r>
            <a:endParaRPr lang="en-US" sz="800" dirty="0"/>
          </a:p>
        </p:txBody>
      </p:sp>
      <p:sp>
        <p:nvSpPr>
          <p:cNvPr id="48" name="Text 46"/>
          <p:cNvSpPr/>
          <p:nvPr/>
        </p:nvSpPr>
        <p:spPr>
          <a:xfrm>
            <a:off x="2560320" y="4928616"/>
            <a:ext cx="1920240" cy="502920"/>
          </a:xfrm>
          <a:prstGeom prst="rect">
            <a:avLst/>
          </a:prstGeom>
          <a:noFill/>
          <a:ln/>
        </p:spPr>
        <p:txBody>
          <a:bodyPr wrap="square" rtlCol="0" anchor="ctr"/>
          <a:lstStyle/>
          <a:p>
            <a:pPr indent="0" marL="0">
              <a:buNone/>
            </a:pPr>
            <a:r>
              <a:rPr lang="en-US" sz="700" dirty="0">
                <a:solidFill>
                  <a:srgbClr val="10B981"/>
                </a:solidFill>
                <a:latin typeface="Courier New" pitchFamily="34" charset="0"/>
                <a:ea typeface="Courier New" pitchFamily="34" charset="-122"/>
                <a:cs typeface="Courier New" pitchFamily="34" charset="-120"/>
              </a:rPr>
              <a:t>Substantive subsystem</a:t>
            </a:r>
            <a:endParaRPr lang="en-US" sz="700" dirty="0"/>
          </a:p>
        </p:txBody>
      </p:sp>
      <p:sp>
        <p:nvSpPr>
          <p:cNvPr id="49" name="Text 47"/>
          <p:cNvSpPr/>
          <p:nvPr/>
        </p:nvSpPr>
        <p:spPr>
          <a:xfrm>
            <a:off x="4572000" y="4928616"/>
            <a:ext cx="2468880" cy="50292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17 files, 17 API routes, 8 DB models, 6 jurisdictions</a:t>
            </a:r>
            <a:endParaRPr lang="en-US" sz="700" dirty="0"/>
          </a:p>
        </p:txBody>
      </p:sp>
      <p:sp>
        <p:nvSpPr>
          <p:cNvPr id="50" name="Text 48"/>
          <p:cNvSpPr/>
          <p:nvPr/>
        </p:nvSpPr>
        <p:spPr>
          <a:xfrm>
            <a:off x="7132320" y="4928616"/>
            <a:ext cx="2194560" cy="502920"/>
          </a:xfrm>
          <a:prstGeom prst="rect">
            <a:avLst/>
          </a:prstGeom>
          <a:noFill/>
          <a:ln/>
        </p:spPr>
        <p:txBody>
          <a:bodyPr wrap="square" rtlCol="0" anchor="ctr"/>
          <a:lstStyle/>
          <a:p>
            <a:pPr indent="0" marL="0">
              <a:buNone/>
            </a:pPr>
            <a:r>
              <a:rPr lang="en-US" sz="700" dirty="0">
                <a:solidFill>
                  <a:srgbClr val="F8FAFC"/>
                </a:solidFill>
                <a:latin typeface="Calibri" pitchFamily="34" charset="0"/>
                <a:ea typeface="Calibri" pitchFamily="34" charset="-122"/>
                <a:cs typeface="Calibri" pitchFamily="34" charset="-120"/>
              </a:rPr>
              <a:t>Live compliance monitoring with drift detection</a:t>
            </a:r>
            <a:endParaRPr lang="en-US" sz="700" dirty="0"/>
          </a:p>
        </p:txBody>
      </p:sp>
      <p:sp>
        <p:nvSpPr>
          <p:cNvPr id="51" name="Text 49"/>
          <p:cNvSpPr/>
          <p:nvPr/>
        </p:nvSpPr>
        <p:spPr>
          <a:xfrm>
            <a:off x="9418320" y="4928616"/>
            <a:ext cx="2011680" cy="502920"/>
          </a:xfrm>
          <a:prstGeom prst="rect">
            <a:avLst/>
          </a:prstGeom>
          <a:noFill/>
          <a:ln/>
        </p:spPr>
        <p:txBody>
          <a:bodyPr wrap="square" rtlCol="0" anchor="ctr"/>
          <a:lstStyle/>
          <a:p>
            <a:pPr indent="0" marL="0">
              <a:buNone/>
            </a:pPr>
            <a:r>
              <a:rPr lang="en-US" sz="700" dirty="0">
                <a:solidFill>
                  <a:srgbClr val="10B981"/>
                </a:solidFill>
                <a:latin typeface="Calibri" pitchFamily="34" charset="0"/>
                <a:ea typeface="Calibri" pitchFamily="34" charset="-122"/>
                <a:cs typeface="Calibri" pitchFamily="34" charset="-120"/>
              </a:rPr>
              <a:t>Production deployment and additional jurisdiction rule packs</a:t>
            </a:r>
            <a:endParaRPr lang="en-US" sz="700" dirty="0"/>
          </a:p>
        </p:txBody>
      </p:sp>
      <p:sp>
        <p:nvSpPr>
          <p:cNvPr id="52" name="Shape 50"/>
          <p:cNvSpPr/>
          <p:nvPr/>
        </p:nvSpPr>
        <p:spPr>
          <a:xfrm>
            <a:off x="365760" y="5477256"/>
            <a:ext cx="11430000" cy="530352"/>
          </a:xfrm>
          <a:prstGeom prst="rect">
            <a:avLst>
              <a:gd name="adj" fmla="val 8621"/>
            </a:avLst>
          </a:prstGeom>
          <a:solidFill>
            <a:srgbClr val="1E293B"/>
          </a:solidFill>
          <a:ln w="6350">
            <a:solidFill>
              <a:srgbClr val="334155"/>
            </a:solidFill>
            <a:prstDash val="solid"/>
          </a:ln>
        </p:spPr>
      </p:sp>
      <p:sp>
        <p:nvSpPr>
          <p:cNvPr id="53" name="Text 51"/>
          <p:cNvSpPr/>
          <p:nvPr/>
        </p:nvSpPr>
        <p:spPr>
          <a:xfrm>
            <a:off x="457200" y="5495544"/>
            <a:ext cx="2011680" cy="502920"/>
          </a:xfrm>
          <a:prstGeom prst="rect">
            <a:avLst/>
          </a:prstGeom>
          <a:noFill/>
          <a:ln/>
        </p:spPr>
        <p:txBody>
          <a:bodyPr wrap="square" rtlCol="0" anchor="ctr"/>
          <a:lstStyle/>
          <a:p>
            <a:pPr indent="0" marL="0">
              <a:buNone/>
            </a:pPr>
            <a:r>
              <a:rPr lang="en-US" sz="800" b="1" dirty="0">
                <a:solidFill>
                  <a:srgbClr val="F8FAFC"/>
                </a:solidFill>
                <a:latin typeface="Calibri" pitchFamily="34" charset="0"/>
                <a:ea typeface="Calibri" pitchFamily="34" charset="-122"/>
                <a:cs typeface="Calibri" pitchFamily="34" charset="-120"/>
              </a:rPr>
              <a:t>Kill Switch</a:t>
            </a:r>
            <a:endParaRPr lang="en-US" sz="800" dirty="0"/>
          </a:p>
        </p:txBody>
      </p:sp>
      <p:sp>
        <p:nvSpPr>
          <p:cNvPr id="54" name="Text 52"/>
          <p:cNvSpPr/>
          <p:nvPr/>
        </p:nvSpPr>
        <p:spPr>
          <a:xfrm>
            <a:off x="2560320" y="5495544"/>
            <a:ext cx="1920240" cy="502920"/>
          </a:xfrm>
          <a:prstGeom prst="rect">
            <a:avLst/>
          </a:prstGeom>
          <a:noFill/>
          <a:ln/>
        </p:spPr>
        <p:txBody>
          <a:bodyPr wrap="square" rtlCol="0" anchor="ctr"/>
          <a:lstStyle/>
          <a:p>
            <a:pPr indent="0" marL="0">
              <a:buNone/>
            </a:pPr>
            <a:r>
              <a:rPr lang="en-US" sz="700" dirty="0">
                <a:solidFill>
                  <a:srgbClr val="10B981"/>
                </a:solidFill>
                <a:latin typeface="Courier New" pitchFamily="34" charset="0"/>
                <a:ea typeface="Courier New" pitchFamily="34" charset="-122"/>
                <a:cs typeface="Courier New" pitchFamily="34" charset="-120"/>
              </a:rPr>
              <a:t>Active development (L1–L3 available)</a:t>
            </a:r>
            <a:endParaRPr lang="en-US" sz="700" dirty="0"/>
          </a:p>
        </p:txBody>
      </p:sp>
      <p:sp>
        <p:nvSpPr>
          <p:cNvPr id="55" name="Text 53"/>
          <p:cNvSpPr/>
          <p:nvPr/>
        </p:nvSpPr>
        <p:spPr>
          <a:xfrm>
            <a:off x="4572000" y="5495544"/>
            <a:ext cx="2468880" cy="50292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Published SDK v0.3.0, execution guard, 19 API routes</a:t>
            </a:r>
            <a:endParaRPr lang="en-US" sz="700" dirty="0"/>
          </a:p>
        </p:txBody>
      </p:sp>
      <p:sp>
        <p:nvSpPr>
          <p:cNvPr id="56" name="Text 54"/>
          <p:cNvSpPr/>
          <p:nvPr/>
        </p:nvSpPr>
        <p:spPr>
          <a:xfrm>
            <a:off x="7132320" y="5495544"/>
            <a:ext cx="2194560" cy="502920"/>
          </a:xfrm>
          <a:prstGeom prst="rect">
            <a:avLst/>
          </a:prstGeom>
          <a:noFill/>
          <a:ln/>
        </p:spPr>
        <p:txBody>
          <a:bodyPr wrap="square" rtlCol="0" anchor="ctr"/>
          <a:lstStyle/>
          <a:p>
            <a:pPr indent="0" marL="0">
              <a:buNone/>
            </a:pPr>
            <a:r>
              <a:rPr lang="en-US" sz="700" dirty="0">
                <a:solidFill>
                  <a:srgbClr val="F8FAFC"/>
                </a:solidFill>
                <a:latin typeface="Calibri" pitchFamily="34" charset="0"/>
                <a:ea typeface="Calibri" pitchFamily="34" charset="-122"/>
                <a:cs typeface="Calibri" pitchFamily="34" charset="-120"/>
              </a:rPr>
              <a:t>Emergency shutdown capability for AI systems</a:t>
            </a:r>
            <a:endParaRPr lang="en-US" sz="700" dirty="0"/>
          </a:p>
        </p:txBody>
      </p:sp>
      <p:sp>
        <p:nvSpPr>
          <p:cNvPr id="57" name="Text 55"/>
          <p:cNvSpPr/>
          <p:nvPr/>
        </p:nvSpPr>
        <p:spPr>
          <a:xfrm>
            <a:off x="9418320" y="5495544"/>
            <a:ext cx="2011680" cy="502920"/>
          </a:xfrm>
          <a:prstGeom prst="rect">
            <a:avLst/>
          </a:prstGeom>
          <a:noFill/>
          <a:ln/>
        </p:spPr>
        <p:txBody>
          <a:bodyPr wrap="square" rtlCol="0" anchor="ctr"/>
          <a:lstStyle/>
          <a:p>
            <a:pPr indent="0" marL="0">
              <a:buNone/>
            </a:pPr>
            <a:r>
              <a:rPr lang="en-US" sz="700" dirty="0">
                <a:solidFill>
                  <a:srgbClr val="10B981"/>
                </a:solidFill>
                <a:latin typeface="Calibri" pitchFamily="34" charset="0"/>
                <a:ea typeface="Calibri" pitchFamily="34" charset="-122"/>
                <a:cs typeface="Calibri" pitchFamily="34" charset="-120"/>
              </a:rPr>
              <a:t>Layers 4–5 (escalation, full kill) on roadmap</a:t>
            </a:r>
            <a:endParaRPr lang="en-US" sz="700" dirty="0"/>
          </a:p>
        </p:txBody>
      </p:sp>
      <p:sp>
        <p:nvSpPr>
          <p:cNvPr id="58" name="Text 56"/>
          <p:cNvSpPr/>
          <p:nvPr/>
        </p:nvSpPr>
        <p:spPr>
          <a:xfrm>
            <a:off x="274320" y="6537960"/>
            <a:ext cx="7315200" cy="22860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HAIEC  ·  Confidential Discussion Brief  ·  12/14</a:t>
            </a:r>
            <a:endParaRPr lang="en-US" sz="800" dirty="0"/>
          </a:p>
        </p:txBody>
      </p:sp>
      <p:sp>
        <p:nvSpPr>
          <p:cNvPr id="59" name="Text 57"/>
          <p:cNvSpPr/>
          <p:nvPr/>
        </p:nvSpPr>
        <p:spPr>
          <a:xfrm>
            <a:off x="9448495" y="6537960"/>
            <a:ext cx="2468880" cy="228600"/>
          </a:xfrm>
          <a:prstGeom prst="rect">
            <a:avLst/>
          </a:prstGeom>
          <a:noFill/>
          <a:ln/>
        </p:spPr>
        <p:txBody>
          <a:bodyPr wrap="square" rtlCol="0" anchor="ctr"/>
          <a:lstStyle/>
          <a:p>
            <a:pPr algn="r" indent="0" marL="0">
              <a:buNone/>
            </a:pPr>
            <a:r>
              <a:rPr lang="en-US" sz="800" dirty="0">
                <a:solidFill>
                  <a:srgbClr val="64748B"/>
                </a:solidFill>
                <a:latin typeface="Courier New" pitchFamily="34" charset="0"/>
                <a:ea typeface="Courier New" pitchFamily="34" charset="-122"/>
                <a:cs typeface="Courier New" pitchFamily="34" charset="-120"/>
              </a:rPr>
              <a:t>v1.0  ·  2026-07-31</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365760"/>
            <a:ext cx="11094415" cy="502920"/>
          </a:xfrm>
          <a:prstGeom prst="rect">
            <a:avLst/>
          </a:prstGeom>
          <a:noFill/>
          <a:ln/>
        </p:spPr>
        <p:txBody>
          <a:bodyPr wrap="square" rtlCol="0" anchor="ctr"/>
          <a:lstStyle/>
          <a:p>
            <a:pPr algn="l" indent="0" marL="0">
              <a:buNone/>
            </a:pPr>
            <a:r>
              <a:rPr lang="en-US" sz="2600" b="1" dirty="0">
                <a:solidFill>
                  <a:srgbClr val="F8FAFC"/>
                </a:solidFill>
                <a:latin typeface="Calibri" pitchFamily="34" charset="0"/>
                <a:ea typeface="Calibri" pitchFamily="34" charset="-122"/>
                <a:cs typeface="Calibri" pitchFamily="34" charset="-120"/>
              </a:rPr>
              <a:t>Appendix B: Capability Taxonomy</a:t>
            </a:r>
            <a:endParaRPr lang="en-US" sz="2600" dirty="0"/>
          </a:p>
        </p:txBody>
      </p:sp>
      <p:sp>
        <p:nvSpPr>
          <p:cNvPr id="3" name="Shape 1"/>
          <p:cNvSpPr/>
          <p:nvPr/>
        </p:nvSpPr>
        <p:spPr>
          <a:xfrm>
            <a:off x="548640" y="914400"/>
            <a:ext cx="1371600" cy="36576"/>
          </a:xfrm>
          <a:prstGeom prst="rect">
            <a:avLst/>
          </a:prstGeom>
          <a:solidFill>
            <a:srgbClr val="10B981"/>
          </a:solidFill>
          <a:ln/>
        </p:spPr>
      </p:sp>
      <p:sp>
        <p:nvSpPr>
          <p:cNvPr id="4" name="Text 2"/>
          <p:cNvSpPr/>
          <p:nvPr/>
        </p:nvSpPr>
        <p:spPr>
          <a:xfrm>
            <a:off x="548640" y="1005840"/>
            <a:ext cx="7315200" cy="182880"/>
          </a:xfrm>
          <a:prstGeom prst="rect">
            <a:avLst/>
          </a:prstGeom>
          <a:noFill/>
          <a:ln/>
        </p:spPr>
        <p:txBody>
          <a:bodyPr wrap="square" rtlCol="0" anchor="ctr"/>
          <a:lstStyle/>
          <a:p>
            <a:pPr algn="l" indent="0" marL="0">
              <a:buNone/>
            </a:pPr>
            <a:r>
              <a:rPr lang="en-US" sz="800" dirty="0">
                <a:solidFill>
                  <a:srgbClr val="94A3B8"/>
                </a:solidFill>
                <a:latin typeface="Courier New" pitchFamily="34" charset="0"/>
                <a:ea typeface="Courier New" pitchFamily="34" charset="-122"/>
                <a:cs typeface="Courier New" pitchFamily="34" charset="-120"/>
              </a:rPr>
              <a:t>Generated: 2026-07-31  ·  Source commit: 0e4b601</a:t>
            </a:r>
            <a:endParaRPr lang="en-US" sz="800" dirty="0"/>
          </a:p>
        </p:txBody>
      </p:sp>
      <p:sp>
        <p:nvSpPr>
          <p:cNvPr id="5" name="Shape 3"/>
          <p:cNvSpPr/>
          <p:nvPr/>
        </p:nvSpPr>
        <p:spPr>
          <a:xfrm>
            <a:off x="548640" y="1280160"/>
            <a:ext cx="3474720" cy="2286000"/>
          </a:xfrm>
          <a:prstGeom prst="rect">
            <a:avLst>
              <a:gd name="adj" fmla="val 2000"/>
            </a:avLst>
          </a:prstGeom>
          <a:solidFill>
            <a:srgbClr val="1E293B"/>
          </a:solidFill>
          <a:ln w="6350">
            <a:solidFill>
              <a:srgbClr val="334155"/>
            </a:solidFill>
            <a:prstDash val="solid"/>
          </a:ln>
        </p:spPr>
      </p:sp>
      <p:sp>
        <p:nvSpPr>
          <p:cNvPr id="6" name="Text 4"/>
          <p:cNvSpPr/>
          <p:nvPr/>
        </p:nvSpPr>
        <p:spPr>
          <a:xfrm>
            <a:off x="731520" y="1371600"/>
            <a:ext cx="3108960" cy="274320"/>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Static Detection</a:t>
            </a:r>
            <a:endParaRPr lang="en-US" sz="1100" dirty="0"/>
          </a:p>
        </p:txBody>
      </p:sp>
      <p:sp>
        <p:nvSpPr>
          <p:cNvPr id="7" name="Text 5"/>
          <p:cNvSpPr/>
          <p:nvPr/>
        </p:nvSpPr>
        <p:spPr>
          <a:xfrm>
            <a:off x="731520" y="1691640"/>
            <a:ext cx="3108960" cy="164592"/>
          </a:xfrm>
          <a:prstGeom prst="rect">
            <a:avLst/>
          </a:prstGeom>
          <a:noFill/>
          <a:ln/>
        </p:spPr>
        <p:txBody>
          <a:bodyPr wrap="square" rtlCol="0" anchor="ctr"/>
          <a:lstStyle/>
          <a:p>
            <a:pPr indent="0" marL="0">
              <a:buNone/>
            </a:pPr>
            <a:r>
              <a:rPr lang="en-US" sz="800" dirty="0">
                <a:solidFill>
                  <a:srgbClr val="10B981"/>
                </a:solidFill>
                <a:latin typeface="Courier New" pitchFamily="34" charset="0"/>
                <a:ea typeface="Courier New" pitchFamily="34" charset="-122"/>
                <a:cs typeface="Courier New" pitchFamily="34" charset="-120"/>
              </a:rPr>
              <a:t>Semgrep YAML rules: 91</a:t>
            </a:r>
            <a:endParaRPr lang="en-US" sz="800" dirty="0"/>
          </a:p>
        </p:txBody>
      </p:sp>
      <p:sp>
        <p:nvSpPr>
          <p:cNvPr id="8" name="Text 6"/>
          <p:cNvSpPr/>
          <p:nvPr/>
        </p:nvSpPr>
        <p:spPr>
          <a:xfrm>
            <a:off x="731520" y="1865376"/>
            <a:ext cx="3108960" cy="164592"/>
          </a:xfrm>
          <a:prstGeom prst="rect">
            <a:avLst/>
          </a:prstGeom>
          <a:noFill/>
          <a:ln/>
        </p:spPr>
        <p:txBody>
          <a:bodyPr wrap="square" rtlCol="0" anchor="ctr"/>
          <a:lstStyle/>
          <a:p>
            <a:pPr indent="0" marL="0">
              <a:buNone/>
            </a:pPr>
            <a:r>
              <a:rPr lang="en-US" sz="800" dirty="0">
                <a:solidFill>
                  <a:srgbClr val="10B981"/>
                </a:solidFill>
                <a:latin typeface="Courier New" pitchFamily="34" charset="0"/>
                <a:ea typeface="Courier New" pitchFamily="34" charset="-122"/>
                <a:cs typeface="Courier New" pitchFamily="34" charset="-120"/>
              </a:rPr>
              <a:t>Core TS deterministic rules: 15</a:t>
            </a:r>
            <a:endParaRPr lang="en-US" sz="800" dirty="0"/>
          </a:p>
        </p:txBody>
      </p:sp>
      <p:sp>
        <p:nvSpPr>
          <p:cNvPr id="9" name="Text 7"/>
          <p:cNvSpPr/>
          <p:nvPr/>
        </p:nvSpPr>
        <p:spPr>
          <a:xfrm>
            <a:off x="731520" y="2039112"/>
            <a:ext cx="3108960" cy="164592"/>
          </a:xfrm>
          <a:prstGeom prst="rect">
            <a:avLst/>
          </a:prstGeom>
          <a:noFill/>
          <a:ln/>
        </p:spPr>
        <p:txBody>
          <a:bodyPr wrap="square" rtlCol="0" anchor="ctr"/>
          <a:lstStyle/>
          <a:p>
            <a:pPr indent="0" marL="0">
              <a:buNone/>
            </a:pPr>
            <a:r>
              <a:rPr lang="en-US" sz="800" dirty="0">
                <a:solidFill>
                  <a:srgbClr val="10B981"/>
                </a:solidFill>
                <a:latin typeface="Courier New" pitchFamily="34" charset="0"/>
                <a:ea typeface="Courier New" pitchFamily="34" charset="-122"/>
                <a:cs typeface="Courier New" pitchFamily="34" charset="-120"/>
              </a:rPr>
              <a:t>Rulepack rules: 82</a:t>
            </a:r>
            <a:endParaRPr lang="en-US" sz="800" dirty="0"/>
          </a:p>
        </p:txBody>
      </p:sp>
      <p:sp>
        <p:nvSpPr>
          <p:cNvPr id="10" name="Text 8"/>
          <p:cNvSpPr/>
          <p:nvPr/>
        </p:nvSpPr>
        <p:spPr>
          <a:xfrm>
            <a:off x="731520" y="2212848"/>
            <a:ext cx="3108960" cy="164592"/>
          </a:xfrm>
          <a:prstGeom prst="rect">
            <a:avLst/>
          </a:prstGeom>
          <a:noFill/>
          <a:ln/>
        </p:spPr>
        <p:txBody>
          <a:bodyPr wrap="square" rtlCol="0" anchor="ctr"/>
          <a:lstStyle/>
          <a:p>
            <a:pPr indent="0" marL="0">
              <a:buNone/>
            </a:pPr>
            <a:r>
              <a:rPr lang="en-US" sz="800" dirty="0">
                <a:solidFill>
                  <a:srgbClr val="10B981"/>
                </a:solidFill>
                <a:latin typeface="Courier New" pitchFamily="34" charset="0"/>
                <a:ea typeface="Courier New" pitchFamily="34" charset="-122"/>
                <a:cs typeface="Courier New" pitchFamily="34" charset="-120"/>
              </a:rPr>
              <a:t>Total static rules: 188</a:t>
            </a:r>
            <a:endParaRPr lang="en-US" sz="800" dirty="0"/>
          </a:p>
        </p:txBody>
      </p:sp>
      <p:sp>
        <p:nvSpPr>
          <p:cNvPr id="11" name="Text 9"/>
          <p:cNvSpPr/>
          <p:nvPr/>
        </p:nvSpPr>
        <p:spPr>
          <a:xfrm>
            <a:off x="731520" y="2386584"/>
            <a:ext cx="3108960" cy="164592"/>
          </a:xfrm>
          <a:prstGeom prst="rect">
            <a:avLst/>
          </a:prstGeom>
          <a:noFill/>
          <a:ln/>
        </p:spPr>
        <p:txBody>
          <a:bodyPr wrap="square" rtlCol="0" anchor="ctr"/>
          <a:lstStyle/>
          <a:p>
            <a:pPr indent="0" marL="0">
              <a:buNone/>
            </a:pPr>
            <a:endParaRPr lang="en-US" sz="800" dirty="0"/>
          </a:p>
        </p:txBody>
      </p:sp>
      <p:sp>
        <p:nvSpPr>
          <p:cNvPr id="12" name="Text 10"/>
          <p:cNvSpPr/>
          <p:nvPr/>
        </p:nvSpPr>
        <p:spPr>
          <a:xfrm>
            <a:off x="731520" y="2560320"/>
            <a:ext cx="3108960" cy="164592"/>
          </a:xfrm>
          <a:prstGeom prst="rect">
            <a:avLst/>
          </a:prstGeom>
          <a:noFill/>
          <a:ln/>
        </p:spPr>
        <p:txBody>
          <a:bodyPr wrap="square" rtlCol="0" anchor="ctr"/>
          <a:lstStyle/>
          <a:p>
            <a:pPr indent="0" marL="0">
              <a:buNone/>
            </a:pPr>
            <a:r>
              <a:rPr lang="en-US" sz="800" dirty="0">
                <a:solidFill>
                  <a:srgbClr val="10B981"/>
                </a:solidFill>
                <a:latin typeface="Courier New" pitchFamily="34" charset="0"/>
                <a:ea typeface="Courier New" pitchFamily="34" charset="-122"/>
                <a:cs typeface="Courier New" pitchFamily="34" charset="-120"/>
              </a:rPr>
              <a:t>Rulepacks:</a:t>
            </a:r>
            <a:endParaRPr lang="en-US" sz="800" dirty="0"/>
          </a:p>
        </p:txBody>
      </p:sp>
      <p:sp>
        <p:nvSpPr>
          <p:cNvPr id="13" name="Text 11"/>
          <p:cNvSpPr/>
          <p:nvPr/>
        </p:nvSpPr>
        <p:spPr>
          <a:xfrm>
            <a:off x="731520" y="2734056"/>
            <a:ext cx="3108960" cy="164592"/>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  Agentic (AGW-R): 12</a:t>
            </a:r>
            <a:endParaRPr lang="en-US" sz="800" dirty="0"/>
          </a:p>
        </p:txBody>
      </p:sp>
      <p:sp>
        <p:nvSpPr>
          <p:cNvPr id="14" name="Text 12"/>
          <p:cNvSpPr/>
          <p:nvPr/>
        </p:nvSpPr>
        <p:spPr>
          <a:xfrm>
            <a:off x="731520" y="2907792"/>
            <a:ext cx="3108960" cy="164592"/>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  AI-Assisted Dev (AIC-R): 45</a:t>
            </a:r>
            <a:endParaRPr lang="en-US" sz="800" dirty="0"/>
          </a:p>
        </p:txBody>
      </p:sp>
      <p:sp>
        <p:nvSpPr>
          <p:cNvPr id="15" name="Text 13"/>
          <p:cNvSpPr/>
          <p:nvPr/>
        </p:nvSpPr>
        <p:spPr>
          <a:xfrm>
            <a:off x="731520" y="3081528"/>
            <a:ext cx="3108960" cy="164592"/>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  Embedded SaaS (ESA-R): 10</a:t>
            </a:r>
            <a:endParaRPr lang="en-US" sz="800" dirty="0"/>
          </a:p>
        </p:txBody>
      </p:sp>
      <p:sp>
        <p:nvSpPr>
          <p:cNvPr id="16" name="Text 14"/>
          <p:cNvSpPr/>
          <p:nvPr/>
        </p:nvSpPr>
        <p:spPr>
          <a:xfrm>
            <a:off x="731520" y="3255264"/>
            <a:ext cx="3108960" cy="164592"/>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  RAG Deep (RAG-R): 8</a:t>
            </a:r>
            <a:endParaRPr lang="en-US" sz="800" dirty="0"/>
          </a:p>
        </p:txBody>
      </p:sp>
      <p:sp>
        <p:nvSpPr>
          <p:cNvPr id="17" name="Text 15"/>
          <p:cNvSpPr/>
          <p:nvPr/>
        </p:nvSpPr>
        <p:spPr>
          <a:xfrm>
            <a:off x="731520" y="3429000"/>
            <a:ext cx="3108960" cy="164592"/>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  Voice AI (VAI): 7</a:t>
            </a:r>
            <a:endParaRPr lang="en-US" sz="800" dirty="0"/>
          </a:p>
        </p:txBody>
      </p:sp>
      <p:sp>
        <p:nvSpPr>
          <p:cNvPr id="18" name="Shape 16"/>
          <p:cNvSpPr/>
          <p:nvPr/>
        </p:nvSpPr>
        <p:spPr>
          <a:xfrm>
            <a:off x="4206240" y="1280160"/>
            <a:ext cx="3474720" cy="2286000"/>
          </a:xfrm>
          <a:prstGeom prst="rect">
            <a:avLst>
              <a:gd name="adj" fmla="val 2000"/>
            </a:avLst>
          </a:prstGeom>
          <a:solidFill>
            <a:srgbClr val="1E293B"/>
          </a:solidFill>
          <a:ln w="6350">
            <a:solidFill>
              <a:srgbClr val="334155"/>
            </a:solidFill>
            <a:prstDash val="solid"/>
          </a:ln>
        </p:spPr>
      </p:sp>
      <p:sp>
        <p:nvSpPr>
          <p:cNvPr id="19" name="Text 17"/>
          <p:cNvSpPr/>
          <p:nvPr/>
        </p:nvSpPr>
        <p:spPr>
          <a:xfrm>
            <a:off x="4389120" y="1371600"/>
            <a:ext cx="3108960" cy="274320"/>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Runtime Attack Templates</a:t>
            </a:r>
            <a:endParaRPr lang="en-US" sz="1100" dirty="0"/>
          </a:p>
        </p:txBody>
      </p:sp>
      <p:sp>
        <p:nvSpPr>
          <p:cNvPr id="20" name="Text 18"/>
          <p:cNvSpPr/>
          <p:nvPr/>
        </p:nvSpPr>
        <p:spPr>
          <a:xfrm>
            <a:off x="4389120" y="1691640"/>
            <a:ext cx="3108960" cy="164592"/>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Base templates: 234</a:t>
            </a:r>
            <a:endParaRPr lang="en-US" sz="800" dirty="0"/>
          </a:p>
        </p:txBody>
      </p:sp>
      <p:sp>
        <p:nvSpPr>
          <p:cNvPr id="21" name="Text 19"/>
          <p:cNvSpPr/>
          <p:nvPr/>
        </p:nvSpPr>
        <p:spPr>
          <a:xfrm>
            <a:off x="4389120" y="1865376"/>
            <a:ext cx="3108960" cy="164592"/>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Voice AI: 12</a:t>
            </a:r>
            <a:endParaRPr lang="en-US" sz="800" dirty="0"/>
          </a:p>
        </p:txBody>
      </p:sp>
      <p:sp>
        <p:nvSpPr>
          <p:cNvPr id="22" name="Text 20"/>
          <p:cNvSpPr/>
          <p:nvPr/>
        </p:nvSpPr>
        <p:spPr>
          <a:xfrm>
            <a:off x="4389120" y="2039112"/>
            <a:ext cx="3108960" cy="164592"/>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Embedded SaaS: 7</a:t>
            </a:r>
            <a:endParaRPr lang="en-US" sz="800" dirty="0"/>
          </a:p>
        </p:txBody>
      </p:sp>
      <p:sp>
        <p:nvSpPr>
          <p:cNvPr id="23" name="Text 21"/>
          <p:cNvSpPr/>
          <p:nvPr/>
        </p:nvSpPr>
        <p:spPr>
          <a:xfrm>
            <a:off x="4389120" y="2212848"/>
            <a:ext cx="3108960" cy="164592"/>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Agentic: 7</a:t>
            </a:r>
            <a:endParaRPr lang="en-US" sz="800" dirty="0"/>
          </a:p>
        </p:txBody>
      </p:sp>
      <p:sp>
        <p:nvSpPr>
          <p:cNvPr id="24" name="Text 22"/>
          <p:cNvSpPr/>
          <p:nvPr/>
        </p:nvSpPr>
        <p:spPr>
          <a:xfrm>
            <a:off x="4389120" y="2386584"/>
            <a:ext cx="3108960" cy="164592"/>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AI-Assisted Dev: 3</a:t>
            </a:r>
            <a:endParaRPr lang="en-US" sz="800" dirty="0"/>
          </a:p>
        </p:txBody>
      </p:sp>
      <p:sp>
        <p:nvSpPr>
          <p:cNvPr id="25" name="Text 23"/>
          <p:cNvSpPr/>
          <p:nvPr/>
        </p:nvSpPr>
        <p:spPr>
          <a:xfrm>
            <a:off x="4389120" y="2560320"/>
            <a:ext cx="3108960" cy="164592"/>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RAG Deep: 6</a:t>
            </a:r>
            <a:endParaRPr lang="en-US" sz="800" dirty="0"/>
          </a:p>
        </p:txBody>
      </p:sp>
      <p:sp>
        <p:nvSpPr>
          <p:cNvPr id="26" name="Text 24"/>
          <p:cNvSpPr/>
          <p:nvPr/>
        </p:nvSpPr>
        <p:spPr>
          <a:xfrm>
            <a:off x="4389120" y="2734056"/>
            <a:ext cx="3108960" cy="164592"/>
          </a:xfrm>
          <a:prstGeom prst="rect">
            <a:avLst/>
          </a:prstGeom>
          <a:noFill/>
          <a:ln/>
        </p:spPr>
        <p:txBody>
          <a:bodyPr wrap="square" rtlCol="0" anchor="ctr"/>
          <a:lstStyle/>
          <a:p>
            <a:pPr indent="0" marL="0">
              <a:buNone/>
            </a:pPr>
            <a:r>
              <a:rPr lang="en-US" sz="800" dirty="0">
                <a:solidFill>
                  <a:srgbClr val="10B981"/>
                </a:solidFill>
                <a:latin typeface="Courier New" pitchFamily="34" charset="0"/>
                <a:ea typeface="Courier New" pitchFamily="34" charset="-122"/>
                <a:cs typeface="Courier New" pitchFamily="34" charset="-120"/>
              </a:rPr>
              <a:t>Total templates: 269</a:t>
            </a:r>
            <a:endParaRPr lang="en-US" sz="800" dirty="0"/>
          </a:p>
        </p:txBody>
      </p:sp>
      <p:sp>
        <p:nvSpPr>
          <p:cNvPr id="27" name="Text 25"/>
          <p:cNvSpPr/>
          <p:nvPr/>
        </p:nvSpPr>
        <p:spPr>
          <a:xfrm>
            <a:off x="4389120" y="2907792"/>
            <a:ext cx="3108960" cy="164592"/>
          </a:xfrm>
          <a:prstGeom prst="rect">
            <a:avLst/>
          </a:prstGeom>
          <a:noFill/>
          <a:ln/>
        </p:spPr>
        <p:txBody>
          <a:bodyPr wrap="square" rtlCol="0" anchor="ctr"/>
          <a:lstStyle/>
          <a:p>
            <a:pPr indent="0" marL="0">
              <a:buNone/>
            </a:pPr>
            <a:endParaRPr lang="en-US" sz="800" dirty="0"/>
          </a:p>
        </p:txBody>
      </p:sp>
      <p:sp>
        <p:nvSpPr>
          <p:cNvPr id="28" name="Text 26"/>
          <p:cNvSpPr/>
          <p:nvPr/>
        </p:nvSpPr>
        <p:spPr>
          <a:xfrm>
            <a:off x="4389120" y="3081528"/>
            <a:ext cx="3108960" cy="164592"/>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Compliance tiers: 4</a:t>
            </a:r>
            <a:endParaRPr lang="en-US" sz="800" dirty="0"/>
          </a:p>
        </p:txBody>
      </p:sp>
      <p:sp>
        <p:nvSpPr>
          <p:cNvPr id="29" name="Text 27"/>
          <p:cNvSpPr/>
          <p:nvPr/>
        </p:nvSpPr>
        <p:spPr>
          <a:xfrm>
            <a:off x="4389120" y="3255264"/>
            <a:ext cx="3108960" cy="164592"/>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Phasing strategies: 4</a:t>
            </a:r>
            <a:endParaRPr lang="en-US" sz="800" dirty="0"/>
          </a:p>
        </p:txBody>
      </p:sp>
      <p:sp>
        <p:nvSpPr>
          <p:cNvPr id="30" name="Text 28"/>
          <p:cNvSpPr/>
          <p:nvPr/>
        </p:nvSpPr>
        <p:spPr>
          <a:xfrm>
            <a:off x="4389120" y="3429000"/>
            <a:ext cx="3108960" cy="164592"/>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Rate limit: 60 req/min, 2 req/sec</a:t>
            </a:r>
            <a:endParaRPr lang="en-US" sz="800" dirty="0"/>
          </a:p>
        </p:txBody>
      </p:sp>
      <p:sp>
        <p:nvSpPr>
          <p:cNvPr id="31" name="Shape 29"/>
          <p:cNvSpPr/>
          <p:nvPr/>
        </p:nvSpPr>
        <p:spPr>
          <a:xfrm>
            <a:off x="7863840" y="1280160"/>
            <a:ext cx="3749040" cy="2286000"/>
          </a:xfrm>
          <a:prstGeom prst="rect">
            <a:avLst>
              <a:gd name="adj" fmla="val 2000"/>
            </a:avLst>
          </a:prstGeom>
          <a:solidFill>
            <a:srgbClr val="1E293B"/>
          </a:solidFill>
          <a:ln w="6350">
            <a:solidFill>
              <a:srgbClr val="334155"/>
            </a:solidFill>
            <a:prstDash val="solid"/>
          </a:ln>
        </p:spPr>
      </p:sp>
      <p:sp>
        <p:nvSpPr>
          <p:cNvPr id="32" name="Text 30"/>
          <p:cNvSpPr/>
          <p:nvPr/>
        </p:nvSpPr>
        <p:spPr>
          <a:xfrm>
            <a:off x="8046720" y="1371600"/>
            <a:ext cx="3383280" cy="274320"/>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Safety Properties &amp; Frameworks</a:t>
            </a:r>
            <a:endParaRPr lang="en-US" sz="1100" dirty="0"/>
          </a:p>
        </p:txBody>
      </p:sp>
      <p:sp>
        <p:nvSpPr>
          <p:cNvPr id="33" name="Text 31"/>
          <p:cNvSpPr/>
          <p:nvPr/>
        </p:nvSpPr>
        <p:spPr>
          <a:xfrm>
            <a:off x="8046720" y="1691640"/>
            <a:ext cx="3383280" cy="164592"/>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Safety properties: 14</a:t>
            </a:r>
            <a:endParaRPr lang="en-US" sz="800" dirty="0"/>
          </a:p>
        </p:txBody>
      </p:sp>
      <p:sp>
        <p:nvSpPr>
          <p:cNvPr id="34" name="Text 32"/>
          <p:cNvSpPr/>
          <p:nvPr/>
        </p:nvSpPr>
        <p:spPr>
          <a:xfrm>
            <a:off x="8046720" y="1865376"/>
            <a:ext cx="3383280" cy="164592"/>
          </a:xfrm>
          <a:prstGeom prst="rect">
            <a:avLst/>
          </a:prstGeom>
          <a:noFill/>
          <a:ln/>
        </p:spPr>
        <p:txBody>
          <a:bodyPr wrap="square" rtlCol="0" anchor="ctr"/>
          <a:lstStyle/>
          <a:p>
            <a:pPr indent="0" marL="0">
              <a:buNone/>
            </a:pPr>
            <a:r>
              <a:rPr lang="en-US" sz="800" dirty="0">
                <a:solidFill>
                  <a:srgbClr val="94A3B8"/>
                </a:solidFill>
                <a:latin typeface="Courier New" pitchFamily="34" charset="0"/>
                <a:ea typeface="Courier New" pitchFamily="34" charset="-122"/>
                <a:cs typeface="Courier New" pitchFamily="34" charset="-120"/>
              </a:rPr>
              <a:t>  Secret leakage: 5 (SP001-SP005)</a:t>
            </a:r>
            <a:endParaRPr lang="en-US" sz="800" dirty="0"/>
          </a:p>
        </p:txBody>
      </p:sp>
      <p:sp>
        <p:nvSpPr>
          <p:cNvPr id="35" name="Text 33"/>
          <p:cNvSpPr/>
          <p:nvPr/>
        </p:nvSpPr>
        <p:spPr>
          <a:xfrm>
            <a:off x="8046720" y="2039112"/>
            <a:ext cx="3383280" cy="164592"/>
          </a:xfrm>
          <a:prstGeom prst="rect">
            <a:avLst/>
          </a:prstGeom>
          <a:noFill/>
          <a:ln/>
        </p:spPr>
        <p:txBody>
          <a:bodyPr wrap="square" rtlCol="0" anchor="ctr"/>
          <a:lstStyle/>
          <a:p>
            <a:pPr indent="0" marL="0">
              <a:buNone/>
            </a:pPr>
            <a:r>
              <a:rPr lang="en-US" sz="800" dirty="0">
                <a:solidFill>
                  <a:srgbClr val="94A3B8"/>
                </a:solidFill>
                <a:latin typeface="Courier New" pitchFamily="34" charset="0"/>
                <a:ea typeface="Courier New" pitchFamily="34" charset="-122"/>
                <a:cs typeface="Courier New" pitchFamily="34" charset="-120"/>
              </a:rPr>
              <a:t>  Injection: 2 (SP010-SP011)</a:t>
            </a:r>
            <a:endParaRPr lang="en-US" sz="800" dirty="0"/>
          </a:p>
        </p:txBody>
      </p:sp>
      <p:sp>
        <p:nvSpPr>
          <p:cNvPr id="36" name="Text 34"/>
          <p:cNvSpPr/>
          <p:nvPr/>
        </p:nvSpPr>
        <p:spPr>
          <a:xfrm>
            <a:off x="8046720" y="2212848"/>
            <a:ext cx="3383280" cy="164592"/>
          </a:xfrm>
          <a:prstGeom prst="rect">
            <a:avLst/>
          </a:prstGeom>
          <a:noFill/>
          <a:ln/>
        </p:spPr>
        <p:txBody>
          <a:bodyPr wrap="square" rtlCol="0" anchor="ctr"/>
          <a:lstStyle/>
          <a:p>
            <a:pPr indent="0" marL="0">
              <a:buNone/>
            </a:pPr>
            <a:r>
              <a:rPr lang="en-US" sz="800" dirty="0">
                <a:solidFill>
                  <a:srgbClr val="94A3B8"/>
                </a:solidFill>
                <a:latin typeface="Courier New" pitchFamily="34" charset="0"/>
                <a:ea typeface="Courier New" pitchFamily="34" charset="-122"/>
                <a:cs typeface="Courier New" pitchFamily="34" charset="-120"/>
              </a:rPr>
              <a:t>  Prompt extraction: 2 (SP020-SP021)</a:t>
            </a:r>
            <a:endParaRPr lang="en-US" sz="800" dirty="0"/>
          </a:p>
        </p:txBody>
      </p:sp>
      <p:sp>
        <p:nvSpPr>
          <p:cNvPr id="37" name="Text 35"/>
          <p:cNvSpPr/>
          <p:nvPr/>
        </p:nvSpPr>
        <p:spPr>
          <a:xfrm>
            <a:off x="8046720" y="2386584"/>
            <a:ext cx="3383280" cy="164592"/>
          </a:xfrm>
          <a:prstGeom prst="rect">
            <a:avLst/>
          </a:prstGeom>
          <a:noFill/>
          <a:ln/>
        </p:spPr>
        <p:txBody>
          <a:bodyPr wrap="square" rtlCol="0" anchor="ctr"/>
          <a:lstStyle/>
          <a:p>
            <a:pPr indent="0" marL="0">
              <a:buNone/>
            </a:pPr>
            <a:r>
              <a:rPr lang="en-US" sz="800" dirty="0">
                <a:solidFill>
                  <a:srgbClr val="94A3B8"/>
                </a:solidFill>
                <a:latin typeface="Courier New" pitchFamily="34" charset="0"/>
                <a:ea typeface="Courier New" pitchFamily="34" charset="-122"/>
                <a:cs typeface="Courier New" pitchFamily="34" charset="-120"/>
              </a:rPr>
              <a:t>  Behavioral: 2 (SP030, SP040)</a:t>
            </a:r>
            <a:endParaRPr lang="en-US" sz="800" dirty="0"/>
          </a:p>
        </p:txBody>
      </p:sp>
      <p:sp>
        <p:nvSpPr>
          <p:cNvPr id="38" name="Text 36"/>
          <p:cNvSpPr/>
          <p:nvPr/>
        </p:nvSpPr>
        <p:spPr>
          <a:xfrm>
            <a:off x="8046720" y="2560320"/>
            <a:ext cx="3383280" cy="164592"/>
          </a:xfrm>
          <a:prstGeom prst="rect">
            <a:avLst/>
          </a:prstGeom>
          <a:noFill/>
          <a:ln/>
        </p:spPr>
        <p:txBody>
          <a:bodyPr wrap="square" rtlCol="0" anchor="ctr"/>
          <a:lstStyle/>
          <a:p>
            <a:pPr indent="0" marL="0">
              <a:buNone/>
            </a:pPr>
            <a:r>
              <a:rPr lang="en-US" sz="800" dirty="0">
                <a:solidFill>
                  <a:srgbClr val="94A3B8"/>
                </a:solidFill>
                <a:latin typeface="Courier New" pitchFamily="34" charset="0"/>
                <a:ea typeface="Courier New" pitchFamily="34" charset="-122"/>
                <a:cs typeface="Courier New" pitchFamily="34" charset="-120"/>
              </a:rPr>
              <a:t>  Performance: 2 (SP050-SP051)</a:t>
            </a:r>
            <a:endParaRPr lang="en-US" sz="800" dirty="0"/>
          </a:p>
        </p:txBody>
      </p:sp>
      <p:sp>
        <p:nvSpPr>
          <p:cNvPr id="39" name="Text 37"/>
          <p:cNvSpPr/>
          <p:nvPr/>
        </p:nvSpPr>
        <p:spPr>
          <a:xfrm>
            <a:off x="8046720" y="2734056"/>
            <a:ext cx="3383280" cy="164592"/>
          </a:xfrm>
          <a:prstGeom prst="rect">
            <a:avLst/>
          </a:prstGeom>
          <a:noFill/>
          <a:ln/>
        </p:spPr>
        <p:txBody>
          <a:bodyPr wrap="square" rtlCol="0" anchor="ctr"/>
          <a:lstStyle/>
          <a:p>
            <a:pPr indent="0" marL="0">
              <a:buNone/>
            </a:pPr>
            <a:r>
              <a:rPr lang="en-US" sz="800" dirty="0">
                <a:solidFill>
                  <a:srgbClr val="94A3B8"/>
                </a:solidFill>
                <a:latin typeface="Courier New" pitchFamily="34" charset="0"/>
                <a:ea typeface="Courier New" pitchFamily="34" charset="-122"/>
                <a:cs typeface="Courier New" pitchFamily="34" charset="-120"/>
              </a:rPr>
              <a:t>  Tool abuse: 1 (SP060)</a:t>
            </a:r>
            <a:endParaRPr lang="en-US" sz="800" dirty="0"/>
          </a:p>
        </p:txBody>
      </p:sp>
      <p:sp>
        <p:nvSpPr>
          <p:cNvPr id="40" name="Text 38"/>
          <p:cNvSpPr/>
          <p:nvPr/>
        </p:nvSpPr>
        <p:spPr>
          <a:xfrm>
            <a:off x="8046720" y="2907792"/>
            <a:ext cx="3383280" cy="164592"/>
          </a:xfrm>
          <a:prstGeom prst="rect">
            <a:avLst/>
          </a:prstGeom>
          <a:noFill/>
          <a:ln/>
        </p:spPr>
        <p:txBody>
          <a:bodyPr wrap="square" rtlCol="0" anchor="ctr"/>
          <a:lstStyle/>
          <a:p>
            <a:pPr indent="0" marL="0">
              <a:buNone/>
            </a:pPr>
            <a:endParaRPr lang="en-US" sz="800" dirty="0"/>
          </a:p>
        </p:txBody>
      </p:sp>
      <p:sp>
        <p:nvSpPr>
          <p:cNvPr id="41" name="Text 39"/>
          <p:cNvSpPr/>
          <p:nvPr/>
        </p:nvSpPr>
        <p:spPr>
          <a:xfrm>
            <a:off x="8046720" y="3081528"/>
            <a:ext cx="3383280" cy="164592"/>
          </a:xfrm>
          <a:prstGeom prst="rect">
            <a:avLst/>
          </a:prstGeom>
          <a:noFill/>
          <a:ln/>
        </p:spPr>
        <p:txBody>
          <a:bodyPr wrap="square" rtlCol="0" anchor="ctr"/>
          <a:lstStyle/>
          <a:p>
            <a:pPr indent="0" marL="0">
              <a:buNone/>
            </a:pPr>
            <a:r>
              <a:rPr lang="en-US" sz="800" dirty="0">
                <a:solidFill>
                  <a:srgbClr val="F8FAFC"/>
                </a:solidFill>
                <a:latin typeface="Courier New" pitchFamily="34" charset="0"/>
                <a:ea typeface="Courier New" pitchFamily="34" charset="-122"/>
                <a:cs typeface="Courier New" pitchFamily="34" charset="-120"/>
              </a:rPr>
              <a:t>Compliance frameworks: 13</a:t>
            </a:r>
            <a:endParaRPr lang="en-US" sz="800" dirty="0"/>
          </a:p>
        </p:txBody>
      </p:sp>
      <p:sp>
        <p:nvSpPr>
          <p:cNvPr id="42" name="Text 40"/>
          <p:cNvSpPr/>
          <p:nvPr/>
        </p:nvSpPr>
        <p:spPr>
          <a:xfrm>
            <a:off x="8046720" y="3255264"/>
            <a:ext cx="3383280" cy="164592"/>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  SOC2, ISO27001, ISO42001, GDPR</a:t>
            </a:r>
            <a:endParaRPr lang="en-US" sz="800" dirty="0"/>
          </a:p>
        </p:txBody>
      </p:sp>
      <p:sp>
        <p:nvSpPr>
          <p:cNvPr id="43" name="Text 41"/>
          <p:cNvSpPr/>
          <p:nvPr/>
        </p:nvSpPr>
        <p:spPr>
          <a:xfrm>
            <a:off x="8046720" y="3429000"/>
            <a:ext cx="3383280" cy="164592"/>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  HIPAA, OWASP, CWE, NIST AI RMF</a:t>
            </a:r>
            <a:endParaRPr lang="en-US" sz="800" dirty="0"/>
          </a:p>
        </p:txBody>
      </p:sp>
      <p:sp>
        <p:nvSpPr>
          <p:cNvPr id="44" name="Text 42"/>
          <p:cNvSpPr/>
          <p:nvPr/>
        </p:nvSpPr>
        <p:spPr>
          <a:xfrm>
            <a:off x="8046720" y="3602736"/>
            <a:ext cx="3383280" cy="164592"/>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  EU AI Act, CCPA, NYC LL144, CO AI, FTC</a:t>
            </a:r>
            <a:endParaRPr lang="en-US" sz="800" dirty="0"/>
          </a:p>
        </p:txBody>
      </p:sp>
      <p:sp>
        <p:nvSpPr>
          <p:cNvPr id="45" name="Shape 43"/>
          <p:cNvSpPr/>
          <p:nvPr/>
        </p:nvSpPr>
        <p:spPr>
          <a:xfrm>
            <a:off x="548640" y="3749040"/>
            <a:ext cx="11064240" cy="2286000"/>
          </a:xfrm>
          <a:prstGeom prst="rect">
            <a:avLst>
              <a:gd name="adj" fmla="val 2000"/>
            </a:avLst>
          </a:prstGeom>
          <a:solidFill>
            <a:srgbClr val="1E293B"/>
          </a:solidFill>
          <a:ln w="6350">
            <a:solidFill>
              <a:srgbClr val="334155"/>
            </a:solidFill>
            <a:prstDash val="solid"/>
          </a:ln>
        </p:spPr>
      </p:sp>
      <p:sp>
        <p:nvSpPr>
          <p:cNvPr id="46" name="Text 44"/>
          <p:cNvSpPr/>
          <p:nvPr/>
        </p:nvSpPr>
        <p:spPr>
          <a:xfrm>
            <a:off x="731520" y="3840480"/>
            <a:ext cx="10698480" cy="274320"/>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API Surface</a:t>
            </a:r>
            <a:endParaRPr lang="en-US" sz="1100" dirty="0"/>
          </a:p>
        </p:txBody>
      </p:sp>
      <p:sp>
        <p:nvSpPr>
          <p:cNvPr id="47" name="Text 45"/>
          <p:cNvSpPr/>
          <p:nvPr/>
        </p:nvSpPr>
        <p:spPr>
          <a:xfrm>
            <a:off x="731520" y="4206240"/>
            <a:ext cx="1645920" cy="22860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Static Security</a:t>
            </a:r>
            <a:endParaRPr lang="en-US" sz="800" dirty="0"/>
          </a:p>
        </p:txBody>
      </p:sp>
      <p:sp>
        <p:nvSpPr>
          <p:cNvPr id="48" name="Text 46"/>
          <p:cNvSpPr/>
          <p:nvPr/>
        </p:nvSpPr>
        <p:spPr>
          <a:xfrm>
            <a:off x="2377440" y="4206240"/>
            <a:ext cx="914400" cy="228600"/>
          </a:xfrm>
          <a:prstGeom prst="rect">
            <a:avLst/>
          </a:prstGeom>
          <a:noFill/>
          <a:ln/>
        </p:spPr>
        <p:txBody>
          <a:bodyPr wrap="square" rtlCol="0" anchor="ctr"/>
          <a:lstStyle/>
          <a:p>
            <a:pPr indent="0" marL="0">
              <a:buNone/>
            </a:pPr>
            <a:r>
              <a:rPr lang="en-US" sz="800" dirty="0">
                <a:solidFill>
                  <a:srgbClr val="10B981"/>
                </a:solidFill>
                <a:latin typeface="Courier New" pitchFamily="34" charset="0"/>
                <a:ea typeface="Courier New" pitchFamily="34" charset="-122"/>
                <a:cs typeface="Courier New" pitchFamily="34" charset="-120"/>
              </a:rPr>
              <a:t>31 routes</a:t>
            </a:r>
            <a:endParaRPr lang="en-US" sz="800" dirty="0"/>
          </a:p>
        </p:txBody>
      </p:sp>
      <p:sp>
        <p:nvSpPr>
          <p:cNvPr id="49" name="Text 47"/>
          <p:cNvSpPr/>
          <p:nvPr/>
        </p:nvSpPr>
        <p:spPr>
          <a:xfrm>
            <a:off x="731520" y="4434840"/>
            <a:ext cx="2560320" cy="182880"/>
          </a:xfrm>
          <a:prstGeom prst="rect">
            <a:avLst/>
          </a:prstGeom>
          <a:noFill/>
          <a:ln/>
        </p:spPr>
        <p:txBody>
          <a:bodyPr wrap="square" rtlCol="0" anchor="ctr"/>
          <a:lstStyle/>
          <a:p>
            <a:pPr indent="0" marL="0">
              <a:buNone/>
            </a:pPr>
            <a:r>
              <a:rPr lang="en-US" sz="700" dirty="0">
                <a:solidFill>
                  <a:srgbClr val="94A3B8"/>
                </a:solidFill>
                <a:latin typeface="Courier New" pitchFamily="34" charset="0"/>
                <a:ea typeface="Courier New" pitchFamily="34" charset="-122"/>
                <a:cs typeface="Courier New" pitchFamily="34" charset="-120"/>
              </a:rPr>
              <a:t>/api/ai-security/</a:t>
            </a:r>
            <a:endParaRPr lang="en-US" sz="700" dirty="0"/>
          </a:p>
        </p:txBody>
      </p:sp>
      <p:sp>
        <p:nvSpPr>
          <p:cNvPr id="50" name="Text 48"/>
          <p:cNvSpPr/>
          <p:nvPr/>
        </p:nvSpPr>
        <p:spPr>
          <a:xfrm>
            <a:off x="3474720" y="4206240"/>
            <a:ext cx="1645920" cy="22860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Runtime Security</a:t>
            </a:r>
            <a:endParaRPr lang="en-US" sz="800" dirty="0"/>
          </a:p>
        </p:txBody>
      </p:sp>
      <p:sp>
        <p:nvSpPr>
          <p:cNvPr id="51" name="Text 49"/>
          <p:cNvSpPr/>
          <p:nvPr/>
        </p:nvSpPr>
        <p:spPr>
          <a:xfrm>
            <a:off x="5120640" y="4206240"/>
            <a:ext cx="914400" cy="228600"/>
          </a:xfrm>
          <a:prstGeom prst="rect">
            <a:avLst/>
          </a:prstGeom>
          <a:noFill/>
          <a:ln/>
        </p:spPr>
        <p:txBody>
          <a:bodyPr wrap="square" rtlCol="0" anchor="ctr"/>
          <a:lstStyle/>
          <a:p>
            <a:pPr indent="0" marL="0">
              <a:buNone/>
            </a:pPr>
            <a:r>
              <a:rPr lang="en-US" sz="800" dirty="0">
                <a:solidFill>
                  <a:srgbClr val="10B981"/>
                </a:solidFill>
                <a:latin typeface="Courier New" pitchFamily="34" charset="0"/>
                <a:ea typeface="Courier New" pitchFamily="34" charset="-122"/>
                <a:cs typeface="Courier New" pitchFamily="34" charset="-120"/>
              </a:rPr>
              <a:t>22 routes</a:t>
            </a:r>
            <a:endParaRPr lang="en-US" sz="800" dirty="0"/>
          </a:p>
        </p:txBody>
      </p:sp>
      <p:sp>
        <p:nvSpPr>
          <p:cNvPr id="52" name="Text 50"/>
          <p:cNvSpPr/>
          <p:nvPr/>
        </p:nvSpPr>
        <p:spPr>
          <a:xfrm>
            <a:off x="3474720" y="4434840"/>
            <a:ext cx="2560320" cy="182880"/>
          </a:xfrm>
          <a:prstGeom prst="rect">
            <a:avLst/>
          </a:prstGeom>
          <a:noFill/>
          <a:ln/>
        </p:spPr>
        <p:txBody>
          <a:bodyPr wrap="square" rtlCol="0" anchor="ctr"/>
          <a:lstStyle/>
          <a:p>
            <a:pPr indent="0" marL="0">
              <a:buNone/>
            </a:pPr>
            <a:r>
              <a:rPr lang="en-US" sz="700" dirty="0">
                <a:solidFill>
                  <a:srgbClr val="94A3B8"/>
                </a:solidFill>
                <a:latin typeface="Courier New" pitchFamily="34" charset="0"/>
                <a:ea typeface="Courier New" pitchFamily="34" charset="-122"/>
                <a:cs typeface="Courier New" pitchFamily="34" charset="-120"/>
              </a:rPr>
              <a:t>/api/runtime-security/</a:t>
            </a:r>
            <a:endParaRPr lang="en-US" sz="700" dirty="0"/>
          </a:p>
        </p:txBody>
      </p:sp>
      <p:sp>
        <p:nvSpPr>
          <p:cNvPr id="53" name="Text 51"/>
          <p:cNvSpPr/>
          <p:nvPr/>
        </p:nvSpPr>
        <p:spPr>
          <a:xfrm>
            <a:off x="6217920" y="4206240"/>
            <a:ext cx="1645920" cy="22860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Audit Orchestrator</a:t>
            </a:r>
            <a:endParaRPr lang="en-US" sz="800" dirty="0"/>
          </a:p>
        </p:txBody>
      </p:sp>
      <p:sp>
        <p:nvSpPr>
          <p:cNvPr id="54" name="Text 52"/>
          <p:cNvSpPr/>
          <p:nvPr/>
        </p:nvSpPr>
        <p:spPr>
          <a:xfrm>
            <a:off x="7863840" y="4206240"/>
            <a:ext cx="914400" cy="228600"/>
          </a:xfrm>
          <a:prstGeom prst="rect">
            <a:avLst/>
          </a:prstGeom>
          <a:noFill/>
          <a:ln/>
        </p:spPr>
        <p:txBody>
          <a:bodyPr wrap="square" rtlCol="0" anchor="ctr"/>
          <a:lstStyle/>
          <a:p>
            <a:pPr indent="0" marL="0">
              <a:buNone/>
            </a:pPr>
            <a:r>
              <a:rPr lang="en-US" sz="800" dirty="0">
                <a:solidFill>
                  <a:srgbClr val="10B981"/>
                </a:solidFill>
                <a:latin typeface="Courier New" pitchFamily="34" charset="0"/>
                <a:ea typeface="Courier New" pitchFamily="34" charset="-122"/>
                <a:cs typeface="Courier New" pitchFamily="34" charset="-120"/>
              </a:rPr>
              <a:t>12 routes</a:t>
            </a:r>
            <a:endParaRPr lang="en-US" sz="800" dirty="0"/>
          </a:p>
        </p:txBody>
      </p:sp>
      <p:sp>
        <p:nvSpPr>
          <p:cNvPr id="55" name="Text 53"/>
          <p:cNvSpPr/>
          <p:nvPr/>
        </p:nvSpPr>
        <p:spPr>
          <a:xfrm>
            <a:off x="6217920" y="4434840"/>
            <a:ext cx="2560320" cy="182880"/>
          </a:xfrm>
          <a:prstGeom prst="rect">
            <a:avLst/>
          </a:prstGeom>
          <a:noFill/>
          <a:ln/>
        </p:spPr>
        <p:txBody>
          <a:bodyPr wrap="square" rtlCol="0" anchor="ctr"/>
          <a:lstStyle/>
          <a:p>
            <a:pPr indent="0" marL="0">
              <a:buNone/>
            </a:pPr>
            <a:r>
              <a:rPr lang="en-US" sz="700" dirty="0">
                <a:solidFill>
                  <a:srgbClr val="94A3B8"/>
                </a:solidFill>
                <a:latin typeface="Courier New" pitchFamily="34" charset="0"/>
                <a:ea typeface="Courier New" pitchFamily="34" charset="-122"/>
                <a:cs typeface="Courier New" pitchFamily="34" charset="-120"/>
              </a:rPr>
              <a:t>/api/audit-orchestrator/</a:t>
            </a:r>
            <a:endParaRPr lang="en-US" sz="700" dirty="0"/>
          </a:p>
        </p:txBody>
      </p:sp>
      <p:sp>
        <p:nvSpPr>
          <p:cNvPr id="56" name="Text 54"/>
          <p:cNvSpPr/>
          <p:nvPr/>
        </p:nvSpPr>
        <p:spPr>
          <a:xfrm>
            <a:off x="8961120" y="4206240"/>
            <a:ext cx="1645920" cy="22860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Compliance Twin</a:t>
            </a:r>
            <a:endParaRPr lang="en-US" sz="800" dirty="0"/>
          </a:p>
        </p:txBody>
      </p:sp>
      <p:sp>
        <p:nvSpPr>
          <p:cNvPr id="57" name="Text 55"/>
          <p:cNvSpPr/>
          <p:nvPr/>
        </p:nvSpPr>
        <p:spPr>
          <a:xfrm>
            <a:off x="10607040" y="4206240"/>
            <a:ext cx="914400" cy="228600"/>
          </a:xfrm>
          <a:prstGeom prst="rect">
            <a:avLst/>
          </a:prstGeom>
          <a:noFill/>
          <a:ln/>
        </p:spPr>
        <p:txBody>
          <a:bodyPr wrap="square" rtlCol="0" anchor="ctr"/>
          <a:lstStyle/>
          <a:p>
            <a:pPr indent="0" marL="0">
              <a:buNone/>
            </a:pPr>
            <a:r>
              <a:rPr lang="en-US" sz="800" dirty="0">
                <a:solidFill>
                  <a:srgbClr val="10B981"/>
                </a:solidFill>
                <a:latin typeface="Courier New" pitchFamily="34" charset="0"/>
                <a:ea typeface="Courier New" pitchFamily="34" charset="-122"/>
                <a:cs typeface="Courier New" pitchFamily="34" charset="-120"/>
              </a:rPr>
              <a:t>17 routes</a:t>
            </a:r>
            <a:endParaRPr lang="en-US" sz="800" dirty="0"/>
          </a:p>
        </p:txBody>
      </p:sp>
      <p:sp>
        <p:nvSpPr>
          <p:cNvPr id="58" name="Text 56"/>
          <p:cNvSpPr/>
          <p:nvPr/>
        </p:nvSpPr>
        <p:spPr>
          <a:xfrm>
            <a:off x="8961120" y="4434840"/>
            <a:ext cx="2560320" cy="182880"/>
          </a:xfrm>
          <a:prstGeom prst="rect">
            <a:avLst/>
          </a:prstGeom>
          <a:noFill/>
          <a:ln/>
        </p:spPr>
        <p:txBody>
          <a:bodyPr wrap="square" rtlCol="0" anchor="ctr"/>
          <a:lstStyle/>
          <a:p>
            <a:pPr indent="0" marL="0">
              <a:buNone/>
            </a:pPr>
            <a:r>
              <a:rPr lang="en-US" sz="700" dirty="0">
                <a:solidFill>
                  <a:srgbClr val="94A3B8"/>
                </a:solidFill>
                <a:latin typeface="Courier New" pitchFamily="34" charset="0"/>
                <a:ea typeface="Courier New" pitchFamily="34" charset="-122"/>
                <a:cs typeface="Courier New" pitchFamily="34" charset="-120"/>
              </a:rPr>
              <a:t>/api/compliance-twin/</a:t>
            </a:r>
            <a:endParaRPr lang="en-US" sz="700" dirty="0"/>
          </a:p>
        </p:txBody>
      </p:sp>
      <p:sp>
        <p:nvSpPr>
          <p:cNvPr id="59" name="Text 57"/>
          <p:cNvSpPr/>
          <p:nvPr/>
        </p:nvSpPr>
        <p:spPr>
          <a:xfrm>
            <a:off x="731520" y="4709160"/>
            <a:ext cx="1645920" cy="22860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Kill Switch</a:t>
            </a:r>
            <a:endParaRPr lang="en-US" sz="800" dirty="0"/>
          </a:p>
        </p:txBody>
      </p:sp>
      <p:sp>
        <p:nvSpPr>
          <p:cNvPr id="60" name="Text 58"/>
          <p:cNvSpPr/>
          <p:nvPr/>
        </p:nvSpPr>
        <p:spPr>
          <a:xfrm>
            <a:off x="2377440" y="4709160"/>
            <a:ext cx="914400" cy="228600"/>
          </a:xfrm>
          <a:prstGeom prst="rect">
            <a:avLst/>
          </a:prstGeom>
          <a:noFill/>
          <a:ln/>
        </p:spPr>
        <p:txBody>
          <a:bodyPr wrap="square" rtlCol="0" anchor="ctr"/>
          <a:lstStyle/>
          <a:p>
            <a:pPr indent="0" marL="0">
              <a:buNone/>
            </a:pPr>
            <a:r>
              <a:rPr lang="en-US" sz="800" dirty="0">
                <a:solidFill>
                  <a:srgbClr val="10B981"/>
                </a:solidFill>
                <a:latin typeface="Courier New" pitchFamily="34" charset="0"/>
                <a:ea typeface="Courier New" pitchFamily="34" charset="-122"/>
                <a:cs typeface="Courier New" pitchFamily="34" charset="-120"/>
              </a:rPr>
              <a:t>19 routes</a:t>
            </a:r>
            <a:endParaRPr lang="en-US" sz="800" dirty="0"/>
          </a:p>
        </p:txBody>
      </p:sp>
      <p:sp>
        <p:nvSpPr>
          <p:cNvPr id="61" name="Text 59"/>
          <p:cNvSpPr/>
          <p:nvPr/>
        </p:nvSpPr>
        <p:spPr>
          <a:xfrm>
            <a:off x="731520" y="4937760"/>
            <a:ext cx="2560320" cy="182880"/>
          </a:xfrm>
          <a:prstGeom prst="rect">
            <a:avLst/>
          </a:prstGeom>
          <a:noFill/>
          <a:ln/>
        </p:spPr>
        <p:txBody>
          <a:bodyPr wrap="square" rtlCol="0" anchor="ctr"/>
          <a:lstStyle/>
          <a:p>
            <a:pPr indent="0" marL="0">
              <a:buNone/>
            </a:pPr>
            <a:r>
              <a:rPr lang="en-US" sz="700" dirty="0">
                <a:solidFill>
                  <a:srgbClr val="94A3B8"/>
                </a:solidFill>
                <a:latin typeface="Courier New" pitchFamily="34" charset="0"/>
                <a:ea typeface="Courier New" pitchFamily="34" charset="-122"/>
                <a:cs typeface="Courier New" pitchFamily="34" charset="-120"/>
              </a:rPr>
              <a:t>/api/kill-switch/</a:t>
            </a:r>
            <a:endParaRPr lang="en-US" sz="700" dirty="0"/>
          </a:p>
        </p:txBody>
      </p:sp>
      <p:sp>
        <p:nvSpPr>
          <p:cNvPr id="62" name="Text 60"/>
          <p:cNvSpPr/>
          <p:nvPr/>
        </p:nvSpPr>
        <p:spPr>
          <a:xfrm>
            <a:off x="3474720" y="4709160"/>
            <a:ext cx="1645920" cy="22860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Pipeline (Dashboard)</a:t>
            </a:r>
            <a:endParaRPr lang="en-US" sz="800" dirty="0"/>
          </a:p>
        </p:txBody>
      </p:sp>
      <p:sp>
        <p:nvSpPr>
          <p:cNvPr id="63" name="Text 61"/>
          <p:cNvSpPr/>
          <p:nvPr/>
        </p:nvSpPr>
        <p:spPr>
          <a:xfrm>
            <a:off x="5120640" y="4709160"/>
            <a:ext cx="914400" cy="228600"/>
          </a:xfrm>
          <a:prstGeom prst="rect">
            <a:avLst/>
          </a:prstGeom>
          <a:noFill/>
          <a:ln/>
        </p:spPr>
        <p:txBody>
          <a:bodyPr wrap="square" rtlCol="0" anchor="ctr"/>
          <a:lstStyle/>
          <a:p>
            <a:pPr indent="0" marL="0">
              <a:buNone/>
            </a:pPr>
            <a:r>
              <a:rPr lang="en-US" sz="800" dirty="0">
                <a:solidFill>
                  <a:srgbClr val="10B981"/>
                </a:solidFill>
                <a:latin typeface="Courier New" pitchFamily="34" charset="0"/>
                <a:ea typeface="Courier New" pitchFamily="34" charset="-122"/>
                <a:cs typeface="Courier New" pitchFamily="34" charset="-120"/>
              </a:rPr>
              <a:t>12 routes</a:t>
            </a:r>
            <a:endParaRPr lang="en-US" sz="800" dirty="0"/>
          </a:p>
        </p:txBody>
      </p:sp>
      <p:sp>
        <p:nvSpPr>
          <p:cNvPr id="64" name="Text 62"/>
          <p:cNvSpPr/>
          <p:nvPr/>
        </p:nvSpPr>
        <p:spPr>
          <a:xfrm>
            <a:off x="3474720" y="4937760"/>
            <a:ext cx="2560320" cy="182880"/>
          </a:xfrm>
          <a:prstGeom prst="rect">
            <a:avLst/>
          </a:prstGeom>
          <a:noFill/>
          <a:ln/>
        </p:spPr>
        <p:txBody>
          <a:bodyPr wrap="square" rtlCol="0" anchor="ctr"/>
          <a:lstStyle/>
          <a:p>
            <a:pPr indent="0" marL="0">
              <a:buNone/>
            </a:pPr>
            <a:r>
              <a:rPr lang="en-US" sz="700" dirty="0">
                <a:solidFill>
                  <a:srgbClr val="94A3B8"/>
                </a:solidFill>
                <a:latin typeface="Courier New" pitchFamily="34" charset="0"/>
                <a:ea typeface="Courier New" pitchFamily="34" charset="-122"/>
                <a:cs typeface="Courier New" pitchFamily="34" charset="-120"/>
              </a:rPr>
              <a:t>/api/pipeline/</a:t>
            </a:r>
            <a:endParaRPr lang="en-US" sz="700" dirty="0"/>
          </a:p>
        </p:txBody>
      </p:sp>
      <p:sp>
        <p:nvSpPr>
          <p:cNvPr id="65" name="Text 63"/>
          <p:cNvSpPr/>
          <p:nvPr/>
        </p:nvSpPr>
        <p:spPr>
          <a:xfrm>
            <a:off x="6217920" y="4709160"/>
            <a:ext cx="1645920" cy="228600"/>
          </a:xfrm>
          <a:prstGeom prst="rect">
            <a:avLst/>
          </a:prstGeom>
          <a:noFill/>
          <a:ln/>
        </p:spPr>
        <p:txBody>
          <a:bodyPr wrap="square" rtlCol="0" anchor="ctr"/>
          <a:lstStyle/>
          <a:p>
            <a:pPr indent="0" marL="0">
              <a:buNone/>
            </a:pPr>
            <a:r>
              <a:rPr lang="en-US" sz="800" dirty="0">
                <a:solidFill>
                  <a:srgbClr val="F8FAFC"/>
                </a:solidFill>
                <a:latin typeface="Calibri" pitchFamily="34" charset="0"/>
                <a:ea typeface="Calibri" pitchFamily="34" charset="-122"/>
                <a:cs typeface="Calibri" pitchFamily="34" charset="-120"/>
              </a:rPr>
              <a:t>Pipeline (Enterprise V1)</a:t>
            </a:r>
            <a:endParaRPr lang="en-US" sz="800" dirty="0"/>
          </a:p>
        </p:txBody>
      </p:sp>
      <p:sp>
        <p:nvSpPr>
          <p:cNvPr id="66" name="Text 64"/>
          <p:cNvSpPr/>
          <p:nvPr/>
        </p:nvSpPr>
        <p:spPr>
          <a:xfrm>
            <a:off x="7863840" y="4709160"/>
            <a:ext cx="914400" cy="228600"/>
          </a:xfrm>
          <a:prstGeom prst="rect">
            <a:avLst/>
          </a:prstGeom>
          <a:noFill/>
          <a:ln/>
        </p:spPr>
        <p:txBody>
          <a:bodyPr wrap="square" rtlCol="0" anchor="ctr"/>
          <a:lstStyle/>
          <a:p>
            <a:pPr indent="0" marL="0">
              <a:buNone/>
            </a:pPr>
            <a:r>
              <a:rPr lang="en-US" sz="800" dirty="0">
                <a:solidFill>
                  <a:srgbClr val="10B981"/>
                </a:solidFill>
                <a:latin typeface="Courier New" pitchFamily="34" charset="0"/>
                <a:ea typeface="Courier New" pitchFamily="34" charset="-122"/>
                <a:cs typeface="Courier New" pitchFamily="34" charset="-120"/>
              </a:rPr>
              <a:t>2 routes</a:t>
            </a:r>
            <a:endParaRPr lang="en-US" sz="800" dirty="0"/>
          </a:p>
        </p:txBody>
      </p:sp>
      <p:sp>
        <p:nvSpPr>
          <p:cNvPr id="67" name="Text 65"/>
          <p:cNvSpPr/>
          <p:nvPr/>
        </p:nvSpPr>
        <p:spPr>
          <a:xfrm>
            <a:off x="6217920" y="4937760"/>
            <a:ext cx="2560320" cy="182880"/>
          </a:xfrm>
          <a:prstGeom prst="rect">
            <a:avLst/>
          </a:prstGeom>
          <a:noFill/>
          <a:ln/>
        </p:spPr>
        <p:txBody>
          <a:bodyPr wrap="square" rtlCol="0" anchor="ctr"/>
          <a:lstStyle/>
          <a:p>
            <a:pPr indent="0" marL="0">
              <a:buNone/>
            </a:pPr>
            <a:r>
              <a:rPr lang="en-US" sz="700" dirty="0">
                <a:solidFill>
                  <a:srgbClr val="94A3B8"/>
                </a:solidFill>
                <a:latin typeface="Courier New" pitchFamily="34" charset="0"/>
                <a:ea typeface="Courier New" pitchFamily="34" charset="-122"/>
                <a:cs typeface="Courier New" pitchFamily="34" charset="-120"/>
              </a:rPr>
              <a:t>/api/v1/pipeline/</a:t>
            </a:r>
            <a:endParaRPr lang="en-US" sz="700" dirty="0"/>
          </a:p>
        </p:txBody>
      </p:sp>
      <p:sp>
        <p:nvSpPr>
          <p:cNvPr id="68" name="Text 66"/>
          <p:cNvSpPr/>
          <p:nvPr/>
        </p:nvSpPr>
        <p:spPr>
          <a:xfrm>
            <a:off x="731520" y="5486400"/>
            <a:ext cx="4572000" cy="274320"/>
          </a:xfrm>
          <a:prstGeom prst="rect">
            <a:avLst/>
          </a:prstGeom>
          <a:noFill/>
          <a:ln/>
        </p:spPr>
        <p:txBody>
          <a:bodyPr wrap="square" rtlCol="0" anchor="ctr"/>
          <a:lstStyle/>
          <a:p>
            <a:pPr indent="0" marL="0">
              <a:buNone/>
            </a:pPr>
            <a:r>
              <a:rPr lang="en-US" sz="1000" b="1" dirty="0">
                <a:solidFill>
                  <a:srgbClr val="10B981"/>
                </a:solidFill>
                <a:latin typeface="Courier New" pitchFamily="34" charset="0"/>
                <a:ea typeface="Courier New" pitchFamily="34" charset="-122"/>
                <a:cs typeface="Courier New" pitchFamily="34" charset="-120"/>
              </a:rPr>
              <a:t>Total API routes: 115</a:t>
            </a:r>
            <a:endParaRPr lang="en-US" sz="1000" dirty="0"/>
          </a:p>
        </p:txBody>
      </p:sp>
      <p:sp>
        <p:nvSpPr>
          <p:cNvPr id="69" name="Text 67"/>
          <p:cNvSpPr/>
          <p:nvPr/>
        </p:nvSpPr>
        <p:spPr>
          <a:xfrm>
            <a:off x="5029200" y="5486400"/>
            <a:ext cx="6400800" cy="274320"/>
          </a:xfrm>
          <a:prstGeom prst="rect">
            <a:avLst/>
          </a:prstGeom>
          <a:noFill/>
          <a:ln/>
        </p:spPr>
        <p:txBody>
          <a:bodyPr wrap="square"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Jurisdictions: 6  ·  Pipeline nodes: 6  ·  Seed rules: 23</a:t>
            </a:r>
            <a:endParaRPr lang="en-US" sz="900" dirty="0"/>
          </a:p>
        </p:txBody>
      </p:sp>
      <p:sp>
        <p:nvSpPr>
          <p:cNvPr id="70" name="Text 68"/>
          <p:cNvSpPr/>
          <p:nvPr/>
        </p:nvSpPr>
        <p:spPr>
          <a:xfrm>
            <a:off x="274320" y="6537960"/>
            <a:ext cx="7315200" cy="22860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HAIEC  ·  Confidential Discussion Brief  ·  13/14</a:t>
            </a:r>
            <a:endParaRPr lang="en-US" sz="800" dirty="0"/>
          </a:p>
        </p:txBody>
      </p:sp>
      <p:sp>
        <p:nvSpPr>
          <p:cNvPr id="71" name="Text 69"/>
          <p:cNvSpPr/>
          <p:nvPr/>
        </p:nvSpPr>
        <p:spPr>
          <a:xfrm>
            <a:off x="9448495" y="6537960"/>
            <a:ext cx="2468880" cy="228600"/>
          </a:xfrm>
          <a:prstGeom prst="rect">
            <a:avLst/>
          </a:prstGeom>
          <a:noFill/>
          <a:ln/>
        </p:spPr>
        <p:txBody>
          <a:bodyPr wrap="square" rtlCol="0" anchor="ctr"/>
          <a:lstStyle/>
          <a:p>
            <a:pPr algn="r" indent="0" marL="0">
              <a:buNone/>
            </a:pPr>
            <a:r>
              <a:rPr lang="en-US" sz="800" dirty="0">
                <a:solidFill>
                  <a:srgbClr val="64748B"/>
                </a:solidFill>
                <a:latin typeface="Courier New" pitchFamily="34" charset="0"/>
                <a:ea typeface="Courier New" pitchFamily="34" charset="-122"/>
                <a:cs typeface="Courier New" pitchFamily="34" charset="-120"/>
              </a:rPr>
              <a:t>v1.0  ·  2026-07-31</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365760"/>
            <a:ext cx="11094415" cy="502920"/>
          </a:xfrm>
          <a:prstGeom prst="rect">
            <a:avLst/>
          </a:prstGeom>
          <a:noFill/>
          <a:ln/>
        </p:spPr>
        <p:txBody>
          <a:bodyPr wrap="square" rtlCol="0" anchor="ctr"/>
          <a:lstStyle/>
          <a:p>
            <a:pPr algn="l" indent="0" marL="0">
              <a:buNone/>
            </a:pPr>
            <a:r>
              <a:rPr lang="en-US" sz="2600" b="1" dirty="0">
                <a:solidFill>
                  <a:srgbClr val="F8FAFC"/>
                </a:solidFill>
                <a:latin typeface="Calibri" pitchFamily="34" charset="0"/>
                <a:ea typeface="Calibri" pitchFamily="34" charset="-122"/>
                <a:cs typeface="Calibri" pitchFamily="34" charset="-120"/>
              </a:rPr>
              <a:t>Appendix C: Evidence Trust Model</a:t>
            </a:r>
            <a:endParaRPr lang="en-US" sz="2600" dirty="0"/>
          </a:p>
        </p:txBody>
      </p:sp>
      <p:sp>
        <p:nvSpPr>
          <p:cNvPr id="3" name="Shape 1"/>
          <p:cNvSpPr/>
          <p:nvPr/>
        </p:nvSpPr>
        <p:spPr>
          <a:xfrm>
            <a:off x="548640" y="914400"/>
            <a:ext cx="1371600" cy="36576"/>
          </a:xfrm>
          <a:prstGeom prst="rect">
            <a:avLst/>
          </a:prstGeom>
          <a:solidFill>
            <a:srgbClr val="10B981"/>
          </a:solidFill>
          <a:ln/>
        </p:spPr>
      </p:sp>
      <p:sp>
        <p:nvSpPr>
          <p:cNvPr id="4" name="Shape 2"/>
          <p:cNvSpPr/>
          <p:nvPr/>
        </p:nvSpPr>
        <p:spPr>
          <a:xfrm>
            <a:off x="548640" y="1097280"/>
            <a:ext cx="11064240" cy="2286000"/>
          </a:xfrm>
          <a:prstGeom prst="rect">
            <a:avLst>
              <a:gd name="adj" fmla="val 2000"/>
            </a:avLst>
          </a:prstGeom>
          <a:solidFill>
            <a:srgbClr val="1E293B"/>
          </a:solidFill>
          <a:ln w="6350">
            <a:solidFill>
              <a:srgbClr val="334155"/>
            </a:solidFill>
            <a:prstDash val="solid"/>
          </a:ln>
        </p:spPr>
      </p:sp>
      <p:sp>
        <p:nvSpPr>
          <p:cNvPr id="5" name="Text 3"/>
          <p:cNvSpPr/>
          <p:nvPr/>
        </p:nvSpPr>
        <p:spPr>
          <a:xfrm>
            <a:off x="731520" y="1188720"/>
            <a:ext cx="10698480" cy="274320"/>
          </a:xfrm>
          <a:prstGeom prst="rect">
            <a:avLst/>
          </a:prstGeom>
          <a:noFill/>
          <a:ln/>
        </p:spPr>
        <p:txBody>
          <a:bodyPr wrap="square"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Evidence Integrity Chain</a:t>
            </a:r>
            <a:endParaRPr lang="en-US" sz="1200" dirty="0"/>
          </a:p>
        </p:txBody>
      </p:sp>
      <p:sp>
        <p:nvSpPr>
          <p:cNvPr id="6" name="Shape 4"/>
          <p:cNvSpPr/>
          <p:nvPr/>
        </p:nvSpPr>
        <p:spPr>
          <a:xfrm>
            <a:off x="731520" y="1554480"/>
            <a:ext cx="73152" cy="365760"/>
          </a:xfrm>
          <a:prstGeom prst="rect">
            <a:avLst/>
          </a:prstGeom>
          <a:solidFill>
            <a:srgbClr val="10B981"/>
          </a:solidFill>
          <a:ln/>
        </p:spPr>
      </p:sp>
      <p:sp>
        <p:nvSpPr>
          <p:cNvPr id="7" name="Text 5"/>
          <p:cNvSpPr/>
          <p:nvPr/>
        </p:nvSpPr>
        <p:spPr>
          <a:xfrm>
            <a:off x="868680" y="1554480"/>
            <a:ext cx="5029200" cy="182880"/>
          </a:xfrm>
          <a:prstGeom prst="rect">
            <a:avLst/>
          </a:prstGeom>
          <a:noFill/>
          <a:ln/>
        </p:spPr>
        <p:txBody>
          <a:bodyPr wrap="square" rtlCol="0" anchor="ctr"/>
          <a:lstStyle/>
          <a:p>
            <a:pPr indent="0" marL="0">
              <a:buNone/>
            </a:pPr>
            <a:r>
              <a:rPr lang="en-US" sz="900" b="1" dirty="0">
                <a:solidFill>
                  <a:srgbClr val="F8FAFC"/>
                </a:solidFill>
                <a:latin typeface="Calibri" pitchFamily="34" charset="0"/>
                <a:ea typeface="Calibri" pitchFamily="34" charset="-122"/>
                <a:cs typeface="Calibri" pitchFamily="34" charset="-120"/>
              </a:rPr>
              <a:t>Configuration Hash</a:t>
            </a:r>
            <a:endParaRPr lang="en-US" sz="900" dirty="0"/>
          </a:p>
        </p:txBody>
      </p:sp>
      <p:sp>
        <p:nvSpPr>
          <p:cNvPr id="8" name="Text 6"/>
          <p:cNvSpPr/>
          <p:nvPr/>
        </p:nvSpPr>
        <p:spPr>
          <a:xfrm>
            <a:off x="868680" y="1737360"/>
            <a:ext cx="502920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SHA256 of run config snapshot frozen at run creation (R2-01). Includes engine versions, rulepack versions, compliance mapping versions.</a:t>
            </a:r>
            <a:endParaRPr lang="en-US" sz="700" dirty="0"/>
          </a:p>
        </p:txBody>
      </p:sp>
      <p:sp>
        <p:nvSpPr>
          <p:cNvPr id="9" name="Shape 7"/>
          <p:cNvSpPr/>
          <p:nvPr/>
        </p:nvSpPr>
        <p:spPr>
          <a:xfrm>
            <a:off x="6217920" y="1554480"/>
            <a:ext cx="73152" cy="365760"/>
          </a:xfrm>
          <a:prstGeom prst="rect">
            <a:avLst/>
          </a:prstGeom>
          <a:solidFill>
            <a:srgbClr val="10B981"/>
          </a:solidFill>
          <a:ln/>
        </p:spPr>
      </p:sp>
      <p:sp>
        <p:nvSpPr>
          <p:cNvPr id="10" name="Text 8"/>
          <p:cNvSpPr/>
          <p:nvPr/>
        </p:nvSpPr>
        <p:spPr>
          <a:xfrm>
            <a:off x="6355080" y="1554480"/>
            <a:ext cx="5029200" cy="182880"/>
          </a:xfrm>
          <a:prstGeom prst="rect">
            <a:avLst/>
          </a:prstGeom>
          <a:noFill/>
          <a:ln/>
        </p:spPr>
        <p:txBody>
          <a:bodyPr wrap="square" rtlCol="0" anchor="ctr"/>
          <a:lstStyle/>
          <a:p>
            <a:pPr indent="0" marL="0">
              <a:buNone/>
            </a:pPr>
            <a:r>
              <a:rPr lang="en-US" sz="900" b="1" dirty="0">
                <a:solidFill>
                  <a:srgbClr val="F8FAFC"/>
                </a:solidFill>
                <a:latin typeface="Calibri" pitchFamily="34" charset="0"/>
                <a:ea typeface="Calibri" pitchFamily="34" charset="-122"/>
                <a:cs typeface="Calibri" pitchFamily="34" charset="-120"/>
              </a:rPr>
              <a:t>Engine-Output Hash</a:t>
            </a:r>
            <a:endParaRPr lang="en-US" sz="900" dirty="0"/>
          </a:p>
        </p:txBody>
      </p:sp>
      <p:sp>
        <p:nvSpPr>
          <p:cNvPr id="11" name="Text 9"/>
          <p:cNvSpPr/>
          <p:nvPr/>
        </p:nvSpPr>
        <p:spPr>
          <a:xfrm>
            <a:off x="6355080" y="1737360"/>
            <a:ext cx="502920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SHA256 of canonicalized engine output. Stable key ordering, UTF-8 encoding. Computed by contract-validator.ts.</a:t>
            </a:r>
            <a:endParaRPr lang="en-US" sz="700" dirty="0"/>
          </a:p>
        </p:txBody>
      </p:sp>
      <p:sp>
        <p:nvSpPr>
          <p:cNvPr id="12" name="Shape 10"/>
          <p:cNvSpPr/>
          <p:nvPr/>
        </p:nvSpPr>
        <p:spPr>
          <a:xfrm>
            <a:off x="731520" y="2011680"/>
            <a:ext cx="73152" cy="365760"/>
          </a:xfrm>
          <a:prstGeom prst="rect">
            <a:avLst/>
          </a:prstGeom>
          <a:solidFill>
            <a:srgbClr val="10B981"/>
          </a:solidFill>
          <a:ln/>
        </p:spPr>
      </p:sp>
      <p:sp>
        <p:nvSpPr>
          <p:cNvPr id="13" name="Text 11"/>
          <p:cNvSpPr/>
          <p:nvPr/>
        </p:nvSpPr>
        <p:spPr>
          <a:xfrm>
            <a:off x="868680" y="2011680"/>
            <a:ext cx="5029200" cy="182880"/>
          </a:xfrm>
          <a:prstGeom prst="rect">
            <a:avLst/>
          </a:prstGeom>
          <a:noFill/>
          <a:ln/>
        </p:spPr>
        <p:txBody>
          <a:bodyPr wrap="square" rtlCol="0" anchor="ctr"/>
          <a:lstStyle/>
          <a:p>
            <a:pPr indent="0" marL="0">
              <a:buNone/>
            </a:pPr>
            <a:r>
              <a:rPr lang="en-US" sz="900" b="1" dirty="0">
                <a:solidFill>
                  <a:srgbClr val="F8FAFC"/>
                </a:solidFill>
                <a:latin typeface="Calibri" pitchFamily="34" charset="0"/>
                <a:ea typeface="Calibri" pitchFamily="34" charset="-122"/>
                <a:cs typeface="Calibri" pitchFamily="34" charset="-120"/>
              </a:rPr>
              <a:t>Run Fingerprint</a:t>
            </a:r>
            <a:endParaRPr lang="en-US" sz="900" dirty="0"/>
          </a:p>
        </p:txBody>
      </p:sp>
      <p:sp>
        <p:nvSpPr>
          <p:cNvPr id="14" name="Text 12"/>
          <p:cNvSpPr/>
          <p:nvPr/>
        </p:nvSpPr>
        <p:spPr>
          <a:xfrm>
            <a:off x="868680" y="2194560"/>
            <a:ext cx="502920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Per-run fingerprint combining all engine output hashes. Schema version 2. Detects version drift mid-run.</a:t>
            </a:r>
            <a:endParaRPr lang="en-US" sz="700" dirty="0"/>
          </a:p>
        </p:txBody>
      </p:sp>
      <p:sp>
        <p:nvSpPr>
          <p:cNvPr id="15" name="Shape 13"/>
          <p:cNvSpPr/>
          <p:nvPr/>
        </p:nvSpPr>
        <p:spPr>
          <a:xfrm>
            <a:off x="6217920" y="2011680"/>
            <a:ext cx="73152" cy="365760"/>
          </a:xfrm>
          <a:prstGeom prst="rect">
            <a:avLst/>
          </a:prstGeom>
          <a:solidFill>
            <a:srgbClr val="10B981"/>
          </a:solidFill>
          <a:ln/>
        </p:spPr>
      </p:sp>
      <p:sp>
        <p:nvSpPr>
          <p:cNvPr id="16" name="Text 14"/>
          <p:cNvSpPr/>
          <p:nvPr/>
        </p:nvSpPr>
        <p:spPr>
          <a:xfrm>
            <a:off x="6355080" y="2011680"/>
            <a:ext cx="5029200" cy="182880"/>
          </a:xfrm>
          <a:prstGeom prst="rect">
            <a:avLst/>
          </a:prstGeom>
          <a:noFill/>
          <a:ln/>
        </p:spPr>
        <p:txBody>
          <a:bodyPr wrap="square" rtlCol="0" anchor="ctr"/>
          <a:lstStyle/>
          <a:p>
            <a:pPr indent="0" marL="0">
              <a:buNone/>
            </a:pPr>
            <a:r>
              <a:rPr lang="en-US" sz="900" b="1" dirty="0">
                <a:solidFill>
                  <a:srgbClr val="F8FAFC"/>
                </a:solidFill>
                <a:latin typeface="Calibri" pitchFamily="34" charset="0"/>
                <a:ea typeface="Calibri" pitchFamily="34" charset="-122"/>
                <a:cs typeface="Calibri" pitchFamily="34" charset="-120"/>
              </a:rPr>
              <a:t>Event-Log Hash</a:t>
            </a:r>
            <a:endParaRPr lang="en-US" sz="900" dirty="0"/>
          </a:p>
        </p:txBody>
      </p:sp>
      <p:sp>
        <p:nvSpPr>
          <p:cNvPr id="17" name="Text 15"/>
          <p:cNvSpPr/>
          <p:nvPr/>
        </p:nvSpPr>
        <p:spPr>
          <a:xfrm>
            <a:off x="6355080" y="2194560"/>
            <a:ext cx="502920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Hash-chained append-only event log. eventHash = SHA256(seq + eventType + payload + prevEventHash). Tamper-evident.</a:t>
            </a:r>
            <a:endParaRPr lang="en-US" sz="700" dirty="0"/>
          </a:p>
        </p:txBody>
      </p:sp>
      <p:sp>
        <p:nvSpPr>
          <p:cNvPr id="18" name="Shape 16"/>
          <p:cNvSpPr/>
          <p:nvPr/>
        </p:nvSpPr>
        <p:spPr>
          <a:xfrm>
            <a:off x="731520" y="2468880"/>
            <a:ext cx="73152" cy="365760"/>
          </a:xfrm>
          <a:prstGeom prst="rect">
            <a:avLst/>
          </a:prstGeom>
          <a:solidFill>
            <a:srgbClr val="10B981"/>
          </a:solidFill>
          <a:ln/>
        </p:spPr>
      </p:sp>
      <p:sp>
        <p:nvSpPr>
          <p:cNvPr id="19" name="Text 17"/>
          <p:cNvSpPr/>
          <p:nvPr/>
        </p:nvSpPr>
        <p:spPr>
          <a:xfrm>
            <a:off x="868680" y="2468880"/>
            <a:ext cx="5029200" cy="182880"/>
          </a:xfrm>
          <a:prstGeom prst="rect">
            <a:avLst/>
          </a:prstGeom>
          <a:noFill/>
          <a:ln/>
        </p:spPr>
        <p:txBody>
          <a:bodyPr wrap="square" rtlCol="0" anchor="ctr"/>
          <a:lstStyle/>
          <a:p>
            <a:pPr indent="0" marL="0">
              <a:buNone/>
            </a:pPr>
            <a:r>
              <a:rPr lang="en-US" sz="900" b="1" dirty="0">
                <a:solidFill>
                  <a:srgbClr val="F8FAFC"/>
                </a:solidFill>
                <a:latin typeface="Calibri" pitchFamily="34" charset="0"/>
                <a:ea typeface="Calibri" pitchFamily="34" charset="-122"/>
                <a:cs typeface="Calibri" pitchFamily="34" charset="-120"/>
              </a:rPr>
              <a:t>HMAC Issuer Signature</a:t>
            </a:r>
            <a:endParaRPr lang="en-US" sz="900" dirty="0"/>
          </a:p>
        </p:txBody>
      </p:sp>
      <p:sp>
        <p:nvSpPr>
          <p:cNvPr id="20" name="Text 18"/>
          <p:cNvSpPr/>
          <p:nvPr/>
        </p:nvSpPr>
        <p:spPr>
          <a:xfrm>
            <a:off x="868680" y="2651760"/>
            <a:ext cx="502920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HMAC-SHA256 on verification responses. Algorithm version 1. Key rotation: primary, previous, legacy. Replay protection via nonces.</a:t>
            </a:r>
            <a:endParaRPr lang="en-US" sz="700" dirty="0"/>
          </a:p>
        </p:txBody>
      </p:sp>
      <p:sp>
        <p:nvSpPr>
          <p:cNvPr id="21" name="Shape 19"/>
          <p:cNvSpPr/>
          <p:nvPr/>
        </p:nvSpPr>
        <p:spPr>
          <a:xfrm>
            <a:off x="6217920" y="2468880"/>
            <a:ext cx="73152" cy="365760"/>
          </a:xfrm>
          <a:prstGeom prst="rect">
            <a:avLst/>
          </a:prstGeom>
          <a:solidFill>
            <a:srgbClr val="10B981"/>
          </a:solidFill>
          <a:ln/>
        </p:spPr>
      </p:sp>
      <p:sp>
        <p:nvSpPr>
          <p:cNvPr id="22" name="Text 20"/>
          <p:cNvSpPr/>
          <p:nvPr/>
        </p:nvSpPr>
        <p:spPr>
          <a:xfrm>
            <a:off x="6355080" y="2468880"/>
            <a:ext cx="5029200" cy="182880"/>
          </a:xfrm>
          <a:prstGeom prst="rect">
            <a:avLst/>
          </a:prstGeom>
          <a:noFill/>
          <a:ln/>
        </p:spPr>
        <p:txBody>
          <a:bodyPr wrap="square" rtlCol="0" anchor="ctr"/>
          <a:lstStyle/>
          <a:p>
            <a:pPr indent="0" marL="0">
              <a:buNone/>
            </a:pPr>
            <a:r>
              <a:rPr lang="en-US" sz="900" b="1" dirty="0">
                <a:solidFill>
                  <a:srgbClr val="F8FAFC"/>
                </a:solidFill>
                <a:latin typeface="Calibri" pitchFamily="34" charset="0"/>
                <a:ea typeface="Calibri" pitchFamily="34" charset="-122"/>
                <a:cs typeface="Calibri" pitchFamily="34" charset="-120"/>
              </a:rPr>
              <a:t>Validity Window</a:t>
            </a:r>
            <a:endParaRPr lang="en-US" sz="900" dirty="0"/>
          </a:p>
        </p:txBody>
      </p:sp>
      <p:sp>
        <p:nvSpPr>
          <p:cNvPr id="23" name="Text 21"/>
          <p:cNvSpPr/>
          <p:nvPr/>
        </p:nvSpPr>
        <p:spPr>
          <a:xfrm>
            <a:off x="6355080" y="2651760"/>
            <a:ext cx="502920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Issued-at and expires-at timestamps. ArtifactValidityStatus: VALID, EXPIRED, REVOKED. Revocation events tracked.</a:t>
            </a:r>
            <a:endParaRPr lang="en-US" sz="700" dirty="0"/>
          </a:p>
        </p:txBody>
      </p:sp>
      <p:sp>
        <p:nvSpPr>
          <p:cNvPr id="24" name="Shape 22"/>
          <p:cNvSpPr/>
          <p:nvPr/>
        </p:nvSpPr>
        <p:spPr>
          <a:xfrm>
            <a:off x="731520" y="2926080"/>
            <a:ext cx="73152" cy="365760"/>
          </a:xfrm>
          <a:prstGeom prst="rect">
            <a:avLst/>
          </a:prstGeom>
          <a:solidFill>
            <a:srgbClr val="10B981"/>
          </a:solidFill>
          <a:ln/>
        </p:spPr>
      </p:sp>
      <p:sp>
        <p:nvSpPr>
          <p:cNvPr id="25" name="Text 23"/>
          <p:cNvSpPr/>
          <p:nvPr/>
        </p:nvSpPr>
        <p:spPr>
          <a:xfrm>
            <a:off x="868680" y="2926080"/>
            <a:ext cx="5029200" cy="182880"/>
          </a:xfrm>
          <a:prstGeom prst="rect">
            <a:avLst/>
          </a:prstGeom>
          <a:noFill/>
          <a:ln/>
        </p:spPr>
        <p:txBody>
          <a:bodyPr wrap="square" rtlCol="0" anchor="ctr"/>
          <a:lstStyle/>
          <a:p>
            <a:pPr indent="0" marL="0">
              <a:buNone/>
            </a:pPr>
            <a:r>
              <a:rPr lang="en-US" sz="900" b="1" dirty="0">
                <a:solidFill>
                  <a:srgbClr val="F8FAFC"/>
                </a:solidFill>
                <a:latin typeface="Calibri" pitchFamily="34" charset="0"/>
                <a:ea typeface="Calibri" pitchFamily="34" charset="-122"/>
                <a:cs typeface="Calibri" pitchFamily="34" charset="-120"/>
              </a:rPr>
              <a:t>Invalidation Triggers</a:t>
            </a:r>
            <a:endParaRPr lang="en-US" sz="900" dirty="0"/>
          </a:p>
        </p:txBody>
      </p:sp>
      <p:sp>
        <p:nvSpPr>
          <p:cNvPr id="26" name="Text 24"/>
          <p:cNvSpPr/>
          <p:nvPr/>
        </p:nvSpPr>
        <p:spPr>
          <a:xfrm>
            <a:off x="868680" y="3108960"/>
            <a:ext cx="502920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New scan with critical findings, manual revocation, expiration, scope change detection via Compliance Twin delta engine.</a:t>
            </a:r>
            <a:endParaRPr lang="en-US" sz="700" dirty="0"/>
          </a:p>
        </p:txBody>
      </p:sp>
      <p:sp>
        <p:nvSpPr>
          <p:cNvPr id="27" name="Shape 25"/>
          <p:cNvSpPr/>
          <p:nvPr/>
        </p:nvSpPr>
        <p:spPr>
          <a:xfrm>
            <a:off x="6217920" y="2926080"/>
            <a:ext cx="73152" cy="365760"/>
          </a:xfrm>
          <a:prstGeom prst="rect">
            <a:avLst/>
          </a:prstGeom>
          <a:solidFill>
            <a:srgbClr val="10B981"/>
          </a:solidFill>
          <a:ln/>
        </p:spPr>
      </p:sp>
      <p:sp>
        <p:nvSpPr>
          <p:cNvPr id="28" name="Text 26"/>
          <p:cNvSpPr/>
          <p:nvPr/>
        </p:nvSpPr>
        <p:spPr>
          <a:xfrm>
            <a:off x="6355080" y="2926080"/>
            <a:ext cx="5029200" cy="182880"/>
          </a:xfrm>
          <a:prstGeom prst="rect">
            <a:avLst/>
          </a:prstGeom>
          <a:noFill/>
          <a:ln/>
        </p:spPr>
        <p:txBody>
          <a:bodyPr wrap="square" rtlCol="0" anchor="ctr"/>
          <a:lstStyle/>
          <a:p>
            <a:pPr indent="0" marL="0">
              <a:buNone/>
            </a:pPr>
            <a:r>
              <a:rPr lang="en-US" sz="900" b="1" dirty="0">
                <a:solidFill>
                  <a:srgbClr val="F8FAFC"/>
                </a:solidFill>
                <a:latin typeface="Calibri" pitchFamily="34" charset="0"/>
                <a:ea typeface="Calibri" pitchFamily="34" charset="-122"/>
                <a:cs typeface="Calibri" pitchFamily="34" charset="-120"/>
              </a:rPr>
              <a:t>HAIEC Verification Endpoint</a:t>
            </a:r>
            <a:endParaRPr lang="en-US" sz="900" dirty="0"/>
          </a:p>
        </p:txBody>
      </p:sp>
      <p:sp>
        <p:nvSpPr>
          <p:cNvPr id="29" name="Text 27"/>
          <p:cNvSpPr/>
          <p:nvPr/>
        </p:nvSpPr>
        <p:spPr>
          <a:xfrm>
            <a:off x="6355080" y="3108960"/>
            <a:ext cx="502920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GET /api/verify/[artifactId] returns signed verification response. SignedVerificationResponse with data + issuerSignature + dataHash.</a:t>
            </a:r>
            <a:endParaRPr lang="en-US" sz="700" dirty="0"/>
          </a:p>
        </p:txBody>
      </p:sp>
      <p:sp>
        <p:nvSpPr>
          <p:cNvPr id="30" name="Shape 28"/>
          <p:cNvSpPr/>
          <p:nvPr/>
        </p:nvSpPr>
        <p:spPr>
          <a:xfrm>
            <a:off x="548640" y="3566160"/>
            <a:ext cx="5303520" cy="2286000"/>
          </a:xfrm>
          <a:prstGeom prst="rect">
            <a:avLst>
              <a:gd name="adj" fmla="val 2000"/>
            </a:avLst>
          </a:prstGeom>
          <a:solidFill>
            <a:srgbClr val="1E293B"/>
          </a:solidFill>
          <a:ln w="6350">
            <a:solidFill>
              <a:srgbClr val="334155"/>
            </a:solidFill>
            <a:prstDash val="solid"/>
          </a:ln>
        </p:spPr>
      </p:sp>
      <p:sp>
        <p:nvSpPr>
          <p:cNvPr id="31" name="Text 29"/>
          <p:cNvSpPr/>
          <p:nvPr/>
        </p:nvSpPr>
        <p:spPr>
          <a:xfrm>
            <a:off x="731520" y="3657600"/>
            <a:ext cx="4937760" cy="274320"/>
          </a:xfrm>
          <a:prstGeom prst="rect">
            <a:avLst/>
          </a:prstGeom>
          <a:noFill/>
          <a:ln/>
        </p:spPr>
        <p:txBody>
          <a:bodyPr wrap="square"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Evidence Types</a:t>
            </a:r>
            <a:endParaRPr lang="en-US" sz="1100" dirty="0"/>
          </a:p>
        </p:txBody>
      </p:sp>
      <p:sp>
        <p:nvSpPr>
          <p:cNvPr id="32" name="Text 30"/>
          <p:cNvSpPr/>
          <p:nvPr/>
        </p:nvSpPr>
        <p:spPr>
          <a:xfrm>
            <a:off x="731520" y="4023360"/>
            <a:ext cx="2286000" cy="274320"/>
          </a:xfrm>
          <a:prstGeom prst="rect">
            <a:avLst/>
          </a:prstGeom>
          <a:noFill/>
          <a:ln/>
        </p:spPr>
        <p:txBody>
          <a:bodyPr wrap="square" rtlCol="0" anchor="ctr"/>
          <a:lstStyle/>
          <a:p>
            <a:pPr indent="0" marL="0">
              <a:buNone/>
            </a:pPr>
            <a:r>
              <a:rPr lang="en-US" sz="800" dirty="0">
                <a:solidFill>
                  <a:srgbClr val="10B981"/>
                </a:solidFill>
                <a:latin typeface="Courier New" pitchFamily="34" charset="0"/>
                <a:ea typeface="Courier New" pitchFamily="34" charset="-122"/>
                <a:cs typeface="Courier New" pitchFamily="34" charset="-120"/>
              </a:rPr>
              <a:t>ENGINE_GENERATED</a:t>
            </a:r>
            <a:endParaRPr lang="en-US" sz="800" dirty="0"/>
          </a:p>
        </p:txBody>
      </p:sp>
      <p:sp>
        <p:nvSpPr>
          <p:cNvPr id="33" name="Text 31"/>
          <p:cNvSpPr/>
          <p:nvPr/>
        </p:nvSpPr>
        <p:spPr>
          <a:xfrm>
            <a:off x="3017520" y="4023360"/>
            <a:ext cx="2651760" cy="27432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Static scan findings, runtime test results</a:t>
            </a:r>
            <a:endParaRPr lang="en-US" sz="800" dirty="0"/>
          </a:p>
        </p:txBody>
      </p:sp>
      <p:sp>
        <p:nvSpPr>
          <p:cNvPr id="34" name="Text 32"/>
          <p:cNvSpPr/>
          <p:nvPr/>
        </p:nvSpPr>
        <p:spPr>
          <a:xfrm>
            <a:off x="731520" y="4343400"/>
            <a:ext cx="2286000" cy="274320"/>
          </a:xfrm>
          <a:prstGeom prst="rect">
            <a:avLst/>
          </a:prstGeom>
          <a:noFill/>
          <a:ln/>
        </p:spPr>
        <p:txBody>
          <a:bodyPr wrap="square" rtlCol="0" anchor="ctr"/>
          <a:lstStyle/>
          <a:p>
            <a:pPr indent="0" marL="0">
              <a:buNone/>
            </a:pPr>
            <a:r>
              <a:rPr lang="en-US" sz="800" dirty="0">
                <a:solidFill>
                  <a:srgbClr val="10B981"/>
                </a:solidFill>
                <a:latin typeface="Courier New" pitchFamily="34" charset="0"/>
                <a:ea typeface="Courier New" pitchFamily="34" charset="-122"/>
                <a:cs typeface="Courier New" pitchFamily="34" charset="-120"/>
              </a:rPr>
              <a:t>SELF_REPORTED</a:t>
            </a:r>
            <a:endParaRPr lang="en-US" sz="800" dirty="0"/>
          </a:p>
        </p:txBody>
      </p:sp>
      <p:sp>
        <p:nvSpPr>
          <p:cNvPr id="35" name="Text 33"/>
          <p:cNvSpPr/>
          <p:nvPr/>
        </p:nvSpPr>
        <p:spPr>
          <a:xfrm>
            <a:off x="3017520" y="4343400"/>
            <a:ext cx="2651760" cy="27432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Wizard assessment responses</a:t>
            </a:r>
            <a:endParaRPr lang="en-US" sz="800" dirty="0"/>
          </a:p>
        </p:txBody>
      </p:sp>
      <p:sp>
        <p:nvSpPr>
          <p:cNvPr id="36" name="Text 34"/>
          <p:cNvSpPr/>
          <p:nvPr/>
        </p:nvSpPr>
        <p:spPr>
          <a:xfrm>
            <a:off x="731520" y="4663440"/>
            <a:ext cx="2286000" cy="274320"/>
          </a:xfrm>
          <a:prstGeom prst="rect">
            <a:avLst/>
          </a:prstGeom>
          <a:noFill/>
          <a:ln/>
        </p:spPr>
        <p:txBody>
          <a:bodyPr wrap="square" rtlCol="0" anchor="ctr"/>
          <a:lstStyle/>
          <a:p>
            <a:pPr indent="0" marL="0">
              <a:buNone/>
            </a:pPr>
            <a:r>
              <a:rPr lang="en-US" sz="800" dirty="0">
                <a:solidFill>
                  <a:srgbClr val="10B981"/>
                </a:solidFill>
                <a:latin typeface="Courier New" pitchFamily="34" charset="0"/>
                <a:ea typeface="Courier New" pitchFamily="34" charset="-122"/>
                <a:cs typeface="Courier New" pitchFamily="34" charset="-120"/>
              </a:rPr>
              <a:t>INFERRED</a:t>
            </a:r>
            <a:endParaRPr lang="en-US" sz="800" dirty="0"/>
          </a:p>
        </p:txBody>
      </p:sp>
      <p:sp>
        <p:nvSpPr>
          <p:cNvPr id="37" name="Text 35"/>
          <p:cNvSpPr/>
          <p:nvPr/>
        </p:nvSpPr>
        <p:spPr>
          <a:xfrm>
            <a:off x="3017520" y="4663440"/>
            <a:ext cx="2651760" cy="27432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Compliance Twin state, framework mappings</a:t>
            </a:r>
            <a:endParaRPr lang="en-US" sz="800" dirty="0"/>
          </a:p>
        </p:txBody>
      </p:sp>
      <p:sp>
        <p:nvSpPr>
          <p:cNvPr id="38" name="Shape 36"/>
          <p:cNvSpPr/>
          <p:nvPr/>
        </p:nvSpPr>
        <p:spPr>
          <a:xfrm>
            <a:off x="731520" y="5029200"/>
            <a:ext cx="4937760" cy="731520"/>
          </a:xfrm>
          <a:prstGeom prst="rect">
            <a:avLst>
              <a:gd name="adj" fmla="val 6250"/>
            </a:avLst>
          </a:prstGeom>
          <a:solidFill>
            <a:srgbClr val="0F172A"/>
          </a:solidFill>
          <a:ln w="6350">
            <a:solidFill>
              <a:srgbClr val="10B981"/>
            </a:solidFill>
            <a:prstDash val="solid"/>
          </a:ln>
        </p:spPr>
      </p:sp>
      <p:sp>
        <p:nvSpPr>
          <p:cNvPr id="39" name="Text 37"/>
          <p:cNvSpPr/>
          <p:nvPr/>
        </p:nvSpPr>
        <p:spPr>
          <a:xfrm>
            <a:off x="822960" y="5074920"/>
            <a:ext cx="4754880" cy="228600"/>
          </a:xfrm>
          <a:prstGeom prst="rect">
            <a:avLst/>
          </a:prstGeom>
          <a:noFill/>
          <a:ln/>
        </p:spPr>
        <p:txBody>
          <a:bodyPr wrap="square" rtlCol="0" anchor="ctr"/>
          <a:lstStyle/>
          <a:p>
            <a:pPr indent="0" marL="0">
              <a:buNone/>
            </a:pPr>
            <a:r>
              <a:rPr lang="en-US" sz="800" b="1" dirty="0">
                <a:solidFill>
                  <a:srgbClr val="10B981"/>
                </a:solidFill>
                <a:latin typeface="Calibri" pitchFamily="34" charset="0"/>
                <a:ea typeface="Calibri" pitchFamily="34" charset="-122"/>
                <a:cs typeface="Calibri" pitchFamily="34" charset="-120"/>
              </a:rPr>
              <a:t>Verification Architecture</a:t>
            </a:r>
            <a:endParaRPr lang="en-US" sz="800" dirty="0"/>
          </a:p>
        </p:txBody>
      </p:sp>
      <p:sp>
        <p:nvSpPr>
          <p:cNvPr id="40" name="Text 38"/>
          <p:cNvSpPr/>
          <p:nvPr/>
        </p:nvSpPr>
        <p:spPr>
          <a:xfrm>
            <a:off x="822960" y="5303520"/>
            <a:ext cx="4754880" cy="45720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HMAC-SHA256 provides integrity and authentication for verification responses. Verification via HAIEC /api/verify endpoint with key rotation and replay protection. Upgrade path: Ed25519 asymmetric signatures for third-party-verifiable non-repudiation.</a:t>
            </a:r>
            <a:endParaRPr lang="en-US" sz="700" dirty="0"/>
          </a:p>
        </p:txBody>
      </p:sp>
      <p:sp>
        <p:nvSpPr>
          <p:cNvPr id="41" name="Shape 39"/>
          <p:cNvSpPr/>
          <p:nvPr/>
        </p:nvSpPr>
        <p:spPr>
          <a:xfrm>
            <a:off x="6309360" y="3566160"/>
            <a:ext cx="5303520" cy="2286000"/>
          </a:xfrm>
          <a:prstGeom prst="rect">
            <a:avLst>
              <a:gd name="adj" fmla="val 2000"/>
            </a:avLst>
          </a:prstGeom>
          <a:solidFill>
            <a:srgbClr val="1E293B"/>
          </a:solidFill>
          <a:ln w="6350">
            <a:solidFill>
              <a:srgbClr val="334155"/>
            </a:solidFill>
            <a:prstDash val="solid"/>
          </a:ln>
        </p:spPr>
      </p:sp>
      <p:sp>
        <p:nvSpPr>
          <p:cNvPr id="42" name="Text 40"/>
          <p:cNvSpPr/>
          <p:nvPr/>
        </p:nvSpPr>
        <p:spPr>
          <a:xfrm>
            <a:off x="6492240" y="3657600"/>
            <a:ext cx="4937760" cy="274320"/>
          </a:xfrm>
          <a:prstGeom prst="rect">
            <a:avLst/>
          </a:prstGeom>
          <a:noFill/>
          <a:ln/>
        </p:spPr>
        <p:txBody>
          <a:bodyPr wrap="square"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Trust Artifact Types</a:t>
            </a:r>
            <a:endParaRPr lang="en-US" sz="1100" dirty="0"/>
          </a:p>
        </p:txBody>
      </p:sp>
      <p:sp>
        <p:nvSpPr>
          <p:cNvPr id="43" name="Text 41"/>
          <p:cNvSpPr/>
          <p:nvPr/>
        </p:nvSpPr>
        <p:spPr>
          <a:xfrm>
            <a:off x="6492240" y="4023360"/>
            <a:ext cx="2743200" cy="274320"/>
          </a:xfrm>
          <a:prstGeom prst="rect">
            <a:avLst/>
          </a:prstGeom>
          <a:noFill/>
          <a:ln/>
        </p:spPr>
        <p:txBody>
          <a:bodyPr wrap="square" rtlCol="0" anchor="ctr"/>
          <a:lstStyle/>
          <a:p>
            <a:pPr indent="0" marL="0">
              <a:buNone/>
            </a:pPr>
            <a:r>
              <a:rPr lang="en-US" sz="700" dirty="0">
                <a:solidFill>
                  <a:srgbClr val="10B981"/>
                </a:solidFill>
                <a:latin typeface="Courier New" pitchFamily="34" charset="0"/>
                <a:ea typeface="Courier New" pitchFamily="34" charset="-122"/>
                <a:cs typeface="Courier New" pitchFamily="34" charset="-120"/>
              </a:rPr>
              <a:t>AI_SECURITY_ATTESTATION</a:t>
            </a:r>
            <a:endParaRPr lang="en-US" sz="700" dirty="0"/>
          </a:p>
        </p:txBody>
      </p:sp>
      <p:sp>
        <p:nvSpPr>
          <p:cNvPr id="44" name="Text 42"/>
          <p:cNvSpPr/>
          <p:nvPr/>
        </p:nvSpPr>
        <p:spPr>
          <a:xfrm>
            <a:off x="9235440" y="4023360"/>
            <a:ext cx="2194560" cy="27432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SCANNED → PROTECTED → SECURED</a:t>
            </a:r>
            <a:endParaRPr lang="en-US" sz="700" dirty="0"/>
          </a:p>
        </p:txBody>
      </p:sp>
      <p:sp>
        <p:nvSpPr>
          <p:cNvPr id="45" name="Text 43"/>
          <p:cNvSpPr/>
          <p:nvPr/>
        </p:nvSpPr>
        <p:spPr>
          <a:xfrm>
            <a:off x="6492240" y="4343400"/>
            <a:ext cx="2743200" cy="274320"/>
          </a:xfrm>
          <a:prstGeom prst="rect">
            <a:avLst/>
          </a:prstGeom>
          <a:noFill/>
          <a:ln/>
        </p:spPr>
        <p:txBody>
          <a:bodyPr wrap="square" rtlCol="0" anchor="ctr"/>
          <a:lstStyle/>
          <a:p>
            <a:pPr indent="0" marL="0">
              <a:buNone/>
            </a:pPr>
            <a:r>
              <a:rPr lang="en-US" sz="700" dirty="0">
                <a:solidFill>
                  <a:srgbClr val="10B981"/>
                </a:solidFill>
                <a:latin typeface="Courier New" pitchFamily="34" charset="0"/>
                <a:ea typeface="Courier New" pitchFamily="34" charset="-122"/>
                <a:cs typeface="Courier New" pitchFamily="34" charset="-120"/>
              </a:rPr>
              <a:t>COMPLIANCE_EVIDENCE_MARK</a:t>
            </a:r>
            <a:endParaRPr lang="en-US" sz="700" dirty="0"/>
          </a:p>
        </p:txBody>
      </p:sp>
      <p:sp>
        <p:nvSpPr>
          <p:cNvPr id="46" name="Text 44"/>
          <p:cNvSpPr/>
          <p:nvPr/>
        </p:nvSpPr>
        <p:spPr>
          <a:xfrm>
            <a:off x="9235440" y="4343400"/>
            <a:ext cx="2194560" cy="27432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EVIDENCE_READY / EVIDENCE_PARTIAL</a:t>
            </a:r>
            <a:endParaRPr lang="en-US" sz="700" dirty="0"/>
          </a:p>
        </p:txBody>
      </p:sp>
      <p:sp>
        <p:nvSpPr>
          <p:cNvPr id="47" name="Text 45"/>
          <p:cNvSpPr/>
          <p:nvPr/>
        </p:nvSpPr>
        <p:spPr>
          <a:xfrm>
            <a:off x="6492240" y="4663440"/>
            <a:ext cx="2743200" cy="274320"/>
          </a:xfrm>
          <a:prstGeom prst="rect">
            <a:avLst/>
          </a:prstGeom>
          <a:noFill/>
          <a:ln/>
        </p:spPr>
        <p:txBody>
          <a:bodyPr wrap="square" rtlCol="0" anchor="ctr"/>
          <a:lstStyle/>
          <a:p>
            <a:pPr indent="0" marL="0">
              <a:buNone/>
            </a:pPr>
            <a:r>
              <a:rPr lang="en-US" sz="700" dirty="0">
                <a:solidFill>
                  <a:srgbClr val="10B981"/>
                </a:solidFill>
                <a:latin typeface="Courier New" pitchFamily="34" charset="0"/>
                <a:ea typeface="Courier New" pitchFamily="34" charset="-122"/>
                <a:cs typeface="Courier New" pitchFamily="34" charset="-120"/>
              </a:rPr>
              <a:t>NYC_LL144_ATTESTATION</a:t>
            </a:r>
            <a:endParaRPr lang="en-US" sz="700" dirty="0"/>
          </a:p>
        </p:txBody>
      </p:sp>
      <p:sp>
        <p:nvSpPr>
          <p:cNvPr id="48" name="Text 46"/>
          <p:cNvSpPr/>
          <p:nvPr/>
        </p:nvSpPr>
        <p:spPr>
          <a:xfrm>
            <a:off x="9235440" y="4663440"/>
            <a:ext cx="2194560" cy="27432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AUDIT_READY / IN_PROGRESS / NOT_READY</a:t>
            </a:r>
            <a:endParaRPr lang="en-US" sz="700" dirty="0"/>
          </a:p>
        </p:txBody>
      </p:sp>
      <p:sp>
        <p:nvSpPr>
          <p:cNvPr id="49" name="Text 47"/>
          <p:cNvSpPr/>
          <p:nvPr/>
        </p:nvSpPr>
        <p:spPr>
          <a:xfrm>
            <a:off x="6492240" y="4983480"/>
            <a:ext cx="2743200" cy="274320"/>
          </a:xfrm>
          <a:prstGeom prst="rect">
            <a:avLst/>
          </a:prstGeom>
          <a:noFill/>
          <a:ln/>
        </p:spPr>
        <p:txBody>
          <a:bodyPr wrap="square" rtlCol="0" anchor="ctr"/>
          <a:lstStyle/>
          <a:p>
            <a:pPr indent="0" marL="0">
              <a:buNone/>
            </a:pPr>
            <a:r>
              <a:rPr lang="en-US" sz="700" dirty="0">
                <a:solidFill>
                  <a:srgbClr val="10B981"/>
                </a:solidFill>
                <a:latin typeface="Courier New" pitchFamily="34" charset="0"/>
                <a:ea typeface="Courier New" pitchFamily="34" charset="-122"/>
                <a:cs typeface="Courier New" pitchFamily="34" charset="-120"/>
              </a:rPr>
              <a:t>BIAS_AUDIT_ATTESTATION</a:t>
            </a:r>
            <a:endParaRPr lang="en-US" sz="700" dirty="0"/>
          </a:p>
        </p:txBody>
      </p:sp>
      <p:sp>
        <p:nvSpPr>
          <p:cNvPr id="50" name="Text 48"/>
          <p:cNvSpPr/>
          <p:nvPr/>
        </p:nvSpPr>
        <p:spPr>
          <a:xfrm>
            <a:off x="9235440" y="4983480"/>
            <a:ext cx="2194560" cy="27432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LOW_RISK / MEDIUM_RISK / HIGH_RISK</a:t>
            </a:r>
            <a:endParaRPr lang="en-US" sz="700" dirty="0"/>
          </a:p>
        </p:txBody>
      </p:sp>
      <p:sp>
        <p:nvSpPr>
          <p:cNvPr id="51" name="Shape 49"/>
          <p:cNvSpPr/>
          <p:nvPr/>
        </p:nvSpPr>
        <p:spPr>
          <a:xfrm>
            <a:off x="6492240" y="5029200"/>
            <a:ext cx="4937760" cy="731520"/>
          </a:xfrm>
          <a:prstGeom prst="rect">
            <a:avLst>
              <a:gd name="adj" fmla="val 6250"/>
            </a:avLst>
          </a:prstGeom>
          <a:solidFill>
            <a:srgbClr val="0F172A"/>
          </a:solidFill>
          <a:ln w="6350">
            <a:solidFill>
              <a:srgbClr val="10B981"/>
            </a:solidFill>
            <a:prstDash val="solid"/>
          </a:ln>
        </p:spPr>
      </p:sp>
      <p:sp>
        <p:nvSpPr>
          <p:cNvPr id="52" name="Text 50"/>
          <p:cNvSpPr/>
          <p:nvPr/>
        </p:nvSpPr>
        <p:spPr>
          <a:xfrm>
            <a:off x="6583680" y="5074920"/>
            <a:ext cx="4754880" cy="228600"/>
          </a:xfrm>
          <a:prstGeom prst="rect">
            <a:avLst/>
          </a:prstGeom>
          <a:noFill/>
          <a:ln/>
        </p:spPr>
        <p:txBody>
          <a:bodyPr wrap="square" rtlCol="0" anchor="ctr"/>
          <a:lstStyle/>
          <a:p>
            <a:pPr indent="0" marL="0">
              <a:buNone/>
            </a:pPr>
            <a:r>
              <a:rPr lang="en-US" sz="800" b="1" dirty="0">
                <a:solidFill>
                  <a:srgbClr val="10B981"/>
                </a:solidFill>
                <a:latin typeface="Calibri" pitchFamily="34" charset="0"/>
                <a:ea typeface="Calibri" pitchFamily="34" charset="-122"/>
                <a:cs typeface="Calibri" pitchFamily="34" charset="-120"/>
              </a:rPr>
              <a:t>Scope Verification</a:t>
            </a:r>
            <a:endParaRPr lang="en-US" sz="800" dirty="0"/>
          </a:p>
        </p:txBody>
      </p:sp>
      <p:sp>
        <p:nvSpPr>
          <p:cNvPr id="53" name="Text 51"/>
          <p:cNvSpPr/>
          <p:nvPr/>
        </p:nvSpPr>
        <p:spPr>
          <a:xfrm>
            <a:off x="6583680" y="5303520"/>
            <a:ext cx="4754880" cy="45720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Each artifact carries scopeVerified and scopeNotVerified arrays. Status labels (e.g., SECURED) reflect rule pass/fail posture within verified scope, providing precise, scoped assurance.</a:t>
            </a:r>
            <a:endParaRPr lang="en-US" sz="700" dirty="0"/>
          </a:p>
        </p:txBody>
      </p:sp>
      <p:sp>
        <p:nvSpPr>
          <p:cNvPr id="54" name="Text 52"/>
          <p:cNvSpPr/>
          <p:nvPr/>
        </p:nvSpPr>
        <p:spPr>
          <a:xfrm>
            <a:off x="274320" y="6537960"/>
            <a:ext cx="7315200" cy="22860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HAIEC  ·  Confidential Discussion Brief  ·  14/14</a:t>
            </a:r>
            <a:endParaRPr lang="en-US" sz="800" dirty="0"/>
          </a:p>
        </p:txBody>
      </p:sp>
      <p:sp>
        <p:nvSpPr>
          <p:cNvPr id="55" name="Text 53"/>
          <p:cNvSpPr/>
          <p:nvPr/>
        </p:nvSpPr>
        <p:spPr>
          <a:xfrm>
            <a:off x="9448495" y="6537960"/>
            <a:ext cx="2468880" cy="228600"/>
          </a:xfrm>
          <a:prstGeom prst="rect">
            <a:avLst/>
          </a:prstGeom>
          <a:noFill/>
          <a:ln/>
        </p:spPr>
        <p:txBody>
          <a:bodyPr wrap="square" rtlCol="0" anchor="ctr"/>
          <a:lstStyle/>
          <a:p>
            <a:pPr algn="r" indent="0" marL="0">
              <a:buNone/>
            </a:pPr>
            <a:r>
              <a:rPr lang="en-US" sz="800" dirty="0">
                <a:solidFill>
                  <a:srgbClr val="64748B"/>
                </a:solidFill>
                <a:latin typeface="Courier New" pitchFamily="34" charset="0"/>
                <a:ea typeface="Courier New" pitchFamily="34" charset="-122"/>
                <a:cs typeface="Courier New" pitchFamily="34" charset="-120"/>
              </a:rPr>
              <a:t>v1.0  ·  2026-07-31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HAIEC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HAIEC Technical Architecture &amp; Defensibility Brief</dc:title>
  <dc:subject>HAIEC Technical Architecture, Defensibility and Strategic Value</dc:subject>
  <dc:creator>Subodh KC</dc:creator>
  <cp:lastModifiedBy>Subodh KC</cp:lastModifiedBy>
  <cp:revision>1</cp:revision>
  <dcterms:created xsi:type="dcterms:W3CDTF">2026-07-31T05:23:40Z</dcterms:created>
  <dcterms:modified xsi:type="dcterms:W3CDTF">2026-07-31T05:23:40Z</dcterms:modified>
</cp:coreProperties>
</file>