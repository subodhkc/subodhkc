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57200"/>
            <a:ext cx="7315200" cy="182880"/>
          </a:xfrm>
          <a:prstGeom prst="rect">
            <a:avLst/>
          </a:prstGeom>
          <a:noFill/>
          <a:ln/>
        </p:spPr>
        <p:txBody>
          <a:bodyPr wrap="square" rtlCol="0" anchor="ctr"/>
          <a:lstStyle/>
          <a:p>
            <a:pPr algn="l" indent="0" marL="0">
              <a:buNone/>
            </a:pPr>
            <a:r>
              <a:rPr lang="en-US" sz="800" b="1" dirty="0">
                <a:solidFill>
                  <a:srgbClr val="6B6B6B"/>
                </a:solidFill>
                <a:latin typeface="Arial" pitchFamily="34" charset="0"/>
                <a:ea typeface="Arial" pitchFamily="34" charset="-122"/>
                <a:cs typeface="Arial" pitchFamily="34" charset="-120"/>
              </a:rPr>
              <a:t>HAIEC TECHNICAL BRIEF  |  v1.0  |  CONFIDENTIAL</a:t>
            </a:r>
            <a:endParaRPr lang="en-US" sz="800" dirty="0"/>
          </a:p>
        </p:txBody>
      </p:sp>
      <p:sp>
        <p:nvSpPr>
          <p:cNvPr id="3" name="Shape 1"/>
          <p:cNvSpPr/>
          <p:nvPr/>
        </p:nvSpPr>
        <p:spPr>
          <a:xfrm>
            <a:off x="457200" y="731520"/>
            <a:ext cx="11277295" cy="0"/>
          </a:xfrm>
          <a:prstGeom prst="line">
            <a:avLst/>
          </a:prstGeom>
          <a:noFill/>
          <a:ln w="12700">
            <a:solidFill>
              <a:srgbClr val="1A2B4A"/>
            </a:solidFill>
            <a:prstDash val="solid"/>
          </a:ln>
        </p:spPr>
      </p:sp>
      <p:sp>
        <p:nvSpPr>
          <p:cNvPr id="4" name="Text 2"/>
          <p:cNvSpPr/>
          <p:nvPr/>
        </p:nvSpPr>
        <p:spPr>
          <a:xfrm>
            <a:off x="457200" y="1371600"/>
            <a:ext cx="10972800" cy="914400"/>
          </a:xfrm>
          <a:prstGeom prst="rect">
            <a:avLst/>
          </a:prstGeom>
          <a:noFill/>
          <a:ln/>
        </p:spPr>
        <p:txBody>
          <a:bodyPr wrap="square" rtlCol="0" anchor="ctr"/>
          <a:lstStyle/>
          <a:p>
            <a:pPr algn="l" indent="0" marL="0">
              <a:buNone/>
            </a:pPr>
            <a:r>
              <a:rPr lang="en-US" sz="4800" b="1" dirty="0">
                <a:solidFill>
                  <a:srgbClr val="1A2B4A"/>
                </a:solidFill>
                <a:latin typeface="Arial" pitchFamily="34" charset="0"/>
                <a:ea typeface="Arial" pitchFamily="34" charset="-122"/>
                <a:cs typeface="Arial" pitchFamily="34" charset="-120"/>
              </a:rPr>
              <a:t>HAIEC</a:t>
            </a:r>
            <a:endParaRPr lang="en-US" sz="4800" dirty="0"/>
          </a:p>
        </p:txBody>
      </p:sp>
      <p:sp>
        <p:nvSpPr>
          <p:cNvPr id="5" name="Text 3"/>
          <p:cNvSpPr/>
          <p:nvPr/>
        </p:nvSpPr>
        <p:spPr>
          <a:xfrm>
            <a:off x="457200" y="2377440"/>
            <a:ext cx="10058400" cy="457200"/>
          </a:xfrm>
          <a:prstGeom prst="rect">
            <a:avLst/>
          </a:prstGeom>
          <a:noFill/>
          <a:ln/>
        </p:spPr>
        <p:txBody>
          <a:bodyPr wrap="square" rtlCol="0" anchor="ctr"/>
          <a:lstStyle/>
          <a:p>
            <a:pPr algn="l" indent="0" marL="0">
              <a:buNone/>
            </a:pPr>
            <a:r>
              <a:rPr lang="en-US" sz="2000" dirty="0">
                <a:solidFill>
                  <a:srgbClr val="4A4A4A"/>
                </a:solidFill>
                <a:latin typeface="Arial" pitchFamily="34" charset="0"/>
                <a:ea typeface="Arial" pitchFamily="34" charset="-122"/>
                <a:cs typeface="Arial" pitchFamily="34" charset="-120"/>
              </a:rPr>
              <a:t>Evidence-Native Validation Infrastructure for AI Applications</a:t>
            </a:r>
            <a:endParaRPr lang="en-US" sz="2000" dirty="0"/>
          </a:p>
        </p:txBody>
      </p:sp>
      <p:sp>
        <p:nvSpPr>
          <p:cNvPr id="6" name="Text 4"/>
          <p:cNvSpPr/>
          <p:nvPr/>
        </p:nvSpPr>
        <p:spPr>
          <a:xfrm>
            <a:off x="457200" y="2926080"/>
            <a:ext cx="10058400" cy="365760"/>
          </a:xfrm>
          <a:prstGeom prst="rect">
            <a:avLst/>
          </a:prstGeom>
          <a:noFill/>
          <a:ln/>
        </p:spPr>
        <p:txBody>
          <a:bodyPr wrap="square" rtlCol="0" anchor="ctr"/>
          <a:lstStyle/>
          <a:p>
            <a:pPr algn="l" indent="0" marL="0">
              <a:buNone/>
            </a:pPr>
            <a:r>
              <a:rPr lang="en-US" sz="1400" dirty="0">
                <a:solidFill>
                  <a:srgbClr val="6B6B6B"/>
                </a:solidFill>
                <a:latin typeface="Arial" pitchFamily="34" charset="0"/>
                <a:ea typeface="Arial" pitchFamily="34" charset="-122"/>
                <a:cs typeface="Arial" pitchFamily="34" charset="-120"/>
              </a:rPr>
              <a:t>How HAIEC connects code security, runtime testing, control mapping and audit evidence</a:t>
            </a:r>
            <a:endParaRPr lang="en-US" sz="1400" dirty="0"/>
          </a:p>
        </p:txBody>
      </p:sp>
      <p:sp>
        <p:nvSpPr>
          <p:cNvPr id="7" name="Shape 5"/>
          <p:cNvSpPr/>
          <p:nvPr/>
        </p:nvSpPr>
        <p:spPr>
          <a:xfrm>
            <a:off x="457200" y="4389120"/>
            <a:ext cx="2286000" cy="457200"/>
          </a:xfrm>
          <a:prstGeom prst="rect">
            <a:avLst/>
          </a:prstGeom>
          <a:solidFill>
            <a:srgbClr val="F5F5F5"/>
          </a:solidFill>
          <a:ln w="6350">
            <a:solidFill>
              <a:srgbClr val="D0D0D0"/>
            </a:solidFill>
            <a:prstDash val="solid"/>
          </a:ln>
        </p:spPr>
      </p:sp>
      <p:sp>
        <p:nvSpPr>
          <p:cNvPr id="8" name="Text 6"/>
          <p:cNvSpPr/>
          <p:nvPr/>
        </p:nvSpPr>
        <p:spPr>
          <a:xfrm>
            <a:off x="457200" y="4389120"/>
            <a:ext cx="2286000" cy="457200"/>
          </a:xfrm>
          <a:prstGeom prst="rect">
            <a:avLst/>
          </a:prstGeom>
          <a:noFill/>
          <a:ln/>
        </p:spPr>
        <p:txBody>
          <a:bodyPr wrap="square" rtlCol="0" anchor="ctr"/>
          <a:lstStyle/>
          <a:p>
            <a:pPr algn="ctr" indent="0" marL="0">
              <a:buNone/>
            </a:pPr>
            <a:r>
              <a:rPr lang="en-US" sz="1000" dirty="0">
                <a:solidFill>
                  <a:srgbClr val="4A4A4A"/>
                </a:solidFill>
                <a:latin typeface="Arial" pitchFamily="34" charset="0"/>
                <a:ea typeface="Arial" pitchFamily="34" charset="-122"/>
                <a:cs typeface="Arial" pitchFamily="34" charset="-120"/>
              </a:rPr>
              <a:t>AI System</a:t>
            </a:r>
            <a:endParaRPr lang="en-US" sz="1000" dirty="0"/>
          </a:p>
        </p:txBody>
      </p:sp>
      <p:sp>
        <p:nvSpPr>
          <p:cNvPr id="9" name="Shape 7"/>
          <p:cNvSpPr/>
          <p:nvPr/>
        </p:nvSpPr>
        <p:spPr>
          <a:xfrm>
            <a:off x="2788920" y="4617720"/>
            <a:ext cx="274320" cy="0"/>
          </a:xfrm>
          <a:prstGeom prst="line">
            <a:avLst/>
          </a:prstGeom>
          <a:noFill/>
          <a:ln w="12700">
            <a:solidFill>
              <a:srgbClr val="999999"/>
            </a:solidFill>
            <a:prstDash val="solid"/>
            <a:tailEnd type="triangle"/>
          </a:ln>
        </p:spPr>
      </p:sp>
      <p:sp>
        <p:nvSpPr>
          <p:cNvPr id="10" name="Shape 8"/>
          <p:cNvSpPr/>
          <p:nvPr/>
        </p:nvSpPr>
        <p:spPr>
          <a:xfrm>
            <a:off x="3108960" y="4389120"/>
            <a:ext cx="2286000" cy="457200"/>
          </a:xfrm>
          <a:prstGeom prst="rect">
            <a:avLst/>
          </a:prstGeom>
          <a:solidFill>
            <a:srgbClr val="F5F5F5"/>
          </a:solidFill>
          <a:ln w="6350">
            <a:solidFill>
              <a:srgbClr val="D0D0D0"/>
            </a:solidFill>
            <a:prstDash val="solid"/>
          </a:ln>
        </p:spPr>
      </p:sp>
      <p:sp>
        <p:nvSpPr>
          <p:cNvPr id="11" name="Text 9"/>
          <p:cNvSpPr/>
          <p:nvPr/>
        </p:nvSpPr>
        <p:spPr>
          <a:xfrm>
            <a:off x="3108960" y="4389120"/>
            <a:ext cx="2286000" cy="457200"/>
          </a:xfrm>
          <a:prstGeom prst="rect">
            <a:avLst/>
          </a:prstGeom>
          <a:noFill/>
          <a:ln/>
        </p:spPr>
        <p:txBody>
          <a:bodyPr wrap="square" rtlCol="0" anchor="ctr"/>
          <a:lstStyle/>
          <a:p>
            <a:pPr algn="ctr" indent="0" marL="0">
              <a:buNone/>
            </a:pPr>
            <a:r>
              <a:rPr lang="en-US" sz="1000" dirty="0">
                <a:solidFill>
                  <a:srgbClr val="4A4A4A"/>
                </a:solidFill>
                <a:latin typeface="Arial" pitchFamily="34" charset="0"/>
                <a:ea typeface="Arial" pitchFamily="34" charset="-122"/>
                <a:cs typeface="Arial" pitchFamily="34" charset="-120"/>
              </a:rPr>
              <a:t>Security Validation</a:t>
            </a:r>
            <a:endParaRPr lang="en-US" sz="1000" dirty="0"/>
          </a:p>
        </p:txBody>
      </p:sp>
      <p:sp>
        <p:nvSpPr>
          <p:cNvPr id="12" name="Shape 10"/>
          <p:cNvSpPr/>
          <p:nvPr/>
        </p:nvSpPr>
        <p:spPr>
          <a:xfrm>
            <a:off x="5440680" y="4617720"/>
            <a:ext cx="274320" cy="0"/>
          </a:xfrm>
          <a:prstGeom prst="line">
            <a:avLst/>
          </a:prstGeom>
          <a:noFill/>
          <a:ln w="12700">
            <a:solidFill>
              <a:srgbClr val="999999"/>
            </a:solidFill>
            <a:prstDash val="solid"/>
            <a:tailEnd type="triangle"/>
          </a:ln>
        </p:spPr>
      </p:sp>
      <p:sp>
        <p:nvSpPr>
          <p:cNvPr id="13" name="Shape 11"/>
          <p:cNvSpPr/>
          <p:nvPr/>
        </p:nvSpPr>
        <p:spPr>
          <a:xfrm>
            <a:off x="5760720" y="4389120"/>
            <a:ext cx="2286000" cy="457200"/>
          </a:xfrm>
          <a:prstGeom prst="rect">
            <a:avLst/>
          </a:prstGeom>
          <a:solidFill>
            <a:srgbClr val="F5F5F5"/>
          </a:solidFill>
          <a:ln w="6350">
            <a:solidFill>
              <a:srgbClr val="D0D0D0"/>
            </a:solidFill>
            <a:prstDash val="solid"/>
          </a:ln>
        </p:spPr>
      </p:sp>
      <p:sp>
        <p:nvSpPr>
          <p:cNvPr id="14" name="Text 12"/>
          <p:cNvSpPr/>
          <p:nvPr/>
        </p:nvSpPr>
        <p:spPr>
          <a:xfrm>
            <a:off x="5760720" y="4389120"/>
            <a:ext cx="2286000" cy="457200"/>
          </a:xfrm>
          <a:prstGeom prst="rect">
            <a:avLst/>
          </a:prstGeom>
          <a:noFill/>
          <a:ln/>
        </p:spPr>
        <p:txBody>
          <a:bodyPr wrap="square" rtlCol="0" anchor="ctr"/>
          <a:lstStyle/>
          <a:p>
            <a:pPr algn="ctr" indent="0" marL="0">
              <a:buNone/>
            </a:pPr>
            <a:r>
              <a:rPr lang="en-US" sz="1000" dirty="0">
                <a:solidFill>
                  <a:srgbClr val="4A4A4A"/>
                </a:solidFill>
                <a:latin typeface="Arial" pitchFamily="34" charset="0"/>
                <a:ea typeface="Arial" pitchFamily="34" charset="-122"/>
                <a:cs typeface="Arial" pitchFamily="34" charset="-120"/>
              </a:rPr>
              <a:t>Control Mapping</a:t>
            </a:r>
            <a:endParaRPr lang="en-US" sz="1000" dirty="0"/>
          </a:p>
        </p:txBody>
      </p:sp>
      <p:sp>
        <p:nvSpPr>
          <p:cNvPr id="15" name="Shape 13"/>
          <p:cNvSpPr/>
          <p:nvPr/>
        </p:nvSpPr>
        <p:spPr>
          <a:xfrm>
            <a:off x="8092440" y="4617720"/>
            <a:ext cx="274320" cy="0"/>
          </a:xfrm>
          <a:prstGeom prst="line">
            <a:avLst/>
          </a:prstGeom>
          <a:noFill/>
          <a:ln w="12700">
            <a:solidFill>
              <a:srgbClr val="999999"/>
            </a:solidFill>
            <a:prstDash val="solid"/>
            <a:tailEnd type="triangle"/>
          </a:ln>
        </p:spPr>
      </p:sp>
      <p:sp>
        <p:nvSpPr>
          <p:cNvPr id="16" name="Shape 14"/>
          <p:cNvSpPr/>
          <p:nvPr/>
        </p:nvSpPr>
        <p:spPr>
          <a:xfrm>
            <a:off x="8412480" y="4389120"/>
            <a:ext cx="2286000" cy="457200"/>
          </a:xfrm>
          <a:prstGeom prst="rect">
            <a:avLst/>
          </a:prstGeom>
          <a:solidFill>
            <a:srgbClr val="F5F5F5"/>
          </a:solidFill>
          <a:ln w="6350">
            <a:solidFill>
              <a:srgbClr val="D0D0D0"/>
            </a:solidFill>
            <a:prstDash val="solid"/>
          </a:ln>
        </p:spPr>
      </p:sp>
      <p:sp>
        <p:nvSpPr>
          <p:cNvPr id="17" name="Text 15"/>
          <p:cNvSpPr/>
          <p:nvPr/>
        </p:nvSpPr>
        <p:spPr>
          <a:xfrm>
            <a:off x="8412480" y="4389120"/>
            <a:ext cx="2286000" cy="457200"/>
          </a:xfrm>
          <a:prstGeom prst="rect">
            <a:avLst/>
          </a:prstGeom>
          <a:noFill/>
          <a:ln/>
        </p:spPr>
        <p:txBody>
          <a:bodyPr wrap="square" rtlCol="0" anchor="ctr"/>
          <a:lstStyle/>
          <a:p>
            <a:pPr algn="ctr" indent="0" marL="0">
              <a:buNone/>
            </a:pPr>
            <a:r>
              <a:rPr lang="en-US" sz="1000" dirty="0">
                <a:solidFill>
                  <a:srgbClr val="4A4A4A"/>
                </a:solidFill>
                <a:latin typeface="Arial" pitchFamily="34" charset="0"/>
                <a:ea typeface="Arial" pitchFamily="34" charset="-122"/>
                <a:cs typeface="Arial" pitchFamily="34" charset="-120"/>
              </a:rPr>
              <a:t>Verifiable Evidence</a:t>
            </a:r>
            <a:endParaRPr lang="en-US" sz="1000" dirty="0"/>
          </a:p>
        </p:txBody>
      </p:sp>
      <p:sp>
        <p:nvSpPr>
          <p:cNvPr id="18" name="Text 16"/>
          <p:cNvSpPr/>
          <p:nvPr/>
        </p:nvSpPr>
        <p:spPr>
          <a:xfrm>
            <a:off x="457200" y="5943600"/>
            <a:ext cx="5486400" cy="274320"/>
          </a:xfrm>
          <a:prstGeom prst="rect">
            <a:avLst/>
          </a:prstGeom>
          <a:noFill/>
          <a:ln/>
        </p:spPr>
        <p:txBody>
          <a:bodyPr wrap="square" rtlCol="0" anchor="ctr"/>
          <a:lstStyle/>
          <a:p>
            <a:pPr indent="0" marL="0">
              <a:buNone/>
            </a:pPr>
            <a:r>
              <a:rPr lang="en-US" sz="1000" dirty="0">
                <a:solidFill>
                  <a:srgbClr val="6B6B6B"/>
                </a:solidFill>
                <a:latin typeface="Arial" pitchFamily="34" charset="0"/>
                <a:ea typeface="Arial" pitchFamily="34" charset="-122"/>
                <a:cs typeface="Arial" pitchFamily="34" charset="-120"/>
              </a:rPr>
              <a:t>Confidential Discussion Brief</a:t>
            </a:r>
            <a:endParaRPr lang="en-US" sz="1000" dirty="0"/>
          </a:p>
        </p:txBody>
      </p:sp>
      <p:sp>
        <p:nvSpPr>
          <p:cNvPr id="19" name="Shape 17"/>
          <p:cNvSpPr/>
          <p:nvPr/>
        </p:nvSpPr>
        <p:spPr>
          <a:xfrm>
            <a:off x="457200" y="6473952"/>
            <a:ext cx="11277295" cy="0"/>
          </a:xfrm>
          <a:prstGeom prst="line">
            <a:avLst/>
          </a:prstGeom>
          <a:noFill/>
          <a:ln w="6350">
            <a:solidFill>
              <a:srgbClr val="CCCCCC"/>
            </a:solidFill>
            <a:prstDash val="solid"/>
          </a:ln>
        </p:spPr>
      </p:sp>
      <p:sp>
        <p:nvSpPr>
          <p:cNvPr id="20" name="Text 18"/>
          <p:cNvSpPr/>
          <p:nvPr/>
        </p:nvSpPr>
        <p:spPr>
          <a:xfrm>
            <a:off x="457200" y="6537960"/>
            <a:ext cx="7315200" cy="228600"/>
          </a:xfrm>
          <a:prstGeom prst="rect">
            <a:avLst/>
          </a:prstGeom>
          <a:noFill/>
          <a:ln/>
        </p:spPr>
        <p:txBody>
          <a:bodyPr wrap="square" rtlCol="0" anchor="ctr"/>
          <a:lstStyle/>
          <a:p>
            <a:pPr indent="0" marL="0">
              <a:buNone/>
            </a:pPr>
            <a:r>
              <a:rPr lang="en-US" sz="800" dirty="0">
                <a:solidFill>
                  <a:srgbClr val="6B6B6B"/>
                </a:solidFill>
                <a:latin typeface="Arial" pitchFamily="34" charset="0"/>
                <a:ea typeface="Arial" pitchFamily="34" charset="-122"/>
                <a:cs typeface="Arial" pitchFamily="34" charset="-120"/>
              </a:rPr>
              <a:t>HAIEC  ·  Confidential Discussion Brief  ·  1/15</a:t>
            </a:r>
            <a:endParaRPr lang="en-US" sz="800" dirty="0"/>
          </a:p>
        </p:txBody>
      </p:sp>
      <p:sp>
        <p:nvSpPr>
          <p:cNvPr id="21" name="Text 19"/>
          <p:cNvSpPr/>
          <p:nvPr/>
        </p:nvSpPr>
        <p:spPr>
          <a:xfrm>
            <a:off x="8991295" y="6537960"/>
            <a:ext cx="2743200" cy="228600"/>
          </a:xfrm>
          <a:prstGeom prst="rect">
            <a:avLst/>
          </a:prstGeom>
          <a:noFill/>
          <a:ln/>
        </p:spPr>
        <p:txBody>
          <a:bodyPr wrap="square" rtlCol="0" anchor="ctr"/>
          <a:lstStyle/>
          <a:p>
            <a:pPr algn="r" indent="0" marL="0">
              <a:buNone/>
            </a:pPr>
            <a:r>
              <a:rPr lang="en-US" sz="800" dirty="0">
                <a:solidFill>
                  <a:srgbClr val="6B6B6B"/>
                </a:solidFill>
                <a:latin typeface="Arial" pitchFamily="34" charset="0"/>
                <a:ea typeface="Arial" pitchFamily="34" charset="-122"/>
                <a:cs typeface="Arial" pitchFamily="34" charset="-120"/>
              </a:rPr>
              <a:t>v1.0  ·  2026-07-31</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57200"/>
            <a:ext cx="11277295" cy="548640"/>
          </a:xfrm>
          <a:prstGeom prst="rect">
            <a:avLst/>
          </a:prstGeom>
          <a:noFill/>
          <a:ln/>
        </p:spPr>
        <p:txBody>
          <a:bodyPr wrap="square" rtlCol="0" anchor="ctr"/>
          <a:lstStyle/>
          <a:p>
            <a:pPr algn="l" indent="0" marL="0">
              <a:buNone/>
            </a:pPr>
            <a:r>
              <a:rPr lang="en-US" sz="2200" b="1" dirty="0">
                <a:solidFill>
                  <a:srgbClr val="1A2B4A"/>
                </a:solidFill>
                <a:latin typeface="Arial" pitchFamily="34" charset="0"/>
                <a:ea typeface="Arial" pitchFamily="34" charset="-122"/>
                <a:cs typeface="Arial" pitchFamily="34" charset="-120"/>
              </a:rPr>
              <a:t>AI assurance has a proof problem.</a:t>
            </a:r>
            <a:endParaRPr lang="en-US" sz="2200" dirty="0"/>
          </a:p>
        </p:txBody>
      </p:sp>
      <p:sp>
        <p:nvSpPr>
          <p:cNvPr id="3" name="Shape 1"/>
          <p:cNvSpPr/>
          <p:nvPr/>
        </p:nvSpPr>
        <p:spPr>
          <a:xfrm>
            <a:off x="457200" y="1051560"/>
            <a:ext cx="11277295" cy="0"/>
          </a:xfrm>
          <a:prstGeom prst="line">
            <a:avLst/>
          </a:prstGeom>
          <a:noFill/>
          <a:ln w="12700">
            <a:solidFill>
              <a:srgbClr val="1A2B4A"/>
            </a:solidFill>
            <a:prstDash val="solid"/>
          </a:ln>
        </p:spPr>
      </p:sp>
      <p:sp>
        <p:nvSpPr>
          <p:cNvPr id="4" name="Text 2"/>
          <p:cNvSpPr/>
          <p:nvPr/>
        </p:nvSpPr>
        <p:spPr>
          <a:xfrm>
            <a:off x="548640" y="1188720"/>
            <a:ext cx="10972800" cy="731520"/>
          </a:xfrm>
          <a:prstGeom prst="rect">
            <a:avLst/>
          </a:prstGeom>
          <a:noFill/>
          <a:ln/>
        </p:spPr>
        <p:txBody>
          <a:bodyPr wrap="square" rtlCol="0" anchor="t"/>
          <a:lstStyle/>
          <a:p>
            <a:pPr algn="l" indent="0" marL="0">
              <a:lnSpc>
                <a:spcPct val="115000"/>
              </a:lnSpc>
              <a:buNone/>
            </a:pPr>
            <a:r>
              <a:rPr lang="en-US" sz="1300" dirty="0">
                <a:solidFill>
                  <a:srgbClr val="4A4A4A"/>
                </a:solidFill>
                <a:latin typeface="Arial" pitchFamily="34" charset="0"/>
                <a:ea typeface="Arial" pitchFamily="34" charset="-122"/>
                <a:cs typeface="Arial" pitchFamily="34" charset="-120"/>
              </a:rPr>
              <a:t>Security tools find vulnerabilities. Governance tools collect questionnaires. Audit teams chase evidence across disconnected systems. The gap between what was tested, what was found, what was remediated, and what can be proven is where assurance claims lose traction.</a:t>
            </a:r>
            <a:endParaRPr lang="en-US" sz="1300" dirty="0"/>
          </a:p>
        </p:txBody>
      </p:sp>
      <p:sp>
        <p:nvSpPr>
          <p:cNvPr id="5" name="Text 3"/>
          <p:cNvSpPr/>
          <p:nvPr/>
        </p:nvSpPr>
        <p:spPr>
          <a:xfrm>
            <a:off x="548640" y="2011680"/>
            <a:ext cx="10972800" cy="457200"/>
          </a:xfrm>
          <a:prstGeom prst="rect">
            <a:avLst/>
          </a:prstGeom>
          <a:noFill/>
          <a:ln/>
        </p:spPr>
        <p:txBody>
          <a:bodyPr wrap="square" rtlCol="0" anchor="t"/>
          <a:lstStyle/>
          <a:p>
            <a:pPr algn="l" indent="0" marL="0">
              <a:lnSpc>
                <a:spcPct val="115000"/>
              </a:lnSpc>
              <a:buNone/>
            </a:pPr>
            <a:r>
              <a:rPr lang="en-US" sz="1300" b="1" dirty="0">
                <a:solidFill>
                  <a:srgbClr val="1A2B4A"/>
                </a:solidFill>
                <a:latin typeface="Arial" pitchFamily="34" charset="0"/>
                <a:ea typeface="Arial" pitchFamily="34" charset="-122"/>
                <a:cs typeface="Arial" pitchFamily="34" charset="-120"/>
              </a:rPr>
              <a:t>HAIEC closes this gap by making evidence the central artifact - not a byproduct.</a:t>
            </a:r>
            <a:endParaRPr lang="en-US" sz="1300" dirty="0"/>
          </a:p>
        </p:txBody>
      </p:sp>
      <p:sp>
        <p:nvSpPr>
          <p:cNvPr id="6" name="Shape 4"/>
          <p:cNvSpPr/>
          <p:nvPr/>
        </p:nvSpPr>
        <p:spPr>
          <a:xfrm>
            <a:off x="731520" y="2926080"/>
            <a:ext cx="2743200" cy="1188720"/>
          </a:xfrm>
          <a:prstGeom prst="rect">
            <a:avLst/>
          </a:prstGeom>
          <a:solidFill>
            <a:srgbClr val="F5F5F5"/>
          </a:solidFill>
          <a:ln w="6350">
            <a:solidFill>
              <a:srgbClr val="D0D0D0"/>
            </a:solidFill>
            <a:prstDash val="solid"/>
          </a:ln>
        </p:spPr>
      </p:sp>
      <p:sp>
        <p:nvSpPr>
          <p:cNvPr id="7" name="Text 5"/>
          <p:cNvSpPr/>
          <p:nvPr/>
        </p:nvSpPr>
        <p:spPr>
          <a:xfrm>
            <a:off x="868680" y="3017520"/>
            <a:ext cx="2468880" cy="182880"/>
          </a:xfrm>
          <a:prstGeom prst="rect">
            <a:avLst/>
          </a:prstGeom>
          <a:noFill/>
          <a:ln/>
        </p:spPr>
        <p:txBody>
          <a:bodyPr wrap="square" rtlCol="0" anchor="ctr"/>
          <a:lstStyle/>
          <a:p>
            <a:pPr algn="l" indent="0" marL="0">
              <a:buNone/>
            </a:pPr>
            <a:r>
              <a:rPr lang="en-US" sz="800" b="1" dirty="0">
                <a:solidFill>
                  <a:srgbClr val="6B6B6B"/>
                </a:solidFill>
                <a:latin typeface="Arial" pitchFamily="34" charset="0"/>
                <a:ea typeface="Arial" pitchFamily="34" charset="-122"/>
                <a:cs typeface="Arial" pitchFamily="34" charset="-120"/>
              </a:rPr>
              <a:t>ENGINEERING</a:t>
            </a:r>
            <a:endParaRPr lang="en-US" sz="800" dirty="0"/>
          </a:p>
        </p:txBody>
      </p:sp>
      <p:sp>
        <p:nvSpPr>
          <p:cNvPr id="8" name="Text 6"/>
          <p:cNvSpPr/>
          <p:nvPr/>
        </p:nvSpPr>
        <p:spPr>
          <a:xfrm>
            <a:off x="868680" y="3246120"/>
            <a:ext cx="2468880" cy="822960"/>
          </a:xfrm>
          <a:prstGeom prst="rect">
            <a:avLst/>
          </a:prstGeom>
          <a:noFill/>
          <a:ln/>
        </p:spPr>
        <p:txBody>
          <a:bodyPr wrap="square" rtlCol="0" anchor="t"/>
          <a:lstStyle/>
          <a:p>
            <a:pPr algn="l" indent="0" marL="0">
              <a:lnSpc>
                <a:spcPct val="115000"/>
              </a:lnSpc>
              <a:buNone/>
            </a:pPr>
            <a:r>
              <a:rPr lang="en-US" sz="900" dirty="0">
                <a:solidFill>
                  <a:srgbClr val="4A4A4A"/>
                </a:solidFill>
                <a:latin typeface="Arial" pitchFamily="34" charset="0"/>
                <a:ea typeface="Arial" pitchFamily="34" charset="-122"/>
                <a:cs typeface="Arial" pitchFamily="34" charset="-120"/>
              </a:rPr>
              <a:t>Static analysis, runtime testing, CI integration</a:t>
            </a:r>
            <a:endParaRPr lang="en-US" sz="900" dirty="0"/>
          </a:p>
        </p:txBody>
      </p:sp>
      <p:sp>
        <p:nvSpPr>
          <p:cNvPr id="9" name="Shape 7"/>
          <p:cNvSpPr/>
          <p:nvPr/>
        </p:nvSpPr>
        <p:spPr>
          <a:xfrm>
            <a:off x="8686800" y="2926080"/>
            <a:ext cx="2743200" cy="1188720"/>
          </a:xfrm>
          <a:prstGeom prst="rect">
            <a:avLst/>
          </a:prstGeom>
          <a:solidFill>
            <a:srgbClr val="F5F5F5"/>
          </a:solidFill>
          <a:ln w="6350">
            <a:solidFill>
              <a:srgbClr val="D0D0D0"/>
            </a:solidFill>
            <a:prstDash val="solid"/>
          </a:ln>
        </p:spPr>
      </p:sp>
      <p:sp>
        <p:nvSpPr>
          <p:cNvPr id="10" name="Text 8"/>
          <p:cNvSpPr/>
          <p:nvPr/>
        </p:nvSpPr>
        <p:spPr>
          <a:xfrm>
            <a:off x="8823960" y="3017520"/>
            <a:ext cx="2468880" cy="182880"/>
          </a:xfrm>
          <a:prstGeom prst="rect">
            <a:avLst/>
          </a:prstGeom>
          <a:noFill/>
          <a:ln/>
        </p:spPr>
        <p:txBody>
          <a:bodyPr wrap="square" rtlCol="0" anchor="ctr"/>
          <a:lstStyle/>
          <a:p>
            <a:pPr algn="l" indent="0" marL="0">
              <a:buNone/>
            </a:pPr>
            <a:r>
              <a:rPr lang="en-US" sz="800" b="1" dirty="0">
                <a:solidFill>
                  <a:srgbClr val="6B6B6B"/>
                </a:solidFill>
                <a:latin typeface="Arial" pitchFamily="34" charset="0"/>
                <a:ea typeface="Arial" pitchFamily="34" charset="-122"/>
                <a:cs typeface="Arial" pitchFamily="34" charset="-120"/>
              </a:rPr>
              <a:t>SECURITY</a:t>
            </a:r>
            <a:endParaRPr lang="en-US" sz="800" dirty="0"/>
          </a:p>
        </p:txBody>
      </p:sp>
      <p:sp>
        <p:nvSpPr>
          <p:cNvPr id="11" name="Text 9"/>
          <p:cNvSpPr/>
          <p:nvPr/>
        </p:nvSpPr>
        <p:spPr>
          <a:xfrm>
            <a:off x="8823960" y="3246120"/>
            <a:ext cx="2468880" cy="822960"/>
          </a:xfrm>
          <a:prstGeom prst="rect">
            <a:avLst/>
          </a:prstGeom>
          <a:noFill/>
          <a:ln/>
        </p:spPr>
        <p:txBody>
          <a:bodyPr wrap="square" rtlCol="0" anchor="t"/>
          <a:lstStyle/>
          <a:p>
            <a:pPr algn="l" indent="0" marL="0">
              <a:lnSpc>
                <a:spcPct val="115000"/>
              </a:lnSpc>
              <a:buNone/>
            </a:pPr>
            <a:r>
              <a:rPr lang="en-US" sz="900" dirty="0">
                <a:solidFill>
                  <a:srgbClr val="4A4A4A"/>
                </a:solidFill>
                <a:latin typeface="Arial" pitchFamily="34" charset="0"/>
                <a:ea typeface="Arial" pitchFamily="34" charset="-122"/>
                <a:cs typeface="Arial" pitchFamily="34" charset="-120"/>
              </a:rPr>
              <a:t>Adversarial testing, attack templates, safety properties</a:t>
            </a:r>
            <a:endParaRPr lang="en-US" sz="900" dirty="0"/>
          </a:p>
        </p:txBody>
      </p:sp>
      <p:sp>
        <p:nvSpPr>
          <p:cNvPr id="12" name="Shape 10"/>
          <p:cNvSpPr/>
          <p:nvPr/>
        </p:nvSpPr>
        <p:spPr>
          <a:xfrm>
            <a:off x="731520" y="4572000"/>
            <a:ext cx="2743200" cy="1188720"/>
          </a:xfrm>
          <a:prstGeom prst="rect">
            <a:avLst/>
          </a:prstGeom>
          <a:solidFill>
            <a:srgbClr val="F5F5F5"/>
          </a:solidFill>
          <a:ln w="6350">
            <a:solidFill>
              <a:srgbClr val="D0D0D0"/>
            </a:solidFill>
            <a:prstDash val="solid"/>
          </a:ln>
        </p:spPr>
      </p:sp>
      <p:sp>
        <p:nvSpPr>
          <p:cNvPr id="13" name="Text 11"/>
          <p:cNvSpPr/>
          <p:nvPr/>
        </p:nvSpPr>
        <p:spPr>
          <a:xfrm>
            <a:off x="868680" y="4663440"/>
            <a:ext cx="2468880" cy="182880"/>
          </a:xfrm>
          <a:prstGeom prst="rect">
            <a:avLst/>
          </a:prstGeom>
          <a:noFill/>
          <a:ln/>
        </p:spPr>
        <p:txBody>
          <a:bodyPr wrap="square" rtlCol="0" anchor="ctr"/>
          <a:lstStyle/>
          <a:p>
            <a:pPr algn="l" indent="0" marL="0">
              <a:buNone/>
            </a:pPr>
            <a:r>
              <a:rPr lang="en-US" sz="800" b="1" dirty="0">
                <a:solidFill>
                  <a:srgbClr val="6B6B6B"/>
                </a:solidFill>
                <a:latin typeface="Arial" pitchFamily="34" charset="0"/>
                <a:ea typeface="Arial" pitchFamily="34" charset="-122"/>
                <a:cs typeface="Arial" pitchFamily="34" charset="-120"/>
              </a:rPr>
              <a:t>GOVERNANCE</a:t>
            </a:r>
            <a:endParaRPr lang="en-US" sz="800" dirty="0"/>
          </a:p>
        </p:txBody>
      </p:sp>
      <p:sp>
        <p:nvSpPr>
          <p:cNvPr id="14" name="Text 12"/>
          <p:cNvSpPr/>
          <p:nvPr/>
        </p:nvSpPr>
        <p:spPr>
          <a:xfrm>
            <a:off x="868680" y="4892040"/>
            <a:ext cx="2468880" cy="822960"/>
          </a:xfrm>
          <a:prstGeom prst="rect">
            <a:avLst/>
          </a:prstGeom>
          <a:noFill/>
          <a:ln/>
        </p:spPr>
        <p:txBody>
          <a:bodyPr wrap="square" rtlCol="0" anchor="t"/>
          <a:lstStyle/>
          <a:p>
            <a:pPr algn="l" indent="0" marL="0">
              <a:lnSpc>
                <a:spcPct val="115000"/>
              </a:lnSpc>
              <a:buNone/>
            </a:pPr>
            <a:r>
              <a:rPr lang="en-US" sz="900" dirty="0">
                <a:solidFill>
                  <a:srgbClr val="4A4A4A"/>
                </a:solidFill>
                <a:latin typeface="Arial" pitchFamily="34" charset="0"/>
                <a:ea typeface="Arial" pitchFamily="34" charset="-122"/>
                <a:cs typeface="Arial" pitchFamily="34" charset="-120"/>
              </a:rPr>
              <a:t>Framework mapping, compliance twin, jurisdiction registry</a:t>
            </a:r>
            <a:endParaRPr lang="en-US" sz="900" dirty="0"/>
          </a:p>
        </p:txBody>
      </p:sp>
      <p:sp>
        <p:nvSpPr>
          <p:cNvPr id="15" name="Shape 13"/>
          <p:cNvSpPr/>
          <p:nvPr/>
        </p:nvSpPr>
        <p:spPr>
          <a:xfrm>
            <a:off x="8686800" y="4572000"/>
            <a:ext cx="2743200" cy="1188720"/>
          </a:xfrm>
          <a:prstGeom prst="rect">
            <a:avLst/>
          </a:prstGeom>
          <a:solidFill>
            <a:srgbClr val="F5F5F5"/>
          </a:solidFill>
          <a:ln w="6350">
            <a:solidFill>
              <a:srgbClr val="D0D0D0"/>
            </a:solidFill>
            <a:prstDash val="solid"/>
          </a:ln>
        </p:spPr>
      </p:sp>
      <p:sp>
        <p:nvSpPr>
          <p:cNvPr id="16" name="Text 14"/>
          <p:cNvSpPr/>
          <p:nvPr/>
        </p:nvSpPr>
        <p:spPr>
          <a:xfrm>
            <a:off x="8823960" y="4663440"/>
            <a:ext cx="2468880" cy="182880"/>
          </a:xfrm>
          <a:prstGeom prst="rect">
            <a:avLst/>
          </a:prstGeom>
          <a:noFill/>
          <a:ln/>
        </p:spPr>
        <p:txBody>
          <a:bodyPr wrap="square" rtlCol="0" anchor="ctr"/>
          <a:lstStyle/>
          <a:p>
            <a:pPr algn="l" indent="0" marL="0">
              <a:buNone/>
            </a:pPr>
            <a:r>
              <a:rPr lang="en-US" sz="800" b="1" dirty="0">
                <a:solidFill>
                  <a:srgbClr val="6B6B6B"/>
                </a:solidFill>
                <a:latin typeface="Arial" pitchFamily="34" charset="0"/>
                <a:ea typeface="Arial" pitchFamily="34" charset="-122"/>
                <a:cs typeface="Arial" pitchFamily="34" charset="-120"/>
              </a:rPr>
              <a:t>ASSURANCE</a:t>
            </a:r>
            <a:endParaRPr lang="en-US" sz="800" dirty="0"/>
          </a:p>
        </p:txBody>
      </p:sp>
      <p:sp>
        <p:nvSpPr>
          <p:cNvPr id="17" name="Text 15"/>
          <p:cNvSpPr/>
          <p:nvPr/>
        </p:nvSpPr>
        <p:spPr>
          <a:xfrm>
            <a:off x="8823960" y="4892040"/>
            <a:ext cx="2468880" cy="822960"/>
          </a:xfrm>
          <a:prstGeom prst="rect">
            <a:avLst/>
          </a:prstGeom>
          <a:noFill/>
          <a:ln/>
        </p:spPr>
        <p:txBody>
          <a:bodyPr wrap="square" rtlCol="0" anchor="t"/>
          <a:lstStyle/>
          <a:p>
            <a:pPr algn="l" indent="0" marL="0">
              <a:lnSpc>
                <a:spcPct val="115000"/>
              </a:lnSpc>
              <a:buNone/>
            </a:pPr>
            <a:r>
              <a:rPr lang="en-US" sz="900" dirty="0">
                <a:solidFill>
                  <a:srgbClr val="4A4A4A"/>
                </a:solidFill>
                <a:latin typeface="Arial" pitchFamily="34" charset="0"/>
                <a:ea typeface="Arial" pitchFamily="34" charset="-122"/>
                <a:cs typeface="Arial" pitchFamily="34" charset="-120"/>
              </a:rPr>
              <a:t>Audit orchestrator, evidence manifests, trust artifacts</a:t>
            </a:r>
            <a:endParaRPr lang="en-US" sz="900" dirty="0"/>
          </a:p>
        </p:txBody>
      </p:sp>
      <p:sp>
        <p:nvSpPr>
          <p:cNvPr id="18" name="Shape 16"/>
          <p:cNvSpPr/>
          <p:nvPr/>
        </p:nvSpPr>
        <p:spPr>
          <a:xfrm>
            <a:off x="4754880" y="3474720"/>
            <a:ext cx="2743200" cy="1645920"/>
          </a:xfrm>
          <a:prstGeom prst="rect">
            <a:avLst/>
          </a:prstGeom>
          <a:solidFill>
            <a:srgbClr val="F5F5F5"/>
          </a:solidFill>
          <a:ln w="6350">
            <a:solidFill>
              <a:srgbClr val="1A2B4A"/>
            </a:solidFill>
            <a:prstDash val="solid"/>
          </a:ln>
        </p:spPr>
      </p:sp>
      <p:sp>
        <p:nvSpPr>
          <p:cNvPr id="19" name="Text 17"/>
          <p:cNvSpPr/>
          <p:nvPr/>
        </p:nvSpPr>
        <p:spPr>
          <a:xfrm>
            <a:off x="4754880" y="3566160"/>
            <a:ext cx="2743200" cy="457200"/>
          </a:xfrm>
          <a:prstGeom prst="rect">
            <a:avLst/>
          </a:prstGeom>
          <a:noFill/>
          <a:ln/>
        </p:spPr>
        <p:txBody>
          <a:bodyPr wrap="square" rtlCol="0" anchor="ctr"/>
          <a:lstStyle/>
          <a:p>
            <a:pPr algn="ctr" indent="0" marL="0">
              <a:buNone/>
            </a:pPr>
            <a:r>
              <a:rPr lang="en-US" sz="2200" b="1" dirty="0">
                <a:solidFill>
                  <a:srgbClr val="1A2B4A"/>
                </a:solidFill>
                <a:latin typeface="Arial" pitchFamily="34" charset="0"/>
                <a:ea typeface="Arial" pitchFamily="34" charset="-122"/>
                <a:cs typeface="Arial" pitchFamily="34" charset="-120"/>
              </a:rPr>
              <a:t>HAIEC</a:t>
            </a:r>
            <a:endParaRPr lang="en-US" sz="2200" dirty="0"/>
          </a:p>
        </p:txBody>
      </p:sp>
      <p:sp>
        <p:nvSpPr>
          <p:cNvPr id="20" name="Text 18"/>
          <p:cNvSpPr/>
          <p:nvPr/>
        </p:nvSpPr>
        <p:spPr>
          <a:xfrm>
            <a:off x="4754880" y="4023360"/>
            <a:ext cx="2743200" cy="731520"/>
          </a:xfrm>
          <a:prstGeom prst="rect">
            <a:avLst/>
          </a:prstGeom>
          <a:noFill/>
          <a:ln/>
        </p:spPr>
        <p:txBody>
          <a:bodyPr wrap="square" rtlCol="0" anchor="ctr"/>
          <a:lstStyle/>
          <a:p>
            <a:pPr algn="ctr" indent="0" marL="0">
              <a:buNone/>
            </a:pPr>
            <a:r>
              <a:rPr lang="en-US" sz="1000" dirty="0">
                <a:solidFill>
                  <a:srgbClr val="4A4A4A"/>
                </a:solidFill>
                <a:latin typeface="Arial" pitchFamily="34" charset="0"/>
                <a:ea typeface="Arial" pitchFamily="34" charset="-122"/>
                <a:cs typeface="Arial" pitchFamily="34" charset="-120"/>
              </a:rPr>
              <a:t>Evidence-Native</a:t>
            </a:r>
            <a:endParaRPr lang="en-US" sz="1000" dirty="0"/>
          </a:p>
          <a:p>
            <a:pPr algn="ctr" indent="0" marL="0">
              <a:buNone/>
            </a:pPr>
            <a:r>
              <a:rPr lang="en-US" sz="1000" dirty="0">
                <a:solidFill>
                  <a:srgbClr val="4A4A4A"/>
                </a:solidFill>
                <a:latin typeface="Arial" pitchFamily="34" charset="0"/>
                <a:ea typeface="Arial" pitchFamily="34" charset="-122"/>
                <a:cs typeface="Arial" pitchFamily="34" charset="-120"/>
              </a:rPr>
              <a:t>AI Security Platform</a:t>
            </a:r>
            <a:endParaRPr lang="en-US" sz="1000" dirty="0"/>
          </a:p>
        </p:txBody>
      </p:sp>
      <p:sp>
        <p:nvSpPr>
          <p:cNvPr id="21" name="Shape 19"/>
          <p:cNvSpPr/>
          <p:nvPr/>
        </p:nvSpPr>
        <p:spPr>
          <a:xfrm>
            <a:off x="5669280" y="3977640"/>
            <a:ext cx="914400" cy="0"/>
          </a:xfrm>
          <a:prstGeom prst="line">
            <a:avLst/>
          </a:prstGeom>
          <a:noFill/>
          <a:ln w="6350">
            <a:solidFill>
              <a:srgbClr val="1A2B4A"/>
            </a:solidFill>
            <a:prstDash val="solid"/>
          </a:ln>
        </p:spPr>
      </p:sp>
      <p:sp>
        <p:nvSpPr>
          <p:cNvPr id="22" name="Shape 20"/>
          <p:cNvSpPr/>
          <p:nvPr/>
        </p:nvSpPr>
        <p:spPr>
          <a:xfrm>
            <a:off x="3474720" y="3520440"/>
            <a:ext cx="1280160" cy="411480"/>
          </a:xfrm>
          <a:prstGeom prst="line">
            <a:avLst/>
          </a:prstGeom>
          <a:noFill/>
          <a:ln w="12700">
            <a:solidFill>
              <a:srgbClr val="999999"/>
            </a:solidFill>
            <a:prstDash val="solid"/>
            <a:tailEnd type="triangle"/>
          </a:ln>
        </p:spPr>
      </p:sp>
      <p:sp>
        <p:nvSpPr>
          <p:cNvPr id="23" name="Shape 21"/>
          <p:cNvSpPr/>
          <p:nvPr/>
        </p:nvSpPr>
        <p:spPr>
          <a:xfrm>
            <a:off x="8686800" y="3520440"/>
            <a:ext cx="-1188720" cy="411480"/>
          </a:xfrm>
          <a:prstGeom prst="line">
            <a:avLst/>
          </a:prstGeom>
          <a:noFill/>
          <a:ln w="12700">
            <a:solidFill>
              <a:srgbClr val="999999"/>
            </a:solidFill>
            <a:prstDash val="solid"/>
            <a:tailEnd type="triangle"/>
          </a:ln>
        </p:spPr>
      </p:sp>
      <p:sp>
        <p:nvSpPr>
          <p:cNvPr id="24" name="Shape 22"/>
          <p:cNvSpPr/>
          <p:nvPr/>
        </p:nvSpPr>
        <p:spPr>
          <a:xfrm>
            <a:off x="3474720" y="5166360"/>
            <a:ext cx="1280160" cy="-411480"/>
          </a:xfrm>
          <a:prstGeom prst="line">
            <a:avLst/>
          </a:prstGeom>
          <a:noFill/>
          <a:ln w="12700">
            <a:solidFill>
              <a:srgbClr val="999999"/>
            </a:solidFill>
            <a:prstDash val="solid"/>
            <a:tailEnd type="triangle"/>
          </a:ln>
        </p:spPr>
      </p:sp>
      <p:sp>
        <p:nvSpPr>
          <p:cNvPr id="25" name="Shape 23"/>
          <p:cNvSpPr/>
          <p:nvPr/>
        </p:nvSpPr>
        <p:spPr>
          <a:xfrm>
            <a:off x="8686800" y="5166360"/>
            <a:ext cx="-1188720" cy="-411480"/>
          </a:xfrm>
          <a:prstGeom prst="line">
            <a:avLst/>
          </a:prstGeom>
          <a:noFill/>
          <a:ln w="12700">
            <a:solidFill>
              <a:srgbClr val="999999"/>
            </a:solidFill>
            <a:prstDash val="solid"/>
            <a:tailEnd type="triangle"/>
          </a:ln>
        </p:spPr>
      </p:sp>
      <p:sp>
        <p:nvSpPr>
          <p:cNvPr id="26" name="Text 24"/>
          <p:cNvSpPr/>
          <p:nvPr/>
        </p:nvSpPr>
        <p:spPr>
          <a:xfrm>
            <a:off x="548640" y="5943600"/>
            <a:ext cx="10972800" cy="365760"/>
          </a:xfrm>
          <a:prstGeom prst="rect">
            <a:avLst/>
          </a:prstGeom>
          <a:noFill/>
          <a:ln/>
        </p:spPr>
        <p:txBody>
          <a:bodyPr wrap="square" rtlCol="0" anchor="t"/>
          <a:lstStyle/>
          <a:p>
            <a:pPr algn="l" indent="0" marL="0">
              <a:lnSpc>
                <a:spcPct val="115000"/>
              </a:lnSpc>
              <a:buNone/>
            </a:pPr>
            <a:r>
              <a:rPr lang="en-US" sz="1100" b="1" dirty="0">
                <a:solidFill>
                  <a:srgbClr val="1A2B4A"/>
                </a:solidFill>
                <a:latin typeface="Arial" pitchFamily="34" charset="0"/>
                <a:ea typeface="Arial" pitchFamily="34" charset="-122"/>
                <a:cs typeface="Arial" pitchFamily="34" charset="-120"/>
              </a:rPr>
              <a:t>The strategic asset is not one scanner or one report. It is the evidence relationship connecting system, test, finding, control, remediation and verification.</a:t>
            </a:r>
            <a:endParaRPr lang="en-US" sz="1100" dirty="0"/>
          </a:p>
        </p:txBody>
      </p:sp>
      <p:sp>
        <p:nvSpPr>
          <p:cNvPr id="27" name="Shape 25"/>
          <p:cNvSpPr/>
          <p:nvPr/>
        </p:nvSpPr>
        <p:spPr>
          <a:xfrm>
            <a:off x="457200" y="6473952"/>
            <a:ext cx="11277295" cy="0"/>
          </a:xfrm>
          <a:prstGeom prst="line">
            <a:avLst/>
          </a:prstGeom>
          <a:noFill/>
          <a:ln w="6350">
            <a:solidFill>
              <a:srgbClr val="CCCCCC"/>
            </a:solidFill>
            <a:prstDash val="solid"/>
          </a:ln>
        </p:spPr>
      </p:sp>
      <p:sp>
        <p:nvSpPr>
          <p:cNvPr id="28" name="Text 26"/>
          <p:cNvSpPr/>
          <p:nvPr/>
        </p:nvSpPr>
        <p:spPr>
          <a:xfrm>
            <a:off x="457200" y="6537960"/>
            <a:ext cx="7315200" cy="228600"/>
          </a:xfrm>
          <a:prstGeom prst="rect">
            <a:avLst/>
          </a:prstGeom>
          <a:noFill/>
          <a:ln/>
        </p:spPr>
        <p:txBody>
          <a:bodyPr wrap="square" rtlCol="0" anchor="ctr"/>
          <a:lstStyle/>
          <a:p>
            <a:pPr indent="0" marL="0">
              <a:buNone/>
            </a:pPr>
            <a:r>
              <a:rPr lang="en-US" sz="800" dirty="0">
                <a:solidFill>
                  <a:srgbClr val="6B6B6B"/>
                </a:solidFill>
                <a:latin typeface="Arial" pitchFamily="34" charset="0"/>
                <a:ea typeface="Arial" pitchFamily="34" charset="-122"/>
                <a:cs typeface="Arial" pitchFamily="34" charset="-120"/>
              </a:rPr>
              <a:t>HAIEC  ·  Confidential Discussion Brief  ·  2/15</a:t>
            </a:r>
            <a:endParaRPr lang="en-US" sz="800" dirty="0"/>
          </a:p>
        </p:txBody>
      </p:sp>
      <p:sp>
        <p:nvSpPr>
          <p:cNvPr id="29" name="Text 27"/>
          <p:cNvSpPr/>
          <p:nvPr/>
        </p:nvSpPr>
        <p:spPr>
          <a:xfrm>
            <a:off x="8991295" y="6537960"/>
            <a:ext cx="2743200" cy="228600"/>
          </a:xfrm>
          <a:prstGeom prst="rect">
            <a:avLst/>
          </a:prstGeom>
          <a:noFill/>
          <a:ln/>
        </p:spPr>
        <p:txBody>
          <a:bodyPr wrap="square" rtlCol="0" anchor="ctr"/>
          <a:lstStyle/>
          <a:p>
            <a:pPr algn="r" indent="0" marL="0">
              <a:buNone/>
            </a:pPr>
            <a:r>
              <a:rPr lang="en-US" sz="800" dirty="0">
                <a:solidFill>
                  <a:srgbClr val="6B6B6B"/>
                </a:solidFill>
                <a:latin typeface="Arial" pitchFamily="34" charset="0"/>
                <a:ea typeface="Arial" pitchFamily="34" charset="-122"/>
                <a:cs typeface="Arial" pitchFamily="34" charset="-120"/>
              </a:rPr>
              <a:t>v1.0  ·  2026-07-31</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57200"/>
            <a:ext cx="11277295" cy="548640"/>
          </a:xfrm>
          <a:prstGeom prst="rect">
            <a:avLst/>
          </a:prstGeom>
          <a:noFill/>
          <a:ln/>
        </p:spPr>
        <p:txBody>
          <a:bodyPr wrap="square" rtlCol="0" anchor="ctr"/>
          <a:lstStyle/>
          <a:p>
            <a:pPr algn="l" indent="0" marL="0">
              <a:buNone/>
            </a:pPr>
            <a:r>
              <a:rPr lang="en-US" sz="2200" b="1" dirty="0">
                <a:solidFill>
                  <a:srgbClr val="1A2B4A"/>
                </a:solidFill>
                <a:latin typeface="Arial" pitchFamily="34" charset="0"/>
                <a:ea typeface="Arial" pitchFamily="34" charset="-122"/>
                <a:cs typeface="Arial" pitchFamily="34" charset="-120"/>
              </a:rPr>
              <a:t>Security tools find risk. Governance tools collect answers.</a:t>
            </a:r>
            <a:endParaRPr lang="en-US" sz="2200" dirty="0"/>
          </a:p>
          <a:p>
            <a:pPr algn="l" indent="0" marL="0">
              <a:buNone/>
            </a:pPr>
            <a:r>
              <a:rPr lang="en-US" sz="2200" b="1" dirty="0">
                <a:solidFill>
                  <a:srgbClr val="1A2B4A"/>
                </a:solidFill>
                <a:latin typeface="Arial" pitchFamily="34" charset="0"/>
                <a:ea typeface="Arial" pitchFamily="34" charset="-122"/>
                <a:cs typeface="Arial" pitchFamily="34" charset="-120"/>
              </a:rPr>
              <a:t>Audit teams still chase evidence.</a:t>
            </a:r>
            <a:endParaRPr lang="en-US" sz="2200" dirty="0"/>
          </a:p>
        </p:txBody>
      </p:sp>
      <p:sp>
        <p:nvSpPr>
          <p:cNvPr id="3" name="Shape 1"/>
          <p:cNvSpPr/>
          <p:nvPr/>
        </p:nvSpPr>
        <p:spPr>
          <a:xfrm>
            <a:off x="457200" y="1051560"/>
            <a:ext cx="11277295" cy="0"/>
          </a:xfrm>
          <a:prstGeom prst="line">
            <a:avLst/>
          </a:prstGeom>
          <a:noFill/>
          <a:ln w="12700">
            <a:solidFill>
              <a:srgbClr val="1A2B4A"/>
            </a:solidFill>
            <a:prstDash val="solid"/>
          </a:ln>
        </p:spPr>
      </p:sp>
      <p:sp>
        <p:nvSpPr>
          <p:cNvPr id="4" name="Shape 2"/>
          <p:cNvSpPr/>
          <p:nvPr/>
        </p:nvSpPr>
        <p:spPr>
          <a:xfrm>
            <a:off x="548640" y="1645920"/>
            <a:ext cx="3474720" cy="3474720"/>
          </a:xfrm>
          <a:prstGeom prst="rect">
            <a:avLst/>
          </a:prstGeom>
          <a:solidFill>
            <a:srgbClr val="F5F5F5"/>
          </a:solidFill>
          <a:ln w="6350">
            <a:solidFill>
              <a:srgbClr val="D0D0D0"/>
            </a:solidFill>
            <a:prstDash val="solid"/>
          </a:ln>
        </p:spPr>
      </p:sp>
      <p:sp>
        <p:nvSpPr>
          <p:cNvPr id="5" name="Text 3"/>
          <p:cNvSpPr/>
          <p:nvPr/>
        </p:nvSpPr>
        <p:spPr>
          <a:xfrm>
            <a:off x="731520" y="1737360"/>
            <a:ext cx="3108960" cy="365760"/>
          </a:xfrm>
          <a:prstGeom prst="rect">
            <a:avLst/>
          </a:prstGeom>
          <a:noFill/>
          <a:ln/>
        </p:spPr>
        <p:txBody>
          <a:bodyPr wrap="square" rtlCol="0" anchor="ctr"/>
          <a:lstStyle/>
          <a:p>
            <a:pPr indent="0" marL="0">
              <a:buNone/>
            </a:pPr>
            <a:r>
              <a:rPr lang="en-US" sz="1300" b="1" dirty="0">
                <a:solidFill>
                  <a:srgbClr val="1A1A1A"/>
                </a:solidFill>
                <a:latin typeface="Arial" pitchFamily="34" charset="0"/>
                <a:ea typeface="Arial" pitchFamily="34" charset="-122"/>
                <a:cs typeface="Arial" pitchFamily="34" charset="-120"/>
              </a:rPr>
              <a:t>AI Security Tools</a:t>
            </a:r>
            <a:endParaRPr lang="en-US" sz="1300" dirty="0"/>
          </a:p>
        </p:txBody>
      </p:sp>
      <p:sp>
        <p:nvSpPr>
          <p:cNvPr id="6" name="Text 4"/>
          <p:cNvSpPr/>
          <p:nvPr/>
        </p:nvSpPr>
        <p:spPr>
          <a:xfrm>
            <a:off x="731520" y="2194560"/>
            <a:ext cx="3108960" cy="320040"/>
          </a:xfrm>
          <a:prstGeom prst="rect">
            <a:avLst/>
          </a:prstGeom>
          <a:noFill/>
          <a:ln/>
        </p:spPr>
        <p:txBody>
          <a:bodyPr wrap="square" rtlCol="0" anchor="ctr"/>
          <a:lstStyle/>
          <a:p>
            <a:pPr indent="0" marL="0">
              <a:buNone/>
            </a:pPr>
            <a:r>
              <a:rPr lang="en-US" sz="1000" dirty="0">
                <a:solidFill>
                  <a:srgbClr val="4A4A4A"/>
                </a:solidFill>
                <a:latin typeface="Arial" pitchFamily="34" charset="0"/>
                <a:ea typeface="Arial" pitchFamily="34" charset="-122"/>
                <a:cs typeface="Arial" pitchFamily="34" charset="-120"/>
              </a:rPr>
              <a:t>•  Find vulnerabilities in code</a:t>
            </a:r>
            <a:endParaRPr lang="en-US" sz="1000" dirty="0"/>
          </a:p>
        </p:txBody>
      </p:sp>
      <p:sp>
        <p:nvSpPr>
          <p:cNvPr id="7" name="Text 5"/>
          <p:cNvSpPr/>
          <p:nvPr/>
        </p:nvSpPr>
        <p:spPr>
          <a:xfrm>
            <a:off x="731520" y="2560320"/>
            <a:ext cx="3108960" cy="320040"/>
          </a:xfrm>
          <a:prstGeom prst="rect">
            <a:avLst/>
          </a:prstGeom>
          <a:noFill/>
          <a:ln/>
        </p:spPr>
        <p:txBody>
          <a:bodyPr wrap="square" rtlCol="0" anchor="ctr"/>
          <a:lstStyle/>
          <a:p>
            <a:pPr indent="0" marL="0">
              <a:buNone/>
            </a:pPr>
            <a:r>
              <a:rPr lang="en-US" sz="1000" dirty="0">
                <a:solidFill>
                  <a:srgbClr val="4A4A4A"/>
                </a:solidFill>
                <a:latin typeface="Arial" pitchFamily="34" charset="0"/>
                <a:ea typeface="Arial" pitchFamily="34" charset="-122"/>
                <a:cs typeface="Arial" pitchFamily="34" charset="-120"/>
              </a:rPr>
              <a:t>•  Generate findings and alerts</a:t>
            </a:r>
            <a:endParaRPr lang="en-US" sz="1000" dirty="0"/>
          </a:p>
        </p:txBody>
      </p:sp>
      <p:sp>
        <p:nvSpPr>
          <p:cNvPr id="8" name="Text 6"/>
          <p:cNvSpPr/>
          <p:nvPr/>
        </p:nvSpPr>
        <p:spPr>
          <a:xfrm>
            <a:off x="731520" y="2926080"/>
            <a:ext cx="3108960" cy="320040"/>
          </a:xfrm>
          <a:prstGeom prst="rect">
            <a:avLst/>
          </a:prstGeom>
          <a:noFill/>
          <a:ln/>
        </p:spPr>
        <p:txBody>
          <a:bodyPr wrap="square" rtlCol="0" anchor="ctr"/>
          <a:lstStyle/>
          <a:p>
            <a:pPr indent="0" marL="0">
              <a:buNone/>
            </a:pPr>
            <a:r>
              <a:rPr lang="en-US" sz="1000" dirty="0">
                <a:solidFill>
                  <a:srgbClr val="4A4A4A"/>
                </a:solidFill>
                <a:latin typeface="Arial" pitchFamily="34" charset="0"/>
                <a:ea typeface="Arial" pitchFamily="34" charset="-122"/>
                <a:cs typeface="Arial" pitchFamily="34" charset="-120"/>
              </a:rPr>
              <a:t>•  Security findings often require separate evidence assembly and control mapping</a:t>
            </a:r>
            <a:endParaRPr lang="en-US" sz="1000" dirty="0"/>
          </a:p>
        </p:txBody>
      </p:sp>
      <p:sp>
        <p:nvSpPr>
          <p:cNvPr id="9" name="Text 7"/>
          <p:cNvSpPr/>
          <p:nvPr/>
        </p:nvSpPr>
        <p:spPr>
          <a:xfrm>
            <a:off x="731520" y="3291840"/>
            <a:ext cx="3108960" cy="320040"/>
          </a:xfrm>
          <a:prstGeom prst="rect">
            <a:avLst/>
          </a:prstGeom>
          <a:noFill/>
          <a:ln/>
        </p:spPr>
        <p:txBody>
          <a:bodyPr wrap="square" rtlCol="0" anchor="ctr"/>
          <a:lstStyle/>
          <a:p>
            <a:pPr indent="0" marL="0">
              <a:buNone/>
            </a:pPr>
            <a:r>
              <a:rPr lang="en-US" sz="1000" dirty="0">
                <a:solidFill>
                  <a:srgbClr val="4A4A4A"/>
                </a:solidFill>
                <a:latin typeface="Arial" pitchFamily="34" charset="0"/>
                <a:ea typeface="Arial" pitchFamily="34" charset="-122"/>
                <a:cs typeface="Arial" pitchFamily="34" charset="-120"/>
              </a:rPr>
              <a:t>•  Evidence is typically assembled downstream</a:t>
            </a:r>
            <a:endParaRPr lang="en-US" sz="1000" dirty="0"/>
          </a:p>
        </p:txBody>
      </p:sp>
      <p:sp>
        <p:nvSpPr>
          <p:cNvPr id="10" name="Shape 8"/>
          <p:cNvSpPr/>
          <p:nvPr/>
        </p:nvSpPr>
        <p:spPr>
          <a:xfrm>
            <a:off x="731520" y="4206240"/>
            <a:ext cx="3108960" cy="36576"/>
          </a:xfrm>
          <a:prstGeom prst="rect">
            <a:avLst/>
          </a:prstGeom>
          <a:solidFill>
            <a:srgbClr val="1A2B4A"/>
          </a:solidFill>
          <a:ln/>
        </p:spPr>
      </p:sp>
      <p:sp>
        <p:nvSpPr>
          <p:cNvPr id="11" name="Text 9"/>
          <p:cNvSpPr/>
          <p:nvPr/>
        </p:nvSpPr>
        <p:spPr>
          <a:xfrm>
            <a:off x="731520" y="4297680"/>
            <a:ext cx="3108960" cy="548640"/>
          </a:xfrm>
          <a:prstGeom prst="rect">
            <a:avLst/>
          </a:prstGeom>
          <a:noFill/>
          <a:ln/>
        </p:spPr>
        <p:txBody>
          <a:bodyPr wrap="square" rtlCol="0" anchor="ctr"/>
          <a:lstStyle/>
          <a:p>
            <a:pPr indent="0" marL="0">
              <a:buNone/>
            </a:pPr>
            <a:r>
              <a:rPr lang="en-US" sz="900" i="1" dirty="0">
                <a:solidFill>
                  <a:srgbClr val="1A2B4A"/>
                </a:solidFill>
                <a:latin typeface="Arial" pitchFamily="34" charset="0"/>
                <a:ea typeface="Arial" pitchFamily="34" charset="-122"/>
                <a:cs typeface="Arial" pitchFamily="34" charset="-120"/>
              </a:rPr>
              <a:t>Output stops at the finding. Evidence chain requires manual assembly.</a:t>
            </a:r>
            <a:endParaRPr lang="en-US" sz="900" dirty="0"/>
          </a:p>
        </p:txBody>
      </p:sp>
      <p:sp>
        <p:nvSpPr>
          <p:cNvPr id="12" name="Shape 10"/>
          <p:cNvSpPr/>
          <p:nvPr/>
        </p:nvSpPr>
        <p:spPr>
          <a:xfrm>
            <a:off x="4297680" y="1645920"/>
            <a:ext cx="3474720" cy="3474720"/>
          </a:xfrm>
          <a:prstGeom prst="rect">
            <a:avLst/>
          </a:prstGeom>
          <a:solidFill>
            <a:srgbClr val="F5F5F5"/>
          </a:solidFill>
          <a:ln w="6350">
            <a:solidFill>
              <a:srgbClr val="D0D0D0"/>
            </a:solidFill>
            <a:prstDash val="solid"/>
          </a:ln>
        </p:spPr>
      </p:sp>
      <p:sp>
        <p:nvSpPr>
          <p:cNvPr id="13" name="Text 11"/>
          <p:cNvSpPr/>
          <p:nvPr/>
        </p:nvSpPr>
        <p:spPr>
          <a:xfrm>
            <a:off x="4480560" y="1737360"/>
            <a:ext cx="3108960" cy="365760"/>
          </a:xfrm>
          <a:prstGeom prst="rect">
            <a:avLst/>
          </a:prstGeom>
          <a:noFill/>
          <a:ln/>
        </p:spPr>
        <p:txBody>
          <a:bodyPr wrap="square" rtlCol="0" anchor="ctr"/>
          <a:lstStyle/>
          <a:p>
            <a:pPr indent="0" marL="0">
              <a:buNone/>
            </a:pPr>
            <a:r>
              <a:rPr lang="en-US" sz="1300" b="1" dirty="0">
                <a:solidFill>
                  <a:srgbClr val="1A1A1A"/>
                </a:solidFill>
                <a:latin typeface="Arial" pitchFamily="34" charset="0"/>
                <a:ea typeface="Arial" pitchFamily="34" charset="-122"/>
                <a:cs typeface="Arial" pitchFamily="34" charset="-120"/>
              </a:rPr>
              <a:t>Governance &amp; GRC</a:t>
            </a:r>
            <a:endParaRPr lang="en-US" sz="1300" dirty="0"/>
          </a:p>
        </p:txBody>
      </p:sp>
      <p:sp>
        <p:nvSpPr>
          <p:cNvPr id="14" name="Text 12"/>
          <p:cNvSpPr/>
          <p:nvPr/>
        </p:nvSpPr>
        <p:spPr>
          <a:xfrm>
            <a:off x="4480560" y="2194560"/>
            <a:ext cx="3108960" cy="320040"/>
          </a:xfrm>
          <a:prstGeom prst="rect">
            <a:avLst/>
          </a:prstGeom>
          <a:noFill/>
          <a:ln/>
        </p:spPr>
        <p:txBody>
          <a:bodyPr wrap="square" rtlCol="0" anchor="ctr"/>
          <a:lstStyle/>
          <a:p>
            <a:pPr indent="0" marL="0">
              <a:buNone/>
            </a:pPr>
            <a:r>
              <a:rPr lang="en-US" sz="1000" dirty="0">
                <a:solidFill>
                  <a:srgbClr val="4A4A4A"/>
                </a:solidFill>
                <a:latin typeface="Arial" pitchFamily="34" charset="0"/>
                <a:ea typeface="Arial" pitchFamily="34" charset="-122"/>
                <a:cs typeface="Arial" pitchFamily="34" charset="-120"/>
              </a:rPr>
              <a:t>•  Collect questionnaire responses</a:t>
            </a:r>
            <a:endParaRPr lang="en-US" sz="1000" dirty="0"/>
          </a:p>
        </p:txBody>
      </p:sp>
      <p:sp>
        <p:nvSpPr>
          <p:cNvPr id="15" name="Text 13"/>
          <p:cNvSpPr/>
          <p:nvPr/>
        </p:nvSpPr>
        <p:spPr>
          <a:xfrm>
            <a:off x="4480560" y="2560320"/>
            <a:ext cx="3108960" cy="320040"/>
          </a:xfrm>
          <a:prstGeom prst="rect">
            <a:avLst/>
          </a:prstGeom>
          <a:noFill/>
          <a:ln/>
        </p:spPr>
        <p:txBody>
          <a:bodyPr wrap="square" rtlCol="0" anchor="ctr"/>
          <a:lstStyle/>
          <a:p>
            <a:pPr indent="0" marL="0">
              <a:buNone/>
            </a:pPr>
            <a:r>
              <a:rPr lang="en-US" sz="1000" dirty="0">
                <a:solidFill>
                  <a:srgbClr val="4A4A4A"/>
                </a:solidFill>
                <a:latin typeface="Arial" pitchFamily="34" charset="0"/>
                <a:ea typeface="Arial" pitchFamily="34" charset="-122"/>
                <a:cs typeface="Arial" pitchFamily="34" charset="-120"/>
              </a:rPr>
              <a:t>•  Track policy attestation</a:t>
            </a:r>
            <a:endParaRPr lang="en-US" sz="1000" dirty="0"/>
          </a:p>
        </p:txBody>
      </p:sp>
      <p:sp>
        <p:nvSpPr>
          <p:cNvPr id="16" name="Text 14"/>
          <p:cNvSpPr/>
          <p:nvPr/>
        </p:nvSpPr>
        <p:spPr>
          <a:xfrm>
            <a:off x="4480560" y="2926080"/>
            <a:ext cx="3108960" cy="320040"/>
          </a:xfrm>
          <a:prstGeom prst="rect">
            <a:avLst/>
          </a:prstGeom>
          <a:noFill/>
          <a:ln/>
        </p:spPr>
        <p:txBody>
          <a:bodyPr wrap="square" rtlCol="0" anchor="ctr"/>
          <a:lstStyle/>
          <a:p>
            <a:pPr indent="0" marL="0">
              <a:buNone/>
            </a:pPr>
            <a:r>
              <a:rPr lang="en-US" sz="1000" dirty="0">
                <a:solidFill>
                  <a:srgbClr val="4A4A4A"/>
                </a:solidFill>
                <a:latin typeface="Arial" pitchFamily="34" charset="0"/>
                <a:ea typeface="Arial" pitchFamily="34" charset="-122"/>
                <a:cs typeface="Arial" pitchFamily="34" charset="-120"/>
              </a:rPr>
              <a:t>•  Governance platforms frequently depend on questionnaires, integrations or imported evidence rather than generating the technical observation themselves</a:t>
            </a:r>
            <a:endParaRPr lang="en-US" sz="1000" dirty="0"/>
          </a:p>
        </p:txBody>
      </p:sp>
      <p:sp>
        <p:nvSpPr>
          <p:cNvPr id="17" name="Text 15"/>
          <p:cNvSpPr/>
          <p:nvPr/>
        </p:nvSpPr>
        <p:spPr>
          <a:xfrm>
            <a:off x="4480560" y="3291840"/>
            <a:ext cx="3108960" cy="320040"/>
          </a:xfrm>
          <a:prstGeom prst="rect">
            <a:avLst/>
          </a:prstGeom>
          <a:noFill/>
          <a:ln/>
        </p:spPr>
        <p:txBody>
          <a:bodyPr wrap="square" rtlCol="0" anchor="ctr"/>
          <a:lstStyle/>
          <a:p>
            <a:pPr indent="0" marL="0">
              <a:buNone/>
            </a:pPr>
            <a:r>
              <a:rPr lang="en-US" sz="1000" dirty="0">
                <a:solidFill>
                  <a:srgbClr val="4A4A4A"/>
                </a:solidFill>
                <a:latin typeface="Arial" pitchFamily="34" charset="0"/>
                <a:ea typeface="Arial" pitchFamily="34" charset="-122"/>
                <a:cs typeface="Arial" pitchFamily="34" charset="-120"/>
              </a:rPr>
              <a:t>•  Self-reported, not engine-generated</a:t>
            </a:r>
            <a:endParaRPr lang="en-US" sz="1000" dirty="0"/>
          </a:p>
        </p:txBody>
      </p:sp>
      <p:sp>
        <p:nvSpPr>
          <p:cNvPr id="18" name="Shape 16"/>
          <p:cNvSpPr/>
          <p:nvPr/>
        </p:nvSpPr>
        <p:spPr>
          <a:xfrm>
            <a:off x="4480560" y="4206240"/>
            <a:ext cx="3108960" cy="36576"/>
          </a:xfrm>
          <a:prstGeom prst="rect">
            <a:avLst/>
          </a:prstGeom>
          <a:solidFill>
            <a:srgbClr val="1A2B4A"/>
          </a:solidFill>
          <a:ln/>
        </p:spPr>
      </p:sp>
      <p:sp>
        <p:nvSpPr>
          <p:cNvPr id="19" name="Text 17"/>
          <p:cNvSpPr/>
          <p:nvPr/>
        </p:nvSpPr>
        <p:spPr>
          <a:xfrm>
            <a:off x="4480560" y="4297680"/>
            <a:ext cx="3108960" cy="548640"/>
          </a:xfrm>
          <a:prstGeom prst="rect">
            <a:avLst/>
          </a:prstGeom>
          <a:noFill/>
          <a:ln/>
        </p:spPr>
        <p:txBody>
          <a:bodyPr wrap="square" rtlCol="0" anchor="ctr"/>
          <a:lstStyle/>
          <a:p>
            <a:pPr indent="0" marL="0">
              <a:buNone/>
            </a:pPr>
            <a:r>
              <a:rPr lang="en-US" sz="900" i="1" dirty="0">
                <a:solidFill>
                  <a:srgbClr val="1A2B4A"/>
                </a:solidFill>
                <a:latin typeface="Arial" pitchFamily="34" charset="0"/>
                <a:ea typeface="Arial" pitchFamily="34" charset="-122"/>
                <a:cs typeface="Arial" pitchFamily="34" charset="-120"/>
              </a:rPr>
              <a:t>Answers without verification. No technical proof.</a:t>
            </a:r>
            <a:endParaRPr lang="en-US" sz="900" dirty="0"/>
          </a:p>
        </p:txBody>
      </p:sp>
      <p:sp>
        <p:nvSpPr>
          <p:cNvPr id="20" name="Shape 18"/>
          <p:cNvSpPr/>
          <p:nvPr/>
        </p:nvSpPr>
        <p:spPr>
          <a:xfrm>
            <a:off x="8046720" y="1645920"/>
            <a:ext cx="3474720" cy="3474720"/>
          </a:xfrm>
          <a:prstGeom prst="rect">
            <a:avLst/>
          </a:prstGeom>
          <a:solidFill>
            <a:srgbClr val="F5F5F5"/>
          </a:solidFill>
          <a:ln w="6350">
            <a:solidFill>
              <a:srgbClr val="D0D0D0"/>
            </a:solidFill>
            <a:prstDash val="solid"/>
          </a:ln>
        </p:spPr>
      </p:sp>
      <p:sp>
        <p:nvSpPr>
          <p:cNvPr id="21" name="Text 19"/>
          <p:cNvSpPr/>
          <p:nvPr/>
        </p:nvSpPr>
        <p:spPr>
          <a:xfrm>
            <a:off x="8229600" y="1737360"/>
            <a:ext cx="3108960" cy="365760"/>
          </a:xfrm>
          <a:prstGeom prst="rect">
            <a:avLst/>
          </a:prstGeom>
          <a:noFill/>
          <a:ln/>
        </p:spPr>
        <p:txBody>
          <a:bodyPr wrap="square" rtlCol="0" anchor="ctr"/>
          <a:lstStyle/>
          <a:p>
            <a:pPr indent="0" marL="0">
              <a:buNone/>
            </a:pPr>
            <a:r>
              <a:rPr lang="en-US" sz="1300" b="1" dirty="0">
                <a:solidFill>
                  <a:srgbClr val="1A1A1A"/>
                </a:solidFill>
                <a:latin typeface="Arial" pitchFamily="34" charset="0"/>
                <a:ea typeface="Arial" pitchFamily="34" charset="-122"/>
                <a:cs typeface="Arial" pitchFamily="34" charset="-120"/>
              </a:rPr>
              <a:t>Audit Preparation</a:t>
            </a:r>
            <a:endParaRPr lang="en-US" sz="1300" dirty="0"/>
          </a:p>
        </p:txBody>
      </p:sp>
      <p:sp>
        <p:nvSpPr>
          <p:cNvPr id="22" name="Text 20"/>
          <p:cNvSpPr/>
          <p:nvPr/>
        </p:nvSpPr>
        <p:spPr>
          <a:xfrm>
            <a:off x="8229600" y="2194560"/>
            <a:ext cx="3108960" cy="320040"/>
          </a:xfrm>
          <a:prstGeom prst="rect">
            <a:avLst/>
          </a:prstGeom>
          <a:noFill/>
          <a:ln/>
        </p:spPr>
        <p:txBody>
          <a:bodyPr wrap="square" rtlCol="0" anchor="ctr"/>
          <a:lstStyle/>
          <a:p>
            <a:pPr indent="0" marL="0">
              <a:buNone/>
            </a:pPr>
            <a:r>
              <a:rPr lang="en-US" sz="1000" dirty="0">
                <a:solidFill>
                  <a:srgbClr val="4A4A4A"/>
                </a:solidFill>
                <a:latin typeface="Arial" pitchFamily="34" charset="0"/>
                <a:ea typeface="Arial" pitchFamily="34" charset="-122"/>
                <a:cs typeface="Arial" pitchFamily="34" charset="-120"/>
              </a:rPr>
              <a:t>•  Manual evidence collection</a:t>
            </a:r>
            <a:endParaRPr lang="en-US" sz="1000" dirty="0"/>
          </a:p>
        </p:txBody>
      </p:sp>
      <p:sp>
        <p:nvSpPr>
          <p:cNvPr id="23" name="Text 21"/>
          <p:cNvSpPr/>
          <p:nvPr/>
        </p:nvSpPr>
        <p:spPr>
          <a:xfrm>
            <a:off x="8229600" y="2560320"/>
            <a:ext cx="3108960" cy="320040"/>
          </a:xfrm>
          <a:prstGeom prst="rect">
            <a:avLst/>
          </a:prstGeom>
          <a:noFill/>
          <a:ln/>
        </p:spPr>
        <p:txBody>
          <a:bodyPr wrap="square" rtlCol="0" anchor="ctr"/>
          <a:lstStyle/>
          <a:p>
            <a:pPr indent="0" marL="0">
              <a:buNone/>
            </a:pPr>
            <a:r>
              <a:rPr lang="en-US" sz="1000" dirty="0">
                <a:solidFill>
                  <a:srgbClr val="4A4A4A"/>
                </a:solidFill>
                <a:latin typeface="Arial" pitchFamily="34" charset="0"/>
                <a:ea typeface="Arial" pitchFamily="34" charset="-122"/>
                <a:cs typeface="Arial" pitchFamily="34" charset="-120"/>
              </a:rPr>
              <a:t>•  Cross-reference across tools</a:t>
            </a:r>
            <a:endParaRPr lang="en-US" sz="1000" dirty="0"/>
          </a:p>
        </p:txBody>
      </p:sp>
      <p:sp>
        <p:nvSpPr>
          <p:cNvPr id="24" name="Text 22"/>
          <p:cNvSpPr/>
          <p:nvPr/>
        </p:nvSpPr>
        <p:spPr>
          <a:xfrm>
            <a:off x="8229600" y="2926080"/>
            <a:ext cx="3108960" cy="320040"/>
          </a:xfrm>
          <a:prstGeom prst="rect">
            <a:avLst/>
          </a:prstGeom>
          <a:noFill/>
          <a:ln/>
        </p:spPr>
        <p:txBody>
          <a:bodyPr wrap="square" rtlCol="0" anchor="ctr"/>
          <a:lstStyle/>
          <a:p>
            <a:pPr indent="0" marL="0">
              <a:buNone/>
            </a:pPr>
            <a:r>
              <a:rPr lang="en-US" sz="1000" dirty="0">
                <a:solidFill>
                  <a:srgbClr val="4A4A4A"/>
                </a:solidFill>
                <a:latin typeface="Arial" pitchFamily="34" charset="0"/>
                <a:ea typeface="Arial" pitchFamily="34" charset="-122"/>
                <a:cs typeface="Arial" pitchFamily="34" charset="-120"/>
              </a:rPr>
              <a:t>•  Reconcile findings to controls</a:t>
            </a:r>
            <a:endParaRPr lang="en-US" sz="1000" dirty="0"/>
          </a:p>
        </p:txBody>
      </p:sp>
      <p:sp>
        <p:nvSpPr>
          <p:cNvPr id="25" name="Text 23"/>
          <p:cNvSpPr/>
          <p:nvPr/>
        </p:nvSpPr>
        <p:spPr>
          <a:xfrm>
            <a:off x="8229600" y="3291840"/>
            <a:ext cx="3108960" cy="320040"/>
          </a:xfrm>
          <a:prstGeom prst="rect">
            <a:avLst/>
          </a:prstGeom>
          <a:noFill/>
          <a:ln/>
        </p:spPr>
        <p:txBody>
          <a:bodyPr wrap="square" rtlCol="0" anchor="ctr"/>
          <a:lstStyle/>
          <a:p>
            <a:pPr indent="0" marL="0">
              <a:buNone/>
            </a:pPr>
            <a:r>
              <a:rPr lang="en-US" sz="1000" dirty="0">
                <a:solidFill>
                  <a:srgbClr val="4A4A4A"/>
                </a:solidFill>
                <a:latin typeface="Arial" pitchFamily="34" charset="0"/>
                <a:ea typeface="Arial" pitchFamily="34" charset="-122"/>
                <a:cs typeface="Arial" pitchFamily="34" charset="-120"/>
              </a:rPr>
              <a:t>•  Stale by the time audit begins</a:t>
            </a:r>
            <a:endParaRPr lang="en-US" sz="1000" dirty="0"/>
          </a:p>
        </p:txBody>
      </p:sp>
      <p:sp>
        <p:nvSpPr>
          <p:cNvPr id="26" name="Shape 24"/>
          <p:cNvSpPr/>
          <p:nvPr/>
        </p:nvSpPr>
        <p:spPr>
          <a:xfrm>
            <a:off x="8229600" y="4206240"/>
            <a:ext cx="3108960" cy="36576"/>
          </a:xfrm>
          <a:prstGeom prst="rect">
            <a:avLst/>
          </a:prstGeom>
          <a:solidFill>
            <a:srgbClr val="1A2B4A"/>
          </a:solidFill>
          <a:ln/>
        </p:spPr>
      </p:sp>
      <p:sp>
        <p:nvSpPr>
          <p:cNvPr id="27" name="Text 25"/>
          <p:cNvSpPr/>
          <p:nvPr/>
        </p:nvSpPr>
        <p:spPr>
          <a:xfrm>
            <a:off x="8229600" y="4297680"/>
            <a:ext cx="3108960" cy="548640"/>
          </a:xfrm>
          <a:prstGeom prst="rect">
            <a:avLst/>
          </a:prstGeom>
          <a:noFill/>
          <a:ln/>
        </p:spPr>
        <p:txBody>
          <a:bodyPr wrap="square" rtlCol="0" anchor="ctr"/>
          <a:lstStyle/>
          <a:p>
            <a:pPr indent="0" marL="0">
              <a:buNone/>
            </a:pPr>
            <a:r>
              <a:rPr lang="en-US" sz="900" i="1" dirty="0">
                <a:solidFill>
                  <a:srgbClr val="1A2B4A"/>
                </a:solidFill>
                <a:latin typeface="Arial" pitchFamily="34" charset="0"/>
                <a:ea typeface="Arial" pitchFamily="34" charset="-122"/>
                <a:cs typeface="Arial" pitchFamily="34" charset="-120"/>
              </a:rPr>
              <a:t>Labor-intensive. Disconnected from testing.</a:t>
            </a:r>
            <a:endParaRPr lang="en-US" sz="900" dirty="0"/>
          </a:p>
        </p:txBody>
      </p:sp>
      <p:sp>
        <p:nvSpPr>
          <p:cNvPr id="28" name="Shape 26"/>
          <p:cNvSpPr/>
          <p:nvPr/>
        </p:nvSpPr>
        <p:spPr>
          <a:xfrm>
            <a:off x="548640" y="5394960"/>
            <a:ext cx="11064240" cy="640080"/>
          </a:xfrm>
          <a:prstGeom prst="rect">
            <a:avLst/>
          </a:prstGeom>
          <a:solidFill>
            <a:srgbClr val="F5F5F5"/>
          </a:solidFill>
          <a:ln w="6350">
            <a:solidFill>
              <a:srgbClr val="1A2B4A"/>
            </a:solidFill>
            <a:prstDash val="solid"/>
          </a:ln>
        </p:spPr>
      </p:sp>
      <p:sp>
        <p:nvSpPr>
          <p:cNvPr id="29" name="Text 27"/>
          <p:cNvSpPr/>
          <p:nvPr/>
        </p:nvSpPr>
        <p:spPr>
          <a:xfrm>
            <a:off x="731520" y="5394960"/>
            <a:ext cx="10698480" cy="640080"/>
          </a:xfrm>
          <a:prstGeom prst="rect">
            <a:avLst/>
          </a:prstGeom>
          <a:noFill/>
          <a:ln/>
        </p:spPr>
        <p:txBody>
          <a:bodyPr wrap="square" rtlCol="0" anchor="ctr"/>
          <a:lstStyle/>
          <a:p>
            <a:pPr algn="ctr" indent="0" marL="0">
              <a:buNone/>
            </a:pPr>
            <a:r>
              <a:rPr lang="en-US" sz="1100" b="1" dirty="0">
                <a:solidFill>
                  <a:srgbClr val="1A2B4A"/>
                </a:solidFill>
                <a:latin typeface="Arial" pitchFamily="34" charset="0"/>
                <a:ea typeface="Arial" pitchFamily="34" charset="-122"/>
                <a:cs typeface="Arial" pitchFamily="34" charset="-120"/>
              </a:rPr>
              <a:t>HAIEC bridges all three: engine-generated evidence flows from test → finding → control mapping → audit package in one platform.</a:t>
            </a:r>
            <a:endParaRPr lang="en-US" sz="1100" dirty="0"/>
          </a:p>
        </p:txBody>
      </p:sp>
      <p:sp>
        <p:nvSpPr>
          <p:cNvPr id="30" name="Shape 28"/>
          <p:cNvSpPr/>
          <p:nvPr/>
        </p:nvSpPr>
        <p:spPr>
          <a:xfrm>
            <a:off x="457200" y="6473952"/>
            <a:ext cx="11277295" cy="0"/>
          </a:xfrm>
          <a:prstGeom prst="line">
            <a:avLst/>
          </a:prstGeom>
          <a:noFill/>
          <a:ln w="6350">
            <a:solidFill>
              <a:srgbClr val="CCCCCC"/>
            </a:solidFill>
            <a:prstDash val="solid"/>
          </a:ln>
        </p:spPr>
      </p:sp>
      <p:sp>
        <p:nvSpPr>
          <p:cNvPr id="31" name="Text 29"/>
          <p:cNvSpPr/>
          <p:nvPr/>
        </p:nvSpPr>
        <p:spPr>
          <a:xfrm>
            <a:off x="457200" y="6537960"/>
            <a:ext cx="7315200" cy="228600"/>
          </a:xfrm>
          <a:prstGeom prst="rect">
            <a:avLst/>
          </a:prstGeom>
          <a:noFill/>
          <a:ln/>
        </p:spPr>
        <p:txBody>
          <a:bodyPr wrap="square" rtlCol="0" anchor="ctr"/>
          <a:lstStyle/>
          <a:p>
            <a:pPr indent="0" marL="0">
              <a:buNone/>
            </a:pPr>
            <a:r>
              <a:rPr lang="en-US" sz="800" dirty="0">
                <a:solidFill>
                  <a:srgbClr val="6B6B6B"/>
                </a:solidFill>
                <a:latin typeface="Arial" pitchFamily="34" charset="0"/>
                <a:ea typeface="Arial" pitchFamily="34" charset="-122"/>
                <a:cs typeface="Arial" pitchFamily="34" charset="-120"/>
              </a:rPr>
              <a:t>HAIEC  ·  Confidential Discussion Brief  ·  3/15</a:t>
            </a:r>
            <a:endParaRPr lang="en-US" sz="800" dirty="0"/>
          </a:p>
        </p:txBody>
      </p:sp>
      <p:sp>
        <p:nvSpPr>
          <p:cNvPr id="32" name="Text 30"/>
          <p:cNvSpPr/>
          <p:nvPr/>
        </p:nvSpPr>
        <p:spPr>
          <a:xfrm>
            <a:off x="8991295" y="6537960"/>
            <a:ext cx="2743200" cy="228600"/>
          </a:xfrm>
          <a:prstGeom prst="rect">
            <a:avLst/>
          </a:prstGeom>
          <a:noFill/>
          <a:ln/>
        </p:spPr>
        <p:txBody>
          <a:bodyPr wrap="square" rtlCol="0" anchor="ctr"/>
          <a:lstStyle/>
          <a:p>
            <a:pPr algn="r" indent="0" marL="0">
              <a:buNone/>
            </a:pPr>
            <a:r>
              <a:rPr lang="en-US" sz="800" dirty="0">
                <a:solidFill>
                  <a:srgbClr val="6B6B6B"/>
                </a:solidFill>
                <a:latin typeface="Arial" pitchFamily="34" charset="0"/>
                <a:ea typeface="Arial" pitchFamily="34" charset="-122"/>
                <a:cs typeface="Arial" pitchFamily="34" charset="-120"/>
              </a:rPr>
              <a:t>v1.0  ·  2026-07-31</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57200"/>
            <a:ext cx="11277295" cy="548640"/>
          </a:xfrm>
          <a:prstGeom prst="rect">
            <a:avLst/>
          </a:prstGeom>
          <a:noFill/>
          <a:ln/>
        </p:spPr>
        <p:txBody>
          <a:bodyPr wrap="square" rtlCol="0" anchor="ctr"/>
          <a:lstStyle/>
          <a:p>
            <a:pPr algn="l" indent="0" marL="0">
              <a:buNone/>
            </a:pPr>
            <a:r>
              <a:rPr lang="en-US" sz="2200" b="1" dirty="0">
                <a:solidFill>
                  <a:srgbClr val="1A2B4A"/>
                </a:solidFill>
                <a:latin typeface="Arial" pitchFamily="34" charset="0"/>
                <a:ea typeface="Arial" pitchFamily="34" charset="-122"/>
                <a:cs typeface="Arial" pitchFamily="34" charset="-120"/>
              </a:rPr>
              <a:t>One platform from code to audit evidence.</a:t>
            </a:r>
            <a:endParaRPr lang="en-US" sz="2200" dirty="0"/>
          </a:p>
        </p:txBody>
      </p:sp>
      <p:sp>
        <p:nvSpPr>
          <p:cNvPr id="3" name="Shape 1"/>
          <p:cNvSpPr/>
          <p:nvPr/>
        </p:nvSpPr>
        <p:spPr>
          <a:xfrm>
            <a:off x="457200" y="1051560"/>
            <a:ext cx="11277295" cy="0"/>
          </a:xfrm>
          <a:prstGeom prst="line">
            <a:avLst/>
          </a:prstGeom>
          <a:noFill/>
          <a:ln w="12700">
            <a:solidFill>
              <a:srgbClr val="1A2B4A"/>
            </a:solidFill>
            <a:prstDash val="solid"/>
          </a:ln>
        </p:spPr>
      </p:sp>
      <p:sp>
        <p:nvSpPr>
          <p:cNvPr id="4" name="Shape 2"/>
          <p:cNvSpPr/>
          <p:nvPr/>
        </p:nvSpPr>
        <p:spPr>
          <a:xfrm>
            <a:off x="548640" y="1371600"/>
            <a:ext cx="11064240" cy="777240"/>
          </a:xfrm>
          <a:prstGeom prst="rect">
            <a:avLst/>
          </a:prstGeom>
          <a:solidFill>
            <a:srgbClr val="F5F5F5"/>
          </a:solidFill>
          <a:ln w="6350">
            <a:solidFill>
              <a:srgbClr val="D0D0D0"/>
            </a:solidFill>
            <a:prstDash val="solid"/>
          </a:ln>
        </p:spPr>
      </p:sp>
      <p:sp>
        <p:nvSpPr>
          <p:cNvPr id="5" name="Text 3"/>
          <p:cNvSpPr/>
          <p:nvPr/>
        </p:nvSpPr>
        <p:spPr>
          <a:xfrm>
            <a:off x="731520" y="1508760"/>
            <a:ext cx="2560320" cy="274320"/>
          </a:xfrm>
          <a:prstGeom prst="rect">
            <a:avLst/>
          </a:prstGeom>
          <a:noFill/>
          <a:ln/>
        </p:spPr>
        <p:txBody>
          <a:bodyPr wrap="square" rtlCol="0" anchor="ctr"/>
          <a:lstStyle/>
          <a:p>
            <a:pPr algn="l" indent="0" marL="0">
              <a:buNone/>
            </a:pPr>
            <a:r>
              <a:rPr lang="en-US" sz="900" b="1" dirty="0">
                <a:solidFill>
                  <a:srgbClr val="1A2B4A"/>
                </a:solidFill>
                <a:latin typeface="Arial" pitchFamily="34" charset="0"/>
                <a:ea typeface="Arial" pitchFamily="34" charset="-122"/>
                <a:cs typeface="Arial" pitchFamily="34" charset="-120"/>
              </a:rPr>
              <a:t>INPUTS</a:t>
            </a:r>
            <a:endParaRPr lang="en-US" sz="900" dirty="0"/>
          </a:p>
        </p:txBody>
      </p:sp>
      <p:sp>
        <p:nvSpPr>
          <p:cNvPr id="6" name="Text 4"/>
          <p:cNvSpPr/>
          <p:nvPr/>
        </p:nvSpPr>
        <p:spPr>
          <a:xfrm>
            <a:off x="3474720" y="1508760"/>
            <a:ext cx="7955280" cy="502920"/>
          </a:xfrm>
          <a:prstGeom prst="rect">
            <a:avLst/>
          </a:prstGeom>
          <a:noFill/>
          <a:ln/>
        </p:spPr>
        <p:txBody>
          <a:bodyPr wrap="square" rtlCol="0" anchor="t"/>
          <a:lstStyle/>
          <a:p>
            <a:pPr algn="l" indent="0" marL="0">
              <a:lnSpc>
                <a:spcPct val="115000"/>
              </a:lnSpc>
              <a:buNone/>
            </a:pPr>
            <a:r>
              <a:rPr lang="en-US" sz="1100" dirty="0">
                <a:solidFill>
                  <a:srgbClr val="4A4A4A"/>
                </a:solidFill>
                <a:latin typeface="Arial" pitchFamily="34" charset="0"/>
                <a:ea typeface="Arial" pitchFamily="34" charset="-122"/>
                <a:cs typeface="Arial" pitchFamily="34" charset="-120"/>
              </a:rPr>
              <a:t>Git repos · API keys · AI inventory · System registration</a:t>
            </a:r>
            <a:endParaRPr lang="en-US" sz="1100" dirty="0"/>
          </a:p>
        </p:txBody>
      </p:sp>
      <p:sp>
        <p:nvSpPr>
          <p:cNvPr id="7" name="Shape 5"/>
          <p:cNvSpPr/>
          <p:nvPr/>
        </p:nvSpPr>
        <p:spPr>
          <a:xfrm>
            <a:off x="548640" y="2331720"/>
            <a:ext cx="11064240" cy="777240"/>
          </a:xfrm>
          <a:prstGeom prst="rect">
            <a:avLst/>
          </a:prstGeom>
          <a:solidFill>
            <a:srgbClr val="F5F5F5"/>
          </a:solidFill>
          <a:ln w="6350">
            <a:solidFill>
              <a:srgbClr val="D0D0D0"/>
            </a:solidFill>
            <a:prstDash val="solid"/>
          </a:ln>
        </p:spPr>
      </p:sp>
      <p:sp>
        <p:nvSpPr>
          <p:cNvPr id="8" name="Text 6"/>
          <p:cNvSpPr/>
          <p:nvPr/>
        </p:nvSpPr>
        <p:spPr>
          <a:xfrm>
            <a:off x="731520" y="2468880"/>
            <a:ext cx="2560320" cy="274320"/>
          </a:xfrm>
          <a:prstGeom prst="rect">
            <a:avLst/>
          </a:prstGeom>
          <a:noFill/>
          <a:ln/>
        </p:spPr>
        <p:txBody>
          <a:bodyPr wrap="square" rtlCol="0" anchor="ctr"/>
          <a:lstStyle/>
          <a:p>
            <a:pPr algn="l" indent="0" marL="0">
              <a:buNone/>
            </a:pPr>
            <a:r>
              <a:rPr lang="en-US" sz="900" b="1" dirty="0">
                <a:solidFill>
                  <a:srgbClr val="1A2B4A"/>
                </a:solidFill>
                <a:latin typeface="Arial" pitchFamily="34" charset="0"/>
                <a:ea typeface="Arial" pitchFamily="34" charset="-122"/>
                <a:cs typeface="Arial" pitchFamily="34" charset="-120"/>
              </a:rPr>
              <a:t>EVALUATION</a:t>
            </a:r>
            <a:endParaRPr lang="en-US" sz="900" dirty="0"/>
          </a:p>
        </p:txBody>
      </p:sp>
      <p:sp>
        <p:nvSpPr>
          <p:cNvPr id="9" name="Text 7"/>
          <p:cNvSpPr/>
          <p:nvPr/>
        </p:nvSpPr>
        <p:spPr>
          <a:xfrm>
            <a:off x="3474720" y="2468880"/>
            <a:ext cx="7955280" cy="502920"/>
          </a:xfrm>
          <a:prstGeom prst="rect">
            <a:avLst/>
          </a:prstGeom>
          <a:noFill/>
          <a:ln/>
        </p:spPr>
        <p:txBody>
          <a:bodyPr wrap="square" rtlCol="0" anchor="t"/>
          <a:lstStyle/>
          <a:p>
            <a:pPr algn="l" indent="0" marL="0">
              <a:lnSpc>
                <a:spcPct val="115000"/>
              </a:lnSpc>
              <a:buNone/>
            </a:pPr>
            <a:r>
              <a:rPr lang="en-US" sz="1100" dirty="0">
                <a:solidFill>
                  <a:srgbClr val="4A4A4A"/>
                </a:solidFill>
                <a:latin typeface="Arial" pitchFamily="34" charset="0"/>
                <a:ea typeface="Arial" pitchFamily="34" charset="-122"/>
                <a:cs typeface="Arial" pitchFamily="34" charset="-120"/>
              </a:rPr>
              <a:t>Static engine (91 Semgrep + 15 TS + 82 rulepack) · Runtime engine (269 templates) · Wizard</a:t>
            </a:r>
            <a:endParaRPr lang="en-US" sz="1100" dirty="0"/>
          </a:p>
        </p:txBody>
      </p:sp>
      <p:sp>
        <p:nvSpPr>
          <p:cNvPr id="10" name="Shape 8"/>
          <p:cNvSpPr/>
          <p:nvPr/>
        </p:nvSpPr>
        <p:spPr>
          <a:xfrm>
            <a:off x="548640" y="3291840"/>
            <a:ext cx="11064240" cy="777240"/>
          </a:xfrm>
          <a:prstGeom prst="rect">
            <a:avLst/>
          </a:prstGeom>
          <a:solidFill>
            <a:srgbClr val="F5F5F5"/>
          </a:solidFill>
          <a:ln w="6350">
            <a:solidFill>
              <a:srgbClr val="D0D0D0"/>
            </a:solidFill>
            <a:prstDash val="solid"/>
          </a:ln>
        </p:spPr>
      </p:sp>
      <p:sp>
        <p:nvSpPr>
          <p:cNvPr id="11" name="Text 9"/>
          <p:cNvSpPr/>
          <p:nvPr/>
        </p:nvSpPr>
        <p:spPr>
          <a:xfrm>
            <a:off x="731520" y="3429000"/>
            <a:ext cx="2560320" cy="274320"/>
          </a:xfrm>
          <a:prstGeom prst="rect">
            <a:avLst/>
          </a:prstGeom>
          <a:noFill/>
          <a:ln/>
        </p:spPr>
        <p:txBody>
          <a:bodyPr wrap="square" rtlCol="0" anchor="ctr"/>
          <a:lstStyle/>
          <a:p>
            <a:pPr algn="l" indent="0" marL="0">
              <a:buNone/>
            </a:pPr>
            <a:r>
              <a:rPr lang="en-US" sz="900" b="1" dirty="0">
                <a:solidFill>
                  <a:srgbClr val="1A2B4A"/>
                </a:solidFill>
                <a:latin typeface="Arial" pitchFamily="34" charset="0"/>
                <a:ea typeface="Arial" pitchFamily="34" charset="-122"/>
                <a:cs typeface="Arial" pitchFamily="34" charset="-120"/>
              </a:rPr>
              <a:t>COORDINATION</a:t>
            </a:r>
            <a:endParaRPr lang="en-US" sz="900" dirty="0"/>
          </a:p>
        </p:txBody>
      </p:sp>
      <p:sp>
        <p:nvSpPr>
          <p:cNvPr id="12" name="Text 10"/>
          <p:cNvSpPr/>
          <p:nvPr/>
        </p:nvSpPr>
        <p:spPr>
          <a:xfrm>
            <a:off x="3474720" y="3429000"/>
            <a:ext cx="7955280" cy="502920"/>
          </a:xfrm>
          <a:prstGeom prst="rect">
            <a:avLst/>
          </a:prstGeom>
          <a:noFill/>
          <a:ln/>
        </p:spPr>
        <p:txBody>
          <a:bodyPr wrap="square" rtlCol="0" anchor="t"/>
          <a:lstStyle/>
          <a:p>
            <a:pPr algn="l" indent="0" marL="0">
              <a:lnSpc>
                <a:spcPct val="115000"/>
              </a:lnSpc>
              <a:buNone/>
            </a:pPr>
            <a:r>
              <a:rPr lang="en-US" sz="1100" dirty="0">
                <a:solidFill>
                  <a:srgbClr val="4A4A4A"/>
                </a:solidFill>
                <a:latin typeface="Arial" pitchFamily="34" charset="0"/>
                <a:ea typeface="Arial" pitchFamily="34" charset="-122"/>
                <a:cs typeface="Arial" pitchFamily="34" charset="-120"/>
              </a:rPr>
              <a:t>Audit Orchestrator · State machine · Hash-chained event log</a:t>
            </a:r>
            <a:endParaRPr lang="en-US" sz="1100" dirty="0"/>
          </a:p>
        </p:txBody>
      </p:sp>
      <p:sp>
        <p:nvSpPr>
          <p:cNvPr id="13" name="Shape 11"/>
          <p:cNvSpPr/>
          <p:nvPr/>
        </p:nvSpPr>
        <p:spPr>
          <a:xfrm>
            <a:off x="548640" y="4251960"/>
            <a:ext cx="11064240" cy="777240"/>
          </a:xfrm>
          <a:prstGeom prst="rect">
            <a:avLst/>
          </a:prstGeom>
          <a:solidFill>
            <a:srgbClr val="F5F5F5"/>
          </a:solidFill>
          <a:ln w="6350">
            <a:solidFill>
              <a:srgbClr val="D0D0D0"/>
            </a:solidFill>
            <a:prstDash val="solid"/>
          </a:ln>
        </p:spPr>
      </p:sp>
      <p:sp>
        <p:nvSpPr>
          <p:cNvPr id="14" name="Text 12"/>
          <p:cNvSpPr/>
          <p:nvPr/>
        </p:nvSpPr>
        <p:spPr>
          <a:xfrm>
            <a:off x="731520" y="4389120"/>
            <a:ext cx="2560320" cy="274320"/>
          </a:xfrm>
          <a:prstGeom prst="rect">
            <a:avLst/>
          </a:prstGeom>
          <a:noFill/>
          <a:ln/>
        </p:spPr>
        <p:txBody>
          <a:bodyPr wrap="square" rtlCol="0" anchor="ctr"/>
          <a:lstStyle/>
          <a:p>
            <a:pPr algn="l" indent="0" marL="0">
              <a:buNone/>
            </a:pPr>
            <a:r>
              <a:rPr lang="en-US" sz="900" b="1" dirty="0">
                <a:solidFill>
                  <a:srgbClr val="1A2B4A"/>
                </a:solidFill>
                <a:latin typeface="Arial" pitchFamily="34" charset="0"/>
                <a:ea typeface="Arial" pitchFamily="34" charset="-122"/>
                <a:cs typeface="Arial" pitchFamily="34" charset="-120"/>
              </a:rPr>
              <a:t>DECISION &amp; EVIDENCE</a:t>
            </a:r>
            <a:endParaRPr lang="en-US" sz="900" dirty="0"/>
          </a:p>
        </p:txBody>
      </p:sp>
      <p:sp>
        <p:nvSpPr>
          <p:cNvPr id="15" name="Text 13"/>
          <p:cNvSpPr/>
          <p:nvPr/>
        </p:nvSpPr>
        <p:spPr>
          <a:xfrm>
            <a:off x="3474720" y="4389120"/>
            <a:ext cx="7955280" cy="502920"/>
          </a:xfrm>
          <a:prstGeom prst="rect">
            <a:avLst/>
          </a:prstGeom>
          <a:noFill/>
          <a:ln/>
        </p:spPr>
        <p:txBody>
          <a:bodyPr wrap="square" rtlCol="0" anchor="t"/>
          <a:lstStyle/>
          <a:p>
            <a:pPr algn="l" indent="0" marL="0">
              <a:lnSpc>
                <a:spcPct val="115000"/>
              </a:lnSpc>
              <a:buNone/>
            </a:pPr>
            <a:r>
              <a:rPr lang="en-US" sz="1100" dirty="0">
                <a:solidFill>
                  <a:srgbClr val="4A4A4A"/>
                </a:solidFill>
                <a:latin typeface="Arial" pitchFamily="34" charset="0"/>
                <a:ea typeface="Arial" pitchFamily="34" charset="-122"/>
                <a:cs typeface="Arial" pitchFamily="34" charset="-120"/>
              </a:rPr>
              <a:t>Decision Pipeline (6 nodes, DIS) · Evidence manifests · Framework mapping</a:t>
            </a:r>
            <a:endParaRPr lang="en-US" sz="1100" dirty="0"/>
          </a:p>
        </p:txBody>
      </p:sp>
      <p:sp>
        <p:nvSpPr>
          <p:cNvPr id="16" name="Shape 14"/>
          <p:cNvSpPr/>
          <p:nvPr/>
        </p:nvSpPr>
        <p:spPr>
          <a:xfrm>
            <a:off x="548640" y="5212080"/>
            <a:ext cx="11064240" cy="777240"/>
          </a:xfrm>
          <a:prstGeom prst="rect">
            <a:avLst/>
          </a:prstGeom>
          <a:solidFill>
            <a:srgbClr val="F5F5F5"/>
          </a:solidFill>
          <a:ln w="6350">
            <a:solidFill>
              <a:srgbClr val="D0D0D0"/>
            </a:solidFill>
            <a:prstDash val="solid"/>
          </a:ln>
        </p:spPr>
      </p:sp>
      <p:sp>
        <p:nvSpPr>
          <p:cNvPr id="17" name="Text 15"/>
          <p:cNvSpPr/>
          <p:nvPr/>
        </p:nvSpPr>
        <p:spPr>
          <a:xfrm>
            <a:off x="731520" y="5349240"/>
            <a:ext cx="2560320" cy="274320"/>
          </a:xfrm>
          <a:prstGeom prst="rect">
            <a:avLst/>
          </a:prstGeom>
          <a:noFill/>
          <a:ln/>
        </p:spPr>
        <p:txBody>
          <a:bodyPr wrap="square" rtlCol="0" anchor="ctr"/>
          <a:lstStyle/>
          <a:p>
            <a:pPr algn="l" indent="0" marL="0">
              <a:buNone/>
            </a:pPr>
            <a:r>
              <a:rPr lang="en-US" sz="900" b="1" dirty="0">
                <a:solidFill>
                  <a:srgbClr val="1A2B4A"/>
                </a:solidFill>
                <a:latin typeface="Arial" pitchFamily="34" charset="0"/>
                <a:ea typeface="Arial" pitchFamily="34" charset="-122"/>
                <a:cs typeface="Arial" pitchFamily="34" charset="-120"/>
              </a:rPr>
              <a:t>DISTRIBUTION</a:t>
            </a:r>
            <a:endParaRPr lang="en-US" sz="900" dirty="0"/>
          </a:p>
        </p:txBody>
      </p:sp>
      <p:sp>
        <p:nvSpPr>
          <p:cNvPr id="18" name="Text 16"/>
          <p:cNvSpPr/>
          <p:nvPr/>
        </p:nvSpPr>
        <p:spPr>
          <a:xfrm>
            <a:off x="3474720" y="5349240"/>
            <a:ext cx="7955280" cy="502920"/>
          </a:xfrm>
          <a:prstGeom prst="rect">
            <a:avLst/>
          </a:prstGeom>
          <a:noFill/>
          <a:ln/>
        </p:spPr>
        <p:txBody>
          <a:bodyPr wrap="square" rtlCol="0" anchor="t"/>
          <a:lstStyle/>
          <a:p>
            <a:pPr algn="l" indent="0" marL="0">
              <a:lnSpc>
                <a:spcPct val="115000"/>
              </a:lnSpc>
              <a:buNone/>
            </a:pPr>
            <a:r>
              <a:rPr lang="en-US" sz="1100" dirty="0">
                <a:solidFill>
                  <a:srgbClr val="4A4A4A"/>
                </a:solidFill>
                <a:latin typeface="Arial" pitchFamily="34" charset="0"/>
                <a:ea typeface="Arial" pitchFamily="34" charset="-122"/>
                <a:cs typeface="Arial" pitchFamily="34" charset="-120"/>
              </a:rPr>
              <a:t>Trust artifacts · Audit packages · Verification API · CI integration</a:t>
            </a:r>
            <a:endParaRPr lang="en-US" sz="1100" dirty="0"/>
          </a:p>
        </p:txBody>
      </p:sp>
      <p:sp>
        <p:nvSpPr>
          <p:cNvPr id="19" name="Shape 17"/>
          <p:cNvSpPr/>
          <p:nvPr/>
        </p:nvSpPr>
        <p:spPr>
          <a:xfrm>
            <a:off x="548640" y="5943600"/>
            <a:ext cx="11064240" cy="457200"/>
          </a:xfrm>
          <a:prstGeom prst="rect">
            <a:avLst/>
          </a:prstGeom>
          <a:solidFill>
            <a:srgbClr val="F5F5F5"/>
          </a:solidFill>
          <a:ln w="6350">
            <a:solidFill>
              <a:srgbClr val="D0D0D0"/>
            </a:solidFill>
            <a:prstDash val="solid"/>
          </a:ln>
        </p:spPr>
      </p:sp>
      <p:sp>
        <p:nvSpPr>
          <p:cNvPr id="20" name="Text 18"/>
          <p:cNvSpPr/>
          <p:nvPr/>
        </p:nvSpPr>
        <p:spPr>
          <a:xfrm>
            <a:off x="731520" y="5943600"/>
            <a:ext cx="10698480" cy="457200"/>
          </a:xfrm>
          <a:prstGeom prst="rect">
            <a:avLst/>
          </a:prstGeom>
          <a:noFill/>
          <a:ln/>
        </p:spPr>
        <p:txBody>
          <a:bodyPr wrap="square" rtlCol="0" anchor="ctr"/>
          <a:lstStyle/>
          <a:p>
            <a:pPr algn="ctr" indent="0" marL="0">
              <a:buNone/>
            </a:pPr>
            <a:r>
              <a:rPr lang="en-US" sz="1100" i="1" dirty="0">
                <a:solidFill>
                  <a:srgbClr val="1A2B4A"/>
                </a:solidFill>
                <a:latin typeface="Arial" pitchFamily="34" charset="0"/>
                <a:ea typeface="Arial" pitchFamily="34" charset="-122"/>
                <a:cs typeface="Arial" pitchFamily="34" charset="-120"/>
              </a:rPr>
              <a:t>Modal Python runs the computation. TypeScript runs the product.</a:t>
            </a:r>
            <a:endParaRPr lang="en-US" sz="1100" dirty="0"/>
          </a:p>
        </p:txBody>
      </p:sp>
      <p:sp>
        <p:nvSpPr>
          <p:cNvPr id="21" name="Shape 19"/>
          <p:cNvSpPr/>
          <p:nvPr/>
        </p:nvSpPr>
        <p:spPr>
          <a:xfrm>
            <a:off x="457200" y="6473952"/>
            <a:ext cx="11277295" cy="0"/>
          </a:xfrm>
          <a:prstGeom prst="line">
            <a:avLst/>
          </a:prstGeom>
          <a:noFill/>
          <a:ln w="6350">
            <a:solidFill>
              <a:srgbClr val="CCCCCC"/>
            </a:solidFill>
            <a:prstDash val="solid"/>
          </a:ln>
        </p:spPr>
      </p:sp>
      <p:sp>
        <p:nvSpPr>
          <p:cNvPr id="22" name="Text 20"/>
          <p:cNvSpPr/>
          <p:nvPr/>
        </p:nvSpPr>
        <p:spPr>
          <a:xfrm>
            <a:off x="457200" y="6537960"/>
            <a:ext cx="7315200" cy="228600"/>
          </a:xfrm>
          <a:prstGeom prst="rect">
            <a:avLst/>
          </a:prstGeom>
          <a:noFill/>
          <a:ln/>
        </p:spPr>
        <p:txBody>
          <a:bodyPr wrap="square" rtlCol="0" anchor="ctr"/>
          <a:lstStyle/>
          <a:p>
            <a:pPr indent="0" marL="0">
              <a:buNone/>
            </a:pPr>
            <a:r>
              <a:rPr lang="en-US" sz="800" dirty="0">
                <a:solidFill>
                  <a:srgbClr val="6B6B6B"/>
                </a:solidFill>
                <a:latin typeface="Arial" pitchFamily="34" charset="0"/>
                <a:ea typeface="Arial" pitchFamily="34" charset="-122"/>
                <a:cs typeface="Arial" pitchFamily="34" charset="-120"/>
              </a:rPr>
              <a:t>HAIEC  ·  Confidential Discussion Brief  ·  4/15</a:t>
            </a:r>
            <a:endParaRPr lang="en-US" sz="800" dirty="0"/>
          </a:p>
        </p:txBody>
      </p:sp>
      <p:sp>
        <p:nvSpPr>
          <p:cNvPr id="23" name="Text 21"/>
          <p:cNvSpPr/>
          <p:nvPr/>
        </p:nvSpPr>
        <p:spPr>
          <a:xfrm>
            <a:off x="8991295" y="6537960"/>
            <a:ext cx="2743200" cy="228600"/>
          </a:xfrm>
          <a:prstGeom prst="rect">
            <a:avLst/>
          </a:prstGeom>
          <a:noFill/>
          <a:ln/>
        </p:spPr>
        <p:txBody>
          <a:bodyPr wrap="square" rtlCol="0" anchor="ctr"/>
          <a:lstStyle/>
          <a:p>
            <a:pPr algn="r" indent="0" marL="0">
              <a:buNone/>
            </a:pPr>
            <a:r>
              <a:rPr lang="en-US" sz="800" dirty="0">
                <a:solidFill>
                  <a:srgbClr val="6B6B6B"/>
                </a:solidFill>
                <a:latin typeface="Arial" pitchFamily="34" charset="0"/>
                <a:ea typeface="Arial" pitchFamily="34" charset="-122"/>
                <a:cs typeface="Arial" pitchFamily="34" charset="-120"/>
              </a:rPr>
              <a:t>v1.0  ·  2026-07-31</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57200"/>
            <a:ext cx="11277295" cy="548640"/>
          </a:xfrm>
          <a:prstGeom prst="rect">
            <a:avLst/>
          </a:prstGeom>
          <a:noFill/>
          <a:ln/>
        </p:spPr>
        <p:txBody>
          <a:bodyPr wrap="square" rtlCol="0" anchor="ctr"/>
          <a:lstStyle/>
          <a:p>
            <a:pPr algn="l" indent="0" marL="0">
              <a:buNone/>
            </a:pPr>
            <a:r>
              <a:rPr lang="en-US" sz="2200" b="1" dirty="0">
                <a:solidFill>
                  <a:srgbClr val="1A2B4A"/>
                </a:solidFill>
                <a:latin typeface="Arial" pitchFamily="34" charset="0"/>
                <a:ea typeface="Arial" pitchFamily="34" charset="-122"/>
                <a:cs typeface="Arial" pitchFamily="34" charset="-120"/>
              </a:rPr>
              <a:t>Discover. Scan. Attack-Test. Map. Prove. Monitor.</a:t>
            </a:r>
            <a:endParaRPr lang="en-US" sz="2200" dirty="0"/>
          </a:p>
        </p:txBody>
      </p:sp>
      <p:sp>
        <p:nvSpPr>
          <p:cNvPr id="3" name="Shape 1"/>
          <p:cNvSpPr/>
          <p:nvPr/>
        </p:nvSpPr>
        <p:spPr>
          <a:xfrm>
            <a:off x="457200" y="1051560"/>
            <a:ext cx="11277295" cy="0"/>
          </a:xfrm>
          <a:prstGeom prst="line">
            <a:avLst/>
          </a:prstGeom>
          <a:noFill/>
          <a:ln w="12700">
            <a:solidFill>
              <a:srgbClr val="1A2B4A"/>
            </a:solidFill>
            <a:prstDash val="solid"/>
          </a:ln>
        </p:spPr>
      </p:sp>
      <p:sp>
        <p:nvSpPr>
          <p:cNvPr id="4" name="Shape 2"/>
          <p:cNvSpPr/>
          <p:nvPr/>
        </p:nvSpPr>
        <p:spPr>
          <a:xfrm>
            <a:off x="548640" y="1371600"/>
            <a:ext cx="1691640" cy="2286000"/>
          </a:xfrm>
          <a:prstGeom prst="rect">
            <a:avLst/>
          </a:prstGeom>
          <a:solidFill>
            <a:srgbClr val="FFFFFF"/>
          </a:solidFill>
          <a:ln w="6350">
            <a:solidFill>
              <a:srgbClr val="D0D0D0"/>
            </a:solidFill>
            <a:prstDash val="solid"/>
          </a:ln>
        </p:spPr>
      </p:sp>
      <p:sp>
        <p:nvSpPr>
          <p:cNvPr id="5" name="Text 3"/>
          <p:cNvSpPr/>
          <p:nvPr/>
        </p:nvSpPr>
        <p:spPr>
          <a:xfrm>
            <a:off x="640080" y="1463040"/>
            <a:ext cx="731520" cy="274320"/>
          </a:xfrm>
          <a:prstGeom prst="rect">
            <a:avLst/>
          </a:prstGeom>
          <a:noFill/>
          <a:ln/>
        </p:spPr>
        <p:txBody>
          <a:bodyPr wrap="square" rtlCol="0" anchor="ctr"/>
          <a:lstStyle/>
          <a:p>
            <a:pPr indent="0" marL="0">
              <a:buNone/>
            </a:pPr>
            <a:r>
              <a:rPr lang="en-US" sz="1400" b="1" dirty="0">
                <a:solidFill>
                  <a:srgbClr val="1A2B4A"/>
                </a:solidFill>
                <a:latin typeface="Arial" pitchFamily="34" charset="0"/>
                <a:ea typeface="Arial" pitchFamily="34" charset="-122"/>
                <a:cs typeface="Arial" pitchFamily="34" charset="-120"/>
              </a:rPr>
              <a:t>01</a:t>
            </a:r>
            <a:endParaRPr lang="en-US" sz="1400" dirty="0"/>
          </a:p>
        </p:txBody>
      </p:sp>
      <p:sp>
        <p:nvSpPr>
          <p:cNvPr id="6" name="Text 4"/>
          <p:cNvSpPr/>
          <p:nvPr/>
        </p:nvSpPr>
        <p:spPr>
          <a:xfrm>
            <a:off x="640080" y="1783080"/>
            <a:ext cx="1508760" cy="320040"/>
          </a:xfrm>
          <a:prstGeom prst="rect">
            <a:avLst/>
          </a:prstGeom>
          <a:noFill/>
          <a:ln/>
        </p:spPr>
        <p:txBody>
          <a:bodyPr wrap="square" rtlCol="0" anchor="ctr"/>
          <a:lstStyle/>
          <a:p>
            <a:pPr indent="0" marL="0">
              <a:buNone/>
            </a:pPr>
            <a:r>
              <a:rPr lang="en-US" sz="1200" b="1" dirty="0">
                <a:solidFill>
                  <a:srgbClr val="1A1A1A"/>
                </a:solidFill>
                <a:latin typeface="Arial" pitchFamily="34" charset="0"/>
                <a:ea typeface="Arial" pitchFamily="34" charset="-122"/>
                <a:cs typeface="Arial" pitchFamily="34" charset="-120"/>
              </a:rPr>
              <a:t>Discover</a:t>
            </a:r>
            <a:endParaRPr lang="en-US" sz="1200" dirty="0"/>
          </a:p>
        </p:txBody>
      </p:sp>
      <p:sp>
        <p:nvSpPr>
          <p:cNvPr id="7" name="Text 5"/>
          <p:cNvSpPr/>
          <p:nvPr/>
        </p:nvSpPr>
        <p:spPr>
          <a:xfrm>
            <a:off x="640080" y="2148840"/>
            <a:ext cx="1508760" cy="548640"/>
          </a:xfrm>
          <a:prstGeom prst="rect">
            <a:avLst/>
          </a:prstGeom>
          <a:noFill/>
          <a:ln/>
        </p:spPr>
        <p:txBody>
          <a:bodyPr wrap="square" rtlCol="0" anchor="t"/>
          <a:lstStyle/>
          <a:p>
            <a:pPr algn="l" indent="0" marL="0">
              <a:lnSpc>
                <a:spcPct val="115000"/>
              </a:lnSpc>
              <a:buNone/>
            </a:pPr>
            <a:r>
              <a:rPr lang="en-US" sz="900" dirty="0">
                <a:solidFill>
                  <a:srgbClr val="4A4A4A"/>
                </a:solidFill>
                <a:latin typeface="Arial" pitchFamily="34" charset="0"/>
                <a:ea typeface="Arial" pitchFamily="34" charset="-122"/>
                <a:cs typeface="Arial" pitchFamily="34" charset="-120"/>
              </a:rPr>
              <a:t>Register AI system in inventory</a:t>
            </a:r>
            <a:endParaRPr lang="en-US" sz="900" dirty="0"/>
          </a:p>
        </p:txBody>
      </p:sp>
      <p:sp>
        <p:nvSpPr>
          <p:cNvPr id="8" name="Text 6"/>
          <p:cNvSpPr/>
          <p:nvPr/>
        </p:nvSpPr>
        <p:spPr>
          <a:xfrm>
            <a:off x="640080" y="2743200"/>
            <a:ext cx="1508760" cy="182880"/>
          </a:xfrm>
          <a:prstGeom prst="rect">
            <a:avLst/>
          </a:prstGeom>
          <a:noFill/>
          <a:ln/>
        </p:spPr>
        <p:txBody>
          <a:bodyPr wrap="square" rtlCol="0" anchor="ctr"/>
          <a:lstStyle/>
          <a:p>
            <a:pPr algn="l" indent="0" marL="0">
              <a:buNone/>
            </a:pPr>
            <a:r>
              <a:rPr lang="en-US" sz="800" b="1" dirty="0">
                <a:solidFill>
                  <a:srgbClr val="6B6B6B"/>
                </a:solidFill>
                <a:latin typeface="Arial" pitchFamily="34" charset="0"/>
                <a:ea typeface="Arial" pitchFamily="34" charset="-122"/>
                <a:cs typeface="Arial" pitchFamily="34" charset="-120"/>
              </a:rPr>
              <a:t>API key sync, system metadata</a:t>
            </a:r>
            <a:endParaRPr lang="en-US" sz="800" dirty="0"/>
          </a:p>
        </p:txBody>
      </p:sp>
      <p:sp>
        <p:nvSpPr>
          <p:cNvPr id="9" name="Shape 7"/>
          <p:cNvSpPr/>
          <p:nvPr/>
        </p:nvSpPr>
        <p:spPr>
          <a:xfrm>
            <a:off x="2267712" y="2514600"/>
            <a:ext cx="146304" cy="0"/>
          </a:xfrm>
          <a:prstGeom prst="line">
            <a:avLst/>
          </a:prstGeom>
          <a:noFill/>
          <a:ln w="12700">
            <a:solidFill>
              <a:srgbClr val="999999"/>
            </a:solidFill>
            <a:prstDash val="solid"/>
            <a:tailEnd type="triangle"/>
          </a:ln>
        </p:spPr>
      </p:sp>
      <p:sp>
        <p:nvSpPr>
          <p:cNvPr id="10" name="Shape 8"/>
          <p:cNvSpPr/>
          <p:nvPr/>
        </p:nvSpPr>
        <p:spPr>
          <a:xfrm>
            <a:off x="2441448" y="1371600"/>
            <a:ext cx="1691640" cy="2286000"/>
          </a:xfrm>
          <a:prstGeom prst="rect">
            <a:avLst/>
          </a:prstGeom>
          <a:solidFill>
            <a:srgbClr val="FFFFFF"/>
          </a:solidFill>
          <a:ln w="6350">
            <a:solidFill>
              <a:srgbClr val="D0D0D0"/>
            </a:solidFill>
            <a:prstDash val="solid"/>
          </a:ln>
        </p:spPr>
      </p:sp>
      <p:sp>
        <p:nvSpPr>
          <p:cNvPr id="11" name="Text 9"/>
          <p:cNvSpPr/>
          <p:nvPr/>
        </p:nvSpPr>
        <p:spPr>
          <a:xfrm>
            <a:off x="2532888" y="1463040"/>
            <a:ext cx="731520" cy="274320"/>
          </a:xfrm>
          <a:prstGeom prst="rect">
            <a:avLst/>
          </a:prstGeom>
          <a:noFill/>
          <a:ln/>
        </p:spPr>
        <p:txBody>
          <a:bodyPr wrap="square" rtlCol="0" anchor="ctr"/>
          <a:lstStyle/>
          <a:p>
            <a:pPr indent="0" marL="0">
              <a:buNone/>
            </a:pPr>
            <a:r>
              <a:rPr lang="en-US" sz="1400" b="1" dirty="0">
                <a:solidFill>
                  <a:srgbClr val="1A2B4A"/>
                </a:solidFill>
                <a:latin typeface="Arial" pitchFamily="34" charset="0"/>
                <a:ea typeface="Arial" pitchFamily="34" charset="-122"/>
                <a:cs typeface="Arial" pitchFamily="34" charset="-120"/>
              </a:rPr>
              <a:t>02</a:t>
            </a:r>
            <a:endParaRPr lang="en-US" sz="1400" dirty="0"/>
          </a:p>
        </p:txBody>
      </p:sp>
      <p:sp>
        <p:nvSpPr>
          <p:cNvPr id="12" name="Text 10"/>
          <p:cNvSpPr/>
          <p:nvPr/>
        </p:nvSpPr>
        <p:spPr>
          <a:xfrm>
            <a:off x="2532888" y="1783080"/>
            <a:ext cx="1508760" cy="320040"/>
          </a:xfrm>
          <a:prstGeom prst="rect">
            <a:avLst/>
          </a:prstGeom>
          <a:noFill/>
          <a:ln/>
        </p:spPr>
        <p:txBody>
          <a:bodyPr wrap="square" rtlCol="0" anchor="ctr"/>
          <a:lstStyle/>
          <a:p>
            <a:pPr indent="0" marL="0">
              <a:buNone/>
            </a:pPr>
            <a:r>
              <a:rPr lang="en-US" sz="1200" b="1" dirty="0">
                <a:solidFill>
                  <a:srgbClr val="1A1A1A"/>
                </a:solidFill>
                <a:latin typeface="Arial" pitchFamily="34" charset="0"/>
                <a:ea typeface="Arial" pitchFamily="34" charset="-122"/>
                <a:cs typeface="Arial" pitchFamily="34" charset="-120"/>
              </a:rPr>
              <a:t>Scan</a:t>
            </a:r>
            <a:endParaRPr lang="en-US" sz="1200" dirty="0"/>
          </a:p>
        </p:txBody>
      </p:sp>
      <p:sp>
        <p:nvSpPr>
          <p:cNvPr id="13" name="Text 11"/>
          <p:cNvSpPr/>
          <p:nvPr/>
        </p:nvSpPr>
        <p:spPr>
          <a:xfrm>
            <a:off x="2532888" y="2148840"/>
            <a:ext cx="1508760" cy="548640"/>
          </a:xfrm>
          <a:prstGeom prst="rect">
            <a:avLst/>
          </a:prstGeom>
          <a:noFill/>
          <a:ln/>
        </p:spPr>
        <p:txBody>
          <a:bodyPr wrap="square" rtlCol="0" anchor="t"/>
          <a:lstStyle/>
          <a:p>
            <a:pPr algn="l" indent="0" marL="0">
              <a:lnSpc>
                <a:spcPct val="115000"/>
              </a:lnSpc>
              <a:buNone/>
            </a:pPr>
            <a:r>
              <a:rPr lang="en-US" sz="900" dirty="0">
                <a:solidFill>
                  <a:srgbClr val="4A4A4A"/>
                </a:solidFill>
                <a:latin typeface="Arial" pitchFamily="34" charset="0"/>
                <a:ea typeface="Arial" pitchFamily="34" charset="-122"/>
                <a:cs typeface="Arial" pitchFamily="34" charset="-120"/>
              </a:rPr>
              <a:t>Static analysis on codebase</a:t>
            </a:r>
            <a:endParaRPr lang="en-US" sz="900" dirty="0"/>
          </a:p>
        </p:txBody>
      </p:sp>
      <p:sp>
        <p:nvSpPr>
          <p:cNvPr id="14" name="Text 12"/>
          <p:cNvSpPr/>
          <p:nvPr/>
        </p:nvSpPr>
        <p:spPr>
          <a:xfrm>
            <a:off x="2532888" y="2743200"/>
            <a:ext cx="1508760" cy="182880"/>
          </a:xfrm>
          <a:prstGeom prst="rect">
            <a:avLst/>
          </a:prstGeom>
          <a:noFill/>
          <a:ln/>
        </p:spPr>
        <p:txBody>
          <a:bodyPr wrap="square" rtlCol="0" anchor="ctr"/>
          <a:lstStyle/>
          <a:p>
            <a:pPr algn="l" indent="0" marL="0">
              <a:buNone/>
            </a:pPr>
            <a:r>
              <a:rPr lang="en-US" sz="800" b="1" dirty="0">
                <a:solidFill>
                  <a:srgbClr val="6B6B6B"/>
                </a:solidFill>
                <a:latin typeface="Arial" pitchFamily="34" charset="0"/>
                <a:ea typeface="Arial" pitchFamily="34" charset="-122"/>
                <a:cs typeface="Arial" pitchFamily="34" charset="-120"/>
              </a:rPr>
              <a:t>91 Semgrep + 15 TS + 82 rulepack</a:t>
            </a:r>
            <a:endParaRPr lang="en-US" sz="800" dirty="0"/>
          </a:p>
        </p:txBody>
      </p:sp>
      <p:sp>
        <p:nvSpPr>
          <p:cNvPr id="15" name="Shape 13"/>
          <p:cNvSpPr/>
          <p:nvPr/>
        </p:nvSpPr>
        <p:spPr>
          <a:xfrm>
            <a:off x="4160520" y="2514600"/>
            <a:ext cx="146304" cy="0"/>
          </a:xfrm>
          <a:prstGeom prst="line">
            <a:avLst/>
          </a:prstGeom>
          <a:noFill/>
          <a:ln w="12700">
            <a:solidFill>
              <a:srgbClr val="999999"/>
            </a:solidFill>
            <a:prstDash val="solid"/>
            <a:tailEnd type="triangle"/>
          </a:ln>
        </p:spPr>
      </p:sp>
      <p:sp>
        <p:nvSpPr>
          <p:cNvPr id="16" name="Shape 14"/>
          <p:cNvSpPr/>
          <p:nvPr/>
        </p:nvSpPr>
        <p:spPr>
          <a:xfrm>
            <a:off x="4334256" y="1371600"/>
            <a:ext cx="1691640" cy="2286000"/>
          </a:xfrm>
          <a:prstGeom prst="rect">
            <a:avLst/>
          </a:prstGeom>
          <a:solidFill>
            <a:srgbClr val="FFFFFF"/>
          </a:solidFill>
          <a:ln w="6350">
            <a:solidFill>
              <a:srgbClr val="D0D0D0"/>
            </a:solidFill>
            <a:prstDash val="solid"/>
          </a:ln>
        </p:spPr>
      </p:sp>
      <p:sp>
        <p:nvSpPr>
          <p:cNvPr id="17" name="Text 15"/>
          <p:cNvSpPr/>
          <p:nvPr/>
        </p:nvSpPr>
        <p:spPr>
          <a:xfrm>
            <a:off x="4425696" y="1463040"/>
            <a:ext cx="731520" cy="274320"/>
          </a:xfrm>
          <a:prstGeom prst="rect">
            <a:avLst/>
          </a:prstGeom>
          <a:noFill/>
          <a:ln/>
        </p:spPr>
        <p:txBody>
          <a:bodyPr wrap="square" rtlCol="0" anchor="ctr"/>
          <a:lstStyle/>
          <a:p>
            <a:pPr indent="0" marL="0">
              <a:buNone/>
            </a:pPr>
            <a:r>
              <a:rPr lang="en-US" sz="1400" b="1" dirty="0">
                <a:solidFill>
                  <a:srgbClr val="1A2B4A"/>
                </a:solidFill>
                <a:latin typeface="Arial" pitchFamily="34" charset="0"/>
                <a:ea typeface="Arial" pitchFamily="34" charset="-122"/>
                <a:cs typeface="Arial" pitchFamily="34" charset="-120"/>
              </a:rPr>
              <a:t>03</a:t>
            </a:r>
            <a:endParaRPr lang="en-US" sz="1400" dirty="0"/>
          </a:p>
        </p:txBody>
      </p:sp>
      <p:sp>
        <p:nvSpPr>
          <p:cNvPr id="18" name="Text 16"/>
          <p:cNvSpPr/>
          <p:nvPr/>
        </p:nvSpPr>
        <p:spPr>
          <a:xfrm>
            <a:off x="4425696" y="1783080"/>
            <a:ext cx="1508760" cy="320040"/>
          </a:xfrm>
          <a:prstGeom prst="rect">
            <a:avLst/>
          </a:prstGeom>
          <a:noFill/>
          <a:ln/>
        </p:spPr>
        <p:txBody>
          <a:bodyPr wrap="square" rtlCol="0" anchor="ctr"/>
          <a:lstStyle/>
          <a:p>
            <a:pPr indent="0" marL="0">
              <a:buNone/>
            </a:pPr>
            <a:r>
              <a:rPr lang="en-US" sz="1200" b="1" dirty="0">
                <a:solidFill>
                  <a:srgbClr val="1A1A1A"/>
                </a:solidFill>
                <a:latin typeface="Arial" pitchFamily="34" charset="0"/>
                <a:ea typeface="Arial" pitchFamily="34" charset="-122"/>
                <a:cs typeface="Arial" pitchFamily="34" charset="-120"/>
              </a:rPr>
              <a:t>Attack-Test</a:t>
            </a:r>
            <a:endParaRPr lang="en-US" sz="1200" dirty="0"/>
          </a:p>
        </p:txBody>
      </p:sp>
      <p:sp>
        <p:nvSpPr>
          <p:cNvPr id="19" name="Text 17"/>
          <p:cNvSpPr/>
          <p:nvPr/>
        </p:nvSpPr>
        <p:spPr>
          <a:xfrm>
            <a:off x="4425696" y="2148840"/>
            <a:ext cx="1508760" cy="548640"/>
          </a:xfrm>
          <a:prstGeom prst="rect">
            <a:avLst/>
          </a:prstGeom>
          <a:noFill/>
          <a:ln/>
        </p:spPr>
        <p:txBody>
          <a:bodyPr wrap="square" rtlCol="0" anchor="t"/>
          <a:lstStyle/>
          <a:p>
            <a:pPr algn="l" indent="0" marL="0">
              <a:lnSpc>
                <a:spcPct val="115000"/>
              </a:lnSpc>
              <a:buNone/>
            </a:pPr>
            <a:r>
              <a:rPr lang="en-US" sz="900" dirty="0">
                <a:solidFill>
                  <a:srgbClr val="4A4A4A"/>
                </a:solidFill>
                <a:latin typeface="Arial" pitchFamily="34" charset="0"/>
                <a:ea typeface="Arial" pitchFamily="34" charset="-122"/>
                <a:cs typeface="Arial" pitchFamily="34" charset="-120"/>
              </a:rPr>
              <a:t>Runtime adversarial testing</a:t>
            </a:r>
            <a:endParaRPr lang="en-US" sz="900" dirty="0"/>
          </a:p>
        </p:txBody>
      </p:sp>
      <p:sp>
        <p:nvSpPr>
          <p:cNvPr id="20" name="Text 18"/>
          <p:cNvSpPr/>
          <p:nvPr/>
        </p:nvSpPr>
        <p:spPr>
          <a:xfrm>
            <a:off x="4425696" y="2743200"/>
            <a:ext cx="1508760" cy="182880"/>
          </a:xfrm>
          <a:prstGeom prst="rect">
            <a:avLst/>
          </a:prstGeom>
          <a:noFill/>
          <a:ln/>
        </p:spPr>
        <p:txBody>
          <a:bodyPr wrap="square" rtlCol="0" anchor="ctr"/>
          <a:lstStyle/>
          <a:p>
            <a:pPr algn="l" indent="0" marL="0">
              <a:buNone/>
            </a:pPr>
            <a:r>
              <a:rPr lang="en-US" sz="800" b="1" dirty="0">
                <a:solidFill>
                  <a:srgbClr val="6B6B6B"/>
                </a:solidFill>
                <a:latin typeface="Arial" pitchFamily="34" charset="0"/>
                <a:ea typeface="Arial" pitchFamily="34" charset="-122"/>
                <a:cs typeface="Arial" pitchFamily="34" charset="-120"/>
              </a:rPr>
              <a:t>269 templates, 14 safety properties</a:t>
            </a:r>
            <a:endParaRPr lang="en-US" sz="800" dirty="0"/>
          </a:p>
        </p:txBody>
      </p:sp>
      <p:sp>
        <p:nvSpPr>
          <p:cNvPr id="21" name="Shape 19"/>
          <p:cNvSpPr/>
          <p:nvPr/>
        </p:nvSpPr>
        <p:spPr>
          <a:xfrm>
            <a:off x="6053328" y="2514600"/>
            <a:ext cx="146304" cy="0"/>
          </a:xfrm>
          <a:prstGeom prst="line">
            <a:avLst/>
          </a:prstGeom>
          <a:noFill/>
          <a:ln w="12700">
            <a:solidFill>
              <a:srgbClr val="999999"/>
            </a:solidFill>
            <a:prstDash val="solid"/>
            <a:tailEnd type="triangle"/>
          </a:ln>
        </p:spPr>
      </p:sp>
      <p:sp>
        <p:nvSpPr>
          <p:cNvPr id="22" name="Shape 20"/>
          <p:cNvSpPr/>
          <p:nvPr/>
        </p:nvSpPr>
        <p:spPr>
          <a:xfrm>
            <a:off x="6227064" y="1371600"/>
            <a:ext cx="1691640" cy="2286000"/>
          </a:xfrm>
          <a:prstGeom prst="rect">
            <a:avLst/>
          </a:prstGeom>
          <a:solidFill>
            <a:srgbClr val="FFFFFF"/>
          </a:solidFill>
          <a:ln w="6350">
            <a:solidFill>
              <a:srgbClr val="D0D0D0"/>
            </a:solidFill>
            <a:prstDash val="solid"/>
          </a:ln>
        </p:spPr>
      </p:sp>
      <p:sp>
        <p:nvSpPr>
          <p:cNvPr id="23" name="Text 21"/>
          <p:cNvSpPr/>
          <p:nvPr/>
        </p:nvSpPr>
        <p:spPr>
          <a:xfrm>
            <a:off x="6318504" y="1463040"/>
            <a:ext cx="731520" cy="274320"/>
          </a:xfrm>
          <a:prstGeom prst="rect">
            <a:avLst/>
          </a:prstGeom>
          <a:noFill/>
          <a:ln/>
        </p:spPr>
        <p:txBody>
          <a:bodyPr wrap="square" rtlCol="0" anchor="ctr"/>
          <a:lstStyle/>
          <a:p>
            <a:pPr indent="0" marL="0">
              <a:buNone/>
            </a:pPr>
            <a:r>
              <a:rPr lang="en-US" sz="1400" b="1" dirty="0">
                <a:solidFill>
                  <a:srgbClr val="1A2B4A"/>
                </a:solidFill>
                <a:latin typeface="Arial" pitchFamily="34" charset="0"/>
                <a:ea typeface="Arial" pitchFamily="34" charset="-122"/>
                <a:cs typeface="Arial" pitchFamily="34" charset="-120"/>
              </a:rPr>
              <a:t>04</a:t>
            </a:r>
            <a:endParaRPr lang="en-US" sz="1400" dirty="0"/>
          </a:p>
        </p:txBody>
      </p:sp>
      <p:sp>
        <p:nvSpPr>
          <p:cNvPr id="24" name="Text 22"/>
          <p:cNvSpPr/>
          <p:nvPr/>
        </p:nvSpPr>
        <p:spPr>
          <a:xfrm>
            <a:off x="6318504" y="1783080"/>
            <a:ext cx="1508760" cy="320040"/>
          </a:xfrm>
          <a:prstGeom prst="rect">
            <a:avLst/>
          </a:prstGeom>
          <a:noFill/>
          <a:ln/>
        </p:spPr>
        <p:txBody>
          <a:bodyPr wrap="square" rtlCol="0" anchor="ctr"/>
          <a:lstStyle/>
          <a:p>
            <a:pPr indent="0" marL="0">
              <a:buNone/>
            </a:pPr>
            <a:r>
              <a:rPr lang="en-US" sz="1200" b="1" dirty="0">
                <a:solidFill>
                  <a:srgbClr val="1A1A1A"/>
                </a:solidFill>
                <a:latin typeface="Arial" pitchFamily="34" charset="0"/>
                <a:ea typeface="Arial" pitchFamily="34" charset="-122"/>
                <a:cs typeface="Arial" pitchFamily="34" charset="-120"/>
              </a:rPr>
              <a:t>Map</a:t>
            </a:r>
            <a:endParaRPr lang="en-US" sz="1200" dirty="0"/>
          </a:p>
        </p:txBody>
      </p:sp>
      <p:sp>
        <p:nvSpPr>
          <p:cNvPr id="25" name="Text 23"/>
          <p:cNvSpPr/>
          <p:nvPr/>
        </p:nvSpPr>
        <p:spPr>
          <a:xfrm>
            <a:off x="6318504" y="2148840"/>
            <a:ext cx="1508760" cy="548640"/>
          </a:xfrm>
          <a:prstGeom prst="rect">
            <a:avLst/>
          </a:prstGeom>
          <a:noFill/>
          <a:ln/>
        </p:spPr>
        <p:txBody>
          <a:bodyPr wrap="square" rtlCol="0" anchor="t"/>
          <a:lstStyle/>
          <a:p>
            <a:pPr algn="l" indent="0" marL="0">
              <a:lnSpc>
                <a:spcPct val="115000"/>
              </a:lnSpc>
              <a:buNone/>
            </a:pPr>
            <a:r>
              <a:rPr lang="en-US" sz="900" dirty="0">
                <a:solidFill>
                  <a:srgbClr val="4A4A4A"/>
                </a:solidFill>
                <a:latin typeface="Arial" pitchFamily="34" charset="0"/>
                <a:ea typeface="Arial" pitchFamily="34" charset="-122"/>
                <a:cs typeface="Arial" pitchFamily="34" charset="-120"/>
              </a:rPr>
              <a:t>Findings → control mappings</a:t>
            </a:r>
            <a:endParaRPr lang="en-US" sz="900" dirty="0"/>
          </a:p>
        </p:txBody>
      </p:sp>
      <p:sp>
        <p:nvSpPr>
          <p:cNvPr id="26" name="Text 24"/>
          <p:cNvSpPr/>
          <p:nvPr/>
        </p:nvSpPr>
        <p:spPr>
          <a:xfrm>
            <a:off x="6318504" y="2743200"/>
            <a:ext cx="1508760" cy="182880"/>
          </a:xfrm>
          <a:prstGeom prst="rect">
            <a:avLst/>
          </a:prstGeom>
          <a:noFill/>
          <a:ln/>
        </p:spPr>
        <p:txBody>
          <a:bodyPr wrap="square" rtlCol="0" anchor="ctr"/>
          <a:lstStyle/>
          <a:p>
            <a:pPr algn="l" indent="0" marL="0">
              <a:buNone/>
            </a:pPr>
            <a:r>
              <a:rPr lang="en-US" sz="800" b="1" dirty="0">
                <a:solidFill>
                  <a:srgbClr val="6B6B6B"/>
                </a:solidFill>
                <a:latin typeface="Arial" pitchFamily="34" charset="0"/>
                <a:ea typeface="Arial" pitchFamily="34" charset="-122"/>
                <a:cs typeface="Arial" pitchFamily="34" charset="-120"/>
              </a:rPr>
              <a:t>SOC2, ISO 27001:2022, OWASP, NIST AI RMF 1.0</a:t>
            </a:r>
            <a:endParaRPr lang="en-US" sz="800" dirty="0"/>
          </a:p>
        </p:txBody>
      </p:sp>
      <p:sp>
        <p:nvSpPr>
          <p:cNvPr id="27" name="Shape 25"/>
          <p:cNvSpPr/>
          <p:nvPr/>
        </p:nvSpPr>
        <p:spPr>
          <a:xfrm>
            <a:off x="7946136" y="2514600"/>
            <a:ext cx="146304" cy="0"/>
          </a:xfrm>
          <a:prstGeom prst="line">
            <a:avLst/>
          </a:prstGeom>
          <a:noFill/>
          <a:ln w="12700">
            <a:solidFill>
              <a:srgbClr val="999999"/>
            </a:solidFill>
            <a:prstDash val="solid"/>
            <a:tailEnd type="triangle"/>
          </a:ln>
        </p:spPr>
      </p:sp>
      <p:sp>
        <p:nvSpPr>
          <p:cNvPr id="28" name="Shape 26"/>
          <p:cNvSpPr/>
          <p:nvPr/>
        </p:nvSpPr>
        <p:spPr>
          <a:xfrm>
            <a:off x="8119872" y="1371600"/>
            <a:ext cx="1691640" cy="2286000"/>
          </a:xfrm>
          <a:prstGeom prst="rect">
            <a:avLst/>
          </a:prstGeom>
          <a:solidFill>
            <a:srgbClr val="FFFFFF"/>
          </a:solidFill>
          <a:ln w="6350">
            <a:solidFill>
              <a:srgbClr val="D0D0D0"/>
            </a:solidFill>
            <a:prstDash val="solid"/>
          </a:ln>
        </p:spPr>
      </p:sp>
      <p:sp>
        <p:nvSpPr>
          <p:cNvPr id="29" name="Text 27"/>
          <p:cNvSpPr/>
          <p:nvPr/>
        </p:nvSpPr>
        <p:spPr>
          <a:xfrm>
            <a:off x="8211312" y="1463040"/>
            <a:ext cx="731520" cy="274320"/>
          </a:xfrm>
          <a:prstGeom prst="rect">
            <a:avLst/>
          </a:prstGeom>
          <a:noFill/>
          <a:ln/>
        </p:spPr>
        <p:txBody>
          <a:bodyPr wrap="square" rtlCol="0" anchor="ctr"/>
          <a:lstStyle/>
          <a:p>
            <a:pPr indent="0" marL="0">
              <a:buNone/>
            </a:pPr>
            <a:r>
              <a:rPr lang="en-US" sz="1400" b="1" dirty="0">
                <a:solidFill>
                  <a:srgbClr val="1A2B4A"/>
                </a:solidFill>
                <a:latin typeface="Arial" pitchFamily="34" charset="0"/>
                <a:ea typeface="Arial" pitchFamily="34" charset="-122"/>
                <a:cs typeface="Arial" pitchFamily="34" charset="-120"/>
              </a:rPr>
              <a:t>05</a:t>
            </a:r>
            <a:endParaRPr lang="en-US" sz="1400" dirty="0"/>
          </a:p>
        </p:txBody>
      </p:sp>
      <p:sp>
        <p:nvSpPr>
          <p:cNvPr id="30" name="Text 28"/>
          <p:cNvSpPr/>
          <p:nvPr/>
        </p:nvSpPr>
        <p:spPr>
          <a:xfrm>
            <a:off x="8211312" y="1783080"/>
            <a:ext cx="1508760" cy="320040"/>
          </a:xfrm>
          <a:prstGeom prst="rect">
            <a:avLst/>
          </a:prstGeom>
          <a:noFill/>
          <a:ln/>
        </p:spPr>
        <p:txBody>
          <a:bodyPr wrap="square" rtlCol="0" anchor="ctr"/>
          <a:lstStyle/>
          <a:p>
            <a:pPr indent="0" marL="0">
              <a:buNone/>
            </a:pPr>
            <a:r>
              <a:rPr lang="en-US" sz="1200" b="1" dirty="0">
                <a:solidFill>
                  <a:srgbClr val="1A1A1A"/>
                </a:solidFill>
                <a:latin typeface="Arial" pitchFamily="34" charset="0"/>
                <a:ea typeface="Arial" pitchFamily="34" charset="-122"/>
                <a:cs typeface="Arial" pitchFamily="34" charset="-120"/>
              </a:rPr>
              <a:t>Prove</a:t>
            </a:r>
            <a:endParaRPr lang="en-US" sz="1200" dirty="0"/>
          </a:p>
        </p:txBody>
      </p:sp>
      <p:sp>
        <p:nvSpPr>
          <p:cNvPr id="31" name="Text 29"/>
          <p:cNvSpPr/>
          <p:nvPr/>
        </p:nvSpPr>
        <p:spPr>
          <a:xfrm>
            <a:off x="8211312" y="2148840"/>
            <a:ext cx="1508760" cy="548640"/>
          </a:xfrm>
          <a:prstGeom prst="rect">
            <a:avLst/>
          </a:prstGeom>
          <a:noFill/>
          <a:ln/>
        </p:spPr>
        <p:txBody>
          <a:bodyPr wrap="square" rtlCol="0" anchor="t"/>
          <a:lstStyle/>
          <a:p>
            <a:pPr algn="l" indent="0" marL="0">
              <a:lnSpc>
                <a:spcPct val="115000"/>
              </a:lnSpc>
              <a:buNone/>
            </a:pPr>
            <a:r>
              <a:rPr lang="en-US" sz="900" dirty="0">
                <a:solidFill>
                  <a:srgbClr val="4A4A4A"/>
                </a:solidFill>
                <a:latin typeface="Arial" pitchFamily="34" charset="0"/>
                <a:ea typeface="Arial" pitchFamily="34" charset="-122"/>
                <a:cs typeface="Arial" pitchFamily="34" charset="-120"/>
              </a:rPr>
              <a:t>Evidence manifest + audit package</a:t>
            </a:r>
            <a:endParaRPr lang="en-US" sz="900" dirty="0"/>
          </a:p>
        </p:txBody>
      </p:sp>
      <p:sp>
        <p:nvSpPr>
          <p:cNvPr id="32" name="Text 30"/>
          <p:cNvSpPr/>
          <p:nvPr/>
        </p:nvSpPr>
        <p:spPr>
          <a:xfrm>
            <a:off x="8211312" y="2743200"/>
            <a:ext cx="1508760" cy="182880"/>
          </a:xfrm>
          <a:prstGeom prst="rect">
            <a:avLst/>
          </a:prstGeom>
          <a:noFill/>
          <a:ln/>
        </p:spPr>
        <p:txBody>
          <a:bodyPr wrap="square" rtlCol="0" anchor="ctr"/>
          <a:lstStyle/>
          <a:p>
            <a:pPr algn="l" indent="0" marL="0">
              <a:buNone/>
            </a:pPr>
            <a:r>
              <a:rPr lang="en-US" sz="800" b="1" dirty="0">
                <a:solidFill>
                  <a:srgbClr val="6B6B6B"/>
                </a:solidFill>
                <a:latin typeface="Arial" pitchFamily="34" charset="0"/>
                <a:ea typeface="Arial" pitchFamily="34" charset="-122"/>
                <a:cs typeface="Arial" pitchFamily="34" charset="-120"/>
              </a:rPr>
              <a:t>Hash-chained, fingerprinted</a:t>
            </a:r>
            <a:endParaRPr lang="en-US" sz="800" dirty="0"/>
          </a:p>
        </p:txBody>
      </p:sp>
      <p:sp>
        <p:nvSpPr>
          <p:cNvPr id="33" name="Shape 31"/>
          <p:cNvSpPr/>
          <p:nvPr/>
        </p:nvSpPr>
        <p:spPr>
          <a:xfrm>
            <a:off x="9838944" y="2514600"/>
            <a:ext cx="146304" cy="0"/>
          </a:xfrm>
          <a:prstGeom prst="line">
            <a:avLst/>
          </a:prstGeom>
          <a:noFill/>
          <a:ln w="12700">
            <a:solidFill>
              <a:srgbClr val="999999"/>
            </a:solidFill>
            <a:prstDash val="solid"/>
            <a:tailEnd type="triangle"/>
          </a:ln>
        </p:spPr>
      </p:sp>
      <p:sp>
        <p:nvSpPr>
          <p:cNvPr id="34" name="Shape 32"/>
          <p:cNvSpPr/>
          <p:nvPr/>
        </p:nvSpPr>
        <p:spPr>
          <a:xfrm>
            <a:off x="10012680" y="1371600"/>
            <a:ext cx="1691640" cy="2286000"/>
          </a:xfrm>
          <a:prstGeom prst="rect">
            <a:avLst/>
          </a:prstGeom>
          <a:solidFill>
            <a:srgbClr val="FFFFFF"/>
          </a:solidFill>
          <a:ln w="6350">
            <a:solidFill>
              <a:srgbClr val="D0D0D0"/>
            </a:solidFill>
            <a:prstDash val="solid"/>
          </a:ln>
        </p:spPr>
      </p:sp>
      <p:sp>
        <p:nvSpPr>
          <p:cNvPr id="35" name="Text 33"/>
          <p:cNvSpPr/>
          <p:nvPr/>
        </p:nvSpPr>
        <p:spPr>
          <a:xfrm>
            <a:off x="10104120" y="1463040"/>
            <a:ext cx="731520" cy="274320"/>
          </a:xfrm>
          <a:prstGeom prst="rect">
            <a:avLst/>
          </a:prstGeom>
          <a:noFill/>
          <a:ln/>
        </p:spPr>
        <p:txBody>
          <a:bodyPr wrap="square" rtlCol="0" anchor="ctr"/>
          <a:lstStyle/>
          <a:p>
            <a:pPr indent="0" marL="0">
              <a:buNone/>
            </a:pPr>
            <a:r>
              <a:rPr lang="en-US" sz="1400" b="1" dirty="0">
                <a:solidFill>
                  <a:srgbClr val="1A2B4A"/>
                </a:solidFill>
                <a:latin typeface="Arial" pitchFamily="34" charset="0"/>
                <a:ea typeface="Arial" pitchFamily="34" charset="-122"/>
                <a:cs typeface="Arial" pitchFamily="34" charset="-120"/>
              </a:rPr>
              <a:t>06</a:t>
            </a:r>
            <a:endParaRPr lang="en-US" sz="1400" dirty="0"/>
          </a:p>
        </p:txBody>
      </p:sp>
      <p:sp>
        <p:nvSpPr>
          <p:cNvPr id="36" name="Text 34"/>
          <p:cNvSpPr/>
          <p:nvPr/>
        </p:nvSpPr>
        <p:spPr>
          <a:xfrm>
            <a:off x="10104120" y="1783080"/>
            <a:ext cx="1508760" cy="320040"/>
          </a:xfrm>
          <a:prstGeom prst="rect">
            <a:avLst/>
          </a:prstGeom>
          <a:noFill/>
          <a:ln/>
        </p:spPr>
        <p:txBody>
          <a:bodyPr wrap="square" rtlCol="0" anchor="ctr"/>
          <a:lstStyle/>
          <a:p>
            <a:pPr indent="0" marL="0">
              <a:buNone/>
            </a:pPr>
            <a:r>
              <a:rPr lang="en-US" sz="1200" b="1" dirty="0">
                <a:solidFill>
                  <a:srgbClr val="1A1A1A"/>
                </a:solidFill>
                <a:latin typeface="Arial" pitchFamily="34" charset="0"/>
                <a:ea typeface="Arial" pitchFamily="34" charset="-122"/>
                <a:cs typeface="Arial" pitchFamily="34" charset="-120"/>
              </a:rPr>
              <a:t>Monitor</a:t>
            </a:r>
            <a:endParaRPr lang="en-US" sz="1200" dirty="0"/>
          </a:p>
        </p:txBody>
      </p:sp>
      <p:sp>
        <p:nvSpPr>
          <p:cNvPr id="37" name="Text 35"/>
          <p:cNvSpPr/>
          <p:nvPr/>
        </p:nvSpPr>
        <p:spPr>
          <a:xfrm>
            <a:off x="10104120" y="2148840"/>
            <a:ext cx="1508760" cy="548640"/>
          </a:xfrm>
          <a:prstGeom prst="rect">
            <a:avLst/>
          </a:prstGeom>
          <a:noFill/>
          <a:ln/>
        </p:spPr>
        <p:txBody>
          <a:bodyPr wrap="square" rtlCol="0" anchor="t"/>
          <a:lstStyle/>
          <a:p>
            <a:pPr algn="l" indent="0" marL="0">
              <a:lnSpc>
                <a:spcPct val="115000"/>
              </a:lnSpc>
              <a:buNone/>
            </a:pPr>
            <a:r>
              <a:rPr lang="en-US" sz="900" dirty="0">
                <a:solidFill>
                  <a:srgbClr val="4A4A4A"/>
                </a:solidFill>
                <a:latin typeface="Arial" pitchFamily="34" charset="0"/>
                <a:ea typeface="Arial" pitchFamily="34" charset="-122"/>
                <a:cs typeface="Arial" pitchFamily="34" charset="-120"/>
              </a:rPr>
              <a:t>Compliance Twin drift detection</a:t>
            </a:r>
            <a:endParaRPr lang="en-US" sz="900" dirty="0"/>
          </a:p>
        </p:txBody>
      </p:sp>
      <p:sp>
        <p:nvSpPr>
          <p:cNvPr id="38" name="Text 36"/>
          <p:cNvSpPr/>
          <p:nvPr/>
        </p:nvSpPr>
        <p:spPr>
          <a:xfrm>
            <a:off x="10104120" y="2743200"/>
            <a:ext cx="1508760" cy="182880"/>
          </a:xfrm>
          <a:prstGeom prst="rect">
            <a:avLst/>
          </a:prstGeom>
          <a:noFill/>
          <a:ln/>
        </p:spPr>
        <p:txBody>
          <a:bodyPr wrap="square" rtlCol="0" anchor="ctr"/>
          <a:lstStyle/>
          <a:p>
            <a:pPr algn="l" indent="0" marL="0">
              <a:buNone/>
            </a:pPr>
            <a:r>
              <a:rPr lang="en-US" sz="800" b="1" dirty="0">
                <a:solidFill>
                  <a:srgbClr val="6B6B6B"/>
                </a:solidFill>
                <a:latin typeface="Arial" pitchFamily="34" charset="0"/>
                <a:ea typeface="Arial" pitchFamily="34" charset="-122"/>
                <a:cs typeface="Arial" pitchFamily="34" charset="-120"/>
              </a:rPr>
              <a:t>Delta engine, anomaly detection</a:t>
            </a:r>
            <a:endParaRPr lang="en-US" sz="800" dirty="0"/>
          </a:p>
        </p:txBody>
      </p:sp>
      <p:sp>
        <p:nvSpPr>
          <p:cNvPr id="39" name="Shape 37"/>
          <p:cNvSpPr/>
          <p:nvPr/>
        </p:nvSpPr>
        <p:spPr>
          <a:xfrm>
            <a:off x="5943600" y="3749040"/>
            <a:ext cx="0" cy="274320"/>
          </a:xfrm>
          <a:prstGeom prst="line">
            <a:avLst/>
          </a:prstGeom>
          <a:noFill/>
          <a:ln w="12700">
            <a:solidFill>
              <a:srgbClr val="999999"/>
            </a:solidFill>
            <a:prstDash val="solid"/>
            <a:tailEnd type="triangle"/>
          </a:ln>
        </p:spPr>
      </p:sp>
      <p:sp>
        <p:nvSpPr>
          <p:cNvPr id="40" name="Text 38"/>
          <p:cNvSpPr/>
          <p:nvPr/>
        </p:nvSpPr>
        <p:spPr>
          <a:xfrm>
            <a:off x="548640" y="3977640"/>
            <a:ext cx="5486400" cy="182880"/>
          </a:xfrm>
          <a:prstGeom prst="rect">
            <a:avLst/>
          </a:prstGeom>
          <a:noFill/>
          <a:ln/>
        </p:spPr>
        <p:txBody>
          <a:bodyPr wrap="square" rtlCol="0" anchor="ctr"/>
          <a:lstStyle/>
          <a:p>
            <a:pPr algn="l" indent="0" marL="0">
              <a:buNone/>
            </a:pPr>
            <a:r>
              <a:rPr lang="en-US" sz="800" b="1" dirty="0">
                <a:solidFill>
                  <a:srgbClr val="6B6B6B"/>
                </a:solidFill>
                <a:latin typeface="Arial" pitchFamily="34" charset="0"/>
                <a:ea typeface="Arial" pitchFamily="34" charset="-122"/>
                <a:cs typeface="Arial" pitchFamily="34" charset="-120"/>
              </a:rPr>
              <a:t>SUPPORTING LIFECYCLE ACTIONS</a:t>
            </a:r>
            <a:endParaRPr lang="en-US" sz="800" dirty="0"/>
          </a:p>
        </p:txBody>
      </p:sp>
      <p:sp>
        <p:nvSpPr>
          <p:cNvPr id="41" name="Shape 39"/>
          <p:cNvSpPr/>
          <p:nvPr/>
        </p:nvSpPr>
        <p:spPr>
          <a:xfrm>
            <a:off x="548640" y="4206240"/>
            <a:ext cx="2606040" cy="1280160"/>
          </a:xfrm>
          <a:prstGeom prst="rect">
            <a:avLst/>
          </a:prstGeom>
          <a:solidFill>
            <a:srgbClr val="F5F5F5"/>
          </a:solidFill>
          <a:ln w="6350">
            <a:solidFill>
              <a:srgbClr val="1A2B4A"/>
            </a:solidFill>
            <a:prstDash val="solid"/>
          </a:ln>
        </p:spPr>
      </p:sp>
      <p:sp>
        <p:nvSpPr>
          <p:cNvPr id="42" name="Text 40"/>
          <p:cNvSpPr/>
          <p:nvPr/>
        </p:nvSpPr>
        <p:spPr>
          <a:xfrm>
            <a:off x="685800" y="4297680"/>
            <a:ext cx="2331720" cy="320040"/>
          </a:xfrm>
          <a:prstGeom prst="rect">
            <a:avLst/>
          </a:prstGeom>
          <a:noFill/>
          <a:ln/>
        </p:spPr>
        <p:txBody>
          <a:bodyPr wrap="square" rtlCol="0" anchor="ctr"/>
          <a:lstStyle/>
          <a:p>
            <a:pPr indent="0" marL="0">
              <a:buNone/>
            </a:pPr>
            <a:r>
              <a:rPr lang="en-US" sz="1200" b="1" dirty="0">
                <a:solidFill>
                  <a:srgbClr val="1A2B4A"/>
                </a:solidFill>
                <a:latin typeface="Arial" pitchFamily="34" charset="0"/>
                <a:ea typeface="Arial" pitchFamily="34" charset="-122"/>
                <a:cs typeface="Arial" pitchFamily="34" charset="-120"/>
              </a:rPr>
              <a:t>Score</a:t>
            </a:r>
            <a:endParaRPr lang="en-US" sz="1200" dirty="0"/>
          </a:p>
        </p:txBody>
      </p:sp>
      <p:sp>
        <p:nvSpPr>
          <p:cNvPr id="43" name="Text 41"/>
          <p:cNvSpPr/>
          <p:nvPr/>
        </p:nvSpPr>
        <p:spPr>
          <a:xfrm>
            <a:off x="685800" y="4663440"/>
            <a:ext cx="2331720" cy="731520"/>
          </a:xfrm>
          <a:prstGeom prst="rect">
            <a:avLst/>
          </a:prstGeom>
          <a:noFill/>
          <a:ln/>
        </p:spPr>
        <p:txBody>
          <a:bodyPr wrap="square" rtlCol="0" anchor="t"/>
          <a:lstStyle/>
          <a:p>
            <a:pPr algn="l" indent="0" marL="0">
              <a:lnSpc>
                <a:spcPct val="115000"/>
              </a:lnSpc>
              <a:buNone/>
            </a:pPr>
            <a:r>
              <a:rPr lang="en-US" sz="900" dirty="0">
                <a:solidFill>
                  <a:srgbClr val="4A4A4A"/>
                </a:solidFill>
                <a:latin typeface="Arial" pitchFamily="34" charset="0"/>
                <a:ea typeface="Arial" pitchFamily="34" charset="-122"/>
                <a:cs typeface="Arial" pitchFamily="34" charset="-120"/>
              </a:rPr>
              <a:t>Decision Integrity Score (DIS) · 6 pipeline nodes, weighted</a:t>
            </a:r>
            <a:endParaRPr lang="en-US" sz="900" dirty="0"/>
          </a:p>
        </p:txBody>
      </p:sp>
      <p:sp>
        <p:nvSpPr>
          <p:cNvPr id="44" name="Shape 42"/>
          <p:cNvSpPr/>
          <p:nvPr/>
        </p:nvSpPr>
        <p:spPr>
          <a:xfrm>
            <a:off x="3200400" y="4846320"/>
            <a:ext cx="182880" cy="0"/>
          </a:xfrm>
          <a:prstGeom prst="line">
            <a:avLst/>
          </a:prstGeom>
          <a:noFill/>
          <a:ln w="12700">
            <a:solidFill>
              <a:srgbClr val="999999"/>
            </a:solidFill>
            <a:prstDash val="solid"/>
            <a:tailEnd type="triangle"/>
          </a:ln>
        </p:spPr>
      </p:sp>
      <p:sp>
        <p:nvSpPr>
          <p:cNvPr id="45" name="Shape 43"/>
          <p:cNvSpPr/>
          <p:nvPr/>
        </p:nvSpPr>
        <p:spPr>
          <a:xfrm>
            <a:off x="3429000" y="4206240"/>
            <a:ext cx="2606040" cy="1280160"/>
          </a:xfrm>
          <a:prstGeom prst="rect">
            <a:avLst/>
          </a:prstGeom>
          <a:solidFill>
            <a:srgbClr val="F5F5F5"/>
          </a:solidFill>
          <a:ln w="6350">
            <a:solidFill>
              <a:srgbClr val="1A2B4A"/>
            </a:solidFill>
            <a:prstDash val="solid"/>
          </a:ln>
        </p:spPr>
      </p:sp>
      <p:sp>
        <p:nvSpPr>
          <p:cNvPr id="46" name="Text 44"/>
          <p:cNvSpPr/>
          <p:nvPr/>
        </p:nvSpPr>
        <p:spPr>
          <a:xfrm>
            <a:off x="3566160" y="4297680"/>
            <a:ext cx="2331720" cy="320040"/>
          </a:xfrm>
          <a:prstGeom prst="rect">
            <a:avLst/>
          </a:prstGeom>
          <a:noFill/>
          <a:ln/>
        </p:spPr>
        <p:txBody>
          <a:bodyPr wrap="square" rtlCol="0" anchor="ctr"/>
          <a:lstStyle/>
          <a:p>
            <a:pPr indent="0" marL="0">
              <a:buNone/>
            </a:pPr>
            <a:r>
              <a:rPr lang="en-US" sz="1200" b="1" dirty="0">
                <a:solidFill>
                  <a:srgbClr val="1A2B4A"/>
                </a:solidFill>
                <a:latin typeface="Arial" pitchFamily="34" charset="0"/>
                <a:ea typeface="Arial" pitchFamily="34" charset="-122"/>
                <a:cs typeface="Arial" pitchFamily="34" charset="-120"/>
              </a:rPr>
              <a:t>Review</a:t>
            </a:r>
            <a:endParaRPr lang="en-US" sz="1200" dirty="0"/>
          </a:p>
        </p:txBody>
      </p:sp>
      <p:sp>
        <p:nvSpPr>
          <p:cNvPr id="47" name="Text 45"/>
          <p:cNvSpPr/>
          <p:nvPr/>
        </p:nvSpPr>
        <p:spPr>
          <a:xfrm>
            <a:off x="3566160" y="4663440"/>
            <a:ext cx="2331720" cy="731520"/>
          </a:xfrm>
          <a:prstGeom prst="rect">
            <a:avLst/>
          </a:prstGeom>
          <a:noFill/>
          <a:ln/>
        </p:spPr>
        <p:txBody>
          <a:bodyPr wrap="square" rtlCol="0" anchor="t"/>
          <a:lstStyle/>
          <a:p>
            <a:pPr algn="l" indent="0" marL="0">
              <a:lnSpc>
                <a:spcPct val="115000"/>
              </a:lnSpc>
              <a:buNone/>
            </a:pPr>
            <a:r>
              <a:rPr lang="en-US" sz="900" dirty="0">
                <a:solidFill>
                  <a:srgbClr val="4A4A4A"/>
                </a:solidFill>
                <a:latin typeface="Arial" pitchFamily="34" charset="0"/>
                <a:ea typeface="Arial" pitchFamily="34" charset="-122"/>
                <a:cs typeface="Arial" pitchFamily="34" charset="-120"/>
              </a:rPr>
              <a:t>Human reviewer sign-off · signature hash, IP, user-agent</a:t>
            </a:r>
            <a:endParaRPr lang="en-US" sz="900" dirty="0"/>
          </a:p>
        </p:txBody>
      </p:sp>
      <p:sp>
        <p:nvSpPr>
          <p:cNvPr id="48" name="Shape 46"/>
          <p:cNvSpPr/>
          <p:nvPr/>
        </p:nvSpPr>
        <p:spPr>
          <a:xfrm>
            <a:off x="6080760" y="4846320"/>
            <a:ext cx="182880" cy="0"/>
          </a:xfrm>
          <a:prstGeom prst="line">
            <a:avLst/>
          </a:prstGeom>
          <a:noFill/>
          <a:ln w="12700">
            <a:solidFill>
              <a:srgbClr val="999999"/>
            </a:solidFill>
            <a:prstDash val="solid"/>
            <a:tailEnd type="triangle"/>
          </a:ln>
        </p:spPr>
      </p:sp>
      <p:sp>
        <p:nvSpPr>
          <p:cNvPr id="49" name="Shape 47"/>
          <p:cNvSpPr/>
          <p:nvPr/>
        </p:nvSpPr>
        <p:spPr>
          <a:xfrm>
            <a:off x="6309360" y="4206240"/>
            <a:ext cx="2606040" cy="1280160"/>
          </a:xfrm>
          <a:prstGeom prst="rect">
            <a:avLst/>
          </a:prstGeom>
          <a:solidFill>
            <a:srgbClr val="F5F5F5"/>
          </a:solidFill>
          <a:ln w="6350">
            <a:solidFill>
              <a:srgbClr val="1A2B4A"/>
            </a:solidFill>
            <a:prstDash val="solid"/>
          </a:ln>
        </p:spPr>
      </p:sp>
      <p:sp>
        <p:nvSpPr>
          <p:cNvPr id="50" name="Text 48"/>
          <p:cNvSpPr/>
          <p:nvPr/>
        </p:nvSpPr>
        <p:spPr>
          <a:xfrm>
            <a:off x="6446520" y="4297680"/>
            <a:ext cx="2331720" cy="320040"/>
          </a:xfrm>
          <a:prstGeom prst="rect">
            <a:avLst/>
          </a:prstGeom>
          <a:noFill/>
          <a:ln/>
        </p:spPr>
        <p:txBody>
          <a:bodyPr wrap="square" rtlCol="0" anchor="ctr"/>
          <a:lstStyle/>
          <a:p>
            <a:pPr indent="0" marL="0">
              <a:buNone/>
            </a:pPr>
            <a:r>
              <a:rPr lang="en-US" sz="1200" b="1" dirty="0">
                <a:solidFill>
                  <a:srgbClr val="1A2B4A"/>
                </a:solidFill>
                <a:latin typeface="Arial" pitchFamily="34" charset="0"/>
                <a:ea typeface="Arial" pitchFamily="34" charset="-122"/>
                <a:cs typeface="Arial" pitchFamily="34" charset="-120"/>
              </a:rPr>
              <a:t>Distribute</a:t>
            </a:r>
            <a:endParaRPr lang="en-US" sz="1200" dirty="0"/>
          </a:p>
        </p:txBody>
      </p:sp>
      <p:sp>
        <p:nvSpPr>
          <p:cNvPr id="51" name="Text 49"/>
          <p:cNvSpPr/>
          <p:nvPr/>
        </p:nvSpPr>
        <p:spPr>
          <a:xfrm>
            <a:off x="6446520" y="4663440"/>
            <a:ext cx="2331720" cy="731520"/>
          </a:xfrm>
          <a:prstGeom prst="rect">
            <a:avLst/>
          </a:prstGeom>
          <a:noFill/>
          <a:ln/>
        </p:spPr>
        <p:txBody>
          <a:bodyPr wrap="square" rtlCol="0" anchor="t"/>
          <a:lstStyle/>
          <a:p>
            <a:pPr algn="l" indent="0" marL="0">
              <a:lnSpc>
                <a:spcPct val="115000"/>
              </a:lnSpc>
              <a:buNone/>
            </a:pPr>
            <a:r>
              <a:rPr lang="en-US" sz="900" dirty="0">
                <a:solidFill>
                  <a:srgbClr val="4A4A4A"/>
                </a:solidFill>
                <a:latin typeface="Arial" pitchFamily="34" charset="0"/>
                <a:ea typeface="Arial" pitchFamily="34" charset="-122"/>
                <a:cs typeface="Arial" pitchFamily="34" charset="-120"/>
              </a:rPr>
              <a:t>Trust artifact + verification API · HMAC-signed, revocation</a:t>
            </a:r>
            <a:endParaRPr lang="en-US" sz="900" dirty="0"/>
          </a:p>
        </p:txBody>
      </p:sp>
      <p:sp>
        <p:nvSpPr>
          <p:cNvPr id="52" name="Shape 50"/>
          <p:cNvSpPr/>
          <p:nvPr/>
        </p:nvSpPr>
        <p:spPr>
          <a:xfrm>
            <a:off x="8961120" y="4846320"/>
            <a:ext cx="182880" cy="0"/>
          </a:xfrm>
          <a:prstGeom prst="line">
            <a:avLst/>
          </a:prstGeom>
          <a:noFill/>
          <a:ln w="12700">
            <a:solidFill>
              <a:srgbClr val="999999"/>
            </a:solidFill>
            <a:prstDash val="solid"/>
            <a:tailEnd type="triangle"/>
          </a:ln>
        </p:spPr>
      </p:sp>
      <p:sp>
        <p:nvSpPr>
          <p:cNvPr id="53" name="Shape 51"/>
          <p:cNvSpPr/>
          <p:nvPr/>
        </p:nvSpPr>
        <p:spPr>
          <a:xfrm>
            <a:off x="9189720" y="4206240"/>
            <a:ext cx="2606040" cy="1280160"/>
          </a:xfrm>
          <a:prstGeom prst="rect">
            <a:avLst/>
          </a:prstGeom>
          <a:solidFill>
            <a:srgbClr val="F5F5F5"/>
          </a:solidFill>
          <a:ln w="6350">
            <a:solidFill>
              <a:srgbClr val="1A2B4A"/>
            </a:solidFill>
            <a:prstDash val="solid"/>
          </a:ln>
        </p:spPr>
      </p:sp>
      <p:sp>
        <p:nvSpPr>
          <p:cNvPr id="54" name="Text 52"/>
          <p:cNvSpPr/>
          <p:nvPr/>
        </p:nvSpPr>
        <p:spPr>
          <a:xfrm>
            <a:off x="9326880" y="4297680"/>
            <a:ext cx="2331720" cy="320040"/>
          </a:xfrm>
          <a:prstGeom prst="rect">
            <a:avLst/>
          </a:prstGeom>
          <a:noFill/>
          <a:ln/>
        </p:spPr>
        <p:txBody>
          <a:bodyPr wrap="square" rtlCol="0" anchor="ctr"/>
          <a:lstStyle/>
          <a:p>
            <a:pPr indent="0" marL="0">
              <a:buNone/>
            </a:pPr>
            <a:r>
              <a:rPr lang="en-US" sz="1200" b="1" dirty="0">
                <a:solidFill>
                  <a:srgbClr val="1A2B4A"/>
                </a:solidFill>
                <a:latin typeface="Arial" pitchFamily="34" charset="0"/>
                <a:ea typeface="Arial" pitchFamily="34" charset="-122"/>
                <a:cs typeface="Arial" pitchFamily="34" charset="-120"/>
              </a:rPr>
              <a:t>Revalidate</a:t>
            </a:r>
            <a:endParaRPr lang="en-US" sz="1200" dirty="0"/>
          </a:p>
        </p:txBody>
      </p:sp>
      <p:sp>
        <p:nvSpPr>
          <p:cNvPr id="55" name="Text 53"/>
          <p:cNvSpPr/>
          <p:nvPr/>
        </p:nvSpPr>
        <p:spPr>
          <a:xfrm>
            <a:off x="9326880" y="4663440"/>
            <a:ext cx="2331720" cy="731520"/>
          </a:xfrm>
          <a:prstGeom prst="rect">
            <a:avLst/>
          </a:prstGeom>
          <a:noFill/>
          <a:ln/>
        </p:spPr>
        <p:txBody>
          <a:bodyPr wrap="square" rtlCol="0" anchor="t"/>
          <a:lstStyle/>
          <a:p>
            <a:pPr algn="l" indent="0" marL="0">
              <a:lnSpc>
                <a:spcPct val="115000"/>
              </a:lnSpc>
              <a:buNone/>
            </a:pPr>
            <a:r>
              <a:rPr lang="en-US" sz="900" dirty="0">
                <a:solidFill>
                  <a:srgbClr val="4A4A4A"/>
                </a:solidFill>
                <a:latin typeface="Arial" pitchFamily="34" charset="0"/>
                <a:ea typeface="Arial" pitchFamily="34" charset="-122"/>
                <a:cs typeface="Arial" pitchFamily="34" charset="-120"/>
              </a:rPr>
              <a:t>Scheduled re-verification + drift · cron-based, drift alerts</a:t>
            </a:r>
            <a:endParaRPr lang="en-US" sz="900" dirty="0"/>
          </a:p>
        </p:txBody>
      </p:sp>
      <p:sp>
        <p:nvSpPr>
          <p:cNvPr id="56" name="Text 54"/>
          <p:cNvSpPr/>
          <p:nvPr/>
        </p:nvSpPr>
        <p:spPr>
          <a:xfrm>
            <a:off x="548640" y="5943600"/>
            <a:ext cx="10972800" cy="365760"/>
          </a:xfrm>
          <a:prstGeom prst="rect">
            <a:avLst/>
          </a:prstGeom>
          <a:noFill/>
          <a:ln/>
        </p:spPr>
        <p:txBody>
          <a:bodyPr wrap="square" rtlCol="0" anchor="t"/>
          <a:lstStyle/>
          <a:p>
            <a:pPr algn="l" indent="0" marL="0">
              <a:lnSpc>
                <a:spcPct val="115000"/>
              </a:lnSpc>
              <a:buNone/>
            </a:pPr>
            <a:r>
              <a:rPr lang="en-US" sz="1100" b="1" dirty="0">
                <a:solidFill>
                  <a:srgbClr val="1A2B4A"/>
                </a:solidFill>
                <a:latin typeface="Arial" pitchFamily="34" charset="0"/>
                <a:ea typeface="Arial" pitchFamily="34" charset="-122"/>
                <a:cs typeface="Arial" pitchFamily="34" charset="-120"/>
              </a:rPr>
              <a:t>Each step produces verifiable evidence anchored to the system, the engine version, and the point in time it was generated.</a:t>
            </a:r>
            <a:endParaRPr lang="en-US" sz="1100" dirty="0"/>
          </a:p>
        </p:txBody>
      </p:sp>
      <p:sp>
        <p:nvSpPr>
          <p:cNvPr id="57" name="Shape 55"/>
          <p:cNvSpPr/>
          <p:nvPr/>
        </p:nvSpPr>
        <p:spPr>
          <a:xfrm>
            <a:off x="457200" y="6473952"/>
            <a:ext cx="11277295" cy="0"/>
          </a:xfrm>
          <a:prstGeom prst="line">
            <a:avLst/>
          </a:prstGeom>
          <a:noFill/>
          <a:ln w="6350">
            <a:solidFill>
              <a:srgbClr val="CCCCCC"/>
            </a:solidFill>
            <a:prstDash val="solid"/>
          </a:ln>
        </p:spPr>
      </p:sp>
      <p:sp>
        <p:nvSpPr>
          <p:cNvPr id="58" name="Text 56"/>
          <p:cNvSpPr/>
          <p:nvPr/>
        </p:nvSpPr>
        <p:spPr>
          <a:xfrm>
            <a:off x="457200" y="6537960"/>
            <a:ext cx="7315200" cy="228600"/>
          </a:xfrm>
          <a:prstGeom prst="rect">
            <a:avLst/>
          </a:prstGeom>
          <a:noFill/>
          <a:ln/>
        </p:spPr>
        <p:txBody>
          <a:bodyPr wrap="square" rtlCol="0" anchor="ctr"/>
          <a:lstStyle/>
          <a:p>
            <a:pPr indent="0" marL="0">
              <a:buNone/>
            </a:pPr>
            <a:r>
              <a:rPr lang="en-US" sz="800" dirty="0">
                <a:solidFill>
                  <a:srgbClr val="6B6B6B"/>
                </a:solidFill>
                <a:latin typeface="Arial" pitchFamily="34" charset="0"/>
                <a:ea typeface="Arial" pitchFamily="34" charset="-122"/>
                <a:cs typeface="Arial" pitchFamily="34" charset="-120"/>
              </a:rPr>
              <a:t>HAIEC  ·  Confidential Discussion Brief  ·  5/15</a:t>
            </a:r>
            <a:endParaRPr lang="en-US" sz="800" dirty="0"/>
          </a:p>
        </p:txBody>
      </p:sp>
      <p:sp>
        <p:nvSpPr>
          <p:cNvPr id="59" name="Text 57"/>
          <p:cNvSpPr/>
          <p:nvPr/>
        </p:nvSpPr>
        <p:spPr>
          <a:xfrm>
            <a:off x="8991295" y="6537960"/>
            <a:ext cx="2743200" cy="228600"/>
          </a:xfrm>
          <a:prstGeom prst="rect">
            <a:avLst/>
          </a:prstGeom>
          <a:noFill/>
          <a:ln/>
        </p:spPr>
        <p:txBody>
          <a:bodyPr wrap="square" rtlCol="0" anchor="ctr"/>
          <a:lstStyle/>
          <a:p>
            <a:pPr algn="r" indent="0" marL="0">
              <a:buNone/>
            </a:pPr>
            <a:r>
              <a:rPr lang="en-US" sz="800" dirty="0">
                <a:solidFill>
                  <a:srgbClr val="6B6B6B"/>
                </a:solidFill>
                <a:latin typeface="Arial" pitchFamily="34" charset="0"/>
                <a:ea typeface="Arial" pitchFamily="34" charset="-122"/>
                <a:cs typeface="Arial" pitchFamily="34" charset="-120"/>
              </a:rPr>
              <a:t>v1.0  ·  2026-07-31</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57200"/>
            <a:ext cx="11277295" cy="548640"/>
          </a:xfrm>
          <a:prstGeom prst="rect">
            <a:avLst/>
          </a:prstGeom>
          <a:noFill/>
          <a:ln/>
        </p:spPr>
        <p:txBody>
          <a:bodyPr wrap="square" rtlCol="0" anchor="ctr"/>
          <a:lstStyle/>
          <a:p>
            <a:pPr algn="l" indent="0" marL="0">
              <a:buNone/>
            </a:pPr>
            <a:r>
              <a:rPr lang="en-US" sz="2200" b="1" dirty="0">
                <a:solidFill>
                  <a:srgbClr val="1A2B4A"/>
                </a:solidFill>
                <a:latin typeface="Arial" pitchFamily="34" charset="0"/>
                <a:ea typeface="Arial" pitchFamily="34" charset="-122"/>
                <a:cs typeface="Arial" pitchFamily="34" charset="-120"/>
              </a:rPr>
              <a:t>Traditional application testing stops before the full AI decision path.</a:t>
            </a:r>
            <a:endParaRPr lang="en-US" sz="2200" dirty="0"/>
          </a:p>
        </p:txBody>
      </p:sp>
      <p:sp>
        <p:nvSpPr>
          <p:cNvPr id="3" name="Shape 1"/>
          <p:cNvSpPr/>
          <p:nvPr/>
        </p:nvSpPr>
        <p:spPr>
          <a:xfrm>
            <a:off x="457200" y="1051560"/>
            <a:ext cx="11277295" cy="0"/>
          </a:xfrm>
          <a:prstGeom prst="line">
            <a:avLst/>
          </a:prstGeom>
          <a:noFill/>
          <a:ln w="12700">
            <a:solidFill>
              <a:srgbClr val="1A2B4A"/>
            </a:solidFill>
            <a:prstDash val="solid"/>
          </a:ln>
        </p:spPr>
      </p:sp>
      <p:sp>
        <p:nvSpPr>
          <p:cNvPr id="4" name="Shape 2"/>
          <p:cNvSpPr/>
          <p:nvPr/>
        </p:nvSpPr>
        <p:spPr>
          <a:xfrm>
            <a:off x="548640" y="1280160"/>
            <a:ext cx="1554480" cy="457200"/>
          </a:xfrm>
          <a:prstGeom prst="rect">
            <a:avLst/>
          </a:prstGeom>
          <a:solidFill>
            <a:srgbClr val="F5F5F5"/>
          </a:solidFill>
          <a:ln w="6350">
            <a:solidFill>
              <a:srgbClr val="1A2B4A"/>
            </a:solidFill>
            <a:prstDash val="solid"/>
          </a:ln>
        </p:spPr>
      </p:sp>
      <p:sp>
        <p:nvSpPr>
          <p:cNvPr id="5" name="Text 3"/>
          <p:cNvSpPr/>
          <p:nvPr/>
        </p:nvSpPr>
        <p:spPr>
          <a:xfrm>
            <a:off x="548640" y="1280160"/>
            <a:ext cx="1554480" cy="457200"/>
          </a:xfrm>
          <a:prstGeom prst="rect">
            <a:avLst/>
          </a:prstGeom>
          <a:noFill/>
          <a:ln/>
        </p:spPr>
        <p:txBody>
          <a:bodyPr wrap="square" rtlCol="0" anchor="ctr"/>
          <a:lstStyle/>
          <a:p>
            <a:pPr algn="ctr" indent="0" marL="0">
              <a:buNone/>
            </a:pPr>
            <a:r>
              <a:rPr lang="en-US" sz="1000" dirty="0">
                <a:solidFill>
                  <a:srgbClr val="1A1A1A"/>
                </a:solidFill>
                <a:latin typeface="Arial" pitchFamily="34" charset="0"/>
                <a:ea typeface="Arial" pitchFamily="34" charset="-122"/>
                <a:cs typeface="Arial" pitchFamily="34" charset="-120"/>
              </a:rPr>
              <a:t>INPUT</a:t>
            </a:r>
            <a:endParaRPr lang="en-US" sz="1000" dirty="0"/>
          </a:p>
        </p:txBody>
      </p:sp>
      <p:sp>
        <p:nvSpPr>
          <p:cNvPr id="6" name="Shape 4"/>
          <p:cNvSpPr/>
          <p:nvPr/>
        </p:nvSpPr>
        <p:spPr>
          <a:xfrm>
            <a:off x="2121408" y="1508760"/>
            <a:ext cx="192024" cy="0"/>
          </a:xfrm>
          <a:prstGeom prst="line">
            <a:avLst/>
          </a:prstGeom>
          <a:noFill/>
          <a:ln w="12700">
            <a:solidFill>
              <a:srgbClr val="999999"/>
            </a:solidFill>
            <a:prstDash val="solid"/>
            <a:tailEnd type="triangle"/>
          </a:ln>
        </p:spPr>
      </p:sp>
      <p:sp>
        <p:nvSpPr>
          <p:cNvPr id="7" name="Shape 5"/>
          <p:cNvSpPr/>
          <p:nvPr/>
        </p:nvSpPr>
        <p:spPr>
          <a:xfrm>
            <a:off x="2331720" y="1280160"/>
            <a:ext cx="1554480" cy="457200"/>
          </a:xfrm>
          <a:prstGeom prst="rect">
            <a:avLst/>
          </a:prstGeom>
          <a:solidFill>
            <a:srgbClr val="F5F5F5"/>
          </a:solidFill>
          <a:ln w="6350">
            <a:solidFill>
              <a:srgbClr val="1A2B4A"/>
            </a:solidFill>
            <a:prstDash val="solid"/>
          </a:ln>
        </p:spPr>
      </p:sp>
      <p:sp>
        <p:nvSpPr>
          <p:cNvPr id="8" name="Text 6"/>
          <p:cNvSpPr/>
          <p:nvPr/>
        </p:nvSpPr>
        <p:spPr>
          <a:xfrm>
            <a:off x="2331720" y="1280160"/>
            <a:ext cx="1554480" cy="457200"/>
          </a:xfrm>
          <a:prstGeom prst="rect">
            <a:avLst/>
          </a:prstGeom>
          <a:noFill/>
          <a:ln/>
        </p:spPr>
        <p:txBody>
          <a:bodyPr wrap="square" rtlCol="0" anchor="ctr"/>
          <a:lstStyle/>
          <a:p>
            <a:pPr algn="ctr" indent="0" marL="0">
              <a:buNone/>
            </a:pPr>
            <a:r>
              <a:rPr lang="en-US" sz="1000" dirty="0">
                <a:solidFill>
                  <a:srgbClr val="1A1A1A"/>
                </a:solidFill>
                <a:latin typeface="Arial" pitchFamily="34" charset="0"/>
                <a:ea typeface="Arial" pitchFamily="34" charset="-122"/>
                <a:cs typeface="Arial" pitchFamily="34" charset="-120"/>
              </a:rPr>
              <a:t>PROMPT</a:t>
            </a:r>
            <a:endParaRPr lang="en-US" sz="1000" dirty="0"/>
          </a:p>
        </p:txBody>
      </p:sp>
      <p:sp>
        <p:nvSpPr>
          <p:cNvPr id="9" name="Shape 7"/>
          <p:cNvSpPr/>
          <p:nvPr/>
        </p:nvSpPr>
        <p:spPr>
          <a:xfrm>
            <a:off x="3904488" y="1508760"/>
            <a:ext cx="192024" cy="0"/>
          </a:xfrm>
          <a:prstGeom prst="line">
            <a:avLst/>
          </a:prstGeom>
          <a:noFill/>
          <a:ln w="12700">
            <a:solidFill>
              <a:srgbClr val="999999"/>
            </a:solidFill>
            <a:prstDash val="solid"/>
            <a:tailEnd type="triangle"/>
          </a:ln>
        </p:spPr>
      </p:sp>
      <p:sp>
        <p:nvSpPr>
          <p:cNvPr id="10" name="Shape 8"/>
          <p:cNvSpPr/>
          <p:nvPr/>
        </p:nvSpPr>
        <p:spPr>
          <a:xfrm>
            <a:off x="4114800" y="1280160"/>
            <a:ext cx="1554480" cy="457200"/>
          </a:xfrm>
          <a:prstGeom prst="rect">
            <a:avLst/>
          </a:prstGeom>
          <a:solidFill>
            <a:srgbClr val="F5F5F5"/>
          </a:solidFill>
          <a:ln w="6350">
            <a:solidFill>
              <a:srgbClr val="1A2B4A"/>
            </a:solidFill>
            <a:prstDash val="solid"/>
          </a:ln>
        </p:spPr>
      </p:sp>
      <p:sp>
        <p:nvSpPr>
          <p:cNvPr id="11" name="Text 9"/>
          <p:cNvSpPr/>
          <p:nvPr/>
        </p:nvSpPr>
        <p:spPr>
          <a:xfrm>
            <a:off x="4114800" y="1280160"/>
            <a:ext cx="1554480" cy="457200"/>
          </a:xfrm>
          <a:prstGeom prst="rect">
            <a:avLst/>
          </a:prstGeom>
          <a:noFill/>
          <a:ln/>
        </p:spPr>
        <p:txBody>
          <a:bodyPr wrap="square" rtlCol="0" anchor="ctr"/>
          <a:lstStyle/>
          <a:p>
            <a:pPr algn="ctr" indent="0" marL="0">
              <a:buNone/>
            </a:pPr>
            <a:r>
              <a:rPr lang="en-US" sz="1000" dirty="0">
                <a:solidFill>
                  <a:srgbClr val="1A1A1A"/>
                </a:solidFill>
                <a:latin typeface="Arial" pitchFamily="34" charset="0"/>
                <a:ea typeface="Arial" pitchFamily="34" charset="-122"/>
                <a:cs typeface="Arial" pitchFamily="34" charset="-120"/>
              </a:rPr>
              <a:t>RETRIEVAL</a:t>
            </a:r>
            <a:endParaRPr lang="en-US" sz="1000" dirty="0"/>
          </a:p>
        </p:txBody>
      </p:sp>
      <p:sp>
        <p:nvSpPr>
          <p:cNvPr id="12" name="Shape 10"/>
          <p:cNvSpPr/>
          <p:nvPr/>
        </p:nvSpPr>
        <p:spPr>
          <a:xfrm>
            <a:off x="5687568" y="1508760"/>
            <a:ext cx="192024" cy="0"/>
          </a:xfrm>
          <a:prstGeom prst="line">
            <a:avLst/>
          </a:prstGeom>
          <a:noFill/>
          <a:ln w="12700">
            <a:solidFill>
              <a:srgbClr val="999999"/>
            </a:solidFill>
            <a:prstDash val="solid"/>
            <a:tailEnd type="triangle"/>
          </a:ln>
        </p:spPr>
      </p:sp>
      <p:sp>
        <p:nvSpPr>
          <p:cNvPr id="13" name="Shape 11"/>
          <p:cNvSpPr/>
          <p:nvPr/>
        </p:nvSpPr>
        <p:spPr>
          <a:xfrm>
            <a:off x="5897880" y="1280160"/>
            <a:ext cx="1554480" cy="457200"/>
          </a:xfrm>
          <a:prstGeom prst="rect">
            <a:avLst/>
          </a:prstGeom>
          <a:solidFill>
            <a:srgbClr val="F5F5F5"/>
          </a:solidFill>
          <a:ln w="6350">
            <a:solidFill>
              <a:srgbClr val="1A2B4A"/>
            </a:solidFill>
            <a:prstDash val="solid"/>
          </a:ln>
        </p:spPr>
      </p:sp>
      <p:sp>
        <p:nvSpPr>
          <p:cNvPr id="14" name="Text 12"/>
          <p:cNvSpPr/>
          <p:nvPr/>
        </p:nvSpPr>
        <p:spPr>
          <a:xfrm>
            <a:off x="5897880" y="1280160"/>
            <a:ext cx="1554480" cy="457200"/>
          </a:xfrm>
          <a:prstGeom prst="rect">
            <a:avLst/>
          </a:prstGeom>
          <a:noFill/>
          <a:ln/>
        </p:spPr>
        <p:txBody>
          <a:bodyPr wrap="square" rtlCol="0" anchor="ctr"/>
          <a:lstStyle/>
          <a:p>
            <a:pPr algn="ctr" indent="0" marL="0">
              <a:buNone/>
            </a:pPr>
            <a:r>
              <a:rPr lang="en-US" sz="1000" dirty="0">
                <a:solidFill>
                  <a:srgbClr val="1A1A1A"/>
                </a:solidFill>
                <a:latin typeface="Arial" pitchFamily="34" charset="0"/>
                <a:ea typeface="Arial" pitchFamily="34" charset="-122"/>
                <a:cs typeface="Arial" pitchFamily="34" charset="-120"/>
              </a:rPr>
              <a:t>TOOLS</a:t>
            </a:r>
            <a:endParaRPr lang="en-US" sz="1000" dirty="0"/>
          </a:p>
        </p:txBody>
      </p:sp>
      <p:sp>
        <p:nvSpPr>
          <p:cNvPr id="15" name="Shape 13"/>
          <p:cNvSpPr/>
          <p:nvPr/>
        </p:nvSpPr>
        <p:spPr>
          <a:xfrm>
            <a:off x="7470648" y="1508760"/>
            <a:ext cx="192024" cy="0"/>
          </a:xfrm>
          <a:prstGeom prst="line">
            <a:avLst/>
          </a:prstGeom>
          <a:noFill/>
          <a:ln w="12700">
            <a:solidFill>
              <a:srgbClr val="999999"/>
            </a:solidFill>
            <a:prstDash val="solid"/>
            <a:tailEnd type="triangle"/>
          </a:ln>
        </p:spPr>
      </p:sp>
      <p:sp>
        <p:nvSpPr>
          <p:cNvPr id="16" name="Shape 14"/>
          <p:cNvSpPr/>
          <p:nvPr/>
        </p:nvSpPr>
        <p:spPr>
          <a:xfrm>
            <a:off x="7680960" y="1280160"/>
            <a:ext cx="1554480" cy="457200"/>
          </a:xfrm>
          <a:prstGeom prst="rect">
            <a:avLst/>
          </a:prstGeom>
          <a:solidFill>
            <a:srgbClr val="F5F5F5"/>
          </a:solidFill>
          <a:ln w="6350">
            <a:solidFill>
              <a:srgbClr val="1A2B4A"/>
            </a:solidFill>
            <a:prstDash val="solid"/>
          </a:ln>
        </p:spPr>
      </p:sp>
      <p:sp>
        <p:nvSpPr>
          <p:cNvPr id="17" name="Text 15"/>
          <p:cNvSpPr/>
          <p:nvPr/>
        </p:nvSpPr>
        <p:spPr>
          <a:xfrm>
            <a:off x="7680960" y="1280160"/>
            <a:ext cx="1554480" cy="457200"/>
          </a:xfrm>
          <a:prstGeom prst="rect">
            <a:avLst/>
          </a:prstGeom>
          <a:noFill/>
          <a:ln/>
        </p:spPr>
        <p:txBody>
          <a:bodyPr wrap="square" rtlCol="0" anchor="ctr"/>
          <a:lstStyle/>
          <a:p>
            <a:pPr algn="ctr" indent="0" marL="0">
              <a:buNone/>
            </a:pPr>
            <a:r>
              <a:rPr lang="en-US" sz="1000" dirty="0">
                <a:solidFill>
                  <a:srgbClr val="1A1A1A"/>
                </a:solidFill>
                <a:latin typeface="Arial" pitchFamily="34" charset="0"/>
                <a:ea typeface="Arial" pitchFamily="34" charset="-122"/>
                <a:cs typeface="Arial" pitchFamily="34" charset="-120"/>
              </a:rPr>
              <a:t>MODEL</a:t>
            </a:r>
            <a:endParaRPr lang="en-US" sz="1000" dirty="0"/>
          </a:p>
        </p:txBody>
      </p:sp>
      <p:sp>
        <p:nvSpPr>
          <p:cNvPr id="18" name="Shape 16"/>
          <p:cNvSpPr/>
          <p:nvPr/>
        </p:nvSpPr>
        <p:spPr>
          <a:xfrm>
            <a:off x="9253728" y="1508760"/>
            <a:ext cx="192024" cy="0"/>
          </a:xfrm>
          <a:prstGeom prst="line">
            <a:avLst/>
          </a:prstGeom>
          <a:noFill/>
          <a:ln w="12700">
            <a:solidFill>
              <a:srgbClr val="999999"/>
            </a:solidFill>
            <a:prstDash val="solid"/>
            <a:tailEnd type="triangle"/>
          </a:ln>
        </p:spPr>
      </p:sp>
      <p:sp>
        <p:nvSpPr>
          <p:cNvPr id="19" name="Shape 17"/>
          <p:cNvSpPr/>
          <p:nvPr/>
        </p:nvSpPr>
        <p:spPr>
          <a:xfrm>
            <a:off x="9464040" y="1280160"/>
            <a:ext cx="1554480" cy="457200"/>
          </a:xfrm>
          <a:prstGeom prst="rect">
            <a:avLst/>
          </a:prstGeom>
          <a:solidFill>
            <a:srgbClr val="F5F5F5"/>
          </a:solidFill>
          <a:ln w="6350">
            <a:solidFill>
              <a:srgbClr val="1A2B4A"/>
            </a:solidFill>
            <a:prstDash val="solid"/>
          </a:ln>
        </p:spPr>
      </p:sp>
      <p:sp>
        <p:nvSpPr>
          <p:cNvPr id="20" name="Text 18"/>
          <p:cNvSpPr/>
          <p:nvPr/>
        </p:nvSpPr>
        <p:spPr>
          <a:xfrm>
            <a:off x="9464040" y="1280160"/>
            <a:ext cx="1554480" cy="457200"/>
          </a:xfrm>
          <a:prstGeom prst="rect">
            <a:avLst/>
          </a:prstGeom>
          <a:noFill/>
          <a:ln/>
        </p:spPr>
        <p:txBody>
          <a:bodyPr wrap="square" rtlCol="0" anchor="ctr"/>
          <a:lstStyle/>
          <a:p>
            <a:pPr algn="ctr" indent="0" marL="0">
              <a:buNone/>
            </a:pPr>
            <a:r>
              <a:rPr lang="en-US" sz="1000" dirty="0">
                <a:solidFill>
                  <a:srgbClr val="1A1A1A"/>
                </a:solidFill>
                <a:latin typeface="Arial" pitchFamily="34" charset="0"/>
                <a:ea typeface="Arial" pitchFamily="34" charset="-122"/>
                <a:cs typeface="Arial" pitchFamily="34" charset="-120"/>
              </a:rPr>
              <a:t>DECISION</a:t>
            </a:r>
            <a:endParaRPr lang="en-US" sz="1000" dirty="0"/>
          </a:p>
        </p:txBody>
      </p:sp>
      <p:sp>
        <p:nvSpPr>
          <p:cNvPr id="21" name="Shape 19"/>
          <p:cNvSpPr/>
          <p:nvPr/>
        </p:nvSpPr>
        <p:spPr>
          <a:xfrm>
            <a:off x="548640" y="1828800"/>
            <a:ext cx="3383280" cy="36576"/>
          </a:xfrm>
          <a:prstGeom prst="rect">
            <a:avLst/>
          </a:prstGeom>
          <a:solidFill>
            <a:srgbClr val="6B6B6B"/>
          </a:solidFill>
          <a:ln/>
        </p:spPr>
      </p:sp>
      <p:sp>
        <p:nvSpPr>
          <p:cNvPr id="22" name="Text 20"/>
          <p:cNvSpPr/>
          <p:nvPr/>
        </p:nvSpPr>
        <p:spPr>
          <a:xfrm>
            <a:off x="548640" y="1874520"/>
            <a:ext cx="3657600" cy="228600"/>
          </a:xfrm>
          <a:prstGeom prst="rect">
            <a:avLst/>
          </a:prstGeom>
          <a:noFill/>
          <a:ln/>
        </p:spPr>
        <p:txBody>
          <a:bodyPr wrap="square" rtlCol="0" anchor="ctr"/>
          <a:lstStyle/>
          <a:p>
            <a:pPr indent="0" marL="0">
              <a:buNone/>
            </a:pPr>
            <a:r>
              <a:rPr lang="en-US" sz="800" dirty="0">
                <a:solidFill>
                  <a:srgbClr val="6B6B6B"/>
                </a:solidFill>
                <a:latin typeface="Arial" pitchFamily="34" charset="0"/>
                <a:ea typeface="Arial" pitchFamily="34" charset="-122"/>
                <a:cs typeface="Arial" pitchFamily="34" charset="-120"/>
              </a:rPr>
              <a:t>Traditional testing coverage</a:t>
            </a:r>
            <a:endParaRPr lang="en-US" sz="800" dirty="0"/>
          </a:p>
        </p:txBody>
      </p:sp>
      <p:sp>
        <p:nvSpPr>
          <p:cNvPr id="23" name="Shape 21"/>
          <p:cNvSpPr/>
          <p:nvPr/>
        </p:nvSpPr>
        <p:spPr>
          <a:xfrm>
            <a:off x="548640" y="2103120"/>
            <a:ext cx="11064240" cy="36576"/>
          </a:xfrm>
          <a:prstGeom prst="rect">
            <a:avLst/>
          </a:prstGeom>
          <a:solidFill>
            <a:srgbClr val="1A2B4A"/>
          </a:solidFill>
          <a:ln/>
        </p:spPr>
      </p:sp>
      <p:sp>
        <p:nvSpPr>
          <p:cNvPr id="24" name="Text 22"/>
          <p:cNvSpPr/>
          <p:nvPr/>
        </p:nvSpPr>
        <p:spPr>
          <a:xfrm>
            <a:off x="548640" y="2148840"/>
            <a:ext cx="4572000" cy="228600"/>
          </a:xfrm>
          <a:prstGeom prst="rect">
            <a:avLst/>
          </a:prstGeom>
          <a:noFill/>
          <a:ln/>
        </p:spPr>
        <p:txBody>
          <a:bodyPr wrap="square" rtlCol="0" anchor="ctr"/>
          <a:lstStyle/>
          <a:p>
            <a:pPr indent="0" marL="0">
              <a:buNone/>
            </a:pPr>
            <a:r>
              <a:rPr lang="en-US" sz="800" dirty="0">
                <a:solidFill>
                  <a:srgbClr val="1A2B4A"/>
                </a:solidFill>
                <a:latin typeface="Arial" pitchFamily="34" charset="0"/>
                <a:ea typeface="Arial" pitchFamily="34" charset="-122"/>
                <a:cs typeface="Arial" pitchFamily="34" charset="-120"/>
              </a:rPr>
              <a:t>HAIEC full decision path coverage</a:t>
            </a:r>
            <a:endParaRPr lang="en-US" sz="800" dirty="0"/>
          </a:p>
        </p:txBody>
      </p:sp>
      <p:sp>
        <p:nvSpPr>
          <p:cNvPr id="25" name="Text 23"/>
          <p:cNvSpPr/>
          <p:nvPr/>
        </p:nvSpPr>
        <p:spPr>
          <a:xfrm>
            <a:off x="548640" y="2560320"/>
            <a:ext cx="10972800" cy="365760"/>
          </a:xfrm>
          <a:prstGeom prst="rect">
            <a:avLst/>
          </a:prstGeom>
          <a:noFill/>
          <a:ln/>
        </p:spPr>
        <p:txBody>
          <a:bodyPr wrap="square" rtlCol="0" anchor="t"/>
          <a:lstStyle/>
          <a:p>
            <a:pPr algn="l" indent="0" marL="0">
              <a:lnSpc>
                <a:spcPct val="115000"/>
              </a:lnSpc>
              <a:buNone/>
            </a:pPr>
            <a:r>
              <a:rPr lang="en-US" sz="1000" dirty="0">
                <a:solidFill>
                  <a:srgbClr val="4A4A4A"/>
                </a:solidFill>
                <a:latin typeface="Arial" pitchFamily="34" charset="0"/>
                <a:ea typeface="Arial" pitchFamily="34" charset="-122"/>
                <a:cs typeface="Arial" pitchFamily="34" charset="-120"/>
              </a:rPr>
              <a:t>Risks: Prompt injection · Tool abuse · RAG poisoning · Data leakage · Model extraction · Agent loops · SSRF · PII exposure</a:t>
            </a:r>
            <a:endParaRPr lang="en-US" sz="1000" dirty="0"/>
          </a:p>
        </p:txBody>
      </p:sp>
      <p:sp>
        <p:nvSpPr>
          <p:cNvPr id="26" name="Shape 24"/>
          <p:cNvSpPr/>
          <p:nvPr/>
        </p:nvSpPr>
        <p:spPr>
          <a:xfrm>
            <a:off x="548640" y="3108960"/>
            <a:ext cx="5303520" cy="2560320"/>
          </a:xfrm>
          <a:prstGeom prst="rect">
            <a:avLst/>
          </a:prstGeom>
          <a:solidFill>
            <a:srgbClr val="F5F5F5"/>
          </a:solidFill>
          <a:ln w="6350">
            <a:solidFill>
              <a:srgbClr val="D0D0D0"/>
            </a:solidFill>
            <a:prstDash val="solid"/>
          </a:ln>
        </p:spPr>
      </p:sp>
      <p:sp>
        <p:nvSpPr>
          <p:cNvPr id="27" name="Text 25"/>
          <p:cNvSpPr/>
          <p:nvPr/>
        </p:nvSpPr>
        <p:spPr>
          <a:xfrm>
            <a:off x="731520" y="3200400"/>
            <a:ext cx="4937760" cy="320040"/>
          </a:xfrm>
          <a:prstGeom prst="rect">
            <a:avLst/>
          </a:prstGeom>
          <a:noFill/>
          <a:ln/>
        </p:spPr>
        <p:txBody>
          <a:bodyPr wrap="square" rtlCol="0" anchor="ctr"/>
          <a:lstStyle/>
          <a:p>
            <a:pPr indent="0" marL="0">
              <a:buNone/>
            </a:pPr>
            <a:r>
              <a:rPr lang="en-US" sz="1300" b="1" dirty="0">
                <a:solidFill>
                  <a:srgbClr val="1A2B4A"/>
                </a:solidFill>
                <a:latin typeface="Arial" pitchFamily="34" charset="0"/>
                <a:ea typeface="Arial" pitchFamily="34" charset="-122"/>
                <a:cs typeface="Arial" pitchFamily="34" charset="-120"/>
              </a:rPr>
              <a:t>Static Analysis</a:t>
            </a:r>
            <a:endParaRPr lang="en-US" sz="1300" dirty="0"/>
          </a:p>
        </p:txBody>
      </p:sp>
      <p:sp>
        <p:nvSpPr>
          <p:cNvPr id="28" name="Text 26"/>
          <p:cNvSpPr/>
          <p:nvPr/>
        </p:nvSpPr>
        <p:spPr>
          <a:xfrm>
            <a:off x="731520" y="3566160"/>
            <a:ext cx="1645920" cy="228600"/>
          </a:xfrm>
          <a:prstGeom prst="rect">
            <a:avLst/>
          </a:prstGeom>
          <a:noFill/>
          <a:ln/>
        </p:spPr>
        <p:txBody>
          <a:bodyPr wrap="square" rtlCol="0" anchor="ctr"/>
          <a:lstStyle/>
          <a:p>
            <a:pPr algn="l" indent="0" marL="0">
              <a:buNone/>
            </a:pPr>
            <a:r>
              <a:rPr lang="en-US" sz="800" b="1" dirty="0">
                <a:solidFill>
                  <a:srgbClr val="1A2B4A"/>
                </a:solidFill>
                <a:latin typeface="Arial" pitchFamily="34" charset="0"/>
                <a:ea typeface="Arial" pitchFamily="34" charset="-122"/>
                <a:cs typeface="Arial" pitchFamily="34" charset="-120"/>
              </a:rPr>
              <a:t>IMPLEMENTED</a:t>
            </a:r>
            <a:endParaRPr lang="en-US" sz="800" dirty="0"/>
          </a:p>
        </p:txBody>
      </p:sp>
      <p:sp>
        <p:nvSpPr>
          <p:cNvPr id="29" name="Text 27"/>
          <p:cNvSpPr/>
          <p:nvPr/>
        </p:nvSpPr>
        <p:spPr>
          <a:xfrm>
            <a:off x="731520" y="3931920"/>
            <a:ext cx="4937760" cy="274320"/>
          </a:xfrm>
          <a:prstGeom prst="rect">
            <a:avLst/>
          </a:prstGeom>
          <a:noFill/>
          <a:ln/>
        </p:spPr>
        <p:txBody>
          <a:bodyPr wrap="square" rtlCol="0" anchor="ctr"/>
          <a:lstStyle/>
          <a:p>
            <a:pPr indent="0" marL="0">
              <a:buNone/>
            </a:pPr>
            <a:r>
              <a:rPr lang="en-US" sz="900" dirty="0">
                <a:solidFill>
                  <a:srgbClr val="1A1A1A"/>
                </a:solidFill>
                <a:latin typeface="Arial" pitchFamily="34" charset="0"/>
                <a:ea typeface="Arial" pitchFamily="34" charset="-122"/>
                <a:cs typeface="Arial" pitchFamily="34" charset="-120"/>
              </a:rPr>
              <a:t>•  91 Semgrep YAML detector definitions</a:t>
            </a:r>
            <a:endParaRPr lang="en-US" sz="900" dirty="0"/>
          </a:p>
        </p:txBody>
      </p:sp>
      <p:sp>
        <p:nvSpPr>
          <p:cNvPr id="30" name="Text 28"/>
          <p:cNvSpPr/>
          <p:nvPr/>
        </p:nvSpPr>
        <p:spPr>
          <a:xfrm>
            <a:off x="731520" y="4224528"/>
            <a:ext cx="4937760" cy="274320"/>
          </a:xfrm>
          <a:prstGeom prst="rect">
            <a:avLst/>
          </a:prstGeom>
          <a:noFill/>
          <a:ln/>
        </p:spPr>
        <p:txBody>
          <a:bodyPr wrap="square" rtlCol="0" anchor="ctr"/>
          <a:lstStyle/>
          <a:p>
            <a:pPr indent="0" marL="0">
              <a:buNone/>
            </a:pPr>
            <a:r>
              <a:rPr lang="en-US" sz="900" dirty="0">
                <a:solidFill>
                  <a:srgbClr val="1A1A1A"/>
                </a:solidFill>
                <a:latin typeface="Arial" pitchFamily="34" charset="0"/>
                <a:ea typeface="Arial" pitchFamily="34" charset="-122"/>
                <a:cs typeface="Arial" pitchFamily="34" charset="-120"/>
              </a:rPr>
              <a:t>•  15 core TypeScript deterministic rules</a:t>
            </a:r>
            <a:endParaRPr lang="en-US" sz="900" dirty="0"/>
          </a:p>
        </p:txBody>
      </p:sp>
      <p:sp>
        <p:nvSpPr>
          <p:cNvPr id="31" name="Text 29"/>
          <p:cNvSpPr/>
          <p:nvPr/>
        </p:nvSpPr>
        <p:spPr>
          <a:xfrm>
            <a:off x="731520" y="4517136"/>
            <a:ext cx="4937760" cy="274320"/>
          </a:xfrm>
          <a:prstGeom prst="rect">
            <a:avLst/>
          </a:prstGeom>
          <a:noFill/>
          <a:ln/>
        </p:spPr>
        <p:txBody>
          <a:bodyPr wrap="square" rtlCol="0" anchor="ctr"/>
          <a:lstStyle/>
          <a:p>
            <a:pPr indent="0" marL="0">
              <a:buNone/>
            </a:pPr>
            <a:r>
              <a:rPr lang="en-US" sz="900" dirty="0">
                <a:solidFill>
                  <a:srgbClr val="1A1A1A"/>
                </a:solidFill>
                <a:latin typeface="Arial" pitchFamily="34" charset="0"/>
                <a:ea typeface="Arial" pitchFamily="34" charset="-122"/>
                <a:cs typeface="Arial" pitchFamily="34" charset="-120"/>
              </a:rPr>
              <a:t>•  82 rule-to-framework mapping records</a:t>
            </a:r>
            <a:endParaRPr lang="en-US" sz="900" dirty="0"/>
          </a:p>
        </p:txBody>
      </p:sp>
      <p:sp>
        <p:nvSpPr>
          <p:cNvPr id="32" name="Text 30"/>
          <p:cNvSpPr/>
          <p:nvPr/>
        </p:nvSpPr>
        <p:spPr>
          <a:xfrm>
            <a:off x="731520" y="4809744"/>
            <a:ext cx="4937760" cy="274320"/>
          </a:xfrm>
          <a:prstGeom prst="rect">
            <a:avLst/>
          </a:prstGeom>
          <a:noFill/>
          <a:ln/>
        </p:spPr>
        <p:txBody>
          <a:bodyPr wrap="square" rtlCol="0" anchor="ctr"/>
          <a:lstStyle/>
          <a:p>
            <a:pPr indent="0" marL="0">
              <a:buNone/>
            </a:pPr>
            <a:r>
              <a:rPr lang="en-US" sz="900" dirty="0">
                <a:solidFill>
                  <a:srgbClr val="1A1A1A"/>
                </a:solidFill>
                <a:latin typeface="Arial" pitchFamily="34" charset="0"/>
                <a:ea typeface="Arial" pitchFamily="34" charset="-122"/>
                <a:cs typeface="Arial" pitchFamily="34" charset="-120"/>
              </a:rPr>
              <a:t>•  Additional profile-specific TypeScript checks</a:t>
            </a:r>
            <a:endParaRPr lang="en-US" sz="900" dirty="0"/>
          </a:p>
        </p:txBody>
      </p:sp>
      <p:sp>
        <p:nvSpPr>
          <p:cNvPr id="33" name="Text 31"/>
          <p:cNvSpPr/>
          <p:nvPr/>
        </p:nvSpPr>
        <p:spPr>
          <a:xfrm>
            <a:off x="731520" y="5102352"/>
            <a:ext cx="4937760" cy="274320"/>
          </a:xfrm>
          <a:prstGeom prst="rect">
            <a:avLst/>
          </a:prstGeom>
          <a:noFill/>
          <a:ln/>
        </p:spPr>
        <p:txBody>
          <a:bodyPr wrap="square" rtlCol="0" anchor="ctr"/>
          <a:lstStyle/>
          <a:p>
            <a:pPr indent="0" marL="0">
              <a:buNone/>
            </a:pPr>
            <a:r>
              <a:rPr lang="en-US" sz="900" dirty="0">
                <a:solidFill>
                  <a:srgbClr val="1A1A1A"/>
                </a:solidFill>
                <a:latin typeface="Arial" pitchFamily="34" charset="0"/>
                <a:ea typeface="Arial" pitchFamily="34" charset="-122"/>
                <a:cs typeface="Arial" pitchFamily="34" charset="-120"/>
              </a:rPr>
              <a:t>•  Taint analysis, flow graphs, call graphs</a:t>
            </a:r>
            <a:endParaRPr lang="en-US" sz="900" dirty="0"/>
          </a:p>
        </p:txBody>
      </p:sp>
      <p:sp>
        <p:nvSpPr>
          <p:cNvPr id="34" name="Text 32"/>
          <p:cNvSpPr/>
          <p:nvPr/>
        </p:nvSpPr>
        <p:spPr>
          <a:xfrm>
            <a:off x="731520" y="5394960"/>
            <a:ext cx="4937760" cy="274320"/>
          </a:xfrm>
          <a:prstGeom prst="rect">
            <a:avLst/>
          </a:prstGeom>
          <a:noFill/>
          <a:ln/>
        </p:spPr>
        <p:txBody>
          <a:bodyPr wrap="square" rtlCol="0" anchor="ctr"/>
          <a:lstStyle/>
          <a:p>
            <a:pPr indent="0" marL="0">
              <a:buNone/>
            </a:pPr>
            <a:r>
              <a:rPr lang="en-US" sz="900" dirty="0">
                <a:solidFill>
                  <a:srgbClr val="1A1A1A"/>
                </a:solidFill>
                <a:latin typeface="Arial" pitchFamily="34" charset="0"/>
                <a:ea typeface="Arial" pitchFamily="34" charset="-122"/>
                <a:cs typeface="Arial" pitchFamily="34" charset="-120"/>
              </a:rPr>
              <a:t>•  Multi-language: JS/TS, Python, Go sidecars</a:t>
            </a:r>
            <a:endParaRPr lang="en-US" sz="900" dirty="0"/>
          </a:p>
        </p:txBody>
      </p:sp>
      <p:sp>
        <p:nvSpPr>
          <p:cNvPr id="35" name="Text 33"/>
          <p:cNvSpPr/>
          <p:nvPr/>
        </p:nvSpPr>
        <p:spPr>
          <a:xfrm>
            <a:off x="731520" y="5687568"/>
            <a:ext cx="4937760" cy="274320"/>
          </a:xfrm>
          <a:prstGeom prst="rect">
            <a:avLst/>
          </a:prstGeom>
          <a:noFill/>
          <a:ln/>
        </p:spPr>
        <p:txBody>
          <a:bodyPr wrap="square" rtlCol="0" anchor="ctr"/>
          <a:lstStyle/>
          <a:p>
            <a:pPr indent="0" marL="0">
              <a:buNone/>
            </a:pPr>
            <a:r>
              <a:rPr lang="en-US" sz="900" dirty="0">
                <a:solidFill>
                  <a:srgbClr val="1A1A1A"/>
                </a:solidFill>
                <a:latin typeface="Arial" pitchFamily="34" charset="0"/>
                <a:ea typeface="Arial" pitchFamily="34" charset="-122"/>
                <a:cs typeface="Arial" pitchFamily="34" charset="-120"/>
              </a:rPr>
              <a:t>•  SHA256 finding fingerprints for evidence</a:t>
            </a:r>
            <a:endParaRPr lang="en-US" sz="900" dirty="0"/>
          </a:p>
        </p:txBody>
      </p:sp>
      <p:sp>
        <p:nvSpPr>
          <p:cNvPr id="36" name="Text 34"/>
          <p:cNvSpPr/>
          <p:nvPr/>
        </p:nvSpPr>
        <p:spPr>
          <a:xfrm>
            <a:off x="731520" y="5980176"/>
            <a:ext cx="4937760" cy="274320"/>
          </a:xfrm>
          <a:prstGeom prst="rect">
            <a:avLst/>
          </a:prstGeom>
          <a:noFill/>
          <a:ln/>
        </p:spPr>
        <p:txBody>
          <a:bodyPr wrap="square" rtlCol="0" anchor="ctr"/>
          <a:lstStyle/>
          <a:p>
            <a:pPr indent="0" marL="0">
              <a:buNone/>
            </a:pPr>
            <a:r>
              <a:rPr lang="en-US" sz="900" dirty="0">
                <a:solidFill>
                  <a:srgbClr val="1A1A1A"/>
                </a:solidFill>
                <a:latin typeface="Arial" pitchFamily="34" charset="0"/>
                <a:ea typeface="Arial" pitchFamily="34" charset="-122"/>
                <a:cs typeface="Arial" pitchFamily="34" charset="-120"/>
              </a:rPr>
              <a:t>•  CI integration with policy enforcement engine</a:t>
            </a:r>
            <a:endParaRPr lang="en-US" sz="900" dirty="0"/>
          </a:p>
        </p:txBody>
      </p:sp>
      <p:sp>
        <p:nvSpPr>
          <p:cNvPr id="37" name="Shape 35"/>
          <p:cNvSpPr/>
          <p:nvPr/>
        </p:nvSpPr>
        <p:spPr>
          <a:xfrm>
            <a:off x="6309360" y="3108960"/>
            <a:ext cx="5303520" cy="2560320"/>
          </a:xfrm>
          <a:prstGeom prst="rect">
            <a:avLst/>
          </a:prstGeom>
          <a:solidFill>
            <a:srgbClr val="F5F5F5"/>
          </a:solidFill>
          <a:ln w="6350">
            <a:solidFill>
              <a:srgbClr val="D0D0D0"/>
            </a:solidFill>
            <a:prstDash val="solid"/>
          </a:ln>
        </p:spPr>
      </p:sp>
      <p:sp>
        <p:nvSpPr>
          <p:cNvPr id="38" name="Text 36"/>
          <p:cNvSpPr/>
          <p:nvPr/>
        </p:nvSpPr>
        <p:spPr>
          <a:xfrm>
            <a:off x="6492240" y="3200400"/>
            <a:ext cx="4937760" cy="320040"/>
          </a:xfrm>
          <a:prstGeom prst="rect">
            <a:avLst/>
          </a:prstGeom>
          <a:noFill/>
          <a:ln/>
        </p:spPr>
        <p:txBody>
          <a:bodyPr wrap="square" rtlCol="0" anchor="ctr"/>
          <a:lstStyle/>
          <a:p>
            <a:pPr indent="0" marL="0">
              <a:buNone/>
            </a:pPr>
            <a:r>
              <a:rPr lang="en-US" sz="1300" b="1" dirty="0">
                <a:solidFill>
                  <a:srgbClr val="1A2B4A"/>
                </a:solidFill>
                <a:latin typeface="Arial" pitchFamily="34" charset="0"/>
                <a:ea typeface="Arial" pitchFamily="34" charset="-122"/>
                <a:cs typeface="Arial" pitchFamily="34" charset="-120"/>
              </a:rPr>
              <a:t>Runtime Testing</a:t>
            </a:r>
            <a:endParaRPr lang="en-US" sz="1300" dirty="0"/>
          </a:p>
        </p:txBody>
      </p:sp>
      <p:sp>
        <p:nvSpPr>
          <p:cNvPr id="39" name="Text 37"/>
          <p:cNvSpPr/>
          <p:nvPr/>
        </p:nvSpPr>
        <p:spPr>
          <a:xfrm>
            <a:off x="6492240" y="3566160"/>
            <a:ext cx="1645920" cy="228600"/>
          </a:xfrm>
          <a:prstGeom prst="rect">
            <a:avLst/>
          </a:prstGeom>
          <a:noFill/>
          <a:ln/>
        </p:spPr>
        <p:txBody>
          <a:bodyPr wrap="square" rtlCol="0" anchor="ctr"/>
          <a:lstStyle/>
          <a:p>
            <a:pPr algn="l" indent="0" marL="0">
              <a:buNone/>
            </a:pPr>
            <a:r>
              <a:rPr lang="en-US" sz="800" b="1" dirty="0">
                <a:solidFill>
                  <a:srgbClr val="1A2B4A"/>
                </a:solidFill>
                <a:latin typeface="Arial" pitchFamily="34" charset="0"/>
                <a:ea typeface="Arial" pitchFamily="34" charset="-122"/>
                <a:cs typeface="Arial" pitchFamily="34" charset="-120"/>
              </a:rPr>
              <a:t>ACTIVE DEVELOPMENT</a:t>
            </a:r>
            <a:endParaRPr lang="en-US" sz="800" dirty="0"/>
          </a:p>
        </p:txBody>
      </p:sp>
      <p:sp>
        <p:nvSpPr>
          <p:cNvPr id="40" name="Text 38"/>
          <p:cNvSpPr/>
          <p:nvPr/>
        </p:nvSpPr>
        <p:spPr>
          <a:xfrm>
            <a:off x="6492240" y="3931920"/>
            <a:ext cx="4937760" cy="274320"/>
          </a:xfrm>
          <a:prstGeom prst="rect">
            <a:avLst/>
          </a:prstGeom>
          <a:noFill/>
          <a:ln/>
        </p:spPr>
        <p:txBody>
          <a:bodyPr wrap="square" rtlCol="0" anchor="ctr"/>
          <a:lstStyle/>
          <a:p>
            <a:pPr indent="0" marL="0">
              <a:buNone/>
            </a:pPr>
            <a:r>
              <a:rPr lang="en-US" sz="900" dirty="0">
                <a:solidFill>
                  <a:srgbClr val="1A1A1A"/>
                </a:solidFill>
                <a:latin typeface="Arial" pitchFamily="34" charset="0"/>
                <a:ea typeface="Arial" pitchFamily="34" charset="-122"/>
                <a:cs typeface="Arial" pitchFamily="34" charset="-120"/>
              </a:rPr>
              <a:t>•  269 attack templates across 6 domain packs</a:t>
            </a:r>
            <a:endParaRPr lang="en-US" sz="900" dirty="0"/>
          </a:p>
        </p:txBody>
      </p:sp>
      <p:sp>
        <p:nvSpPr>
          <p:cNvPr id="41" name="Text 39"/>
          <p:cNvSpPr/>
          <p:nvPr/>
        </p:nvSpPr>
        <p:spPr>
          <a:xfrm>
            <a:off x="6492240" y="4224528"/>
            <a:ext cx="4937760" cy="274320"/>
          </a:xfrm>
          <a:prstGeom prst="rect">
            <a:avLst/>
          </a:prstGeom>
          <a:noFill/>
          <a:ln/>
        </p:spPr>
        <p:txBody>
          <a:bodyPr wrap="square" rtlCol="0" anchor="ctr"/>
          <a:lstStyle/>
          <a:p>
            <a:pPr indent="0" marL="0">
              <a:buNone/>
            </a:pPr>
            <a:r>
              <a:rPr lang="en-US" sz="900" dirty="0">
                <a:solidFill>
                  <a:srgbClr val="1A1A1A"/>
                </a:solidFill>
                <a:latin typeface="Arial" pitchFamily="34" charset="0"/>
                <a:ea typeface="Arial" pitchFamily="34" charset="-122"/>
                <a:cs typeface="Arial" pitchFamily="34" charset="-120"/>
              </a:rPr>
              <a:t>•  14 safety properties (secret leakage, injection, behavior)</a:t>
            </a:r>
            <a:endParaRPr lang="en-US" sz="900" dirty="0"/>
          </a:p>
        </p:txBody>
      </p:sp>
      <p:sp>
        <p:nvSpPr>
          <p:cNvPr id="42" name="Text 40"/>
          <p:cNvSpPr/>
          <p:nvPr/>
        </p:nvSpPr>
        <p:spPr>
          <a:xfrm>
            <a:off x="6492240" y="4517136"/>
            <a:ext cx="4937760" cy="274320"/>
          </a:xfrm>
          <a:prstGeom prst="rect">
            <a:avLst/>
          </a:prstGeom>
          <a:noFill/>
          <a:ln/>
        </p:spPr>
        <p:txBody>
          <a:bodyPr wrap="square" rtlCol="0" anchor="ctr"/>
          <a:lstStyle/>
          <a:p>
            <a:pPr indent="0" marL="0">
              <a:buNone/>
            </a:pPr>
            <a:r>
              <a:rPr lang="en-US" sz="900" dirty="0">
                <a:solidFill>
                  <a:srgbClr val="1A1A1A"/>
                </a:solidFill>
                <a:latin typeface="Arial" pitchFamily="34" charset="0"/>
                <a:ea typeface="Arial" pitchFamily="34" charset="-122"/>
                <a:cs typeface="Arial" pitchFamily="34" charset="-120"/>
              </a:rPr>
              <a:t>•  Domain authorization required before testing</a:t>
            </a:r>
            <a:endParaRPr lang="en-US" sz="900" dirty="0"/>
          </a:p>
        </p:txBody>
      </p:sp>
      <p:sp>
        <p:nvSpPr>
          <p:cNvPr id="43" name="Text 41"/>
          <p:cNvSpPr/>
          <p:nvPr/>
        </p:nvSpPr>
        <p:spPr>
          <a:xfrm>
            <a:off x="6492240" y="4809744"/>
            <a:ext cx="4937760" cy="274320"/>
          </a:xfrm>
          <a:prstGeom prst="rect">
            <a:avLst/>
          </a:prstGeom>
          <a:noFill/>
          <a:ln/>
        </p:spPr>
        <p:txBody>
          <a:bodyPr wrap="square" rtlCol="0" anchor="ctr"/>
          <a:lstStyle/>
          <a:p>
            <a:pPr indent="0" marL="0">
              <a:buNone/>
            </a:pPr>
            <a:r>
              <a:rPr lang="en-US" sz="900" dirty="0">
                <a:solidFill>
                  <a:srgbClr val="1A1A1A"/>
                </a:solidFill>
                <a:latin typeface="Arial" pitchFamily="34" charset="0"/>
                <a:ea typeface="Arial" pitchFamily="34" charset="-122"/>
                <a:cs typeface="Arial" pitchFamily="34" charset="-120"/>
              </a:rPr>
              <a:t>•  Rate-limited, tiered orchestration (4 tiers)</a:t>
            </a:r>
            <a:endParaRPr lang="en-US" sz="900" dirty="0"/>
          </a:p>
        </p:txBody>
      </p:sp>
      <p:sp>
        <p:nvSpPr>
          <p:cNvPr id="44" name="Text 42"/>
          <p:cNvSpPr/>
          <p:nvPr/>
        </p:nvSpPr>
        <p:spPr>
          <a:xfrm>
            <a:off x="6492240" y="5102352"/>
            <a:ext cx="4937760" cy="274320"/>
          </a:xfrm>
          <a:prstGeom prst="rect">
            <a:avLst/>
          </a:prstGeom>
          <a:noFill/>
          <a:ln/>
        </p:spPr>
        <p:txBody>
          <a:bodyPr wrap="square" rtlCol="0" anchor="ctr"/>
          <a:lstStyle/>
          <a:p>
            <a:pPr indent="0" marL="0">
              <a:buNone/>
            </a:pPr>
            <a:r>
              <a:rPr lang="en-US" sz="900" dirty="0">
                <a:solidFill>
                  <a:srgbClr val="1A1A1A"/>
                </a:solidFill>
                <a:latin typeface="Arial" pitchFamily="34" charset="0"/>
                <a:ea typeface="Arial" pitchFamily="34" charset="-122"/>
                <a:cs typeface="Arial" pitchFamily="34" charset="-120"/>
              </a:rPr>
              <a:t>•  Two-phase atomic finalization with Prisma transaction</a:t>
            </a:r>
            <a:endParaRPr lang="en-US" sz="900" dirty="0"/>
          </a:p>
        </p:txBody>
      </p:sp>
      <p:sp>
        <p:nvSpPr>
          <p:cNvPr id="45" name="Text 43"/>
          <p:cNvSpPr/>
          <p:nvPr/>
        </p:nvSpPr>
        <p:spPr>
          <a:xfrm>
            <a:off x="6492240" y="5394960"/>
            <a:ext cx="4937760" cy="274320"/>
          </a:xfrm>
          <a:prstGeom prst="rect">
            <a:avLst/>
          </a:prstGeom>
          <a:noFill/>
          <a:ln/>
        </p:spPr>
        <p:txBody>
          <a:bodyPr wrap="square" rtlCol="0" anchor="ctr"/>
          <a:lstStyle/>
          <a:p>
            <a:pPr indent="0" marL="0">
              <a:buNone/>
            </a:pPr>
            <a:r>
              <a:rPr lang="en-US" sz="900" dirty="0">
                <a:solidFill>
                  <a:srgbClr val="1A1A1A"/>
                </a:solidFill>
                <a:latin typeface="Arial" pitchFamily="34" charset="0"/>
                <a:ea typeface="Arial" pitchFamily="34" charset="-122"/>
                <a:cs typeface="Arial" pitchFamily="34" charset="-120"/>
              </a:rPr>
              <a:t>•  Static-runtime finding correlation</a:t>
            </a:r>
            <a:endParaRPr lang="en-US" sz="900" dirty="0"/>
          </a:p>
        </p:txBody>
      </p:sp>
      <p:sp>
        <p:nvSpPr>
          <p:cNvPr id="46" name="Text 44"/>
          <p:cNvSpPr/>
          <p:nvPr/>
        </p:nvSpPr>
        <p:spPr>
          <a:xfrm>
            <a:off x="548640" y="5760720"/>
            <a:ext cx="10972800" cy="274320"/>
          </a:xfrm>
          <a:prstGeom prst="rect">
            <a:avLst/>
          </a:prstGeom>
          <a:noFill/>
          <a:ln/>
        </p:spPr>
        <p:txBody>
          <a:bodyPr wrap="square" rtlCol="0" anchor="t"/>
          <a:lstStyle/>
          <a:p>
            <a:pPr algn="l" indent="0" marL="0">
              <a:lnSpc>
                <a:spcPct val="115000"/>
              </a:lnSpc>
              <a:buNone/>
            </a:pPr>
            <a:r>
              <a:rPr lang="en-US" sz="1000" b="1" dirty="0">
                <a:solidFill>
                  <a:srgbClr val="1A2B4A"/>
                </a:solidFill>
                <a:latin typeface="Arial" pitchFamily="34" charset="0"/>
                <a:ea typeface="Arial" pitchFamily="34" charset="-122"/>
                <a:cs typeface="Arial" pitchFamily="34" charset="-120"/>
              </a:rPr>
              <a:t>Every finding carries a rule ID, a code path, a line number, and the missing guard. Deterministic rule-based analysis. Every finding is traceable.</a:t>
            </a:r>
            <a:endParaRPr lang="en-US" sz="1000" dirty="0"/>
          </a:p>
        </p:txBody>
      </p:sp>
      <p:sp>
        <p:nvSpPr>
          <p:cNvPr id="47" name="Text 45"/>
          <p:cNvSpPr/>
          <p:nvPr/>
        </p:nvSpPr>
        <p:spPr>
          <a:xfrm>
            <a:off x="548640" y="6126480"/>
            <a:ext cx="10972800" cy="274320"/>
          </a:xfrm>
          <a:prstGeom prst="rect">
            <a:avLst/>
          </a:prstGeom>
          <a:noFill/>
          <a:ln/>
        </p:spPr>
        <p:txBody>
          <a:bodyPr wrap="square" rtlCol="0" anchor="t"/>
          <a:lstStyle/>
          <a:p>
            <a:pPr algn="l" indent="0" marL="0">
              <a:lnSpc>
                <a:spcPct val="115000"/>
              </a:lnSpc>
              <a:buNone/>
            </a:pPr>
            <a:r>
              <a:rPr lang="en-US" sz="900" dirty="0">
                <a:solidFill>
                  <a:srgbClr val="4A4A4A"/>
                </a:solidFill>
                <a:latin typeface="Arial" pitchFamily="34" charset="0"/>
                <a:ea typeface="Arial" pitchFamily="34" charset="-122"/>
                <a:cs typeface="Arial" pitchFamily="34" charset="-120"/>
              </a:rPr>
              <a:t>Maturity: Static engine - Implemented. Runtime engine - Active development with full execution path operational.</a:t>
            </a:r>
            <a:endParaRPr lang="en-US" sz="900" dirty="0"/>
          </a:p>
        </p:txBody>
      </p:sp>
      <p:sp>
        <p:nvSpPr>
          <p:cNvPr id="48" name="Shape 46"/>
          <p:cNvSpPr/>
          <p:nvPr/>
        </p:nvSpPr>
        <p:spPr>
          <a:xfrm>
            <a:off x="457200" y="6473952"/>
            <a:ext cx="11277295" cy="0"/>
          </a:xfrm>
          <a:prstGeom prst="line">
            <a:avLst/>
          </a:prstGeom>
          <a:noFill/>
          <a:ln w="6350">
            <a:solidFill>
              <a:srgbClr val="CCCCCC"/>
            </a:solidFill>
            <a:prstDash val="solid"/>
          </a:ln>
        </p:spPr>
      </p:sp>
      <p:sp>
        <p:nvSpPr>
          <p:cNvPr id="49" name="Text 47"/>
          <p:cNvSpPr/>
          <p:nvPr/>
        </p:nvSpPr>
        <p:spPr>
          <a:xfrm>
            <a:off x="457200" y="6537960"/>
            <a:ext cx="7315200" cy="228600"/>
          </a:xfrm>
          <a:prstGeom prst="rect">
            <a:avLst/>
          </a:prstGeom>
          <a:noFill/>
          <a:ln/>
        </p:spPr>
        <p:txBody>
          <a:bodyPr wrap="square" rtlCol="0" anchor="ctr"/>
          <a:lstStyle/>
          <a:p>
            <a:pPr indent="0" marL="0">
              <a:buNone/>
            </a:pPr>
            <a:r>
              <a:rPr lang="en-US" sz="800" dirty="0">
                <a:solidFill>
                  <a:srgbClr val="6B6B6B"/>
                </a:solidFill>
                <a:latin typeface="Arial" pitchFamily="34" charset="0"/>
                <a:ea typeface="Arial" pitchFamily="34" charset="-122"/>
                <a:cs typeface="Arial" pitchFamily="34" charset="-120"/>
              </a:rPr>
              <a:t>HAIEC  ·  Confidential Discussion Brief  ·  6/15</a:t>
            </a:r>
            <a:endParaRPr lang="en-US" sz="800" dirty="0"/>
          </a:p>
        </p:txBody>
      </p:sp>
      <p:sp>
        <p:nvSpPr>
          <p:cNvPr id="50" name="Text 48"/>
          <p:cNvSpPr/>
          <p:nvPr/>
        </p:nvSpPr>
        <p:spPr>
          <a:xfrm>
            <a:off x="8991295" y="6537960"/>
            <a:ext cx="2743200" cy="228600"/>
          </a:xfrm>
          <a:prstGeom prst="rect">
            <a:avLst/>
          </a:prstGeom>
          <a:noFill/>
          <a:ln/>
        </p:spPr>
        <p:txBody>
          <a:bodyPr wrap="square" rtlCol="0" anchor="ctr"/>
          <a:lstStyle/>
          <a:p>
            <a:pPr algn="r" indent="0" marL="0">
              <a:buNone/>
            </a:pPr>
            <a:r>
              <a:rPr lang="en-US" sz="800" dirty="0">
                <a:solidFill>
                  <a:srgbClr val="6B6B6B"/>
                </a:solidFill>
                <a:latin typeface="Arial" pitchFamily="34" charset="0"/>
                <a:ea typeface="Arial" pitchFamily="34" charset="-122"/>
                <a:cs typeface="Arial" pitchFamily="34" charset="-120"/>
              </a:rPr>
              <a:t>v1.0  ·  2026-07-31</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57200"/>
            <a:ext cx="11277295" cy="548640"/>
          </a:xfrm>
          <a:prstGeom prst="rect">
            <a:avLst/>
          </a:prstGeom>
          <a:noFill/>
          <a:ln/>
        </p:spPr>
        <p:txBody>
          <a:bodyPr wrap="square" rtlCol="0" anchor="ctr"/>
          <a:lstStyle/>
          <a:p>
            <a:pPr algn="l" indent="0" marL="0">
              <a:buNone/>
            </a:pPr>
            <a:r>
              <a:rPr lang="en-US" sz="2200" b="1" dirty="0">
                <a:solidFill>
                  <a:srgbClr val="1A2B4A"/>
                </a:solidFill>
                <a:latin typeface="Arial" pitchFamily="34" charset="0"/>
                <a:ea typeface="Arial" pitchFamily="34" charset="-122"/>
                <a:cs typeface="Arial" pitchFamily="34" charset="-120"/>
              </a:rPr>
              <a:t>The evidence architecture is the core asset.</a:t>
            </a:r>
            <a:endParaRPr lang="en-US" sz="2200" dirty="0"/>
          </a:p>
        </p:txBody>
      </p:sp>
      <p:sp>
        <p:nvSpPr>
          <p:cNvPr id="3" name="Shape 1"/>
          <p:cNvSpPr/>
          <p:nvPr/>
        </p:nvSpPr>
        <p:spPr>
          <a:xfrm>
            <a:off x="457200" y="1051560"/>
            <a:ext cx="11277295" cy="0"/>
          </a:xfrm>
          <a:prstGeom prst="line">
            <a:avLst/>
          </a:prstGeom>
          <a:noFill/>
          <a:ln w="12700">
            <a:solidFill>
              <a:srgbClr val="1A2B4A"/>
            </a:solidFill>
            <a:prstDash val="solid"/>
          </a:ln>
        </p:spPr>
      </p:sp>
      <p:sp>
        <p:nvSpPr>
          <p:cNvPr id="4" name="Shape 2"/>
          <p:cNvSpPr/>
          <p:nvPr/>
        </p:nvSpPr>
        <p:spPr>
          <a:xfrm>
            <a:off x="548640" y="1371600"/>
            <a:ext cx="2011680" cy="2011680"/>
          </a:xfrm>
          <a:prstGeom prst="rect">
            <a:avLst/>
          </a:prstGeom>
          <a:solidFill>
            <a:srgbClr val="F5F5F5"/>
          </a:solidFill>
          <a:ln w="6350">
            <a:solidFill>
              <a:srgbClr val="1A2B4A"/>
            </a:solidFill>
            <a:prstDash val="solid"/>
          </a:ln>
        </p:spPr>
      </p:sp>
      <p:sp>
        <p:nvSpPr>
          <p:cNvPr id="5" name="Text 3"/>
          <p:cNvSpPr/>
          <p:nvPr/>
        </p:nvSpPr>
        <p:spPr>
          <a:xfrm>
            <a:off x="640080" y="1463040"/>
            <a:ext cx="1828800" cy="640080"/>
          </a:xfrm>
          <a:prstGeom prst="rect">
            <a:avLst/>
          </a:prstGeom>
          <a:noFill/>
          <a:ln/>
        </p:spPr>
        <p:txBody>
          <a:bodyPr wrap="square" rtlCol="0" anchor="ctr"/>
          <a:lstStyle/>
          <a:p>
            <a:pPr algn="ctr" indent="0" marL="0">
              <a:buNone/>
            </a:pPr>
            <a:r>
              <a:rPr lang="en-US" sz="1100" b="1" dirty="0">
                <a:solidFill>
                  <a:srgbClr val="1A2B4A"/>
                </a:solidFill>
                <a:latin typeface="Arial" pitchFamily="34" charset="0"/>
                <a:ea typeface="Arial" pitchFamily="34" charset="-122"/>
                <a:cs typeface="Arial" pitchFamily="34" charset="-120"/>
              </a:rPr>
              <a:t>Finding</a:t>
            </a:r>
            <a:endParaRPr lang="en-US" sz="1100" dirty="0"/>
          </a:p>
        </p:txBody>
      </p:sp>
      <p:sp>
        <p:nvSpPr>
          <p:cNvPr id="6" name="Text 4"/>
          <p:cNvSpPr/>
          <p:nvPr/>
        </p:nvSpPr>
        <p:spPr>
          <a:xfrm>
            <a:off x="640080" y="2194560"/>
            <a:ext cx="1828800" cy="1097280"/>
          </a:xfrm>
          <a:prstGeom prst="rect">
            <a:avLst/>
          </a:prstGeom>
          <a:noFill/>
          <a:ln/>
        </p:spPr>
        <p:txBody>
          <a:bodyPr wrap="square" rtlCol="0" anchor="t"/>
          <a:lstStyle/>
          <a:p>
            <a:pPr algn="ctr" indent="0" marL="0">
              <a:buNone/>
            </a:pPr>
            <a:r>
              <a:rPr lang="en-US" sz="800" dirty="0">
                <a:solidFill>
                  <a:srgbClr val="6B6B6B"/>
                </a:solidFill>
                <a:latin typeface="Arial" pitchFamily="34" charset="0"/>
                <a:ea typeface="Arial" pitchFamily="34" charset="-122"/>
                <a:cs typeface="Arial" pitchFamily="34" charset="-120"/>
              </a:rPr>
              <a:t>+ Source/Response</a:t>
            </a:r>
            <a:endParaRPr lang="en-US" sz="800" dirty="0"/>
          </a:p>
          <a:p>
            <a:pPr algn="ctr" indent="0" marL="0">
              <a:buNone/>
            </a:pPr>
            <a:r>
              <a:rPr lang="en-US" sz="800" dirty="0">
                <a:solidFill>
                  <a:srgbClr val="6B6B6B"/>
                </a:solidFill>
                <a:latin typeface="Arial" pitchFamily="34" charset="0"/>
                <a:ea typeface="Arial" pitchFamily="34" charset="-122"/>
                <a:cs typeface="Arial" pitchFamily="34" charset="-120"/>
              </a:rPr>
              <a:t>+ Trace + Scope</a:t>
            </a:r>
            <a:endParaRPr lang="en-US" sz="800" dirty="0"/>
          </a:p>
          <a:p>
            <a:pPr algn="ctr" indent="0" marL="0">
              <a:buNone/>
            </a:pPr>
            <a:r>
              <a:rPr lang="en-US" sz="800" dirty="0">
                <a:solidFill>
                  <a:srgbClr val="6B6B6B"/>
                </a:solidFill>
                <a:latin typeface="Arial" pitchFamily="34" charset="0"/>
                <a:ea typeface="Arial" pitchFamily="34" charset="-122"/>
                <a:cs typeface="Arial" pitchFamily="34" charset="-120"/>
              </a:rPr>
              <a:t>+ Version + Mapping</a:t>
            </a:r>
            <a:endParaRPr lang="en-US" sz="800" dirty="0"/>
          </a:p>
          <a:p>
            <a:pPr algn="ctr" indent="0" marL="0">
              <a:buNone/>
            </a:pPr>
            <a:r>
              <a:rPr lang="en-US" sz="800" dirty="0">
                <a:solidFill>
                  <a:srgbClr val="6B6B6B"/>
                </a:solidFill>
                <a:latin typeface="Arial" pitchFamily="34" charset="0"/>
                <a:ea typeface="Arial" pitchFamily="34" charset="-122"/>
                <a:cs typeface="Arial" pitchFamily="34" charset="-120"/>
              </a:rPr>
              <a:t>+ Timestamp</a:t>
            </a:r>
            <a:endParaRPr lang="en-US" sz="800" dirty="0"/>
          </a:p>
        </p:txBody>
      </p:sp>
      <p:sp>
        <p:nvSpPr>
          <p:cNvPr id="7" name="Shape 5"/>
          <p:cNvSpPr/>
          <p:nvPr/>
        </p:nvSpPr>
        <p:spPr>
          <a:xfrm>
            <a:off x="2606040" y="2377440"/>
            <a:ext cx="182880" cy="0"/>
          </a:xfrm>
          <a:prstGeom prst="line">
            <a:avLst/>
          </a:prstGeom>
          <a:noFill/>
          <a:ln w="12700">
            <a:solidFill>
              <a:srgbClr val="999999"/>
            </a:solidFill>
            <a:prstDash val="solid"/>
            <a:tailEnd type="triangle"/>
          </a:ln>
        </p:spPr>
      </p:sp>
      <p:sp>
        <p:nvSpPr>
          <p:cNvPr id="8" name="Shape 6"/>
          <p:cNvSpPr/>
          <p:nvPr/>
        </p:nvSpPr>
        <p:spPr>
          <a:xfrm>
            <a:off x="2834640" y="1371600"/>
            <a:ext cx="1828800" cy="2011680"/>
          </a:xfrm>
          <a:prstGeom prst="rect">
            <a:avLst/>
          </a:prstGeom>
          <a:solidFill>
            <a:srgbClr val="F5F5F5"/>
          </a:solidFill>
          <a:ln w="6350">
            <a:solidFill>
              <a:srgbClr val="D0D0D0"/>
            </a:solidFill>
            <a:prstDash val="solid"/>
          </a:ln>
        </p:spPr>
      </p:sp>
      <p:sp>
        <p:nvSpPr>
          <p:cNvPr id="9" name="Text 7"/>
          <p:cNvSpPr/>
          <p:nvPr/>
        </p:nvSpPr>
        <p:spPr>
          <a:xfrm>
            <a:off x="2926080" y="1463040"/>
            <a:ext cx="1645920" cy="640080"/>
          </a:xfrm>
          <a:prstGeom prst="rect">
            <a:avLst/>
          </a:prstGeom>
          <a:noFill/>
          <a:ln/>
        </p:spPr>
        <p:txBody>
          <a:bodyPr wrap="square" rtlCol="0" anchor="ctr"/>
          <a:lstStyle/>
          <a:p>
            <a:pPr algn="ctr" indent="0" marL="0">
              <a:buNone/>
            </a:pPr>
            <a:r>
              <a:rPr lang="en-US" sz="1100" b="1" dirty="0">
                <a:solidFill>
                  <a:srgbClr val="1A2B4A"/>
                </a:solidFill>
                <a:latin typeface="Arial" pitchFamily="34" charset="0"/>
                <a:ea typeface="Arial" pitchFamily="34" charset="-122"/>
                <a:cs typeface="Arial" pitchFamily="34" charset="-120"/>
              </a:rPr>
              <a:t>Canonical</a:t>
            </a:r>
            <a:endParaRPr lang="en-US" sz="1100" dirty="0"/>
          </a:p>
          <a:p>
            <a:pPr algn="ctr" indent="0" marL="0">
              <a:buNone/>
            </a:pPr>
            <a:r>
              <a:rPr lang="en-US" sz="1100" b="1" dirty="0">
                <a:solidFill>
                  <a:srgbClr val="1A2B4A"/>
                </a:solidFill>
                <a:latin typeface="Arial" pitchFamily="34" charset="0"/>
                <a:ea typeface="Arial" pitchFamily="34" charset="-122"/>
                <a:cs typeface="Arial" pitchFamily="34" charset="-120"/>
              </a:rPr>
              <a:t>Evidence</a:t>
            </a:r>
            <a:endParaRPr lang="en-US" sz="1100" dirty="0"/>
          </a:p>
          <a:p>
            <a:pPr algn="ctr" indent="0" marL="0">
              <a:buNone/>
            </a:pPr>
            <a:r>
              <a:rPr lang="en-US" sz="1100" b="1" dirty="0">
                <a:solidFill>
                  <a:srgbClr val="1A2B4A"/>
                </a:solidFill>
                <a:latin typeface="Arial" pitchFamily="34" charset="0"/>
                <a:ea typeface="Arial" pitchFamily="34" charset="-122"/>
                <a:cs typeface="Arial" pitchFamily="34" charset="-120"/>
              </a:rPr>
              <a:t>Manifest</a:t>
            </a:r>
            <a:endParaRPr lang="en-US" sz="1100" dirty="0"/>
          </a:p>
        </p:txBody>
      </p:sp>
      <p:sp>
        <p:nvSpPr>
          <p:cNvPr id="10" name="Text 8"/>
          <p:cNvSpPr/>
          <p:nvPr/>
        </p:nvSpPr>
        <p:spPr>
          <a:xfrm>
            <a:off x="2926080" y="2194560"/>
            <a:ext cx="1645920" cy="1097280"/>
          </a:xfrm>
          <a:prstGeom prst="rect">
            <a:avLst/>
          </a:prstGeom>
          <a:noFill/>
          <a:ln/>
        </p:spPr>
        <p:txBody>
          <a:bodyPr wrap="square" rtlCol="0" anchor="t"/>
          <a:lstStyle/>
          <a:p>
            <a:pPr algn="ctr" indent="0" marL="0">
              <a:buNone/>
            </a:pPr>
            <a:r>
              <a:rPr lang="en-US" sz="800" dirty="0">
                <a:solidFill>
                  <a:srgbClr val="6B6B6B"/>
                </a:solidFill>
                <a:latin typeface="Arial" pitchFamily="34" charset="0"/>
                <a:ea typeface="Arial" pitchFamily="34" charset="-122"/>
                <a:cs typeface="Arial" pitchFamily="34" charset="-120"/>
              </a:rPr>
              <a:t>Structured</a:t>
            </a:r>
            <a:endParaRPr lang="en-US" sz="800" dirty="0"/>
          </a:p>
          <a:p>
            <a:pPr algn="ctr" indent="0" marL="0">
              <a:buNone/>
            </a:pPr>
            <a:r>
              <a:rPr lang="en-US" sz="800" dirty="0">
                <a:solidFill>
                  <a:srgbClr val="6B6B6B"/>
                </a:solidFill>
                <a:latin typeface="Arial" pitchFamily="34" charset="0"/>
                <a:ea typeface="Arial" pitchFamily="34" charset="-122"/>
                <a:cs typeface="Arial" pitchFamily="34" charset="-120"/>
              </a:rPr>
              <a:t>normalized</a:t>
            </a:r>
            <a:endParaRPr lang="en-US" sz="800" dirty="0"/>
          </a:p>
          <a:p>
            <a:pPr algn="ctr" indent="0" marL="0">
              <a:buNone/>
            </a:pPr>
            <a:r>
              <a:rPr lang="en-US" sz="800" dirty="0">
                <a:solidFill>
                  <a:srgbClr val="6B6B6B"/>
                </a:solidFill>
                <a:latin typeface="Arial" pitchFamily="34" charset="0"/>
                <a:ea typeface="Arial" pitchFamily="34" charset="-122"/>
                <a:cs typeface="Arial" pitchFamily="34" charset="-120"/>
              </a:rPr>
              <a:t>record</a:t>
            </a:r>
            <a:endParaRPr lang="en-US" sz="800" dirty="0"/>
          </a:p>
        </p:txBody>
      </p:sp>
      <p:sp>
        <p:nvSpPr>
          <p:cNvPr id="11" name="Shape 9"/>
          <p:cNvSpPr/>
          <p:nvPr/>
        </p:nvSpPr>
        <p:spPr>
          <a:xfrm>
            <a:off x="4709160" y="2377440"/>
            <a:ext cx="182880" cy="0"/>
          </a:xfrm>
          <a:prstGeom prst="line">
            <a:avLst/>
          </a:prstGeom>
          <a:noFill/>
          <a:ln w="12700">
            <a:solidFill>
              <a:srgbClr val="999999"/>
            </a:solidFill>
            <a:prstDash val="solid"/>
            <a:tailEnd type="triangle"/>
          </a:ln>
        </p:spPr>
      </p:sp>
      <p:sp>
        <p:nvSpPr>
          <p:cNvPr id="12" name="Shape 10"/>
          <p:cNvSpPr/>
          <p:nvPr/>
        </p:nvSpPr>
        <p:spPr>
          <a:xfrm>
            <a:off x="4937760" y="1371600"/>
            <a:ext cx="1828800" cy="2011680"/>
          </a:xfrm>
          <a:prstGeom prst="rect">
            <a:avLst/>
          </a:prstGeom>
          <a:solidFill>
            <a:srgbClr val="F5F5F5"/>
          </a:solidFill>
          <a:ln w="6350">
            <a:solidFill>
              <a:srgbClr val="D0D0D0"/>
            </a:solidFill>
            <a:prstDash val="solid"/>
          </a:ln>
        </p:spPr>
      </p:sp>
      <p:sp>
        <p:nvSpPr>
          <p:cNvPr id="13" name="Text 11"/>
          <p:cNvSpPr/>
          <p:nvPr/>
        </p:nvSpPr>
        <p:spPr>
          <a:xfrm>
            <a:off x="5029200" y="1463040"/>
            <a:ext cx="1645920" cy="640080"/>
          </a:xfrm>
          <a:prstGeom prst="rect">
            <a:avLst/>
          </a:prstGeom>
          <a:noFill/>
          <a:ln/>
        </p:spPr>
        <p:txBody>
          <a:bodyPr wrap="square" rtlCol="0" anchor="ctr"/>
          <a:lstStyle/>
          <a:p>
            <a:pPr algn="ctr" indent="0" marL="0">
              <a:buNone/>
            </a:pPr>
            <a:r>
              <a:rPr lang="en-US" sz="1100" b="1" dirty="0">
                <a:solidFill>
                  <a:srgbClr val="1A2B4A"/>
                </a:solidFill>
                <a:latin typeface="Arial" pitchFamily="34" charset="0"/>
                <a:ea typeface="Arial" pitchFamily="34" charset="-122"/>
                <a:cs typeface="Arial" pitchFamily="34" charset="-120"/>
              </a:rPr>
              <a:t>Integrity</a:t>
            </a:r>
            <a:endParaRPr lang="en-US" sz="1100" dirty="0"/>
          </a:p>
          <a:p>
            <a:pPr algn="ctr" indent="0" marL="0">
              <a:buNone/>
            </a:pPr>
            <a:r>
              <a:rPr lang="en-US" sz="1100" b="1" dirty="0">
                <a:solidFill>
                  <a:srgbClr val="1A2B4A"/>
                </a:solidFill>
                <a:latin typeface="Arial" pitchFamily="34" charset="0"/>
                <a:ea typeface="Arial" pitchFamily="34" charset="-122"/>
                <a:cs typeface="Arial" pitchFamily="34" charset="-120"/>
              </a:rPr>
              <a:t>Fingerprint</a:t>
            </a:r>
            <a:endParaRPr lang="en-US" sz="1100" dirty="0"/>
          </a:p>
        </p:txBody>
      </p:sp>
      <p:sp>
        <p:nvSpPr>
          <p:cNvPr id="14" name="Text 12"/>
          <p:cNvSpPr/>
          <p:nvPr/>
        </p:nvSpPr>
        <p:spPr>
          <a:xfrm>
            <a:off x="5029200" y="2194560"/>
            <a:ext cx="1645920" cy="1097280"/>
          </a:xfrm>
          <a:prstGeom prst="rect">
            <a:avLst/>
          </a:prstGeom>
          <a:noFill/>
          <a:ln/>
        </p:spPr>
        <p:txBody>
          <a:bodyPr wrap="square" rtlCol="0" anchor="t"/>
          <a:lstStyle/>
          <a:p>
            <a:pPr algn="ctr" indent="0" marL="0">
              <a:buNone/>
            </a:pPr>
            <a:r>
              <a:rPr lang="en-US" sz="800" dirty="0">
                <a:solidFill>
                  <a:srgbClr val="6B6B6B"/>
                </a:solidFill>
                <a:latin typeface="Arial" pitchFamily="34" charset="0"/>
                <a:ea typeface="Arial" pitchFamily="34" charset="-122"/>
                <a:cs typeface="Arial" pitchFamily="34" charset="-120"/>
              </a:rPr>
              <a:t>SHA256</a:t>
            </a:r>
            <a:endParaRPr lang="en-US" sz="800" dirty="0"/>
          </a:p>
          <a:p>
            <a:pPr algn="ctr" indent="0" marL="0">
              <a:buNone/>
            </a:pPr>
            <a:r>
              <a:rPr lang="en-US" sz="800" dirty="0">
                <a:solidFill>
                  <a:srgbClr val="6B6B6B"/>
                </a:solidFill>
                <a:latin typeface="Arial" pitchFamily="34" charset="0"/>
                <a:ea typeface="Arial" pitchFamily="34" charset="-122"/>
                <a:cs typeface="Arial" pitchFamily="34" charset="-120"/>
              </a:rPr>
              <a:t>content hash</a:t>
            </a:r>
            <a:endParaRPr lang="en-US" sz="800" dirty="0"/>
          </a:p>
          <a:p>
            <a:pPr algn="ctr" indent="0" marL="0">
              <a:buNone/>
            </a:pPr>
            <a:r>
              <a:rPr lang="en-US" sz="800" dirty="0">
                <a:solidFill>
                  <a:srgbClr val="6B6B6B"/>
                </a:solidFill>
                <a:latin typeface="Arial" pitchFamily="34" charset="0"/>
                <a:ea typeface="Arial" pitchFamily="34" charset="-122"/>
                <a:cs typeface="Arial" pitchFamily="34" charset="-120"/>
              </a:rPr>
              <a:t>+ version pin</a:t>
            </a:r>
            <a:endParaRPr lang="en-US" sz="800" dirty="0"/>
          </a:p>
        </p:txBody>
      </p:sp>
      <p:sp>
        <p:nvSpPr>
          <p:cNvPr id="15" name="Shape 13"/>
          <p:cNvSpPr/>
          <p:nvPr/>
        </p:nvSpPr>
        <p:spPr>
          <a:xfrm>
            <a:off x="6812280" y="2377440"/>
            <a:ext cx="182880" cy="0"/>
          </a:xfrm>
          <a:prstGeom prst="line">
            <a:avLst/>
          </a:prstGeom>
          <a:noFill/>
          <a:ln w="12700">
            <a:solidFill>
              <a:srgbClr val="999999"/>
            </a:solidFill>
            <a:prstDash val="solid"/>
            <a:tailEnd type="triangle"/>
          </a:ln>
        </p:spPr>
      </p:sp>
      <p:sp>
        <p:nvSpPr>
          <p:cNvPr id="16" name="Shape 14"/>
          <p:cNvSpPr/>
          <p:nvPr/>
        </p:nvSpPr>
        <p:spPr>
          <a:xfrm>
            <a:off x="7040880" y="1371600"/>
            <a:ext cx="1828800" cy="2011680"/>
          </a:xfrm>
          <a:prstGeom prst="rect">
            <a:avLst/>
          </a:prstGeom>
          <a:solidFill>
            <a:srgbClr val="F5F5F5"/>
          </a:solidFill>
          <a:ln w="6350">
            <a:solidFill>
              <a:srgbClr val="D0D0D0"/>
            </a:solidFill>
            <a:prstDash val="solid"/>
          </a:ln>
        </p:spPr>
      </p:sp>
      <p:sp>
        <p:nvSpPr>
          <p:cNvPr id="17" name="Text 15"/>
          <p:cNvSpPr/>
          <p:nvPr/>
        </p:nvSpPr>
        <p:spPr>
          <a:xfrm>
            <a:off x="7132320" y="1463040"/>
            <a:ext cx="1645920" cy="640080"/>
          </a:xfrm>
          <a:prstGeom prst="rect">
            <a:avLst/>
          </a:prstGeom>
          <a:noFill/>
          <a:ln/>
        </p:spPr>
        <p:txBody>
          <a:bodyPr wrap="square" rtlCol="0" anchor="ctr"/>
          <a:lstStyle/>
          <a:p>
            <a:pPr algn="ctr" indent="0" marL="0">
              <a:buNone/>
            </a:pPr>
            <a:r>
              <a:rPr lang="en-US" sz="1100" b="1" dirty="0">
                <a:solidFill>
                  <a:srgbClr val="1A2B4A"/>
                </a:solidFill>
                <a:latin typeface="Arial" pitchFamily="34" charset="0"/>
                <a:ea typeface="Arial" pitchFamily="34" charset="-122"/>
                <a:cs typeface="Arial" pitchFamily="34" charset="-120"/>
              </a:rPr>
              <a:t>Audit</a:t>
            </a:r>
            <a:endParaRPr lang="en-US" sz="1100" dirty="0"/>
          </a:p>
          <a:p>
            <a:pPr algn="ctr" indent="0" marL="0">
              <a:buNone/>
            </a:pPr>
            <a:r>
              <a:rPr lang="en-US" sz="1100" b="1" dirty="0">
                <a:solidFill>
                  <a:srgbClr val="1A2B4A"/>
                </a:solidFill>
                <a:latin typeface="Arial" pitchFamily="34" charset="0"/>
                <a:ea typeface="Arial" pitchFamily="34" charset="-122"/>
                <a:cs typeface="Arial" pitchFamily="34" charset="-120"/>
              </a:rPr>
              <a:t>Package</a:t>
            </a:r>
            <a:endParaRPr lang="en-US" sz="1100" dirty="0"/>
          </a:p>
        </p:txBody>
      </p:sp>
      <p:sp>
        <p:nvSpPr>
          <p:cNvPr id="18" name="Text 16"/>
          <p:cNvSpPr/>
          <p:nvPr/>
        </p:nvSpPr>
        <p:spPr>
          <a:xfrm>
            <a:off x="7132320" y="2194560"/>
            <a:ext cx="1645920" cy="1097280"/>
          </a:xfrm>
          <a:prstGeom prst="rect">
            <a:avLst/>
          </a:prstGeom>
          <a:noFill/>
          <a:ln/>
        </p:spPr>
        <p:txBody>
          <a:bodyPr wrap="square" rtlCol="0" anchor="t"/>
          <a:lstStyle/>
          <a:p>
            <a:pPr algn="ctr" indent="0" marL="0">
              <a:buNone/>
            </a:pPr>
            <a:r>
              <a:rPr lang="en-US" sz="800" dirty="0">
                <a:solidFill>
                  <a:srgbClr val="6B6B6B"/>
                </a:solidFill>
                <a:latin typeface="Arial" pitchFamily="34" charset="0"/>
                <a:ea typeface="Arial" pitchFamily="34" charset="-122"/>
                <a:cs typeface="Arial" pitchFamily="34" charset="-120"/>
              </a:rPr>
              <a:t>DIS + nodes</a:t>
            </a:r>
            <a:endParaRPr lang="en-US" sz="800" dirty="0"/>
          </a:p>
          <a:p>
            <a:pPr algn="ctr" indent="0" marL="0">
              <a:buNone/>
            </a:pPr>
            <a:r>
              <a:rPr lang="en-US" sz="800" dirty="0">
                <a:solidFill>
                  <a:srgbClr val="6B6B6B"/>
                </a:solidFill>
                <a:latin typeface="Arial" pitchFamily="34" charset="0"/>
                <a:ea typeface="Arial" pitchFamily="34" charset="-122"/>
                <a:cs typeface="Arial" pitchFamily="34" charset="-120"/>
              </a:rPr>
              <a:t>+ framework</a:t>
            </a:r>
            <a:endParaRPr lang="en-US" sz="800" dirty="0"/>
          </a:p>
          <a:p>
            <a:pPr algn="ctr" indent="0" marL="0">
              <a:buNone/>
            </a:pPr>
            <a:r>
              <a:rPr lang="en-US" sz="800" dirty="0">
                <a:solidFill>
                  <a:srgbClr val="6B6B6B"/>
                </a:solidFill>
                <a:latin typeface="Arial" pitchFamily="34" charset="0"/>
                <a:ea typeface="Arial" pitchFamily="34" charset="-122"/>
                <a:cs typeface="Arial" pitchFamily="34" charset="-120"/>
              </a:rPr>
              <a:t>mappings</a:t>
            </a:r>
            <a:endParaRPr lang="en-US" sz="800" dirty="0"/>
          </a:p>
          <a:p>
            <a:pPr algn="ctr" indent="0" marL="0">
              <a:buNone/>
            </a:pPr>
            <a:r>
              <a:rPr lang="en-US" sz="800" dirty="0">
                <a:solidFill>
                  <a:srgbClr val="6B6B6B"/>
                </a:solidFill>
                <a:latin typeface="Arial" pitchFamily="34" charset="0"/>
                <a:ea typeface="Arial" pitchFamily="34" charset="-122"/>
                <a:cs typeface="Arial" pitchFamily="34" charset="-120"/>
              </a:rPr>
              <a:t>+ review chain</a:t>
            </a:r>
            <a:endParaRPr lang="en-US" sz="800" dirty="0"/>
          </a:p>
        </p:txBody>
      </p:sp>
      <p:sp>
        <p:nvSpPr>
          <p:cNvPr id="19" name="Shape 17"/>
          <p:cNvSpPr/>
          <p:nvPr/>
        </p:nvSpPr>
        <p:spPr>
          <a:xfrm>
            <a:off x="8915400" y="2377440"/>
            <a:ext cx="182880" cy="0"/>
          </a:xfrm>
          <a:prstGeom prst="line">
            <a:avLst/>
          </a:prstGeom>
          <a:noFill/>
          <a:ln w="12700">
            <a:solidFill>
              <a:srgbClr val="999999"/>
            </a:solidFill>
            <a:prstDash val="solid"/>
            <a:tailEnd type="triangle"/>
          </a:ln>
        </p:spPr>
      </p:sp>
      <p:sp>
        <p:nvSpPr>
          <p:cNvPr id="20" name="Shape 18"/>
          <p:cNvSpPr/>
          <p:nvPr/>
        </p:nvSpPr>
        <p:spPr>
          <a:xfrm>
            <a:off x="9144000" y="1371600"/>
            <a:ext cx="1828800" cy="2011680"/>
          </a:xfrm>
          <a:prstGeom prst="rect">
            <a:avLst/>
          </a:prstGeom>
          <a:solidFill>
            <a:srgbClr val="F5F5F5"/>
          </a:solidFill>
          <a:ln w="6350">
            <a:solidFill>
              <a:srgbClr val="D0D0D0"/>
            </a:solidFill>
            <a:prstDash val="solid"/>
          </a:ln>
        </p:spPr>
      </p:sp>
      <p:sp>
        <p:nvSpPr>
          <p:cNvPr id="21" name="Text 19"/>
          <p:cNvSpPr/>
          <p:nvPr/>
        </p:nvSpPr>
        <p:spPr>
          <a:xfrm>
            <a:off x="9235440" y="1463040"/>
            <a:ext cx="1645920" cy="640080"/>
          </a:xfrm>
          <a:prstGeom prst="rect">
            <a:avLst/>
          </a:prstGeom>
          <a:noFill/>
          <a:ln/>
        </p:spPr>
        <p:txBody>
          <a:bodyPr wrap="square" rtlCol="0" anchor="ctr"/>
          <a:lstStyle/>
          <a:p>
            <a:pPr algn="ctr" indent="0" marL="0">
              <a:buNone/>
            </a:pPr>
            <a:r>
              <a:rPr lang="en-US" sz="1100" b="1" dirty="0">
                <a:solidFill>
                  <a:srgbClr val="1A2B4A"/>
                </a:solidFill>
                <a:latin typeface="Arial" pitchFamily="34" charset="0"/>
                <a:ea typeface="Arial" pitchFamily="34" charset="-122"/>
                <a:cs typeface="Arial" pitchFamily="34" charset="-120"/>
              </a:rPr>
              <a:t>Trust</a:t>
            </a:r>
            <a:endParaRPr lang="en-US" sz="1100" dirty="0"/>
          </a:p>
          <a:p>
            <a:pPr algn="ctr" indent="0" marL="0">
              <a:buNone/>
            </a:pPr>
            <a:r>
              <a:rPr lang="en-US" sz="1100" b="1" dirty="0">
                <a:solidFill>
                  <a:srgbClr val="1A2B4A"/>
                </a:solidFill>
                <a:latin typeface="Arial" pitchFamily="34" charset="0"/>
                <a:ea typeface="Arial" pitchFamily="34" charset="-122"/>
                <a:cs typeface="Arial" pitchFamily="34" charset="-120"/>
              </a:rPr>
              <a:t>Artifact</a:t>
            </a:r>
            <a:endParaRPr lang="en-US" sz="1100" dirty="0"/>
          </a:p>
        </p:txBody>
      </p:sp>
      <p:sp>
        <p:nvSpPr>
          <p:cNvPr id="22" name="Text 20"/>
          <p:cNvSpPr/>
          <p:nvPr/>
        </p:nvSpPr>
        <p:spPr>
          <a:xfrm>
            <a:off x="9235440" y="2194560"/>
            <a:ext cx="1645920" cy="1097280"/>
          </a:xfrm>
          <a:prstGeom prst="rect">
            <a:avLst/>
          </a:prstGeom>
          <a:noFill/>
          <a:ln/>
        </p:spPr>
        <p:txBody>
          <a:bodyPr wrap="square" rtlCol="0" anchor="t"/>
          <a:lstStyle/>
          <a:p>
            <a:pPr algn="ctr" indent="0" marL="0">
              <a:buNone/>
            </a:pPr>
            <a:r>
              <a:rPr lang="en-US" sz="800" dirty="0">
                <a:solidFill>
                  <a:srgbClr val="6B6B6B"/>
                </a:solidFill>
                <a:latin typeface="Arial" pitchFamily="34" charset="0"/>
                <a:ea typeface="Arial" pitchFamily="34" charset="-122"/>
                <a:cs typeface="Arial" pitchFamily="34" charset="-120"/>
              </a:rPr>
              <a:t>Verifiable</a:t>
            </a:r>
            <a:endParaRPr lang="en-US" sz="800" dirty="0"/>
          </a:p>
          <a:p>
            <a:pPr algn="ctr" indent="0" marL="0">
              <a:buNone/>
            </a:pPr>
            <a:r>
              <a:rPr lang="en-US" sz="800" dirty="0">
                <a:solidFill>
                  <a:srgbClr val="6B6B6B"/>
                </a:solidFill>
                <a:latin typeface="Arial" pitchFamily="34" charset="0"/>
                <a:ea typeface="Arial" pitchFamily="34" charset="-122"/>
                <a:cs typeface="Arial" pitchFamily="34" charset="-120"/>
              </a:rPr>
              <a:t>status badge</a:t>
            </a:r>
            <a:endParaRPr lang="en-US" sz="800" dirty="0"/>
          </a:p>
          <a:p>
            <a:pPr algn="ctr" indent="0" marL="0">
              <a:buNone/>
            </a:pPr>
            <a:r>
              <a:rPr lang="en-US" sz="800" dirty="0">
                <a:solidFill>
                  <a:srgbClr val="6B6B6B"/>
                </a:solidFill>
                <a:latin typeface="Arial" pitchFamily="34" charset="0"/>
                <a:ea typeface="Arial" pitchFamily="34" charset="-122"/>
                <a:cs typeface="Arial" pitchFamily="34" charset="-120"/>
              </a:rPr>
              <a:t>+ revocation</a:t>
            </a:r>
            <a:endParaRPr lang="en-US" sz="800" dirty="0"/>
          </a:p>
        </p:txBody>
      </p:sp>
      <p:sp>
        <p:nvSpPr>
          <p:cNvPr id="23" name="Text 21"/>
          <p:cNvSpPr/>
          <p:nvPr/>
        </p:nvSpPr>
        <p:spPr>
          <a:xfrm>
            <a:off x="548640" y="3749040"/>
            <a:ext cx="10972800" cy="365760"/>
          </a:xfrm>
          <a:prstGeom prst="rect">
            <a:avLst/>
          </a:prstGeom>
          <a:noFill/>
          <a:ln/>
        </p:spPr>
        <p:txBody>
          <a:bodyPr wrap="square" rtlCol="0" anchor="t"/>
          <a:lstStyle/>
          <a:p>
            <a:pPr algn="l" indent="0" marL="0">
              <a:lnSpc>
                <a:spcPct val="115000"/>
              </a:lnSpc>
              <a:buNone/>
            </a:pPr>
            <a:r>
              <a:rPr lang="en-US" sz="1200" b="1" dirty="0">
                <a:solidFill>
                  <a:srgbClr val="1A2B4A"/>
                </a:solidFill>
                <a:latin typeface="Arial" pitchFamily="34" charset="0"/>
                <a:ea typeface="Arial" pitchFamily="34" charset="-122"/>
                <a:cs typeface="Arial" pitchFamily="34" charset="-120"/>
              </a:rPr>
              <a:t>Every evidence record binds a finding to its source, its scope, its engine version, and its compliance mapping - at the point of generation.</a:t>
            </a:r>
            <a:endParaRPr lang="en-US" sz="1200" dirty="0"/>
          </a:p>
        </p:txBody>
      </p:sp>
      <p:sp>
        <p:nvSpPr>
          <p:cNvPr id="24" name="Shape 22"/>
          <p:cNvSpPr/>
          <p:nvPr/>
        </p:nvSpPr>
        <p:spPr>
          <a:xfrm>
            <a:off x="548640" y="4297680"/>
            <a:ext cx="5303520" cy="1645920"/>
          </a:xfrm>
          <a:prstGeom prst="rect">
            <a:avLst/>
          </a:prstGeom>
          <a:solidFill>
            <a:srgbClr val="F5F5F5"/>
          </a:solidFill>
          <a:ln w="6350">
            <a:solidFill>
              <a:srgbClr val="D0D0D0"/>
            </a:solidFill>
            <a:prstDash val="solid"/>
          </a:ln>
        </p:spPr>
      </p:sp>
      <p:sp>
        <p:nvSpPr>
          <p:cNvPr id="25" name="Text 23"/>
          <p:cNvSpPr/>
          <p:nvPr/>
        </p:nvSpPr>
        <p:spPr>
          <a:xfrm>
            <a:off x="731520" y="4389120"/>
            <a:ext cx="4937760" cy="320040"/>
          </a:xfrm>
          <a:prstGeom prst="rect">
            <a:avLst/>
          </a:prstGeom>
          <a:noFill/>
          <a:ln/>
        </p:spPr>
        <p:txBody>
          <a:bodyPr wrap="square" rtlCol="0" anchor="ctr"/>
          <a:lstStyle/>
          <a:p>
            <a:pPr indent="0" marL="0">
              <a:buNone/>
            </a:pPr>
            <a:r>
              <a:rPr lang="en-US" sz="1100" b="1" dirty="0">
                <a:solidFill>
                  <a:srgbClr val="1A1A1A"/>
                </a:solidFill>
                <a:latin typeface="Arial" pitchFamily="34" charset="0"/>
                <a:ea typeface="Arial" pitchFamily="34" charset="-122"/>
                <a:cs typeface="Arial" pitchFamily="34" charset="-120"/>
              </a:rPr>
              <a:t>Evidence Integrity Components</a:t>
            </a:r>
            <a:endParaRPr lang="en-US" sz="1100" dirty="0"/>
          </a:p>
        </p:txBody>
      </p:sp>
      <p:sp>
        <p:nvSpPr>
          <p:cNvPr id="26" name="Text 24"/>
          <p:cNvSpPr/>
          <p:nvPr/>
        </p:nvSpPr>
        <p:spPr>
          <a:xfrm>
            <a:off x="731520" y="4754880"/>
            <a:ext cx="4937760" cy="228600"/>
          </a:xfrm>
          <a:prstGeom prst="rect">
            <a:avLst/>
          </a:prstGeom>
          <a:noFill/>
          <a:ln/>
        </p:spPr>
        <p:txBody>
          <a:bodyPr wrap="square" rtlCol="0" anchor="ctr"/>
          <a:lstStyle/>
          <a:p>
            <a:pPr indent="0" marL="0">
              <a:buNone/>
            </a:pPr>
            <a:r>
              <a:rPr lang="en-US" sz="900" dirty="0">
                <a:solidFill>
                  <a:srgbClr val="4A4A4A"/>
                </a:solidFill>
                <a:latin typeface="Arial" pitchFamily="34" charset="0"/>
                <a:ea typeface="Arial" pitchFamily="34" charset="-122"/>
                <a:cs typeface="Arial" pitchFamily="34" charset="-120"/>
              </a:rPr>
              <a:t>•  Config hash frozen at run creation (R2-01)</a:t>
            </a:r>
            <a:endParaRPr lang="en-US" sz="900" dirty="0"/>
          </a:p>
        </p:txBody>
      </p:sp>
      <p:sp>
        <p:nvSpPr>
          <p:cNvPr id="27" name="Text 25"/>
          <p:cNvSpPr/>
          <p:nvPr/>
        </p:nvSpPr>
        <p:spPr>
          <a:xfrm>
            <a:off x="731520" y="5010912"/>
            <a:ext cx="4937760" cy="228600"/>
          </a:xfrm>
          <a:prstGeom prst="rect">
            <a:avLst/>
          </a:prstGeom>
          <a:noFill/>
          <a:ln/>
        </p:spPr>
        <p:txBody>
          <a:bodyPr wrap="square" rtlCol="0" anchor="ctr"/>
          <a:lstStyle/>
          <a:p>
            <a:pPr indent="0" marL="0">
              <a:buNone/>
            </a:pPr>
            <a:r>
              <a:rPr lang="en-US" sz="900" dirty="0">
                <a:solidFill>
                  <a:srgbClr val="4A4A4A"/>
                </a:solidFill>
                <a:latin typeface="Arial" pitchFamily="34" charset="0"/>
                <a:ea typeface="Arial" pitchFamily="34" charset="-122"/>
                <a:cs typeface="Arial" pitchFamily="34" charset="-120"/>
              </a:rPr>
              <a:t>•  Hash-chained append-only event log</a:t>
            </a:r>
            <a:endParaRPr lang="en-US" sz="900" dirty="0"/>
          </a:p>
        </p:txBody>
      </p:sp>
      <p:sp>
        <p:nvSpPr>
          <p:cNvPr id="28" name="Text 26"/>
          <p:cNvSpPr/>
          <p:nvPr/>
        </p:nvSpPr>
        <p:spPr>
          <a:xfrm>
            <a:off x="731520" y="5266944"/>
            <a:ext cx="4937760" cy="228600"/>
          </a:xfrm>
          <a:prstGeom prst="rect">
            <a:avLst/>
          </a:prstGeom>
          <a:noFill/>
          <a:ln/>
        </p:spPr>
        <p:txBody>
          <a:bodyPr wrap="square" rtlCol="0" anchor="ctr"/>
          <a:lstStyle/>
          <a:p>
            <a:pPr indent="0" marL="0">
              <a:buNone/>
            </a:pPr>
            <a:r>
              <a:rPr lang="en-US" sz="900" dirty="0">
                <a:solidFill>
                  <a:srgbClr val="4A4A4A"/>
                </a:solidFill>
                <a:latin typeface="Arial" pitchFamily="34" charset="0"/>
                <a:ea typeface="Arial" pitchFamily="34" charset="-122"/>
                <a:cs typeface="Arial" pitchFamily="34" charset="-120"/>
              </a:rPr>
              <a:t>•  Engine output contract validation (R3-02)</a:t>
            </a:r>
            <a:endParaRPr lang="en-US" sz="900" dirty="0"/>
          </a:p>
        </p:txBody>
      </p:sp>
      <p:sp>
        <p:nvSpPr>
          <p:cNvPr id="29" name="Text 27"/>
          <p:cNvSpPr/>
          <p:nvPr/>
        </p:nvSpPr>
        <p:spPr>
          <a:xfrm>
            <a:off x="731520" y="5522976"/>
            <a:ext cx="4937760" cy="228600"/>
          </a:xfrm>
          <a:prstGeom prst="rect">
            <a:avLst/>
          </a:prstGeom>
          <a:noFill/>
          <a:ln/>
        </p:spPr>
        <p:txBody>
          <a:bodyPr wrap="square" rtlCol="0" anchor="ctr"/>
          <a:lstStyle/>
          <a:p>
            <a:pPr indent="0" marL="0">
              <a:buNone/>
            </a:pPr>
            <a:r>
              <a:rPr lang="en-US" sz="900" dirty="0">
                <a:solidFill>
                  <a:srgbClr val="4A4A4A"/>
                </a:solidFill>
                <a:latin typeface="Arial" pitchFamily="34" charset="0"/>
                <a:ea typeface="Arial" pitchFamily="34" charset="-122"/>
                <a:cs typeface="Arial" pitchFamily="34" charset="-120"/>
              </a:rPr>
              <a:t>•  SHA256 finding fingerprints (truncated to 16 chars)</a:t>
            </a:r>
            <a:endParaRPr lang="en-US" sz="900" dirty="0"/>
          </a:p>
        </p:txBody>
      </p:sp>
      <p:sp>
        <p:nvSpPr>
          <p:cNvPr id="30" name="Text 28"/>
          <p:cNvSpPr/>
          <p:nvPr/>
        </p:nvSpPr>
        <p:spPr>
          <a:xfrm>
            <a:off x="731520" y="5779008"/>
            <a:ext cx="4937760" cy="228600"/>
          </a:xfrm>
          <a:prstGeom prst="rect">
            <a:avLst/>
          </a:prstGeom>
          <a:noFill/>
          <a:ln/>
        </p:spPr>
        <p:txBody>
          <a:bodyPr wrap="square" rtlCol="0" anchor="ctr"/>
          <a:lstStyle/>
          <a:p>
            <a:pPr indent="0" marL="0">
              <a:buNone/>
            </a:pPr>
            <a:r>
              <a:rPr lang="en-US" sz="900" dirty="0">
                <a:solidFill>
                  <a:srgbClr val="4A4A4A"/>
                </a:solidFill>
                <a:latin typeface="Arial" pitchFamily="34" charset="0"/>
                <a:ea typeface="Arial" pitchFamily="34" charset="-122"/>
                <a:cs typeface="Arial" pitchFamily="34" charset="-120"/>
              </a:rPr>
              <a:t>•  Methodology version locked at compute time</a:t>
            </a:r>
            <a:endParaRPr lang="en-US" sz="900" dirty="0"/>
          </a:p>
        </p:txBody>
      </p:sp>
      <p:sp>
        <p:nvSpPr>
          <p:cNvPr id="31" name="Shape 29"/>
          <p:cNvSpPr/>
          <p:nvPr/>
        </p:nvSpPr>
        <p:spPr>
          <a:xfrm>
            <a:off x="6309360" y="4297680"/>
            <a:ext cx="5303520" cy="1645920"/>
          </a:xfrm>
          <a:prstGeom prst="rect">
            <a:avLst/>
          </a:prstGeom>
          <a:solidFill>
            <a:srgbClr val="F5F5F5"/>
          </a:solidFill>
          <a:ln w="6350">
            <a:solidFill>
              <a:srgbClr val="D0D0D0"/>
            </a:solidFill>
            <a:prstDash val="solid"/>
          </a:ln>
        </p:spPr>
      </p:sp>
      <p:sp>
        <p:nvSpPr>
          <p:cNvPr id="32" name="Text 30"/>
          <p:cNvSpPr/>
          <p:nvPr/>
        </p:nvSpPr>
        <p:spPr>
          <a:xfrm>
            <a:off x="6492240" y="4389120"/>
            <a:ext cx="4937760" cy="320040"/>
          </a:xfrm>
          <a:prstGeom prst="rect">
            <a:avLst/>
          </a:prstGeom>
          <a:noFill/>
          <a:ln/>
        </p:spPr>
        <p:txBody>
          <a:bodyPr wrap="square" rtlCol="0" anchor="ctr"/>
          <a:lstStyle/>
          <a:p>
            <a:pPr indent="0" marL="0">
              <a:buNone/>
            </a:pPr>
            <a:r>
              <a:rPr lang="en-US" sz="1100" b="1" dirty="0">
                <a:solidFill>
                  <a:srgbClr val="1A1A1A"/>
                </a:solidFill>
                <a:latin typeface="Arial" pitchFamily="34" charset="0"/>
                <a:ea typeface="Arial" pitchFamily="34" charset="-122"/>
                <a:cs typeface="Arial" pitchFamily="34" charset="-120"/>
              </a:rPr>
              <a:t>Verification Model</a:t>
            </a:r>
            <a:endParaRPr lang="en-US" sz="1100" dirty="0"/>
          </a:p>
        </p:txBody>
      </p:sp>
      <p:sp>
        <p:nvSpPr>
          <p:cNvPr id="33" name="Text 31"/>
          <p:cNvSpPr/>
          <p:nvPr/>
        </p:nvSpPr>
        <p:spPr>
          <a:xfrm>
            <a:off x="6492240" y="4754880"/>
            <a:ext cx="1645920" cy="228600"/>
          </a:xfrm>
          <a:prstGeom prst="rect">
            <a:avLst/>
          </a:prstGeom>
          <a:noFill/>
          <a:ln/>
        </p:spPr>
        <p:txBody>
          <a:bodyPr wrap="square" rtlCol="0" anchor="ctr"/>
          <a:lstStyle/>
          <a:p>
            <a:pPr algn="l" indent="0" marL="0">
              <a:buNone/>
            </a:pPr>
            <a:r>
              <a:rPr lang="en-US" sz="800" b="1" dirty="0">
                <a:solidFill>
                  <a:srgbClr val="1A2B4A"/>
                </a:solidFill>
                <a:latin typeface="Arial" pitchFamily="34" charset="0"/>
                <a:ea typeface="Arial" pitchFamily="34" charset="-122"/>
                <a:cs typeface="Arial" pitchFamily="34" charset="-120"/>
              </a:rPr>
              <a:t>IMPLEMENTED</a:t>
            </a:r>
            <a:endParaRPr lang="en-US" sz="800" dirty="0"/>
          </a:p>
        </p:txBody>
      </p:sp>
      <p:sp>
        <p:nvSpPr>
          <p:cNvPr id="34" name="Text 32"/>
          <p:cNvSpPr/>
          <p:nvPr/>
        </p:nvSpPr>
        <p:spPr>
          <a:xfrm>
            <a:off x="6492240" y="5120640"/>
            <a:ext cx="4937760" cy="228600"/>
          </a:xfrm>
          <a:prstGeom prst="rect">
            <a:avLst/>
          </a:prstGeom>
          <a:noFill/>
          <a:ln/>
        </p:spPr>
        <p:txBody>
          <a:bodyPr wrap="square" rtlCol="0" anchor="ctr"/>
          <a:lstStyle/>
          <a:p>
            <a:pPr indent="0" marL="0">
              <a:buNone/>
            </a:pPr>
            <a:r>
              <a:rPr lang="en-US" sz="900" dirty="0">
                <a:solidFill>
                  <a:srgbClr val="4A4A4A"/>
                </a:solidFill>
                <a:latin typeface="Arial" pitchFamily="34" charset="0"/>
                <a:ea typeface="Arial" pitchFamily="34" charset="-122"/>
                <a:cs typeface="Arial" pitchFamily="34" charset="-120"/>
              </a:rPr>
              <a:t>•  HMAC-SHA256 issuer signature on verification responses</a:t>
            </a:r>
            <a:endParaRPr lang="en-US" sz="900" dirty="0"/>
          </a:p>
        </p:txBody>
      </p:sp>
      <p:sp>
        <p:nvSpPr>
          <p:cNvPr id="35" name="Text 33"/>
          <p:cNvSpPr/>
          <p:nvPr/>
        </p:nvSpPr>
        <p:spPr>
          <a:xfrm>
            <a:off x="6492240" y="5376672"/>
            <a:ext cx="4937760" cy="228600"/>
          </a:xfrm>
          <a:prstGeom prst="rect">
            <a:avLst/>
          </a:prstGeom>
          <a:noFill/>
          <a:ln/>
        </p:spPr>
        <p:txBody>
          <a:bodyPr wrap="square" rtlCol="0" anchor="ctr"/>
          <a:lstStyle/>
          <a:p>
            <a:pPr indent="0" marL="0">
              <a:buNone/>
            </a:pPr>
            <a:r>
              <a:rPr lang="en-US" sz="900" dirty="0">
                <a:solidFill>
                  <a:srgbClr val="4A4A4A"/>
                </a:solidFill>
                <a:latin typeface="Arial" pitchFamily="34" charset="0"/>
                <a:ea typeface="Arial" pitchFamily="34" charset="-122"/>
                <a:cs typeface="Arial" pitchFamily="34" charset="-120"/>
              </a:rPr>
              <a:t>•  Integrity verification with replay protection via nonces</a:t>
            </a:r>
            <a:endParaRPr lang="en-US" sz="900" dirty="0"/>
          </a:p>
        </p:txBody>
      </p:sp>
      <p:sp>
        <p:nvSpPr>
          <p:cNvPr id="36" name="Text 34"/>
          <p:cNvSpPr/>
          <p:nvPr/>
        </p:nvSpPr>
        <p:spPr>
          <a:xfrm>
            <a:off x="6492240" y="5632704"/>
            <a:ext cx="4937760" cy="228600"/>
          </a:xfrm>
          <a:prstGeom prst="rect">
            <a:avLst/>
          </a:prstGeom>
          <a:noFill/>
          <a:ln/>
        </p:spPr>
        <p:txBody>
          <a:bodyPr wrap="square" rtlCol="0" anchor="ctr"/>
          <a:lstStyle/>
          <a:p>
            <a:pPr indent="0" marL="0">
              <a:buNone/>
            </a:pPr>
            <a:r>
              <a:rPr lang="en-US" sz="900" dirty="0">
                <a:solidFill>
                  <a:srgbClr val="4A4A4A"/>
                </a:solidFill>
                <a:latin typeface="Arial" pitchFamily="34" charset="0"/>
                <a:ea typeface="Arial" pitchFamily="34" charset="-122"/>
                <a:cs typeface="Arial" pitchFamily="34" charset="-120"/>
              </a:rPr>
              <a:t>•  Redis-backed nonce store for production scale</a:t>
            </a:r>
            <a:endParaRPr lang="en-US" sz="900" dirty="0"/>
          </a:p>
        </p:txBody>
      </p:sp>
      <p:sp>
        <p:nvSpPr>
          <p:cNvPr id="37" name="Text 35"/>
          <p:cNvSpPr/>
          <p:nvPr/>
        </p:nvSpPr>
        <p:spPr>
          <a:xfrm>
            <a:off x="6492240" y="5888736"/>
            <a:ext cx="4937760" cy="228600"/>
          </a:xfrm>
          <a:prstGeom prst="rect">
            <a:avLst/>
          </a:prstGeom>
          <a:noFill/>
          <a:ln/>
        </p:spPr>
        <p:txBody>
          <a:bodyPr wrap="square" rtlCol="0" anchor="ctr"/>
          <a:lstStyle/>
          <a:p>
            <a:pPr indent="0" marL="0">
              <a:buNone/>
            </a:pPr>
            <a:r>
              <a:rPr lang="en-US" sz="900" dirty="0">
                <a:solidFill>
                  <a:srgbClr val="4A4A4A"/>
                </a:solidFill>
                <a:latin typeface="Arial" pitchFamily="34" charset="0"/>
                <a:ea typeface="Arial" pitchFamily="34" charset="-122"/>
                <a:cs typeface="Arial" pitchFamily="34" charset="-120"/>
              </a:rPr>
              <a:t>•  Key rotation support (primary, previous, legacy)</a:t>
            </a:r>
            <a:endParaRPr lang="en-US" sz="900" dirty="0"/>
          </a:p>
        </p:txBody>
      </p:sp>
      <p:sp>
        <p:nvSpPr>
          <p:cNvPr id="38" name="Text 36"/>
          <p:cNvSpPr/>
          <p:nvPr/>
        </p:nvSpPr>
        <p:spPr>
          <a:xfrm>
            <a:off x="6492240" y="6144768"/>
            <a:ext cx="4937760" cy="228600"/>
          </a:xfrm>
          <a:prstGeom prst="rect">
            <a:avLst/>
          </a:prstGeom>
          <a:noFill/>
          <a:ln/>
        </p:spPr>
        <p:txBody>
          <a:bodyPr wrap="square" rtlCol="0" anchor="ctr"/>
          <a:lstStyle/>
          <a:p>
            <a:pPr indent="0" marL="0">
              <a:buNone/>
            </a:pPr>
            <a:r>
              <a:rPr lang="en-US" sz="900" dirty="0">
                <a:solidFill>
                  <a:srgbClr val="4A4A4A"/>
                </a:solidFill>
                <a:latin typeface="Arial" pitchFamily="34" charset="0"/>
                <a:ea typeface="Arial" pitchFamily="34" charset="-122"/>
                <a:cs typeface="Arial" pitchFamily="34" charset="-120"/>
              </a:rPr>
              <a:t>•  Verification via HAIEC /api/verify endpoint</a:t>
            </a:r>
            <a:endParaRPr lang="en-US" sz="900" dirty="0"/>
          </a:p>
        </p:txBody>
      </p:sp>
      <p:sp>
        <p:nvSpPr>
          <p:cNvPr id="39" name="Text 37"/>
          <p:cNvSpPr/>
          <p:nvPr/>
        </p:nvSpPr>
        <p:spPr>
          <a:xfrm>
            <a:off x="548640" y="5943600"/>
            <a:ext cx="10972800" cy="274320"/>
          </a:xfrm>
          <a:prstGeom prst="rect">
            <a:avLst/>
          </a:prstGeom>
          <a:noFill/>
          <a:ln/>
        </p:spPr>
        <p:txBody>
          <a:bodyPr wrap="square" rtlCol="0" anchor="t"/>
          <a:lstStyle/>
          <a:p>
            <a:pPr algn="l" indent="0" marL="0">
              <a:lnSpc>
                <a:spcPct val="115000"/>
              </a:lnSpc>
              <a:buNone/>
            </a:pPr>
            <a:r>
              <a:rPr lang="en-US" sz="800" dirty="0">
                <a:solidFill>
                  <a:srgbClr val="6B6B6B"/>
                </a:solidFill>
                <a:latin typeface="Arial" pitchFamily="34" charset="0"/>
                <a:ea typeface="Arial" pitchFamily="34" charset="-122"/>
                <a:cs typeface="Arial" pitchFamily="34" charset="-120"/>
              </a:rPr>
              <a:t>Maturity: Evidence integrity - Implemented. HMAC-SHA256 with key rotation and replay protection. Upgrade path: Ed25519 public-key signatures for independent verification.</a:t>
            </a:r>
            <a:endParaRPr lang="en-US" sz="800" dirty="0"/>
          </a:p>
        </p:txBody>
      </p:sp>
      <p:sp>
        <p:nvSpPr>
          <p:cNvPr id="40" name="Shape 38"/>
          <p:cNvSpPr/>
          <p:nvPr/>
        </p:nvSpPr>
        <p:spPr>
          <a:xfrm>
            <a:off x="457200" y="6473952"/>
            <a:ext cx="11277295" cy="0"/>
          </a:xfrm>
          <a:prstGeom prst="line">
            <a:avLst/>
          </a:prstGeom>
          <a:noFill/>
          <a:ln w="6350">
            <a:solidFill>
              <a:srgbClr val="CCCCCC"/>
            </a:solidFill>
            <a:prstDash val="solid"/>
          </a:ln>
        </p:spPr>
      </p:sp>
      <p:sp>
        <p:nvSpPr>
          <p:cNvPr id="41" name="Text 39"/>
          <p:cNvSpPr/>
          <p:nvPr/>
        </p:nvSpPr>
        <p:spPr>
          <a:xfrm>
            <a:off x="457200" y="6537960"/>
            <a:ext cx="7315200" cy="228600"/>
          </a:xfrm>
          <a:prstGeom prst="rect">
            <a:avLst/>
          </a:prstGeom>
          <a:noFill/>
          <a:ln/>
        </p:spPr>
        <p:txBody>
          <a:bodyPr wrap="square" rtlCol="0" anchor="ctr"/>
          <a:lstStyle/>
          <a:p>
            <a:pPr indent="0" marL="0">
              <a:buNone/>
            </a:pPr>
            <a:r>
              <a:rPr lang="en-US" sz="800" dirty="0">
                <a:solidFill>
                  <a:srgbClr val="6B6B6B"/>
                </a:solidFill>
                <a:latin typeface="Arial" pitchFamily="34" charset="0"/>
                <a:ea typeface="Arial" pitchFamily="34" charset="-122"/>
                <a:cs typeface="Arial" pitchFamily="34" charset="-120"/>
              </a:rPr>
              <a:t>HAIEC  ·  Confidential Discussion Brief  ·  7/15</a:t>
            </a:r>
            <a:endParaRPr lang="en-US" sz="800" dirty="0"/>
          </a:p>
        </p:txBody>
      </p:sp>
      <p:sp>
        <p:nvSpPr>
          <p:cNvPr id="42" name="Text 40"/>
          <p:cNvSpPr/>
          <p:nvPr/>
        </p:nvSpPr>
        <p:spPr>
          <a:xfrm>
            <a:off x="8991295" y="6537960"/>
            <a:ext cx="2743200" cy="228600"/>
          </a:xfrm>
          <a:prstGeom prst="rect">
            <a:avLst/>
          </a:prstGeom>
          <a:noFill/>
          <a:ln/>
        </p:spPr>
        <p:txBody>
          <a:bodyPr wrap="square" rtlCol="0" anchor="ctr"/>
          <a:lstStyle/>
          <a:p>
            <a:pPr algn="r" indent="0" marL="0">
              <a:buNone/>
            </a:pPr>
            <a:r>
              <a:rPr lang="en-US" sz="800" dirty="0">
                <a:solidFill>
                  <a:srgbClr val="6B6B6B"/>
                </a:solidFill>
                <a:latin typeface="Arial" pitchFamily="34" charset="0"/>
                <a:ea typeface="Arial" pitchFamily="34" charset="-122"/>
                <a:cs typeface="Arial" pitchFamily="34" charset="-120"/>
              </a:rPr>
              <a:t>v1.0  ·  2026-07-31</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57200"/>
            <a:ext cx="11277295" cy="548640"/>
          </a:xfrm>
          <a:prstGeom prst="rect">
            <a:avLst/>
          </a:prstGeom>
          <a:noFill/>
          <a:ln/>
        </p:spPr>
        <p:txBody>
          <a:bodyPr wrap="square" rtlCol="0" anchor="ctr"/>
          <a:lstStyle/>
          <a:p>
            <a:pPr algn="l" indent="0" marL="0">
              <a:buNone/>
            </a:pPr>
            <a:r>
              <a:rPr lang="en-US" sz="2200" b="1" dirty="0">
                <a:solidFill>
                  <a:srgbClr val="1A2B4A"/>
                </a:solidFill>
                <a:latin typeface="Arial" pitchFamily="34" charset="0"/>
                <a:ea typeface="Arial" pitchFamily="34" charset="-122"/>
                <a:cs typeface="Arial" pitchFamily="34" charset="-120"/>
              </a:rPr>
              <a:t>One remediation can support multiple assurance requirements.</a:t>
            </a:r>
            <a:endParaRPr lang="en-US" sz="2200" dirty="0"/>
          </a:p>
        </p:txBody>
      </p:sp>
      <p:sp>
        <p:nvSpPr>
          <p:cNvPr id="3" name="Shape 1"/>
          <p:cNvSpPr/>
          <p:nvPr/>
        </p:nvSpPr>
        <p:spPr>
          <a:xfrm>
            <a:off x="457200" y="1051560"/>
            <a:ext cx="11277295" cy="0"/>
          </a:xfrm>
          <a:prstGeom prst="line">
            <a:avLst/>
          </a:prstGeom>
          <a:noFill/>
          <a:ln w="12700">
            <a:solidFill>
              <a:srgbClr val="1A2B4A"/>
            </a:solidFill>
            <a:prstDash val="solid"/>
          </a:ln>
        </p:spPr>
      </p:sp>
      <p:sp>
        <p:nvSpPr>
          <p:cNvPr id="4" name="Shape 2"/>
          <p:cNvSpPr/>
          <p:nvPr/>
        </p:nvSpPr>
        <p:spPr>
          <a:xfrm>
            <a:off x="548640" y="1188720"/>
            <a:ext cx="3200400" cy="1645920"/>
          </a:xfrm>
          <a:prstGeom prst="rect">
            <a:avLst/>
          </a:prstGeom>
          <a:solidFill>
            <a:srgbClr val="F5F5F5"/>
          </a:solidFill>
          <a:ln w="6350">
            <a:solidFill>
              <a:srgbClr val="6B6B6B"/>
            </a:solidFill>
            <a:prstDash val="solid"/>
          </a:ln>
        </p:spPr>
      </p:sp>
      <p:sp>
        <p:nvSpPr>
          <p:cNvPr id="5" name="Text 3"/>
          <p:cNvSpPr/>
          <p:nvPr/>
        </p:nvSpPr>
        <p:spPr>
          <a:xfrm>
            <a:off x="685800" y="1280160"/>
            <a:ext cx="2926080" cy="182880"/>
          </a:xfrm>
          <a:prstGeom prst="rect">
            <a:avLst/>
          </a:prstGeom>
          <a:noFill/>
          <a:ln/>
        </p:spPr>
        <p:txBody>
          <a:bodyPr wrap="square" rtlCol="0" anchor="ctr"/>
          <a:lstStyle/>
          <a:p>
            <a:pPr algn="l" indent="0" marL="0">
              <a:buNone/>
            </a:pPr>
            <a:r>
              <a:rPr lang="en-US" sz="800" b="1" dirty="0">
                <a:solidFill>
                  <a:srgbClr val="6B6B6B"/>
                </a:solidFill>
                <a:latin typeface="Arial" pitchFamily="34" charset="0"/>
                <a:ea typeface="Arial" pitchFamily="34" charset="-122"/>
                <a:cs typeface="Arial" pitchFamily="34" charset="-120"/>
              </a:rPr>
              <a:t>EXAMPLE FINDING</a:t>
            </a:r>
            <a:endParaRPr lang="en-US" sz="800" dirty="0"/>
          </a:p>
        </p:txBody>
      </p:sp>
      <p:sp>
        <p:nvSpPr>
          <p:cNvPr id="6" name="Text 4"/>
          <p:cNvSpPr/>
          <p:nvPr/>
        </p:nvSpPr>
        <p:spPr>
          <a:xfrm>
            <a:off x="685800" y="1508760"/>
            <a:ext cx="2926080" cy="320040"/>
          </a:xfrm>
          <a:prstGeom prst="rect">
            <a:avLst/>
          </a:prstGeom>
          <a:noFill/>
          <a:ln/>
        </p:spPr>
        <p:txBody>
          <a:bodyPr wrap="square" rtlCol="0" anchor="ctr"/>
          <a:lstStyle/>
          <a:p>
            <a:pPr indent="0" marL="0">
              <a:buNone/>
            </a:pPr>
            <a:r>
              <a:rPr lang="en-US" sz="1200" b="1" dirty="0">
                <a:solidFill>
                  <a:srgbClr val="1A1A1A"/>
                </a:solidFill>
                <a:latin typeface="Arial" pitchFamily="34" charset="0"/>
                <a:ea typeface="Arial" pitchFamily="34" charset="-122"/>
                <a:cs typeface="Arial" pitchFamily="34" charset="-120"/>
              </a:rPr>
              <a:t>R1: Prompt Injection</a:t>
            </a:r>
            <a:endParaRPr lang="en-US" sz="1200" dirty="0"/>
          </a:p>
        </p:txBody>
      </p:sp>
      <p:sp>
        <p:nvSpPr>
          <p:cNvPr id="7" name="Text 5"/>
          <p:cNvSpPr/>
          <p:nvPr/>
        </p:nvSpPr>
        <p:spPr>
          <a:xfrm>
            <a:off x="685800" y="1874520"/>
            <a:ext cx="2926080" cy="822960"/>
          </a:xfrm>
          <a:prstGeom prst="rect">
            <a:avLst/>
          </a:prstGeom>
          <a:noFill/>
          <a:ln/>
        </p:spPr>
        <p:txBody>
          <a:bodyPr wrap="square" rtlCol="0" anchor="t"/>
          <a:lstStyle/>
          <a:p>
            <a:pPr algn="l" indent="0" marL="0">
              <a:lnSpc>
                <a:spcPct val="115000"/>
              </a:lnSpc>
              <a:buNone/>
            </a:pPr>
            <a:r>
              <a:rPr lang="en-US" sz="900" dirty="0">
                <a:solidFill>
                  <a:srgbClr val="4A4A4A"/>
                </a:solidFill>
                <a:latin typeface="Arial" pitchFamily="34" charset="0"/>
                <a:ea typeface="Arial" pitchFamily="34" charset="-122"/>
                <a:cs typeface="Arial" pitchFamily="34" charset="-120"/>
              </a:rPr>
              <a:t>User input reaches system prompt without validation guard. Source: API endpoint. Sink: LLM call.</a:t>
            </a:r>
            <a:endParaRPr lang="en-US" sz="900" dirty="0"/>
          </a:p>
        </p:txBody>
      </p:sp>
      <p:sp>
        <p:nvSpPr>
          <p:cNvPr id="8" name="Shape 6"/>
          <p:cNvSpPr/>
          <p:nvPr/>
        </p:nvSpPr>
        <p:spPr>
          <a:xfrm>
            <a:off x="4023360" y="1188720"/>
            <a:ext cx="2286000" cy="1645920"/>
          </a:xfrm>
          <a:prstGeom prst="rect">
            <a:avLst/>
          </a:prstGeom>
          <a:solidFill>
            <a:srgbClr val="F5F5F5"/>
          </a:solidFill>
          <a:ln w="6350">
            <a:solidFill>
              <a:srgbClr val="1A2B4A"/>
            </a:solidFill>
            <a:prstDash val="solid"/>
          </a:ln>
        </p:spPr>
      </p:sp>
      <p:sp>
        <p:nvSpPr>
          <p:cNvPr id="9" name="Text 7"/>
          <p:cNvSpPr/>
          <p:nvPr/>
        </p:nvSpPr>
        <p:spPr>
          <a:xfrm>
            <a:off x="4160520" y="1280160"/>
            <a:ext cx="2011680" cy="182880"/>
          </a:xfrm>
          <a:prstGeom prst="rect">
            <a:avLst/>
          </a:prstGeom>
          <a:noFill/>
          <a:ln/>
        </p:spPr>
        <p:txBody>
          <a:bodyPr wrap="square" rtlCol="0" anchor="ctr"/>
          <a:lstStyle/>
          <a:p>
            <a:pPr algn="l" indent="0" marL="0">
              <a:buNone/>
            </a:pPr>
            <a:r>
              <a:rPr lang="en-US" sz="800" b="1" dirty="0">
                <a:solidFill>
                  <a:srgbClr val="6B6B6B"/>
                </a:solidFill>
                <a:latin typeface="Arial" pitchFamily="34" charset="0"/>
                <a:ea typeface="Arial" pitchFamily="34" charset="-122"/>
                <a:cs typeface="Arial" pitchFamily="34" charset="-120"/>
              </a:rPr>
              <a:t>EVIDENCE</a:t>
            </a:r>
            <a:endParaRPr lang="en-US" sz="800" dirty="0"/>
          </a:p>
        </p:txBody>
      </p:sp>
      <p:sp>
        <p:nvSpPr>
          <p:cNvPr id="10" name="Text 8"/>
          <p:cNvSpPr/>
          <p:nvPr/>
        </p:nvSpPr>
        <p:spPr>
          <a:xfrm>
            <a:off x="4160520" y="1554480"/>
            <a:ext cx="2011680" cy="201168"/>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Rule ID: R1</a:t>
            </a:r>
            <a:endParaRPr lang="en-US" sz="800" dirty="0"/>
          </a:p>
        </p:txBody>
      </p:sp>
      <p:sp>
        <p:nvSpPr>
          <p:cNvPr id="11" name="Text 9"/>
          <p:cNvSpPr/>
          <p:nvPr/>
        </p:nvSpPr>
        <p:spPr>
          <a:xfrm>
            <a:off x="4160520" y="1792224"/>
            <a:ext cx="2011680" cy="201168"/>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Code path + line</a:t>
            </a:r>
            <a:endParaRPr lang="en-US" sz="800" dirty="0"/>
          </a:p>
        </p:txBody>
      </p:sp>
      <p:sp>
        <p:nvSpPr>
          <p:cNvPr id="12" name="Text 10"/>
          <p:cNvSpPr/>
          <p:nvPr/>
        </p:nvSpPr>
        <p:spPr>
          <a:xfrm>
            <a:off x="4160520" y="2029968"/>
            <a:ext cx="2011680" cy="201168"/>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Fingerprint: SHA256</a:t>
            </a:r>
            <a:endParaRPr lang="en-US" sz="800" dirty="0"/>
          </a:p>
        </p:txBody>
      </p:sp>
      <p:sp>
        <p:nvSpPr>
          <p:cNvPr id="13" name="Text 11"/>
          <p:cNvSpPr/>
          <p:nvPr/>
        </p:nvSpPr>
        <p:spPr>
          <a:xfrm>
            <a:off x="4160520" y="2267712"/>
            <a:ext cx="2011680" cy="201168"/>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Engine v2025.1.0</a:t>
            </a:r>
            <a:endParaRPr lang="en-US" sz="800" dirty="0"/>
          </a:p>
        </p:txBody>
      </p:sp>
      <p:sp>
        <p:nvSpPr>
          <p:cNvPr id="14" name="Text 12"/>
          <p:cNvSpPr/>
          <p:nvPr/>
        </p:nvSpPr>
        <p:spPr>
          <a:xfrm>
            <a:off x="4160520" y="2505456"/>
            <a:ext cx="2011680" cy="201168"/>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Timestamp: ISO8601</a:t>
            </a:r>
            <a:endParaRPr lang="en-US" sz="800" dirty="0"/>
          </a:p>
        </p:txBody>
      </p:sp>
      <p:sp>
        <p:nvSpPr>
          <p:cNvPr id="15" name="Shape 13"/>
          <p:cNvSpPr/>
          <p:nvPr/>
        </p:nvSpPr>
        <p:spPr>
          <a:xfrm>
            <a:off x="6400800" y="2011680"/>
            <a:ext cx="274320" cy="0"/>
          </a:xfrm>
          <a:prstGeom prst="line">
            <a:avLst/>
          </a:prstGeom>
          <a:noFill/>
          <a:ln w="12700">
            <a:solidFill>
              <a:srgbClr val="999999"/>
            </a:solidFill>
            <a:prstDash val="solid"/>
            <a:tailEnd type="triangle"/>
          </a:ln>
        </p:spPr>
      </p:sp>
      <p:sp>
        <p:nvSpPr>
          <p:cNvPr id="16" name="Shape 14"/>
          <p:cNvSpPr/>
          <p:nvPr/>
        </p:nvSpPr>
        <p:spPr>
          <a:xfrm>
            <a:off x="6858000" y="1188720"/>
            <a:ext cx="2286000" cy="502920"/>
          </a:xfrm>
          <a:prstGeom prst="rect">
            <a:avLst/>
          </a:prstGeom>
          <a:solidFill>
            <a:srgbClr val="F5F5F5"/>
          </a:solidFill>
          <a:ln w="6350">
            <a:solidFill>
              <a:srgbClr val="1A2B4A"/>
            </a:solidFill>
            <a:prstDash val="solid"/>
          </a:ln>
        </p:spPr>
      </p:sp>
      <p:sp>
        <p:nvSpPr>
          <p:cNvPr id="17" name="Text 15"/>
          <p:cNvSpPr/>
          <p:nvPr/>
        </p:nvSpPr>
        <p:spPr>
          <a:xfrm>
            <a:off x="6949440" y="1234440"/>
            <a:ext cx="2103120" cy="228600"/>
          </a:xfrm>
          <a:prstGeom prst="rect">
            <a:avLst/>
          </a:prstGeom>
          <a:noFill/>
          <a:ln/>
        </p:spPr>
        <p:txBody>
          <a:bodyPr wrap="square" rtlCol="0" anchor="ctr"/>
          <a:lstStyle/>
          <a:p>
            <a:pPr indent="0" marL="0">
              <a:buNone/>
            </a:pPr>
            <a:r>
              <a:rPr lang="en-US" sz="900" b="1" dirty="0">
                <a:solidFill>
                  <a:srgbClr val="1A1A1A"/>
                </a:solidFill>
                <a:latin typeface="Arial" pitchFamily="34" charset="0"/>
                <a:ea typeface="Arial" pitchFamily="34" charset="-122"/>
                <a:cs typeface="Arial" pitchFamily="34" charset="-120"/>
              </a:rPr>
              <a:t>OWASP LLM01:2025</a:t>
            </a:r>
            <a:endParaRPr lang="en-US" sz="900" dirty="0"/>
          </a:p>
        </p:txBody>
      </p:sp>
      <p:sp>
        <p:nvSpPr>
          <p:cNvPr id="18" name="Text 16"/>
          <p:cNvSpPr/>
          <p:nvPr/>
        </p:nvSpPr>
        <p:spPr>
          <a:xfrm>
            <a:off x="6949440" y="1463040"/>
            <a:ext cx="2103120" cy="182880"/>
          </a:xfrm>
          <a:prstGeom prst="rect">
            <a:avLst/>
          </a:prstGeom>
          <a:noFill/>
          <a:ln/>
        </p:spPr>
        <p:txBody>
          <a:bodyPr wrap="square" rtlCol="0" anchor="ctr"/>
          <a:lstStyle/>
          <a:p>
            <a:pPr indent="0" marL="0">
              <a:buNone/>
            </a:pPr>
            <a:r>
              <a:rPr lang="en-US" sz="800" dirty="0">
                <a:solidFill>
                  <a:srgbClr val="4A4A4A"/>
                </a:solidFill>
                <a:latin typeface="Arial" pitchFamily="34" charset="0"/>
                <a:ea typeface="Arial" pitchFamily="34" charset="-122"/>
                <a:cs typeface="Arial" pitchFamily="34" charset="-120"/>
              </a:rPr>
              <a:t>Prompt Injection</a:t>
            </a:r>
            <a:endParaRPr lang="en-US" sz="800" dirty="0"/>
          </a:p>
        </p:txBody>
      </p:sp>
      <p:sp>
        <p:nvSpPr>
          <p:cNvPr id="19" name="Shape 17"/>
          <p:cNvSpPr/>
          <p:nvPr/>
        </p:nvSpPr>
        <p:spPr>
          <a:xfrm>
            <a:off x="9326880" y="1188720"/>
            <a:ext cx="2286000" cy="502920"/>
          </a:xfrm>
          <a:prstGeom prst="rect">
            <a:avLst/>
          </a:prstGeom>
          <a:solidFill>
            <a:srgbClr val="F5F5F5"/>
          </a:solidFill>
          <a:ln w="6350">
            <a:solidFill>
              <a:srgbClr val="1A2B4A"/>
            </a:solidFill>
            <a:prstDash val="solid"/>
          </a:ln>
        </p:spPr>
      </p:sp>
      <p:sp>
        <p:nvSpPr>
          <p:cNvPr id="20" name="Text 18"/>
          <p:cNvSpPr/>
          <p:nvPr/>
        </p:nvSpPr>
        <p:spPr>
          <a:xfrm>
            <a:off x="9418320" y="1234440"/>
            <a:ext cx="2103120" cy="228600"/>
          </a:xfrm>
          <a:prstGeom prst="rect">
            <a:avLst/>
          </a:prstGeom>
          <a:noFill/>
          <a:ln/>
        </p:spPr>
        <p:txBody>
          <a:bodyPr wrap="square" rtlCol="0" anchor="ctr"/>
          <a:lstStyle/>
          <a:p>
            <a:pPr indent="0" marL="0">
              <a:buNone/>
            </a:pPr>
            <a:r>
              <a:rPr lang="en-US" sz="900" b="1" dirty="0">
                <a:solidFill>
                  <a:srgbClr val="1A1A1A"/>
                </a:solidFill>
                <a:latin typeface="Arial" pitchFamily="34" charset="0"/>
                <a:ea typeface="Arial" pitchFamily="34" charset="-122"/>
                <a:cs typeface="Arial" pitchFamily="34" charset="-120"/>
              </a:rPr>
              <a:t>SOC2 CC7.2</a:t>
            </a:r>
            <a:endParaRPr lang="en-US" sz="900" dirty="0"/>
          </a:p>
        </p:txBody>
      </p:sp>
      <p:sp>
        <p:nvSpPr>
          <p:cNvPr id="21" name="Text 19"/>
          <p:cNvSpPr/>
          <p:nvPr/>
        </p:nvSpPr>
        <p:spPr>
          <a:xfrm>
            <a:off x="9418320" y="1463040"/>
            <a:ext cx="2103120" cy="182880"/>
          </a:xfrm>
          <a:prstGeom prst="rect">
            <a:avLst/>
          </a:prstGeom>
          <a:noFill/>
          <a:ln/>
        </p:spPr>
        <p:txBody>
          <a:bodyPr wrap="square" rtlCol="0" anchor="ctr"/>
          <a:lstStyle/>
          <a:p>
            <a:pPr indent="0" marL="0">
              <a:buNone/>
            </a:pPr>
            <a:r>
              <a:rPr lang="en-US" sz="800" dirty="0">
                <a:solidFill>
                  <a:srgbClr val="4A4A4A"/>
                </a:solidFill>
                <a:latin typeface="Arial" pitchFamily="34" charset="0"/>
                <a:ea typeface="Arial" pitchFamily="34" charset="-122"/>
                <a:cs typeface="Arial" pitchFamily="34" charset="-120"/>
              </a:rPr>
              <a:t>System Monitoring</a:t>
            </a:r>
            <a:endParaRPr lang="en-US" sz="800" dirty="0"/>
          </a:p>
        </p:txBody>
      </p:sp>
      <p:sp>
        <p:nvSpPr>
          <p:cNvPr id="22" name="Shape 20"/>
          <p:cNvSpPr/>
          <p:nvPr/>
        </p:nvSpPr>
        <p:spPr>
          <a:xfrm>
            <a:off x="6858000" y="1783080"/>
            <a:ext cx="2286000" cy="502920"/>
          </a:xfrm>
          <a:prstGeom prst="rect">
            <a:avLst/>
          </a:prstGeom>
          <a:solidFill>
            <a:srgbClr val="F5F5F5"/>
          </a:solidFill>
          <a:ln w="6350">
            <a:solidFill>
              <a:srgbClr val="1A2B4A"/>
            </a:solidFill>
            <a:prstDash val="solid"/>
          </a:ln>
        </p:spPr>
      </p:sp>
      <p:sp>
        <p:nvSpPr>
          <p:cNvPr id="23" name="Text 21"/>
          <p:cNvSpPr/>
          <p:nvPr/>
        </p:nvSpPr>
        <p:spPr>
          <a:xfrm>
            <a:off x="6949440" y="1828800"/>
            <a:ext cx="2103120" cy="228600"/>
          </a:xfrm>
          <a:prstGeom prst="rect">
            <a:avLst/>
          </a:prstGeom>
          <a:noFill/>
          <a:ln/>
        </p:spPr>
        <p:txBody>
          <a:bodyPr wrap="square" rtlCol="0" anchor="ctr"/>
          <a:lstStyle/>
          <a:p>
            <a:pPr indent="0" marL="0">
              <a:buNone/>
            </a:pPr>
            <a:r>
              <a:rPr lang="en-US" sz="900" b="1" dirty="0">
                <a:solidFill>
                  <a:srgbClr val="1A1A1A"/>
                </a:solidFill>
                <a:latin typeface="Arial" pitchFamily="34" charset="0"/>
                <a:ea typeface="Arial" pitchFamily="34" charset="-122"/>
                <a:cs typeface="Arial" pitchFamily="34" charset="-120"/>
              </a:rPr>
              <a:t>ISO 27001:2022 A.8.8</a:t>
            </a:r>
            <a:endParaRPr lang="en-US" sz="900" dirty="0"/>
          </a:p>
        </p:txBody>
      </p:sp>
      <p:sp>
        <p:nvSpPr>
          <p:cNvPr id="24" name="Text 22"/>
          <p:cNvSpPr/>
          <p:nvPr/>
        </p:nvSpPr>
        <p:spPr>
          <a:xfrm>
            <a:off x="6949440" y="2057400"/>
            <a:ext cx="2103120" cy="182880"/>
          </a:xfrm>
          <a:prstGeom prst="rect">
            <a:avLst/>
          </a:prstGeom>
          <a:noFill/>
          <a:ln/>
        </p:spPr>
        <p:txBody>
          <a:bodyPr wrap="square" rtlCol="0" anchor="ctr"/>
          <a:lstStyle/>
          <a:p>
            <a:pPr indent="0" marL="0">
              <a:buNone/>
            </a:pPr>
            <a:r>
              <a:rPr lang="en-US" sz="800" dirty="0">
                <a:solidFill>
                  <a:srgbClr val="4A4A4A"/>
                </a:solidFill>
                <a:latin typeface="Arial" pitchFamily="34" charset="0"/>
                <a:ea typeface="Arial" pitchFamily="34" charset="-122"/>
                <a:cs typeface="Arial" pitchFamily="34" charset="-120"/>
              </a:rPr>
              <a:t>Technical Vulnerability Mgmt</a:t>
            </a:r>
            <a:endParaRPr lang="en-US" sz="800" dirty="0"/>
          </a:p>
        </p:txBody>
      </p:sp>
      <p:sp>
        <p:nvSpPr>
          <p:cNvPr id="25" name="Shape 23"/>
          <p:cNvSpPr/>
          <p:nvPr/>
        </p:nvSpPr>
        <p:spPr>
          <a:xfrm>
            <a:off x="9326880" y="1783080"/>
            <a:ext cx="2286000" cy="502920"/>
          </a:xfrm>
          <a:prstGeom prst="rect">
            <a:avLst/>
          </a:prstGeom>
          <a:solidFill>
            <a:srgbClr val="F5F5F5"/>
          </a:solidFill>
          <a:ln w="6350">
            <a:solidFill>
              <a:srgbClr val="1A2B4A"/>
            </a:solidFill>
            <a:prstDash val="solid"/>
          </a:ln>
        </p:spPr>
      </p:sp>
      <p:sp>
        <p:nvSpPr>
          <p:cNvPr id="26" name="Text 24"/>
          <p:cNvSpPr/>
          <p:nvPr/>
        </p:nvSpPr>
        <p:spPr>
          <a:xfrm>
            <a:off x="9418320" y="1828800"/>
            <a:ext cx="2103120" cy="228600"/>
          </a:xfrm>
          <a:prstGeom prst="rect">
            <a:avLst/>
          </a:prstGeom>
          <a:noFill/>
          <a:ln/>
        </p:spPr>
        <p:txBody>
          <a:bodyPr wrap="square" rtlCol="0" anchor="ctr"/>
          <a:lstStyle/>
          <a:p>
            <a:pPr indent="0" marL="0">
              <a:buNone/>
            </a:pPr>
            <a:r>
              <a:rPr lang="en-US" sz="900" b="1" dirty="0">
                <a:solidFill>
                  <a:srgbClr val="1A1A1A"/>
                </a:solidFill>
                <a:latin typeface="Arial" pitchFamily="34" charset="0"/>
                <a:ea typeface="Arial" pitchFamily="34" charset="-122"/>
                <a:cs typeface="Arial" pitchFamily="34" charset="-120"/>
              </a:rPr>
              <a:t>NIST AI RMF 1.0</a:t>
            </a:r>
            <a:endParaRPr lang="en-US" sz="900" dirty="0"/>
          </a:p>
        </p:txBody>
      </p:sp>
      <p:sp>
        <p:nvSpPr>
          <p:cNvPr id="27" name="Text 25"/>
          <p:cNvSpPr/>
          <p:nvPr/>
        </p:nvSpPr>
        <p:spPr>
          <a:xfrm>
            <a:off x="9418320" y="2057400"/>
            <a:ext cx="2103120" cy="182880"/>
          </a:xfrm>
          <a:prstGeom prst="rect">
            <a:avLst/>
          </a:prstGeom>
          <a:noFill/>
          <a:ln/>
        </p:spPr>
        <p:txBody>
          <a:bodyPr wrap="square" rtlCol="0" anchor="ctr"/>
          <a:lstStyle/>
          <a:p>
            <a:pPr indent="0" marL="0">
              <a:buNone/>
            </a:pPr>
            <a:r>
              <a:rPr lang="en-US" sz="800" dirty="0">
                <a:solidFill>
                  <a:srgbClr val="4A4A4A"/>
                </a:solidFill>
                <a:latin typeface="Arial" pitchFamily="34" charset="0"/>
                <a:ea typeface="Arial" pitchFamily="34" charset="-122"/>
                <a:cs typeface="Arial" pitchFamily="34" charset="-120"/>
              </a:rPr>
              <a:t>MEASURE-2.7, MANAGE-1.1</a:t>
            </a:r>
            <a:endParaRPr lang="en-US" sz="800" dirty="0"/>
          </a:p>
        </p:txBody>
      </p:sp>
      <p:sp>
        <p:nvSpPr>
          <p:cNvPr id="28" name="Shape 26"/>
          <p:cNvSpPr/>
          <p:nvPr/>
        </p:nvSpPr>
        <p:spPr>
          <a:xfrm>
            <a:off x="6858000" y="2377440"/>
            <a:ext cx="2286000" cy="502920"/>
          </a:xfrm>
          <a:prstGeom prst="rect">
            <a:avLst/>
          </a:prstGeom>
          <a:solidFill>
            <a:srgbClr val="F5F5F5"/>
          </a:solidFill>
          <a:ln w="6350">
            <a:solidFill>
              <a:srgbClr val="1A2B4A"/>
            </a:solidFill>
            <a:prstDash val="solid"/>
          </a:ln>
        </p:spPr>
      </p:sp>
      <p:sp>
        <p:nvSpPr>
          <p:cNvPr id="29" name="Text 27"/>
          <p:cNvSpPr/>
          <p:nvPr/>
        </p:nvSpPr>
        <p:spPr>
          <a:xfrm>
            <a:off x="6949440" y="2423160"/>
            <a:ext cx="2103120" cy="228600"/>
          </a:xfrm>
          <a:prstGeom prst="rect">
            <a:avLst/>
          </a:prstGeom>
          <a:noFill/>
          <a:ln/>
        </p:spPr>
        <p:txBody>
          <a:bodyPr wrap="square" rtlCol="0" anchor="ctr"/>
          <a:lstStyle/>
          <a:p>
            <a:pPr indent="0" marL="0">
              <a:buNone/>
            </a:pPr>
            <a:r>
              <a:rPr lang="en-US" sz="900" b="1" dirty="0">
                <a:solidFill>
                  <a:srgbClr val="1A1A1A"/>
                </a:solidFill>
                <a:latin typeface="Arial" pitchFamily="34" charset="0"/>
                <a:ea typeface="Arial" pitchFamily="34" charset="-122"/>
                <a:cs typeface="Arial" pitchFamily="34" charset="-120"/>
              </a:rPr>
              <a:t>EU AI Act</a:t>
            </a:r>
            <a:endParaRPr lang="en-US" sz="900" dirty="0"/>
          </a:p>
        </p:txBody>
      </p:sp>
      <p:sp>
        <p:nvSpPr>
          <p:cNvPr id="30" name="Text 28"/>
          <p:cNvSpPr/>
          <p:nvPr/>
        </p:nvSpPr>
        <p:spPr>
          <a:xfrm>
            <a:off x="6949440" y="2651760"/>
            <a:ext cx="2103120" cy="182880"/>
          </a:xfrm>
          <a:prstGeom prst="rect">
            <a:avLst/>
          </a:prstGeom>
          <a:noFill/>
          <a:ln/>
        </p:spPr>
        <p:txBody>
          <a:bodyPr wrap="square" rtlCol="0" anchor="ctr"/>
          <a:lstStyle/>
          <a:p>
            <a:pPr indent="0" marL="0">
              <a:buNone/>
            </a:pPr>
            <a:r>
              <a:rPr lang="en-US" sz="800" dirty="0">
                <a:solidFill>
                  <a:srgbClr val="4A4A4A"/>
                </a:solidFill>
                <a:latin typeface="Arial" pitchFamily="34" charset="0"/>
                <a:ea typeface="Arial" pitchFamily="34" charset="-122"/>
                <a:cs typeface="Arial" pitchFamily="34" charset="-120"/>
              </a:rPr>
              <a:t>Art15-Robustness, Art12-Logging</a:t>
            </a:r>
            <a:endParaRPr lang="en-US" sz="800" dirty="0"/>
          </a:p>
        </p:txBody>
      </p:sp>
      <p:sp>
        <p:nvSpPr>
          <p:cNvPr id="31" name="Shape 29"/>
          <p:cNvSpPr/>
          <p:nvPr/>
        </p:nvSpPr>
        <p:spPr>
          <a:xfrm>
            <a:off x="9326880" y="2377440"/>
            <a:ext cx="2286000" cy="502920"/>
          </a:xfrm>
          <a:prstGeom prst="rect">
            <a:avLst/>
          </a:prstGeom>
          <a:solidFill>
            <a:srgbClr val="F5F5F5"/>
          </a:solidFill>
          <a:ln w="6350">
            <a:solidFill>
              <a:srgbClr val="1A2B4A"/>
            </a:solidFill>
            <a:prstDash val="solid"/>
          </a:ln>
        </p:spPr>
      </p:sp>
      <p:sp>
        <p:nvSpPr>
          <p:cNvPr id="32" name="Text 30"/>
          <p:cNvSpPr/>
          <p:nvPr/>
        </p:nvSpPr>
        <p:spPr>
          <a:xfrm>
            <a:off x="9418320" y="2423160"/>
            <a:ext cx="2103120" cy="228600"/>
          </a:xfrm>
          <a:prstGeom prst="rect">
            <a:avLst/>
          </a:prstGeom>
          <a:noFill/>
          <a:ln/>
        </p:spPr>
        <p:txBody>
          <a:bodyPr wrap="square" rtlCol="0" anchor="ctr"/>
          <a:lstStyle/>
          <a:p>
            <a:pPr indent="0" marL="0">
              <a:buNone/>
            </a:pPr>
            <a:r>
              <a:rPr lang="en-US" sz="900" b="1" dirty="0">
                <a:solidFill>
                  <a:srgbClr val="1A1A1A"/>
                </a:solidFill>
                <a:latin typeface="Arial" pitchFamily="34" charset="0"/>
                <a:ea typeface="Arial" pitchFamily="34" charset="-122"/>
                <a:cs typeface="Arial" pitchFamily="34" charset="-120"/>
              </a:rPr>
              <a:t>ISO 42001:2023</a:t>
            </a:r>
            <a:endParaRPr lang="en-US" sz="900" dirty="0"/>
          </a:p>
        </p:txBody>
      </p:sp>
      <p:sp>
        <p:nvSpPr>
          <p:cNvPr id="33" name="Text 31"/>
          <p:cNvSpPr/>
          <p:nvPr/>
        </p:nvSpPr>
        <p:spPr>
          <a:xfrm>
            <a:off x="9418320" y="2651760"/>
            <a:ext cx="2103120" cy="182880"/>
          </a:xfrm>
          <a:prstGeom prst="rect">
            <a:avLst/>
          </a:prstGeom>
          <a:noFill/>
          <a:ln/>
        </p:spPr>
        <p:txBody>
          <a:bodyPr wrap="square" rtlCol="0" anchor="ctr"/>
          <a:lstStyle/>
          <a:p>
            <a:pPr indent="0" marL="0">
              <a:buNone/>
            </a:pPr>
            <a:r>
              <a:rPr lang="en-US" sz="800" dirty="0">
                <a:solidFill>
                  <a:srgbClr val="4A4A4A"/>
                </a:solidFill>
                <a:latin typeface="Arial" pitchFamily="34" charset="0"/>
                <a:ea typeface="Arial" pitchFamily="34" charset="-122"/>
                <a:cs typeface="Arial" pitchFamily="34" charset="-120"/>
              </a:rPr>
              <a:t>8.2, 8.4, 9.1</a:t>
            </a:r>
            <a:endParaRPr lang="en-US" sz="800" dirty="0"/>
          </a:p>
        </p:txBody>
      </p:sp>
      <p:sp>
        <p:nvSpPr>
          <p:cNvPr id="34" name="Text 32"/>
          <p:cNvSpPr/>
          <p:nvPr/>
        </p:nvSpPr>
        <p:spPr>
          <a:xfrm>
            <a:off x="548640" y="3108960"/>
            <a:ext cx="10972800" cy="274320"/>
          </a:xfrm>
          <a:prstGeom prst="rect">
            <a:avLst/>
          </a:prstGeom>
          <a:noFill/>
          <a:ln/>
        </p:spPr>
        <p:txBody>
          <a:bodyPr wrap="square" rtlCol="0" anchor="t"/>
          <a:lstStyle/>
          <a:p>
            <a:pPr algn="l" indent="0" marL="0">
              <a:lnSpc>
                <a:spcPct val="115000"/>
              </a:lnSpc>
              <a:buNone/>
            </a:pPr>
            <a:r>
              <a:rPr lang="en-US" sz="1000" b="1" dirty="0">
                <a:solidFill>
                  <a:srgbClr val="1A2B4A"/>
                </a:solidFill>
                <a:latin typeface="Arial" pitchFamily="34" charset="0"/>
                <a:ea typeface="Arial" pitchFamily="34" charset="-122"/>
                <a:cs typeface="Arial" pitchFamily="34" charset="-120"/>
              </a:rPr>
              <a:t>Flow: Finding → Evidence → Framework Mapping → Control Coverage → Audit Package</a:t>
            </a:r>
            <a:endParaRPr lang="en-US" sz="1000" dirty="0"/>
          </a:p>
        </p:txBody>
      </p:sp>
      <p:sp>
        <p:nvSpPr>
          <p:cNvPr id="35" name="Shape 33"/>
          <p:cNvSpPr/>
          <p:nvPr/>
        </p:nvSpPr>
        <p:spPr>
          <a:xfrm>
            <a:off x="548640" y="3566160"/>
            <a:ext cx="11064240" cy="1097280"/>
          </a:xfrm>
          <a:prstGeom prst="rect">
            <a:avLst/>
          </a:prstGeom>
          <a:solidFill>
            <a:srgbClr val="F5F5F5"/>
          </a:solidFill>
          <a:ln w="6350">
            <a:solidFill>
              <a:srgbClr val="1A2B4A"/>
            </a:solidFill>
            <a:prstDash val="solid"/>
          </a:ln>
        </p:spPr>
      </p:sp>
      <p:sp>
        <p:nvSpPr>
          <p:cNvPr id="36" name="Text 34"/>
          <p:cNvSpPr/>
          <p:nvPr/>
        </p:nvSpPr>
        <p:spPr>
          <a:xfrm>
            <a:off x="731520" y="3657600"/>
            <a:ext cx="10698480" cy="274320"/>
          </a:xfrm>
          <a:prstGeom prst="rect">
            <a:avLst/>
          </a:prstGeom>
          <a:noFill/>
          <a:ln/>
        </p:spPr>
        <p:txBody>
          <a:bodyPr wrap="square" rtlCol="0" anchor="ctr"/>
          <a:lstStyle/>
          <a:p>
            <a:pPr indent="0" marL="0">
              <a:buNone/>
            </a:pPr>
            <a:r>
              <a:rPr lang="en-US" sz="1100" b="1" dirty="0">
                <a:solidFill>
                  <a:srgbClr val="1A2B4A"/>
                </a:solidFill>
                <a:latin typeface="Arial" pitchFamily="34" charset="0"/>
                <a:ea typeface="Arial" pitchFamily="34" charset="-122"/>
                <a:cs typeface="Arial" pitchFamily="34" charset="-120"/>
              </a:rPr>
              <a:t>Strategic Value</a:t>
            </a:r>
            <a:endParaRPr lang="en-US" sz="1100" dirty="0"/>
          </a:p>
        </p:txBody>
      </p:sp>
      <p:sp>
        <p:nvSpPr>
          <p:cNvPr id="37" name="Text 35"/>
          <p:cNvSpPr/>
          <p:nvPr/>
        </p:nvSpPr>
        <p:spPr>
          <a:xfrm>
            <a:off x="731520" y="3931920"/>
            <a:ext cx="10698480" cy="640080"/>
          </a:xfrm>
          <a:prstGeom prst="rect">
            <a:avLst/>
          </a:prstGeom>
          <a:noFill/>
          <a:ln/>
        </p:spPr>
        <p:txBody>
          <a:bodyPr wrap="square" rtlCol="0" anchor="t"/>
          <a:lstStyle/>
          <a:p>
            <a:pPr algn="l" indent="0" marL="0">
              <a:lnSpc>
                <a:spcPct val="115000"/>
              </a:lnSpc>
              <a:buNone/>
            </a:pPr>
            <a:r>
              <a:rPr lang="en-US" sz="1000" dirty="0">
                <a:solidFill>
                  <a:srgbClr val="1A1A1A"/>
                </a:solidFill>
                <a:latin typeface="Arial" pitchFamily="34" charset="0"/>
                <a:ea typeface="Arial" pitchFamily="34" charset="-122"/>
                <a:cs typeface="Arial" pitchFamily="34" charset="-120"/>
              </a:rPr>
              <a:t>A single remediation can generate reusable technical evidence across multiple assurance reviews. The same source change, retest and evidence record can support related OWASP, NIST, SOC 2, ISO and EU AI Act control evaluations - without recollecting the technical evidence separately for each framework.</a:t>
            </a:r>
            <a:endParaRPr lang="en-US" sz="1000" dirty="0"/>
          </a:p>
        </p:txBody>
      </p:sp>
      <p:sp>
        <p:nvSpPr>
          <p:cNvPr id="38" name="Text 36"/>
          <p:cNvSpPr/>
          <p:nvPr/>
        </p:nvSpPr>
        <p:spPr>
          <a:xfrm>
            <a:off x="548640" y="4846320"/>
            <a:ext cx="10972800" cy="274320"/>
          </a:xfrm>
          <a:prstGeom prst="rect">
            <a:avLst/>
          </a:prstGeom>
          <a:noFill/>
          <a:ln/>
        </p:spPr>
        <p:txBody>
          <a:bodyPr wrap="square" rtlCol="0" anchor="t"/>
          <a:lstStyle/>
          <a:p>
            <a:pPr algn="l" indent="0" marL="0">
              <a:lnSpc>
                <a:spcPct val="115000"/>
              </a:lnSpc>
              <a:buNone/>
            </a:pPr>
            <a:r>
              <a:rPr lang="en-US" sz="1200" b="1" dirty="0">
                <a:solidFill>
                  <a:srgbClr val="1A2B4A"/>
                </a:solidFill>
                <a:latin typeface="Arial" pitchFamily="34" charset="0"/>
                <a:ea typeface="Arial" pitchFamily="34" charset="-122"/>
                <a:cs typeface="Arial" pitchFamily="34" charset="-120"/>
              </a:rPr>
              <a:t>Remediate once. Reuse the evidence across frameworks.</a:t>
            </a:r>
            <a:endParaRPr lang="en-US" sz="1200" dirty="0"/>
          </a:p>
        </p:txBody>
      </p:sp>
      <p:sp>
        <p:nvSpPr>
          <p:cNvPr id="39" name="Text 37"/>
          <p:cNvSpPr/>
          <p:nvPr/>
        </p:nvSpPr>
        <p:spPr>
          <a:xfrm>
            <a:off x="548640" y="5212080"/>
            <a:ext cx="10972800" cy="274320"/>
          </a:xfrm>
          <a:prstGeom prst="rect">
            <a:avLst/>
          </a:prstGeom>
          <a:noFill/>
          <a:ln/>
        </p:spPr>
        <p:txBody>
          <a:bodyPr wrap="square" rtlCol="0" anchor="t"/>
          <a:lstStyle/>
          <a:p>
            <a:pPr algn="l" indent="0" marL="0">
              <a:lnSpc>
                <a:spcPct val="115000"/>
              </a:lnSpc>
              <a:buNone/>
            </a:pPr>
            <a:r>
              <a:rPr lang="en-US" sz="800" dirty="0">
                <a:solidFill>
                  <a:srgbClr val="6B6B6B"/>
                </a:solidFill>
                <a:latin typeface="Arial" pitchFamily="34" charset="0"/>
                <a:ea typeface="Arial" pitchFamily="34" charset="-122"/>
                <a:cs typeface="Arial" pitchFamily="34" charset="-120"/>
              </a:rPr>
              <a:t>Source: lib/ai-security/compliance-mappings.ts - 82 unique rule IDs mapped to 13 compliance frameworks.</a:t>
            </a:r>
            <a:endParaRPr lang="en-US" sz="800" dirty="0"/>
          </a:p>
        </p:txBody>
      </p:sp>
      <p:sp>
        <p:nvSpPr>
          <p:cNvPr id="40" name="Text 38"/>
          <p:cNvSpPr/>
          <p:nvPr/>
        </p:nvSpPr>
        <p:spPr>
          <a:xfrm>
            <a:off x="548640" y="5577840"/>
            <a:ext cx="10972800" cy="457200"/>
          </a:xfrm>
          <a:prstGeom prst="rect">
            <a:avLst/>
          </a:prstGeom>
          <a:noFill/>
          <a:ln/>
        </p:spPr>
        <p:txBody>
          <a:bodyPr wrap="square" rtlCol="0" anchor="t"/>
          <a:lstStyle/>
          <a:p>
            <a:pPr algn="l" indent="0" marL="0">
              <a:lnSpc>
                <a:spcPct val="115000"/>
              </a:lnSpc>
              <a:buNone/>
            </a:pPr>
            <a:r>
              <a:rPr lang="en-US" sz="900" dirty="0">
                <a:solidFill>
                  <a:srgbClr val="4A4A4A"/>
                </a:solidFill>
                <a:latin typeface="Arial" pitchFamily="34" charset="0"/>
                <a:ea typeface="Arial" pitchFamily="34" charset="-122"/>
                <a:cs typeface="Arial" pitchFamily="34" charset="-120"/>
              </a:rPr>
              <a:t>Mapped frameworks: SOC 2 · ISO 27001:2022 · ISO 42001:2023 · OWASP LLM Top 10:2025 · GDPR · HIPAA · CWE · NIST AI RMF 1.0 · EU AI Act · CCPA · NYC LL144 · Colorado AI Act · FTC Act</a:t>
            </a:r>
            <a:endParaRPr lang="en-US" sz="900" dirty="0"/>
          </a:p>
        </p:txBody>
      </p:sp>
      <p:sp>
        <p:nvSpPr>
          <p:cNvPr id="41" name="Shape 39"/>
          <p:cNvSpPr/>
          <p:nvPr/>
        </p:nvSpPr>
        <p:spPr>
          <a:xfrm>
            <a:off x="457200" y="6473952"/>
            <a:ext cx="11277295" cy="0"/>
          </a:xfrm>
          <a:prstGeom prst="line">
            <a:avLst/>
          </a:prstGeom>
          <a:noFill/>
          <a:ln w="6350">
            <a:solidFill>
              <a:srgbClr val="CCCCCC"/>
            </a:solidFill>
            <a:prstDash val="solid"/>
          </a:ln>
        </p:spPr>
      </p:sp>
      <p:sp>
        <p:nvSpPr>
          <p:cNvPr id="42" name="Text 40"/>
          <p:cNvSpPr/>
          <p:nvPr/>
        </p:nvSpPr>
        <p:spPr>
          <a:xfrm>
            <a:off x="457200" y="6537960"/>
            <a:ext cx="7315200" cy="228600"/>
          </a:xfrm>
          <a:prstGeom prst="rect">
            <a:avLst/>
          </a:prstGeom>
          <a:noFill/>
          <a:ln/>
        </p:spPr>
        <p:txBody>
          <a:bodyPr wrap="square" rtlCol="0" anchor="ctr"/>
          <a:lstStyle/>
          <a:p>
            <a:pPr indent="0" marL="0">
              <a:buNone/>
            </a:pPr>
            <a:r>
              <a:rPr lang="en-US" sz="800" dirty="0">
                <a:solidFill>
                  <a:srgbClr val="6B6B6B"/>
                </a:solidFill>
                <a:latin typeface="Arial" pitchFamily="34" charset="0"/>
                <a:ea typeface="Arial" pitchFamily="34" charset="-122"/>
                <a:cs typeface="Arial" pitchFamily="34" charset="-120"/>
              </a:rPr>
              <a:t>HAIEC  ·  Confidential Discussion Brief  ·  8/15</a:t>
            </a:r>
            <a:endParaRPr lang="en-US" sz="800" dirty="0"/>
          </a:p>
        </p:txBody>
      </p:sp>
      <p:sp>
        <p:nvSpPr>
          <p:cNvPr id="43" name="Text 41"/>
          <p:cNvSpPr/>
          <p:nvPr/>
        </p:nvSpPr>
        <p:spPr>
          <a:xfrm>
            <a:off x="8991295" y="6537960"/>
            <a:ext cx="2743200" cy="228600"/>
          </a:xfrm>
          <a:prstGeom prst="rect">
            <a:avLst/>
          </a:prstGeom>
          <a:noFill/>
          <a:ln/>
        </p:spPr>
        <p:txBody>
          <a:bodyPr wrap="square" rtlCol="0" anchor="ctr"/>
          <a:lstStyle/>
          <a:p>
            <a:pPr algn="r" indent="0" marL="0">
              <a:buNone/>
            </a:pPr>
            <a:r>
              <a:rPr lang="en-US" sz="800" dirty="0">
                <a:solidFill>
                  <a:srgbClr val="6B6B6B"/>
                </a:solidFill>
                <a:latin typeface="Arial" pitchFamily="34" charset="0"/>
                <a:ea typeface="Arial" pitchFamily="34" charset="-122"/>
                <a:cs typeface="Arial" pitchFamily="34" charset="-120"/>
              </a:rPr>
              <a:t>v1.0  ·  2026-07-31</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57200"/>
            <a:ext cx="11277295" cy="548640"/>
          </a:xfrm>
          <a:prstGeom prst="rect">
            <a:avLst/>
          </a:prstGeom>
          <a:noFill/>
          <a:ln/>
        </p:spPr>
        <p:txBody>
          <a:bodyPr wrap="square" rtlCol="0" anchor="ctr"/>
          <a:lstStyle/>
          <a:p>
            <a:pPr algn="l" indent="0" marL="0">
              <a:buNone/>
            </a:pPr>
            <a:r>
              <a:rPr lang="en-US" sz="2200" b="1" dirty="0">
                <a:solidFill>
                  <a:srgbClr val="1A2B4A"/>
                </a:solidFill>
                <a:latin typeface="Arial" pitchFamily="34" charset="0"/>
                <a:ea typeface="Arial" pitchFamily="34" charset="-122"/>
                <a:cs typeface="Arial" pitchFamily="34" charset="-120"/>
              </a:rPr>
              <a:t>Verified coverage determines current eligibility.</a:t>
            </a:r>
            <a:endParaRPr lang="en-US" sz="2200" dirty="0"/>
          </a:p>
          <a:p>
            <a:pPr algn="l" indent="0" marL="0">
              <a:buNone/>
            </a:pPr>
            <a:r>
              <a:rPr lang="en-US" sz="2200" b="1" dirty="0">
                <a:solidFill>
                  <a:srgbClr val="1A2B4A"/>
                </a:solidFill>
                <a:latin typeface="Arial" pitchFamily="34" charset="0"/>
                <a:ea typeface="Arial" pitchFamily="34" charset="-122"/>
                <a:cs typeface="Arial" pitchFamily="34" charset="-120"/>
              </a:rPr>
              <a:t>Critical findings will become explicit release gates.</a:t>
            </a:r>
            <a:endParaRPr lang="en-US" sz="2200" dirty="0"/>
          </a:p>
        </p:txBody>
      </p:sp>
      <p:sp>
        <p:nvSpPr>
          <p:cNvPr id="3" name="Shape 1"/>
          <p:cNvSpPr/>
          <p:nvPr/>
        </p:nvSpPr>
        <p:spPr>
          <a:xfrm>
            <a:off x="457200" y="1051560"/>
            <a:ext cx="11277295" cy="0"/>
          </a:xfrm>
          <a:prstGeom prst="line">
            <a:avLst/>
          </a:prstGeom>
          <a:noFill/>
          <a:ln w="12700">
            <a:solidFill>
              <a:srgbClr val="1A2B4A"/>
            </a:solidFill>
            <a:prstDash val="solid"/>
          </a:ln>
        </p:spPr>
      </p:sp>
      <p:sp>
        <p:nvSpPr>
          <p:cNvPr id="4" name="Shape 2"/>
          <p:cNvSpPr/>
          <p:nvPr/>
        </p:nvSpPr>
        <p:spPr>
          <a:xfrm>
            <a:off x="548640" y="1188720"/>
            <a:ext cx="2743200" cy="1371600"/>
          </a:xfrm>
          <a:prstGeom prst="rect">
            <a:avLst/>
          </a:prstGeom>
          <a:solidFill>
            <a:srgbClr val="F5F5F5"/>
          </a:solidFill>
          <a:ln w="6350">
            <a:solidFill>
              <a:srgbClr val="D0D0D0"/>
            </a:solidFill>
            <a:prstDash val="solid"/>
          </a:ln>
        </p:spPr>
      </p:sp>
      <p:sp>
        <p:nvSpPr>
          <p:cNvPr id="5" name="Text 3"/>
          <p:cNvSpPr/>
          <p:nvPr/>
        </p:nvSpPr>
        <p:spPr>
          <a:xfrm>
            <a:off x="685800" y="1280160"/>
            <a:ext cx="2468880" cy="182880"/>
          </a:xfrm>
          <a:prstGeom prst="rect">
            <a:avLst/>
          </a:prstGeom>
          <a:noFill/>
          <a:ln/>
        </p:spPr>
        <p:txBody>
          <a:bodyPr wrap="square" rtlCol="0" anchor="ctr"/>
          <a:lstStyle/>
          <a:p>
            <a:pPr algn="l" indent="0" marL="0">
              <a:buNone/>
            </a:pPr>
            <a:r>
              <a:rPr lang="en-US" sz="800" b="1" dirty="0">
                <a:solidFill>
                  <a:srgbClr val="6B6B6B"/>
                </a:solidFill>
                <a:latin typeface="Arial" pitchFamily="34" charset="0"/>
                <a:ea typeface="Arial" pitchFamily="34" charset="-122"/>
                <a:cs typeface="Arial" pitchFamily="34" charset="-120"/>
              </a:rPr>
              <a:t>ENGINE INPUTS</a:t>
            </a:r>
            <a:endParaRPr lang="en-US" sz="800" dirty="0"/>
          </a:p>
        </p:txBody>
      </p:sp>
      <p:sp>
        <p:nvSpPr>
          <p:cNvPr id="6" name="Text 4"/>
          <p:cNvSpPr/>
          <p:nvPr/>
        </p:nvSpPr>
        <p:spPr>
          <a:xfrm>
            <a:off x="685800" y="1554480"/>
            <a:ext cx="2468880" cy="182880"/>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Static scan results</a:t>
            </a:r>
            <a:endParaRPr lang="en-US" sz="800" dirty="0"/>
          </a:p>
        </p:txBody>
      </p:sp>
      <p:sp>
        <p:nvSpPr>
          <p:cNvPr id="7" name="Text 5"/>
          <p:cNvSpPr/>
          <p:nvPr/>
        </p:nvSpPr>
        <p:spPr>
          <a:xfrm>
            <a:off x="685800" y="1755648"/>
            <a:ext cx="2468880" cy="182880"/>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Runtime test results</a:t>
            </a:r>
            <a:endParaRPr lang="en-US" sz="800" dirty="0"/>
          </a:p>
        </p:txBody>
      </p:sp>
      <p:sp>
        <p:nvSpPr>
          <p:cNvPr id="8" name="Text 6"/>
          <p:cNvSpPr/>
          <p:nvPr/>
        </p:nvSpPr>
        <p:spPr>
          <a:xfrm>
            <a:off x="685800" y="1956816"/>
            <a:ext cx="2468880" cy="182880"/>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Wizard assessment</a:t>
            </a:r>
            <a:endParaRPr lang="en-US" sz="800" dirty="0"/>
          </a:p>
        </p:txBody>
      </p:sp>
      <p:sp>
        <p:nvSpPr>
          <p:cNvPr id="9" name="Text 7"/>
          <p:cNvSpPr/>
          <p:nvPr/>
        </p:nvSpPr>
        <p:spPr>
          <a:xfrm>
            <a:off x="685800" y="2157984"/>
            <a:ext cx="2468880" cy="182880"/>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AI inventory</a:t>
            </a:r>
            <a:endParaRPr lang="en-US" sz="800" dirty="0"/>
          </a:p>
        </p:txBody>
      </p:sp>
      <p:sp>
        <p:nvSpPr>
          <p:cNvPr id="10" name="Text 8"/>
          <p:cNvSpPr/>
          <p:nvPr/>
        </p:nvSpPr>
        <p:spPr>
          <a:xfrm>
            <a:off x="685800" y="2359152"/>
            <a:ext cx="2468880" cy="182880"/>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Compliance Twin state</a:t>
            </a:r>
            <a:endParaRPr lang="en-US" sz="800" dirty="0"/>
          </a:p>
        </p:txBody>
      </p:sp>
      <p:sp>
        <p:nvSpPr>
          <p:cNvPr id="11" name="Shape 9"/>
          <p:cNvSpPr/>
          <p:nvPr/>
        </p:nvSpPr>
        <p:spPr>
          <a:xfrm>
            <a:off x="3383280" y="1828800"/>
            <a:ext cx="274320" cy="0"/>
          </a:xfrm>
          <a:prstGeom prst="line">
            <a:avLst/>
          </a:prstGeom>
          <a:noFill/>
          <a:ln w="12700">
            <a:solidFill>
              <a:srgbClr val="999999"/>
            </a:solidFill>
            <a:prstDash val="solid"/>
            <a:tailEnd type="triangle"/>
          </a:ln>
        </p:spPr>
      </p:sp>
      <p:sp>
        <p:nvSpPr>
          <p:cNvPr id="12" name="Shape 10"/>
          <p:cNvSpPr/>
          <p:nvPr/>
        </p:nvSpPr>
        <p:spPr>
          <a:xfrm>
            <a:off x="3749040" y="1188720"/>
            <a:ext cx="4114800" cy="1371600"/>
          </a:xfrm>
          <a:prstGeom prst="rect">
            <a:avLst/>
          </a:prstGeom>
          <a:solidFill>
            <a:srgbClr val="F5F5F5"/>
          </a:solidFill>
          <a:ln w="6350">
            <a:solidFill>
              <a:srgbClr val="1A2B4A"/>
            </a:solidFill>
            <a:prstDash val="solid"/>
          </a:ln>
        </p:spPr>
      </p:sp>
      <p:sp>
        <p:nvSpPr>
          <p:cNvPr id="13" name="Text 11"/>
          <p:cNvSpPr/>
          <p:nvPr/>
        </p:nvSpPr>
        <p:spPr>
          <a:xfrm>
            <a:off x="3886200" y="1280160"/>
            <a:ext cx="3840480" cy="182880"/>
          </a:xfrm>
          <a:prstGeom prst="rect">
            <a:avLst/>
          </a:prstGeom>
          <a:noFill/>
          <a:ln/>
        </p:spPr>
        <p:txBody>
          <a:bodyPr wrap="square" rtlCol="0" anchor="ctr"/>
          <a:lstStyle/>
          <a:p>
            <a:pPr algn="l" indent="0" marL="0">
              <a:buNone/>
            </a:pPr>
            <a:r>
              <a:rPr lang="en-US" sz="800" b="1" dirty="0">
                <a:solidFill>
                  <a:srgbClr val="6B6B6B"/>
                </a:solidFill>
                <a:latin typeface="Arial" pitchFamily="34" charset="0"/>
                <a:ea typeface="Arial" pitchFamily="34" charset="-122"/>
                <a:cs typeface="Arial" pitchFamily="34" charset="-120"/>
              </a:rPr>
              <a:t>DECISION PIPELINE</a:t>
            </a:r>
            <a:endParaRPr lang="en-US" sz="800" dirty="0"/>
          </a:p>
        </p:txBody>
      </p:sp>
      <p:sp>
        <p:nvSpPr>
          <p:cNvPr id="14" name="Text 12"/>
          <p:cNvSpPr/>
          <p:nvPr/>
        </p:nvSpPr>
        <p:spPr>
          <a:xfrm>
            <a:off x="3886200" y="1554480"/>
            <a:ext cx="3840480" cy="274320"/>
          </a:xfrm>
          <a:prstGeom prst="rect">
            <a:avLst/>
          </a:prstGeom>
          <a:noFill/>
          <a:ln/>
        </p:spPr>
        <p:txBody>
          <a:bodyPr wrap="square" rtlCol="0" anchor="ctr"/>
          <a:lstStyle/>
          <a:p>
            <a:pPr indent="0" marL="0">
              <a:buNone/>
            </a:pPr>
            <a:r>
              <a:rPr lang="en-US" sz="900" dirty="0">
                <a:solidFill>
                  <a:srgbClr val="1A1A1A"/>
                </a:solidFill>
                <a:latin typeface="Arial" pitchFamily="34" charset="0"/>
                <a:ea typeface="Arial" pitchFamily="34" charset="-122"/>
                <a:cs typeface="Arial" pitchFamily="34" charset="-120"/>
              </a:rPr>
              <a:t>6 Nodes: INPUT → PROMPT → RETRIEVAL → TOOLS → MODEL → DECISION</a:t>
            </a:r>
            <a:endParaRPr lang="en-US" sz="900" dirty="0"/>
          </a:p>
        </p:txBody>
      </p:sp>
      <p:sp>
        <p:nvSpPr>
          <p:cNvPr id="15" name="Text 13"/>
          <p:cNvSpPr/>
          <p:nvPr/>
        </p:nvSpPr>
        <p:spPr>
          <a:xfrm>
            <a:off x="3886200" y="1920240"/>
            <a:ext cx="3840480" cy="274320"/>
          </a:xfrm>
          <a:prstGeom prst="rect">
            <a:avLst/>
          </a:prstGeom>
          <a:noFill/>
          <a:ln/>
        </p:spPr>
        <p:txBody>
          <a:bodyPr wrap="square" rtlCol="0" anchor="ctr"/>
          <a:lstStyle/>
          <a:p>
            <a:pPr indent="0" marL="0">
              <a:buNone/>
            </a:pPr>
            <a:r>
              <a:rPr lang="en-US" sz="900" dirty="0">
                <a:solidFill>
                  <a:srgbClr val="1A2B4A"/>
                </a:solidFill>
                <a:latin typeface="Arial" pitchFamily="34" charset="0"/>
                <a:ea typeface="Arial" pitchFamily="34" charset="-122"/>
                <a:cs typeface="Arial" pitchFamily="34" charset="-120"/>
              </a:rPr>
              <a:t>Decision Integrity Score (DIS) = weighted average �- coverage penalty</a:t>
            </a:r>
            <a:endParaRPr lang="en-US" sz="900" dirty="0"/>
          </a:p>
        </p:txBody>
      </p:sp>
      <p:sp>
        <p:nvSpPr>
          <p:cNvPr id="16" name="Text 14"/>
          <p:cNvSpPr/>
          <p:nvPr/>
        </p:nvSpPr>
        <p:spPr>
          <a:xfrm>
            <a:off x="3886200" y="2194560"/>
            <a:ext cx="3840480" cy="274320"/>
          </a:xfrm>
          <a:prstGeom prst="rect">
            <a:avLst/>
          </a:prstGeom>
          <a:noFill/>
          <a:ln/>
        </p:spPr>
        <p:txBody>
          <a:bodyPr wrap="square" rtlCol="0" anchor="ctr"/>
          <a:lstStyle/>
          <a:p>
            <a:pPr indent="0" marL="0">
              <a:buNone/>
            </a:pPr>
            <a:r>
              <a:rPr lang="en-US" sz="900" dirty="0">
                <a:solidFill>
                  <a:srgbClr val="4A4A4A"/>
                </a:solidFill>
                <a:latin typeface="Arial" pitchFamily="34" charset="0"/>
                <a:ea typeface="Arial" pitchFamily="34" charset="-122"/>
                <a:cs typeface="Arial" pitchFamily="34" charset="-120"/>
              </a:rPr>
              <a:t>NIST AI RMF: GOVERN · MAP · MEASURE · MANAGE</a:t>
            </a:r>
            <a:endParaRPr lang="en-US" sz="900" dirty="0"/>
          </a:p>
        </p:txBody>
      </p:sp>
      <p:sp>
        <p:nvSpPr>
          <p:cNvPr id="17" name="Shape 15"/>
          <p:cNvSpPr/>
          <p:nvPr/>
        </p:nvSpPr>
        <p:spPr>
          <a:xfrm>
            <a:off x="7955280" y="1828800"/>
            <a:ext cx="274320" cy="0"/>
          </a:xfrm>
          <a:prstGeom prst="line">
            <a:avLst/>
          </a:prstGeom>
          <a:noFill/>
          <a:ln w="12700">
            <a:solidFill>
              <a:srgbClr val="999999"/>
            </a:solidFill>
            <a:prstDash val="solid"/>
            <a:tailEnd type="triangle"/>
          </a:ln>
        </p:spPr>
      </p:sp>
      <p:sp>
        <p:nvSpPr>
          <p:cNvPr id="18" name="Shape 16"/>
          <p:cNvSpPr/>
          <p:nvPr/>
        </p:nvSpPr>
        <p:spPr>
          <a:xfrm>
            <a:off x="8321040" y="1188720"/>
            <a:ext cx="3291840" cy="1371600"/>
          </a:xfrm>
          <a:prstGeom prst="rect">
            <a:avLst/>
          </a:prstGeom>
          <a:solidFill>
            <a:srgbClr val="F5F5F5"/>
          </a:solidFill>
          <a:ln w="6350">
            <a:solidFill>
              <a:srgbClr val="1A2B4A"/>
            </a:solidFill>
            <a:prstDash val="solid"/>
          </a:ln>
        </p:spPr>
      </p:sp>
      <p:sp>
        <p:nvSpPr>
          <p:cNvPr id="19" name="Text 17"/>
          <p:cNvSpPr/>
          <p:nvPr/>
        </p:nvSpPr>
        <p:spPr>
          <a:xfrm>
            <a:off x="8458200" y="1280160"/>
            <a:ext cx="3017520" cy="182880"/>
          </a:xfrm>
          <a:prstGeom prst="rect">
            <a:avLst/>
          </a:prstGeom>
          <a:noFill/>
          <a:ln/>
        </p:spPr>
        <p:txBody>
          <a:bodyPr wrap="square" rtlCol="0" anchor="ctr"/>
          <a:lstStyle/>
          <a:p>
            <a:pPr algn="l" indent="0" marL="0">
              <a:buNone/>
            </a:pPr>
            <a:r>
              <a:rPr lang="en-US" sz="800" b="1" dirty="0">
                <a:solidFill>
                  <a:srgbClr val="6B6B6B"/>
                </a:solidFill>
                <a:latin typeface="Arial" pitchFamily="34" charset="0"/>
                <a:ea typeface="Arial" pitchFamily="34" charset="-122"/>
                <a:cs typeface="Arial" pitchFamily="34" charset="-120"/>
              </a:rPr>
              <a:t>OUTPUT</a:t>
            </a:r>
            <a:endParaRPr lang="en-US" sz="800" dirty="0"/>
          </a:p>
        </p:txBody>
      </p:sp>
      <p:sp>
        <p:nvSpPr>
          <p:cNvPr id="20" name="Text 18"/>
          <p:cNvSpPr/>
          <p:nvPr/>
        </p:nvSpPr>
        <p:spPr>
          <a:xfrm>
            <a:off x="8458200" y="1554480"/>
            <a:ext cx="3017520" cy="182880"/>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DIS score (0–100)</a:t>
            </a:r>
            <a:endParaRPr lang="en-US" sz="800" dirty="0"/>
          </a:p>
        </p:txBody>
      </p:sp>
      <p:sp>
        <p:nvSpPr>
          <p:cNvPr id="21" name="Text 19"/>
          <p:cNvSpPr/>
          <p:nvPr/>
        </p:nvSpPr>
        <p:spPr>
          <a:xfrm>
            <a:off x="8458200" y="1755648"/>
            <a:ext cx="3017520" cy="182880"/>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Per-node breakdown</a:t>
            </a:r>
            <a:endParaRPr lang="en-US" sz="800" dirty="0"/>
          </a:p>
        </p:txBody>
      </p:sp>
      <p:sp>
        <p:nvSpPr>
          <p:cNvPr id="22" name="Text 20"/>
          <p:cNvSpPr/>
          <p:nvPr/>
        </p:nvSpPr>
        <p:spPr>
          <a:xfrm>
            <a:off x="8458200" y="1956816"/>
            <a:ext cx="3017520" cy="182880"/>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Audit package (JSON)</a:t>
            </a:r>
            <a:endParaRPr lang="en-US" sz="800" dirty="0"/>
          </a:p>
        </p:txBody>
      </p:sp>
      <p:sp>
        <p:nvSpPr>
          <p:cNvPr id="23" name="Text 21"/>
          <p:cNvSpPr/>
          <p:nvPr/>
        </p:nvSpPr>
        <p:spPr>
          <a:xfrm>
            <a:off x="8458200" y="2157984"/>
            <a:ext cx="3017520" cy="182880"/>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Review sign-off chain</a:t>
            </a:r>
            <a:endParaRPr lang="en-US" sz="800" dirty="0"/>
          </a:p>
        </p:txBody>
      </p:sp>
      <p:sp>
        <p:nvSpPr>
          <p:cNvPr id="24" name="Text 22"/>
          <p:cNvSpPr/>
          <p:nvPr/>
        </p:nvSpPr>
        <p:spPr>
          <a:xfrm>
            <a:off x="8458200" y="2359152"/>
            <a:ext cx="3017520" cy="182880"/>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Drift detection</a:t>
            </a:r>
            <a:endParaRPr lang="en-US" sz="800" dirty="0"/>
          </a:p>
        </p:txBody>
      </p:sp>
      <p:sp>
        <p:nvSpPr>
          <p:cNvPr id="25" name="Shape 23"/>
          <p:cNvSpPr/>
          <p:nvPr/>
        </p:nvSpPr>
        <p:spPr>
          <a:xfrm>
            <a:off x="548640" y="2834640"/>
            <a:ext cx="5303520" cy="2560320"/>
          </a:xfrm>
          <a:prstGeom prst="rect">
            <a:avLst/>
          </a:prstGeom>
          <a:solidFill>
            <a:srgbClr val="F5F5F5"/>
          </a:solidFill>
          <a:ln w="6350">
            <a:solidFill>
              <a:srgbClr val="D0D0D0"/>
            </a:solidFill>
            <a:prstDash val="solid"/>
          </a:ln>
        </p:spPr>
      </p:sp>
      <p:sp>
        <p:nvSpPr>
          <p:cNvPr id="26" name="Text 24"/>
          <p:cNvSpPr/>
          <p:nvPr/>
        </p:nvSpPr>
        <p:spPr>
          <a:xfrm>
            <a:off x="731520" y="2926080"/>
            <a:ext cx="4937760" cy="320040"/>
          </a:xfrm>
          <a:prstGeom prst="rect">
            <a:avLst/>
          </a:prstGeom>
          <a:noFill/>
          <a:ln/>
        </p:spPr>
        <p:txBody>
          <a:bodyPr wrap="square" rtlCol="0" anchor="ctr"/>
          <a:lstStyle/>
          <a:p>
            <a:pPr indent="0" marL="0">
              <a:buNone/>
            </a:pPr>
            <a:r>
              <a:rPr lang="en-US" sz="1200" b="1" dirty="0">
                <a:solidFill>
                  <a:srgbClr val="1A2B4A"/>
                </a:solidFill>
                <a:latin typeface="Arial" pitchFamily="34" charset="0"/>
                <a:ea typeface="Arial" pitchFamily="34" charset="-122"/>
                <a:cs typeface="Arial" pitchFamily="34" charset="-120"/>
              </a:rPr>
              <a:t>Current Implementation</a:t>
            </a:r>
            <a:endParaRPr lang="en-US" sz="1200" dirty="0"/>
          </a:p>
        </p:txBody>
      </p:sp>
      <p:sp>
        <p:nvSpPr>
          <p:cNvPr id="27" name="Text 25"/>
          <p:cNvSpPr/>
          <p:nvPr/>
        </p:nvSpPr>
        <p:spPr>
          <a:xfrm>
            <a:off x="731520" y="3291840"/>
            <a:ext cx="1645920" cy="228600"/>
          </a:xfrm>
          <a:prstGeom prst="rect">
            <a:avLst/>
          </a:prstGeom>
          <a:noFill/>
          <a:ln/>
        </p:spPr>
        <p:txBody>
          <a:bodyPr wrap="square" rtlCol="0" anchor="ctr"/>
          <a:lstStyle/>
          <a:p>
            <a:pPr algn="l" indent="0" marL="0">
              <a:buNone/>
            </a:pPr>
            <a:r>
              <a:rPr lang="en-US" sz="800" b="1" dirty="0">
                <a:solidFill>
                  <a:srgbClr val="1A2B4A"/>
                </a:solidFill>
                <a:latin typeface="Arial" pitchFamily="34" charset="0"/>
                <a:ea typeface="Arial" pitchFamily="34" charset="-122"/>
                <a:cs typeface="Arial" pitchFamily="34" charset="-120"/>
              </a:rPr>
              <a:t>IMPLEMENTED</a:t>
            </a:r>
            <a:endParaRPr lang="en-US" sz="800" dirty="0"/>
          </a:p>
        </p:txBody>
      </p:sp>
      <p:sp>
        <p:nvSpPr>
          <p:cNvPr id="28" name="Text 26"/>
          <p:cNvSpPr/>
          <p:nvPr/>
        </p:nvSpPr>
        <p:spPr>
          <a:xfrm>
            <a:off x="731520" y="3657600"/>
            <a:ext cx="4937760" cy="201168"/>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Aggregation job normalizes all engine outputs to 6 nodes</a:t>
            </a:r>
            <a:endParaRPr lang="en-US" sz="800" dirty="0"/>
          </a:p>
        </p:txBody>
      </p:sp>
      <p:sp>
        <p:nvSpPr>
          <p:cNvPr id="29" name="Text 27"/>
          <p:cNvSpPr/>
          <p:nvPr/>
        </p:nvSpPr>
        <p:spPr>
          <a:xfrm>
            <a:off x="731520" y="3877056"/>
            <a:ext cx="4937760" cy="201168"/>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DIS formula v1.0 with locked methodology version</a:t>
            </a:r>
            <a:endParaRPr lang="en-US" sz="800" dirty="0"/>
          </a:p>
        </p:txBody>
      </p:sp>
      <p:sp>
        <p:nvSpPr>
          <p:cNvPr id="30" name="Text 28"/>
          <p:cNvSpPr/>
          <p:nvPr/>
        </p:nvSpPr>
        <p:spPr>
          <a:xfrm>
            <a:off x="731520" y="4096512"/>
            <a:ext cx="4937760" cy="201168"/>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Coverage penalty: &lt;50% → �-0.85, 50-74% → �-0.95, ≥75% → �-1.00</a:t>
            </a:r>
            <a:endParaRPr lang="en-US" sz="800" dirty="0"/>
          </a:p>
        </p:txBody>
      </p:sp>
      <p:sp>
        <p:nvSpPr>
          <p:cNvPr id="31" name="Text 29"/>
          <p:cNvSpPr/>
          <p:nvPr/>
        </p:nvSpPr>
        <p:spPr>
          <a:xfrm>
            <a:off x="731520" y="4315968"/>
            <a:ext cx="4937760" cy="201168"/>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Audit eligibility: FULL_RUN with every required architecture node VERIFIED</a:t>
            </a:r>
            <a:endParaRPr lang="en-US" sz="800" dirty="0"/>
          </a:p>
        </p:txBody>
      </p:sp>
      <p:sp>
        <p:nvSpPr>
          <p:cNvPr id="32" name="Text 30"/>
          <p:cNvSpPr/>
          <p:nvPr/>
        </p:nvSpPr>
        <p:spPr>
          <a:xfrm>
            <a:off x="731520" y="4535424"/>
            <a:ext cx="4937760" cy="201168"/>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PARTIAL_RUN results consistently excluded from audit eligibility</a:t>
            </a:r>
            <a:endParaRPr lang="en-US" sz="800" dirty="0"/>
          </a:p>
        </p:txBody>
      </p:sp>
      <p:sp>
        <p:nvSpPr>
          <p:cNvPr id="33" name="Text 31"/>
          <p:cNvSpPr/>
          <p:nvPr/>
        </p:nvSpPr>
        <p:spPr>
          <a:xfrm>
            <a:off x="731520" y="4754880"/>
            <a:ext cx="4937760" cy="201168"/>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Human review workflow with signature hash + IP + user-agent</a:t>
            </a:r>
            <a:endParaRPr lang="en-US" sz="800" dirty="0"/>
          </a:p>
        </p:txBody>
      </p:sp>
      <p:sp>
        <p:nvSpPr>
          <p:cNvPr id="34" name="Text 32"/>
          <p:cNvSpPr/>
          <p:nvPr/>
        </p:nvSpPr>
        <p:spPr>
          <a:xfrm>
            <a:off x="731520" y="4974336"/>
            <a:ext cx="4937760" cy="201168"/>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Drift detection: ≥10pt overall drop or ≥15pt node drop or eligibility flip</a:t>
            </a:r>
            <a:endParaRPr lang="en-US" sz="800" dirty="0"/>
          </a:p>
        </p:txBody>
      </p:sp>
      <p:sp>
        <p:nvSpPr>
          <p:cNvPr id="35" name="Text 33"/>
          <p:cNvSpPr/>
          <p:nvPr/>
        </p:nvSpPr>
        <p:spPr>
          <a:xfrm>
            <a:off x="731520" y="5193792"/>
            <a:ext cx="4937760" cy="201168"/>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Enterprise V1 API with feature gate and rate limiting</a:t>
            </a:r>
            <a:endParaRPr lang="en-US" sz="800" dirty="0"/>
          </a:p>
        </p:txBody>
      </p:sp>
      <p:sp>
        <p:nvSpPr>
          <p:cNvPr id="36" name="Shape 34"/>
          <p:cNvSpPr/>
          <p:nvPr/>
        </p:nvSpPr>
        <p:spPr>
          <a:xfrm>
            <a:off x="6309360" y="2834640"/>
            <a:ext cx="5303520" cy="2560320"/>
          </a:xfrm>
          <a:prstGeom prst="rect">
            <a:avLst/>
          </a:prstGeom>
          <a:solidFill>
            <a:srgbClr val="F5F5F5"/>
          </a:solidFill>
          <a:ln w="6350">
            <a:solidFill>
              <a:srgbClr val="1A2B4A"/>
            </a:solidFill>
            <a:prstDash val="solid"/>
          </a:ln>
        </p:spPr>
      </p:sp>
      <p:sp>
        <p:nvSpPr>
          <p:cNvPr id="37" name="Text 35"/>
          <p:cNvSpPr/>
          <p:nvPr/>
        </p:nvSpPr>
        <p:spPr>
          <a:xfrm>
            <a:off x="6492240" y="2926080"/>
            <a:ext cx="4937760" cy="320040"/>
          </a:xfrm>
          <a:prstGeom prst="rect">
            <a:avLst/>
          </a:prstGeom>
          <a:noFill/>
          <a:ln/>
        </p:spPr>
        <p:txBody>
          <a:bodyPr wrap="square" rtlCol="0" anchor="ctr"/>
          <a:lstStyle/>
          <a:p>
            <a:pPr indent="0" marL="0">
              <a:buNone/>
            </a:pPr>
            <a:r>
              <a:rPr lang="en-US" sz="1200" b="1" dirty="0">
                <a:solidFill>
                  <a:srgbClr val="1A2B4A"/>
                </a:solidFill>
                <a:latin typeface="Arial" pitchFamily="34" charset="0"/>
                <a:ea typeface="Arial" pitchFamily="34" charset="-122"/>
                <a:cs typeface="Arial" pitchFamily="34" charset="-120"/>
              </a:rPr>
              <a:t>Roadmap &amp; Next Capabilities</a:t>
            </a:r>
            <a:endParaRPr lang="en-US" sz="1200" dirty="0"/>
          </a:p>
        </p:txBody>
      </p:sp>
      <p:sp>
        <p:nvSpPr>
          <p:cNvPr id="38" name="Text 36"/>
          <p:cNvSpPr/>
          <p:nvPr/>
        </p:nvSpPr>
        <p:spPr>
          <a:xfrm>
            <a:off x="6492240" y="3291840"/>
            <a:ext cx="1645920" cy="228600"/>
          </a:xfrm>
          <a:prstGeom prst="rect">
            <a:avLst/>
          </a:prstGeom>
          <a:noFill/>
          <a:ln/>
        </p:spPr>
        <p:txBody>
          <a:bodyPr wrap="square" rtlCol="0" anchor="ctr"/>
          <a:lstStyle/>
          <a:p>
            <a:pPr algn="l" indent="0" marL="0">
              <a:buNone/>
            </a:pPr>
            <a:r>
              <a:rPr lang="en-US" sz="800" b="1" dirty="0">
                <a:solidFill>
                  <a:srgbClr val="1A2B4A"/>
                </a:solidFill>
                <a:latin typeface="Arial" pitchFamily="34" charset="0"/>
                <a:ea typeface="Arial" pitchFamily="34" charset="-122"/>
                <a:cs typeface="Arial" pitchFamily="34" charset="-120"/>
              </a:rPr>
              <a:t>ACTIVE DEVELOPMENT</a:t>
            </a:r>
            <a:endParaRPr lang="en-US" sz="800" dirty="0"/>
          </a:p>
        </p:txBody>
      </p:sp>
      <p:sp>
        <p:nvSpPr>
          <p:cNvPr id="39" name="Text 37"/>
          <p:cNvSpPr/>
          <p:nvPr/>
        </p:nvSpPr>
        <p:spPr>
          <a:xfrm>
            <a:off x="6492240" y="3657600"/>
            <a:ext cx="4937760" cy="201168"/>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Findings-level blocker gates: scoring implemented, enforcement activation next</a:t>
            </a:r>
            <a:endParaRPr lang="en-US" sz="800" dirty="0"/>
          </a:p>
        </p:txBody>
      </p:sp>
      <p:sp>
        <p:nvSpPr>
          <p:cNvPr id="40" name="Text 38"/>
          <p:cNvSpPr/>
          <p:nvPr/>
        </p:nvSpPr>
        <p:spPr>
          <a:xfrm>
            <a:off x="6492240" y="3877056"/>
            <a:ext cx="4937760" cy="201168"/>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Critical-finding gates: eligibility enforcement in active development</a:t>
            </a:r>
            <a:endParaRPr lang="en-US" sz="800" dirty="0"/>
          </a:p>
        </p:txBody>
      </p:sp>
      <p:sp>
        <p:nvSpPr>
          <p:cNvPr id="41" name="Text 39"/>
          <p:cNvSpPr/>
          <p:nvPr/>
        </p:nvSpPr>
        <p:spPr>
          <a:xfrm>
            <a:off x="6492240" y="4096512"/>
            <a:ext cx="4937760" cy="201168"/>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Minimum coverage thresholds as explicit eligibility conditions</a:t>
            </a:r>
            <a:endParaRPr lang="en-US" sz="800" dirty="0"/>
          </a:p>
        </p:txBody>
      </p:sp>
      <p:sp>
        <p:nvSpPr>
          <p:cNvPr id="42" name="Text 40"/>
          <p:cNvSpPr/>
          <p:nvPr/>
        </p:nvSpPr>
        <p:spPr>
          <a:xfrm>
            <a:off x="6492240" y="4315968"/>
            <a:ext cx="4937760" cy="201168"/>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QStash async job: infrastructure ready, production token configuration next</a:t>
            </a:r>
            <a:endParaRPr lang="en-US" sz="800" dirty="0"/>
          </a:p>
        </p:txBody>
      </p:sp>
      <p:sp>
        <p:nvSpPr>
          <p:cNvPr id="43" name="Text 41"/>
          <p:cNvSpPr/>
          <p:nvPr/>
        </p:nvSpPr>
        <p:spPr>
          <a:xfrm>
            <a:off x="6492240" y="4535424"/>
            <a:ext cx="4937760" cy="201168"/>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Scheduled re-verification: cron infrastructure ready, scheduling activation next</a:t>
            </a:r>
            <a:endParaRPr lang="en-US" sz="800" dirty="0"/>
          </a:p>
        </p:txBody>
      </p:sp>
      <p:sp>
        <p:nvSpPr>
          <p:cNvPr id="44" name="Text 42"/>
          <p:cNvSpPr/>
          <p:nvPr/>
        </p:nvSpPr>
        <p:spPr>
          <a:xfrm>
            <a:off x="6492240" y="4754880"/>
            <a:ext cx="4937760" cy="201168"/>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Review workflow: sign-off chain implemented, production rollout next</a:t>
            </a:r>
            <a:endParaRPr lang="en-US" sz="800" dirty="0"/>
          </a:p>
        </p:txBody>
      </p:sp>
      <p:sp>
        <p:nvSpPr>
          <p:cNvPr id="45" name="Text 43"/>
          <p:cNvSpPr/>
          <p:nvPr/>
        </p:nvSpPr>
        <p:spPr>
          <a:xfrm>
            <a:off x="548640" y="5669280"/>
            <a:ext cx="10972800" cy="274320"/>
          </a:xfrm>
          <a:prstGeom prst="rect">
            <a:avLst/>
          </a:prstGeom>
          <a:noFill/>
          <a:ln/>
        </p:spPr>
        <p:txBody>
          <a:bodyPr wrap="square" rtlCol="0" anchor="t"/>
          <a:lstStyle/>
          <a:p>
            <a:pPr algn="l" indent="0" marL="0">
              <a:lnSpc>
                <a:spcPct val="115000"/>
              </a:lnSpc>
              <a:buNone/>
            </a:pPr>
            <a:r>
              <a:rPr lang="en-US" sz="1000" b="1" dirty="0">
                <a:solidFill>
                  <a:srgbClr val="1A2B4A"/>
                </a:solidFill>
                <a:latin typeface="Arial" pitchFamily="34" charset="0"/>
                <a:ea typeface="Arial" pitchFamily="34" charset="-122"/>
                <a:cs typeface="Arial" pitchFamily="34" charset="-120"/>
              </a:rPr>
              <a:t>Product principle: UI never computes scores - it only reads from aggregation output tables. Methodology version is locked at compute time.</a:t>
            </a:r>
            <a:endParaRPr lang="en-US" sz="1000" dirty="0"/>
          </a:p>
        </p:txBody>
      </p:sp>
      <p:sp>
        <p:nvSpPr>
          <p:cNvPr id="46" name="Text 44"/>
          <p:cNvSpPr/>
          <p:nvPr/>
        </p:nvSpPr>
        <p:spPr>
          <a:xfrm>
            <a:off x="548640" y="6035040"/>
            <a:ext cx="10972800" cy="274320"/>
          </a:xfrm>
          <a:prstGeom prst="rect">
            <a:avLst/>
          </a:prstGeom>
          <a:noFill/>
          <a:ln/>
        </p:spPr>
        <p:txBody>
          <a:bodyPr wrap="square" rtlCol="0" anchor="t"/>
          <a:lstStyle/>
          <a:p>
            <a:pPr algn="l" indent="0" marL="0">
              <a:lnSpc>
                <a:spcPct val="115000"/>
              </a:lnSpc>
              <a:buNone/>
            </a:pPr>
            <a:r>
              <a:rPr lang="en-US" sz="900" dirty="0">
                <a:solidFill>
                  <a:srgbClr val="4A4A4A"/>
                </a:solidFill>
                <a:latin typeface="Arial" pitchFamily="34" charset="0"/>
                <a:ea typeface="Arial" pitchFamily="34" charset="-122"/>
                <a:cs typeface="Arial" pitchFamily="34" charset="-120"/>
              </a:rPr>
              <a:t>Maturity: Decision Pipeline - Implemented (scoring, aggregation, audit package, PARTIAL_RUN exclusion). Findings-level blocker enforcement in active development for eligibility gate activation.</a:t>
            </a:r>
            <a:endParaRPr lang="en-US" sz="900" dirty="0"/>
          </a:p>
        </p:txBody>
      </p:sp>
      <p:sp>
        <p:nvSpPr>
          <p:cNvPr id="47" name="Shape 45"/>
          <p:cNvSpPr/>
          <p:nvPr/>
        </p:nvSpPr>
        <p:spPr>
          <a:xfrm>
            <a:off x="457200" y="6473952"/>
            <a:ext cx="11277295" cy="0"/>
          </a:xfrm>
          <a:prstGeom prst="line">
            <a:avLst/>
          </a:prstGeom>
          <a:noFill/>
          <a:ln w="6350">
            <a:solidFill>
              <a:srgbClr val="CCCCCC"/>
            </a:solidFill>
            <a:prstDash val="solid"/>
          </a:ln>
        </p:spPr>
      </p:sp>
      <p:sp>
        <p:nvSpPr>
          <p:cNvPr id="48" name="Text 46"/>
          <p:cNvSpPr/>
          <p:nvPr/>
        </p:nvSpPr>
        <p:spPr>
          <a:xfrm>
            <a:off x="457200" y="6537960"/>
            <a:ext cx="7315200" cy="228600"/>
          </a:xfrm>
          <a:prstGeom prst="rect">
            <a:avLst/>
          </a:prstGeom>
          <a:noFill/>
          <a:ln/>
        </p:spPr>
        <p:txBody>
          <a:bodyPr wrap="square" rtlCol="0" anchor="ctr"/>
          <a:lstStyle/>
          <a:p>
            <a:pPr indent="0" marL="0">
              <a:buNone/>
            </a:pPr>
            <a:r>
              <a:rPr lang="en-US" sz="800" dirty="0">
                <a:solidFill>
                  <a:srgbClr val="6B6B6B"/>
                </a:solidFill>
                <a:latin typeface="Arial" pitchFamily="34" charset="0"/>
                <a:ea typeface="Arial" pitchFamily="34" charset="-122"/>
                <a:cs typeface="Arial" pitchFamily="34" charset="-120"/>
              </a:rPr>
              <a:t>HAIEC  ·  Confidential Discussion Brief  ·  9/15</a:t>
            </a:r>
            <a:endParaRPr lang="en-US" sz="800" dirty="0"/>
          </a:p>
        </p:txBody>
      </p:sp>
      <p:sp>
        <p:nvSpPr>
          <p:cNvPr id="49" name="Text 47"/>
          <p:cNvSpPr/>
          <p:nvPr/>
        </p:nvSpPr>
        <p:spPr>
          <a:xfrm>
            <a:off x="8991295" y="6537960"/>
            <a:ext cx="2743200" cy="228600"/>
          </a:xfrm>
          <a:prstGeom prst="rect">
            <a:avLst/>
          </a:prstGeom>
          <a:noFill/>
          <a:ln/>
        </p:spPr>
        <p:txBody>
          <a:bodyPr wrap="square" rtlCol="0" anchor="ctr"/>
          <a:lstStyle/>
          <a:p>
            <a:pPr algn="r" indent="0" marL="0">
              <a:buNone/>
            </a:pPr>
            <a:r>
              <a:rPr lang="en-US" sz="800" dirty="0">
                <a:solidFill>
                  <a:srgbClr val="6B6B6B"/>
                </a:solidFill>
                <a:latin typeface="Arial" pitchFamily="34" charset="0"/>
                <a:ea typeface="Arial" pitchFamily="34" charset="-122"/>
                <a:cs typeface="Arial" pitchFamily="34" charset="-120"/>
              </a:rPr>
              <a:t>v1.0  ·  2026-07-31</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57200"/>
            <a:ext cx="11277295" cy="548640"/>
          </a:xfrm>
          <a:prstGeom prst="rect">
            <a:avLst/>
          </a:prstGeom>
          <a:noFill/>
          <a:ln/>
        </p:spPr>
        <p:txBody>
          <a:bodyPr wrap="square" rtlCol="0" anchor="ctr"/>
          <a:lstStyle/>
          <a:p>
            <a:pPr algn="l" indent="0" marL="0">
              <a:buNone/>
            </a:pPr>
            <a:r>
              <a:rPr lang="en-US" sz="2200" b="1" dirty="0">
                <a:solidFill>
                  <a:srgbClr val="1A2B4A"/>
                </a:solidFill>
                <a:latin typeface="Arial" pitchFamily="34" charset="0"/>
                <a:ea typeface="Arial" pitchFamily="34" charset="-122"/>
                <a:cs typeface="Arial" pitchFamily="34" charset="-120"/>
              </a:rPr>
              <a:t>Validation should change when the system changes.</a:t>
            </a:r>
            <a:endParaRPr lang="en-US" sz="2200" dirty="0"/>
          </a:p>
        </p:txBody>
      </p:sp>
      <p:sp>
        <p:nvSpPr>
          <p:cNvPr id="3" name="Shape 1"/>
          <p:cNvSpPr/>
          <p:nvPr/>
        </p:nvSpPr>
        <p:spPr>
          <a:xfrm>
            <a:off x="457200" y="1051560"/>
            <a:ext cx="11277295" cy="0"/>
          </a:xfrm>
          <a:prstGeom prst="line">
            <a:avLst/>
          </a:prstGeom>
          <a:noFill/>
          <a:ln w="12700">
            <a:solidFill>
              <a:srgbClr val="1A2B4A"/>
            </a:solidFill>
            <a:prstDash val="solid"/>
          </a:ln>
        </p:spPr>
      </p:sp>
      <p:sp>
        <p:nvSpPr>
          <p:cNvPr id="4" name="Shape 2"/>
          <p:cNvSpPr/>
          <p:nvPr/>
        </p:nvSpPr>
        <p:spPr>
          <a:xfrm>
            <a:off x="548640" y="1188720"/>
            <a:ext cx="5303520" cy="2743200"/>
          </a:xfrm>
          <a:prstGeom prst="rect">
            <a:avLst/>
          </a:prstGeom>
          <a:solidFill>
            <a:srgbClr val="F5F5F5"/>
          </a:solidFill>
          <a:ln w="6350">
            <a:solidFill>
              <a:srgbClr val="1A2B4A"/>
            </a:solidFill>
            <a:prstDash val="solid"/>
          </a:ln>
        </p:spPr>
      </p:sp>
      <p:sp>
        <p:nvSpPr>
          <p:cNvPr id="5" name="Text 3"/>
          <p:cNvSpPr/>
          <p:nvPr/>
        </p:nvSpPr>
        <p:spPr>
          <a:xfrm>
            <a:off x="731520" y="1280160"/>
            <a:ext cx="4937760" cy="320040"/>
          </a:xfrm>
          <a:prstGeom prst="rect">
            <a:avLst/>
          </a:prstGeom>
          <a:noFill/>
          <a:ln/>
        </p:spPr>
        <p:txBody>
          <a:bodyPr wrap="square" rtlCol="0" anchor="ctr"/>
          <a:lstStyle/>
          <a:p>
            <a:pPr indent="0" marL="0">
              <a:buNone/>
            </a:pPr>
            <a:r>
              <a:rPr lang="en-US" sz="1300" b="1" dirty="0">
                <a:solidFill>
                  <a:srgbClr val="1A2B4A"/>
                </a:solidFill>
                <a:latin typeface="Arial" pitchFamily="34" charset="0"/>
                <a:ea typeface="Arial" pitchFamily="34" charset="-122"/>
                <a:cs typeface="Arial" pitchFamily="34" charset="-120"/>
              </a:rPr>
              <a:t>Compliance Twin</a:t>
            </a:r>
            <a:endParaRPr lang="en-US" sz="1300" dirty="0"/>
          </a:p>
        </p:txBody>
      </p:sp>
      <p:sp>
        <p:nvSpPr>
          <p:cNvPr id="6" name="Text 4"/>
          <p:cNvSpPr/>
          <p:nvPr/>
        </p:nvSpPr>
        <p:spPr>
          <a:xfrm>
            <a:off x="731520" y="1645920"/>
            <a:ext cx="1645920" cy="228600"/>
          </a:xfrm>
          <a:prstGeom prst="rect">
            <a:avLst/>
          </a:prstGeom>
          <a:noFill/>
          <a:ln/>
        </p:spPr>
        <p:txBody>
          <a:bodyPr wrap="square" rtlCol="0" anchor="ctr"/>
          <a:lstStyle/>
          <a:p>
            <a:pPr algn="l" indent="0" marL="0">
              <a:buNone/>
            </a:pPr>
            <a:r>
              <a:rPr lang="en-US" sz="800" b="1" dirty="0">
                <a:solidFill>
                  <a:srgbClr val="1A2B4A"/>
                </a:solidFill>
                <a:latin typeface="Arial" pitchFamily="34" charset="0"/>
                <a:ea typeface="Arial" pitchFamily="34" charset="-122"/>
                <a:cs typeface="Arial" pitchFamily="34" charset="-120"/>
              </a:rPr>
              <a:t>SUBSTANTIVE SUBSYSTEM</a:t>
            </a:r>
            <a:endParaRPr lang="en-US" sz="800" dirty="0"/>
          </a:p>
        </p:txBody>
      </p:sp>
      <p:sp>
        <p:nvSpPr>
          <p:cNvPr id="7" name="Text 5"/>
          <p:cNvSpPr/>
          <p:nvPr/>
        </p:nvSpPr>
        <p:spPr>
          <a:xfrm>
            <a:off x="731520" y="2011680"/>
            <a:ext cx="4937760" cy="182880"/>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17 files in lib/compliance-twin/ - entirely TypeScript</a:t>
            </a:r>
            <a:endParaRPr lang="en-US" sz="800" dirty="0"/>
          </a:p>
        </p:txBody>
      </p:sp>
      <p:sp>
        <p:nvSpPr>
          <p:cNvPr id="8" name="Text 6"/>
          <p:cNvSpPr/>
          <p:nvPr/>
        </p:nvSpPr>
        <p:spPr>
          <a:xfrm>
            <a:off x="731520" y="2203704"/>
            <a:ext cx="4937760" cy="182880"/>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6 jurisdictions: NYC LL144, Colorado SB24-205, EU AI Act, US Federal, UK, International</a:t>
            </a:r>
            <a:endParaRPr lang="en-US" sz="800" dirty="0"/>
          </a:p>
        </p:txBody>
      </p:sp>
      <p:sp>
        <p:nvSpPr>
          <p:cNvPr id="9" name="Text 7"/>
          <p:cNvSpPr/>
          <p:nvPr/>
        </p:nvSpPr>
        <p:spPr>
          <a:xfrm>
            <a:off x="731520" y="2395728"/>
            <a:ext cx="4937760" cy="182880"/>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Delta engine: structured diff between compliance snapshots (Patent P1)</a:t>
            </a:r>
            <a:endParaRPr lang="en-US" sz="800" dirty="0"/>
          </a:p>
        </p:txBody>
      </p:sp>
      <p:sp>
        <p:nvSpPr>
          <p:cNvPr id="10" name="Text 8"/>
          <p:cNvSpPr/>
          <p:nvPr/>
        </p:nvSpPr>
        <p:spPr>
          <a:xfrm>
            <a:off x="731520" y="2587752"/>
            <a:ext cx="4937760" cy="182880"/>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Anomaly detector: Z-score + IQR statistical methods</a:t>
            </a:r>
            <a:endParaRPr lang="en-US" sz="800" dirty="0"/>
          </a:p>
        </p:txBody>
      </p:sp>
      <p:sp>
        <p:nvSpPr>
          <p:cNvPr id="11" name="Text 9"/>
          <p:cNvSpPr/>
          <p:nvPr/>
        </p:nvSpPr>
        <p:spPr>
          <a:xfrm>
            <a:off x="731520" y="2779776"/>
            <a:ext cx="4937760" cy="182880"/>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Alert engine: deduplication + 4-level escalation</a:t>
            </a:r>
            <a:endParaRPr lang="en-US" sz="800" dirty="0"/>
          </a:p>
        </p:txBody>
      </p:sp>
      <p:sp>
        <p:nvSpPr>
          <p:cNvPr id="12" name="Text 10"/>
          <p:cNvSpPr/>
          <p:nvPr/>
        </p:nvSpPr>
        <p:spPr>
          <a:xfrm>
            <a:off x="731520" y="2971800"/>
            <a:ext cx="4937760" cy="182880"/>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Rulepack engine: 23 seed rules across 4 frameworks</a:t>
            </a:r>
            <a:endParaRPr lang="en-US" sz="800" dirty="0"/>
          </a:p>
        </p:txBody>
      </p:sp>
      <p:sp>
        <p:nvSpPr>
          <p:cNvPr id="13" name="Text 11"/>
          <p:cNvSpPr/>
          <p:nvPr/>
        </p:nvSpPr>
        <p:spPr>
          <a:xfrm>
            <a:off x="731520" y="3163824"/>
            <a:ext cx="4937760" cy="182880"/>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Snapshot engine: SHA-256-addressed, tamper-evident state snapshots</a:t>
            </a:r>
            <a:endParaRPr lang="en-US" sz="800" dirty="0"/>
          </a:p>
        </p:txBody>
      </p:sp>
      <p:sp>
        <p:nvSpPr>
          <p:cNvPr id="14" name="Text 12"/>
          <p:cNvSpPr/>
          <p:nvPr/>
        </p:nvSpPr>
        <p:spPr>
          <a:xfrm>
            <a:off x="731520" y="3355848"/>
            <a:ext cx="4937760" cy="182880"/>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Provenance engine: compliance record anchoring (Patent P3)</a:t>
            </a:r>
            <a:endParaRPr lang="en-US" sz="800" dirty="0"/>
          </a:p>
        </p:txBody>
      </p:sp>
      <p:sp>
        <p:nvSpPr>
          <p:cNvPr id="15" name="Text 13"/>
          <p:cNvSpPr/>
          <p:nvPr/>
        </p:nvSpPr>
        <p:spPr>
          <a:xfrm>
            <a:off x="731520" y="3547872"/>
            <a:ext cx="4937760" cy="182880"/>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Regression engine: detects previously-passing rules that now fail</a:t>
            </a:r>
            <a:endParaRPr lang="en-US" sz="800" dirty="0"/>
          </a:p>
        </p:txBody>
      </p:sp>
      <p:sp>
        <p:nvSpPr>
          <p:cNvPr id="16" name="Text 14"/>
          <p:cNvSpPr/>
          <p:nvPr/>
        </p:nvSpPr>
        <p:spPr>
          <a:xfrm>
            <a:off x="731520" y="3739896"/>
            <a:ext cx="4937760" cy="182880"/>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17 API routes for full lifecycle management</a:t>
            </a:r>
            <a:endParaRPr lang="en-US" sz="800" dirty="0"/>
          </a:p>
        </p:txBody>
      </p:sp>
      <p:sp>
        <p:nvSpPr>
          <p:cNvPr id="17" name="Shape 15"/>
          <p:cNvSpPr/>
          <p:nvPr/>
        </p:nvSpPr>
        <p:spPr>
          <a:xfrm>
            <a:off x="6309360" y="1188720"/>
            <a:ext cx="5303520" cy="2743200"/>
          </a:xfrm>
          <a:prstGeom prst="rect">
            <a:avLst/>
          </a:prstGeom>
          <a:solidFill>
            <a:srgbClr val="F5F5F5"/>
          </a:solidFill>
          <a:ln w="6350">
            <a:solidFill>
              <a:srgbClr val="D0D0D0"/>
            </a:solidFill>
            <a:prstDash val="solid"/>
          </a:ln>
        </p:spPr>
      </p:sp>
      <p:sp>
        <p:nvSpPr>
          <p:cNvPr id="18" name="Text 16"/>
          <p:cNvSpPr/>
          <p:nvPr/>
        </p:nvSpPr>
        <p:spPr>
          <a:xfrm>
            <a:off x="6492240" y="1280160"/>
            <a:ext cx="4937760" cy="320040"/>
          </a:xfrm>
          <a:prstGeom prst="rect">
            <a:avLst/>
          </a:prstGeom>
          <a:noFill/>
          <a:ln/>
        </p:spPr>
        <p:txBody>
          <a:bodyPr wrap="square" rtlCol="0" anchor="ctr"/>
          <a:lstStyle/>
          <a:p>
            <a:pPr indent="0" marL="0">
              <a:buNone/>
            </a:pPr>
            <a:r>
              <a:rPr lang="en-US" sz="1300" b="1" dirty="0">
                <a:solidFill>
                  <a:srgbClr val="1A1A1A"/>
                </a:solidFill>
                <a:latin typeface="Arial" pitchFamily="34" charset="0"/>
                <a:ea typeface="Arial" pitchFamily="34" charset="-122"/>
                <a:cs typeface="Arial" pitchFamily="34" charset="-120"/>
              </a:rPr>
              <a:t>Kill Switch</a:t>
            </a:r>
            <a:endParaRPr lang="en-US" sz="1300" dirty="0"/>
          </a:p>
        </p:txBody>
      </p:sp>
      <p:sp>
        <p:nvSpPr>
          <p:cNvPr id="19" name="Text 17"/>
          <p:cNvSpPr/>
          <p:nvPr/>
        </p:nvSpPr>
        <p:spPr>
          <a:xfrm>
            <a:off x="6492240" y="1645920"/>
            <a:ext cx="1645920" cy="228600"/>
          </a:xfrm>
          <a:prstGeom prst="rect">
            <a:avLst/>
          </a:prstGeom>
          <a:noFill/>
          <a:ln/>
        </p:spPr>
        <p:txBody>
          <a:bodyPr wrap="square" rtlCol="0" anchor="ctr"/>
          <a:lstStyle/>
          <a:p>
            <a:pPr algn="l" indent="0" marL="0">
              <a:buNone/>
            </a:pPr>
            <a:r>
              <a:rPr lang="en-US" sz="800" b="1" dirty="0">
                <a:solidFill>
                  <a:srgbClr val="1A2B4A"/>
                </a:solidFill>
                <a:latin typeface="Arial" pitchFamily="34" charset="0"/>
                <a:ea typeface="Arial" pitchFamily="34" charset="-122"/>
                <a:cs typeface="Arial" pitchFamily="34" charset="-120"/>
              </a:rPr>
              <a:t>ACTIVE DEVELOPMENT</a:t>
            </a:r>
            <a:endParaRPr lang="en-US" sz="800" dirty="0"/>
          </a:p>
        </p:txBody>
      </p:sp>
      <p:sp>
        <p:nvSpPr>
          <p:cNvPr id="20" name="Text 18"/>
          <p:cNvSpPr/>
          <p:nvPr/>
        </p:nvSpPr>
        <p:spPr>
          <a:xfrm>
            <a:off x="6492240" y="2011680"/>
            <a:ext cx="365760" cy="274320"/>
          </a:xfrm>
          <a:prstGeom prst="rect">
            <a:avLst/>
          </a:prstGeom>
          <a:noFill/>
          <a:ln/>
        </p:spPr>
        <p:txBody>
          <a:bodyPr wrap="square" rtlCol="0" anchor="ctr"/>
          <a:lstStyle/>
          <a:p>
            <a:pPr indent="0" marL="0">
              <a:buNone/>
            </a:pPr>
            <a:r>
              <a:rPr lang="en-US" sz="1000" b="1" dirty="0">
                <a:solidFill>
                  <a:srgbClr val="1A2B4A"/>
                </a:solidFill>
                <a:latin typeface="Arial" pitchFamily="34" charset="0"/>
                <a:ea typeface="Arial" pitchFamily="34" charset="-122"/>
                <a:cs typeface="Arial" pitchFamily="34" charset="-120"/>
              </a:rPr>
              <a:t>L1</a:t>
            </a:r>
            <a:endParaRPr lang="en-US" sz="1000" dirty="0"/>
          </a:p>
        </p:txBody>
      </p:sp>
      <p:sp>
        <p:nvSpPr>
          <p:cNvPr id="21" name="Text 19"/>
          <p:cNvSpPr/>
          <p:nvPr/>
        </p:nvSpPr>
        <p:spPr>
          <a:xfrm>
            <a:off x="6949440" y="2011680"/>
            <a:ext cx="3200400" cy="274320"/>
          </a:xfrm>
          <a:prstGeom prst="rect">
            <a:avLst/>
          </a:prstGeom>
          <a:noFill/>
          <a:ln/>
        </p:spPr>
        <p:txBody>
          <a:bodyPr wrap="square" rtlCol="0" anchor="ctr"/>
          <a:lstStyle/>
          <a:p>
            <a:pPr indent="0" marL="0">
              <a:buNone/>
            </a:pPr>
            <a:r>
              <a:rPr lang="en-US" sz="900" dirty="0">
                <a:solidFill>
                  <a:srgbClr val="4A4A4A"/>
                </a:solidFill>
                <a:latin typeface="Arial" pitchFamily="34" charset="0"/>
                <a:ea typeface="Arial" pitchFamily="34" charset="-122"/>
                <a:cs typeface="Arial" pitchFamily="34" charset="-120"/>
              </a:rPr>
              <a:t>Rate Limiting</a:t>
            </a:r>
            <a:endParaRPr lang="en-US" sz="900" dirty="0"/>
          </a:p>
        </p:txBody>
      </p:sp>
      <p:sp>
        <p:nvSpPr>
          <p:cNvPr id="22" name="Text 20"/>
          <p:cNvSpPr/>
          <p:nvPr/>
        </p:nvSpPr>
        <p:spPr>
          <a:xfrm>
            <a:off x="10241280" y="2011680"/>
            <a:ext cx="1188720" cy="274320"/>
          </a:xfrm>
          <a:prstGeom prst="rect">
            <a:avLst/>
          </a:prstGeom>
          <a:noFill/>
          <a:ln/>
        </p:spPr>
        <p:txBody>
          <a:bodyPr wrap="square" rtlCol="0" anchor="ctr"/>
          <a:lstStyle/>
          <a:p>
            <a:pPr algn="r" indent="0" marL="0">
              <a:buNone/>
            </a:pPr>
            <a:r>
              <a:rPr lang="en-US" sz="800" b="1" dirty="0">
                <a:solidFill>
                  <a:srgbClr val="1A2B4A"/>
                </a:solidFill>
                <a:latin typeface="Arial" pitchFamily="34" charset="0"/>
                <a:ea typeface="Arial" pitchFamily="34" charset="-122"/>
                <a:cs typeface="Arial" pitchFamily="34" charset="-120"/>
              </a:rPr>
              <a:t>AVAILABLE</a:t>
            </a:r>
            <a:endParaRPr lang="en-US" sz="800" dirty="0"/>
          </a:p>
        </p:txBody>
      </p:sp>
      <p:sp>
        <p:nvSpPr>
          <p:cNvPr id="23" name="Text 21"/>
          <p:cNvSpPr/>
          <p:nvPr/>
        </p:nvSpPr>
        <p:spPr>
          <a:xfrm>
            <a:off x="6492240" y="2331720"/>
            <a:ext cx="365760" cy="274320"/>
          </a:xfrm>
          <a:prstGeom prst="rect">
            <a:avLst/>
          </a:prstGeom>
          <a:noFill/>
          <a:ln/>
        </p:spPr>
        <p:txBody>
          <a:bodyPr wrap="square" rtlCol="0" anchor="ctr"/>
          <a:lstStyle/>
          <a:p>
            <a:pPr indent="0" marL="0">
              <a:buNone/>
            </a:pPr>
            <a:r>
              <a:rPr lang="en-US" sz="1000" b="1" dirty="0">
                <a:solidFill>
                  <a:srgbClr val="1A2B4A"/>
                </a:solidFill>
                <a:latin typeface="Arial" pitchFamily="34" charset="0"/>
                <a:ea typeface="Arial" pitchFamily="34" charset="-122"/>
                <a:cs typeface="Arial" pitchFamily="34" charset="-120"/>
              </a:rPr>
              <a:t>L2</a:t>
            </a:r>
            <a:endParaRPr lang="en-US" sz="1000" dirty="0"/>
          </a:p>
        </p:txBody>
      </p:sp>
      <p:sp>
        <p:nvSpPr>
          <p:cNvPr id="24" name="Text 22"/>
          <p:cNvSpPr/>
          <p:nvPr/>
        </p:nvSpPr>
        <p:spPr>
          <a:xfrm>
            <a:off x="6949440" y="2331720"/>
            <a:ext cx="3200400" cy="274320"/>
          </a:xfrm>
          <a:prstGeom prst="rect">
            <a:avLst/>
          </a:prstGeom>
          <a:noFill/>
          <a:ln/>
        </p:spPr>
        <p:txBody>
          <a:bodyPr wrap="square" rtlCol="0" anchor="ctr"/>
          <a:lstStyle/>
          <a:p>
            <a:pPr indent="0" marL="0">
              <a:buNone/>
            </a:pPr>
            <a:r>
              <a:rPr lang="en-US" sz="900" dirty="0">
                <a:solidFill>
                  <a:srgbClr val="4A4A4A"/>
                </a:solidFill>
                <a:latin typeface="Arial" pitchFamily="34" charset="0"/>
                <a:ea typeface="Arial" pitchFamily="34" charset="-122"/>
                <a:cs typeface="Arial" pitchFamily="34" charset="-120"/>
              </a:rPr>
              <a:t>Circuit Breaker</a:t>
            </a:r>
            <a:endParaRPr lang="en-US" sz="900" dirty="0"/>
          </a:p>
        </p:txBody>
      </p:sp>
      <p:sp>
        <p:nvSpPr>
          <p:cNvPr id="25" name="Text 23"/>
          <p:cNvSpPr/>
          <p:nvPr/>
        </p:nvSpPr>
        <p:spPr>
          <a:xfrm>
            <a:off x="10241280" y="2331720"/>
            <a:ext cx="1188720" cy="274320"/>
          </a:xfrm>
          <a:prstGeom prst="rect">
            <a:avLst/>
          </a:prstGeom>
          <a:noFill/>
          <a:ln/>
        </p:spPr>
        <p:txBody>
          <a:bodyPr wrap="square" rtlCol="0" anchor="ctr"/>
          <a:lstStyle/>
          <a:p>
            <a:pPr algn="r" indent="0" marL="0">
              <a:buNone/>
            </a:pPr>
            <a:r>
              <a:rPr lang="en-US" sz="800" b="1" dirty="0">
                <a:solidFill>
                  <a:srgbClr val="1A2B4A"/>
                </a:solidFill>
                <a:latin typeface="Arial" pitchFamily="34" charset="0"/>
                <a:ea typeface="Arial" pitchFamily="34" charset="-122"/>
                <a:cs typeface="Arial" pitchFamily="34" charset="-120"/>
              </a:rPr>
              <a:t>AVAILABLE</a:t>
            </a:r>
            <a:endParaRPr lang="en-US" sz="800" dirty="0"/>
          </a:p>
        </p:txBody>
      </p:sp>
      <p:sp>
        <p:nvSpPr>
          <p:cNvPr id="26" name="Text 24"/>
          <p:cNvSpPr/>
          <p:nvPr/>
        </p:nvSpPr>
        <p:spPr>
          <a:xfrm>
            <a:off x="6492240" y="2651760"/>
            <a:ext cx="365760" cy="274320"/>
          </a:xfrm>
          <a:prstGeom prst="rect">
            <a:avLst/>
          </a:prstGeom>
          <a:noFill/>
          <a:ln/>
        </p:spPr>
        <p:txBody>
          <a:bodyPr wrap="square" rtlCol="0" anchor="ctr"/>
          <a:lstStyle/>
          <a:p>
            <a:pPr indent="0" marL="0">
              <a:buNone/>
            </a:pPr>
            <a:r>
              <a:rPr lang="en-US" sz="1000" b="1" dirty="0">
                <a:solidFill>
                  <a:srgbClr val="1A2B4A"/>
                </a:solidFill>
                <a:latin typeface="Arial" pitchFamily="34" charset="0"/>
                <a:ea typeface="Arial" pitchFamily="34" charset="-122"/>
                <a:cs typeface="Arial" pitchFamily="34" charset="-120"/>
              </a:rPr>
              <a:t>L3</a:t>
            </a:r>
            <a:endParaRPr lang="en-US" sz="1000" dirty="0"/>
          </a:p>
        </p:txBody>
      </p:sp>
      <p:sp>
        <p:nvSpPr>
          <p:cNvPr id="27" name="Text 25"/>
          <p:cNvSpPr/>
          <p:nvPr/>
        </p:nvSpPr>
        <p:spPr>
          <a:xfrm>
            <a:off x="6949440" y="2651760"/>
            <a:ext cx="3200400" cy="274320"/>
          </a:xfrm>
          <a:prstGeom prst="rect">
            <a:avLst/>
          </a:prstGeom>
          <a:noFill/>
          <a:ln/>
        </p:spPr>
        <p:txBody>
          <a:bodyPr wrap="square" rtlCol="0" anchor="ctr"/>
          <a:lstStyle/>
          <a:p>
            <a:pPr indent="0" marL="0">
              <a:buNone/>
            </a:pPr>
            <a:r>
              <a:rPr lang="en-US" sz="900" dirty="0">
                <a:solidFill>
                  <a:srgbClr val="4A4A4A"/>
                </a:solidFill>
                <a:latin typeface="Arial" pitchFamily="34" charset="0"/>
                <a:ea typeface="Arial" pitchFamily="34" charset="-122"/>
                <a:cs typeface="Arial" pitchFamily="34" charset="-120"/>
              </a:rPr>
              <a:t>AI Execution Stop</a:t>
            </a:r>
            <a:endParaRPr lang="en-US" sz="900" dirty="0"/>
          </a:p>
        </p:txBody>
      </p:sp>
      <p:sp>
        <p:nvSpPr>
          <p:cNvPr id="28" name="Text 26"/>
          <p:cNvSpPr/>
          <p:nvPr/>
        </p:nvSpPr>
        <p:spPr>
          <a:xfrm>
            <a:off x="10241280" y="2651760"/>
            <a:ext cx="1188720" cy="274320"/>
          </a:xfrm>
          <a:prstGeom prst="rect">
            <a:avLst/>
          </a:prstGeom>
          <a:noFill/>
          <a:ln/>
        </p:spPr>
        <p:txBody>
          <a:bodyPr wrap="square" rtlCol="0" anchor="ctr"/>
          <a:lstStyle/>
          <a:p>
            <a:pPr algn="r" indent="0" marL="0">
              <a:buNone/>
            </a:pPr>
            <a:r>
              <a:rPr lang="en-US" sz="800" b="1" dirty="0">
                <a:solidFill>
                  <a:srgbClr val="1A2B4A"/>
                </a:solidFill>
                <a:latin typeface="Arial" pitchFamily="34" charset="0"/>
                <a:ea typeface="Arial" pitchFamily="34" charset="-122"/>
                <a:cs typeface="Arial" pitchFamily="34" charset="-120"/>
              </a:rPr>
              <a:t>AVAILABLE</a:t>
            </a:r>
            <a:endParaRPr lang="en-US" sz="800" dirty="0"/>
          </a:p>
        </p:txBody>
      </p:sp>
      <p:sp>
        <p:nvSpPr>
          <p:cNvPr id="29" name="Text 27"/>
          <p:cNvSpPr/>
          <p:nvPr/>
        </p:nvSpPr>
        <p:spPr>
          <a:xfrm>
            <a:off x="6492240" y="2971800"/>
            <a:ext cx="365760" cy="274320"/>
          </a:xfrm>
          <a:prstGeom prst="rect">
            <a:avLst/>
          </a:prstGeom>
          <a:noFill/>
          <a:ln/>
        </p:spPr>
        <p:txBody>
          <a:bodyPr wrap="square" rtlCol="0" anchor="ctr"/>
          <a:lstStyle/>
          <a:p>
            <a:pPr indent="0" marL="0">
              <a:buNone/>
            </a:pPr>
            <a:r>
              <a:rPr lang="en-US" sz="1000" b="1" dirty="0">
                <a:solidFill>
                  <a:srgbClr val="1A2B4A"/>
                </a:solidFill>
                <a:latin typeface="Arial" pitchFamily="34" charset="0"/>
                <a:ea typeface="Arial" pitchFamily="34" charset="-122"/>
                <a:cs typeface="Arial" pitchFamily="34" charset="-120"/>
              </a:rPr>
              <a:t>L4</a:t>
            </a:r>
            <a:endParaRPr lang="en-US" sz="1000" dirty="0"/>
          </a:p>
        </p:txBody>
      </p:sp>
      <p:sp>
        <p:nvSpPr>
          <p:cNvPr id="30" name="Text 28"/>
          <p:cNvSpPr/>
          <p:nvPr/>
        </p:nvSpPr>
        <p:spPr>
          <a:xfrm>
            <a:off x="6949440" y="2971800"/>
            <a:ext cx="3200400" cy="274320"/>
          </a:xfrm>
          <a:prstGeom prst="rect">
            <a:avLst/>
          </a:prstGeom>
          <a:noFill/>
          <a:ln/>
        </p:spPr>
        <p:txBody>
          <a:bodyPr wrap="square" rtlCol="0" anchor="ctr"/>
          <a:lstStyle/>
          <a:p>
            <a:pPr indent="0" marL="0">
              <a:buNone/>
            </a:pPr>
            <a:r>
              <a:rPr lang="en-US" sz="900" dirty="0">
                <a:solidFill>
                  <a:srgbClr val="4A4A4A"/>
                </a:solidFill>
                <a:latin typeface="Arial" pitchFamily="34" charset="0"/>
                <a:ea typeface="Arial" pitchFamily="34" charset="-122"/>
                <a:cs typeface="Arial" pitchFamily="34" charset="-120"/>
              </a:rPr>
              <a:t>Network Block</a:t>
            </a:r>
            <a:endParaRPr lang="en-US" sz="900" dirty="0"/>
          </a:p>
        </p:txBody>
      </p:sp>
      <p:sp>
        <p:nvSpPr>
          <p:cNvPr id="31" name="Text 29"/>
          <p:cNvSpPr/>
          <p:nvPr/>
        </p:nvSpPr>
        <p:spPr>
          <a:xfrm>
            <a:off x="10241280" y="2971800"/>
            <a:ext cx="1188720" cy="274320"/>
          </a:xfrm>
          <a:prstGeom prst="rect">
            <a:avLst/>
          </a:prstGeom>
          <a:noFill/>
          <a:ln/>
        </p:spPr>
        <p:txBody>
          <a:bodyPr wrap="square" rtlCol="0" anchor="ctr"/>
          <a:lstStyle/>
          <a:p>
            <a:pPr algn="r" indent="0" marL="0">
              <a:buNone/>
            </a:pPr>
            <a:r>
              <a:rPr lang="en-US" sz="800" b="1" dirty="0">
                <a:solidFill>
                  <a:srgbClr val="6B6B6B"/>
                </a:solidFill>
                <a:latin typeface="Arial" pitchFamily="34" charset="0"/>
                <a:ea typeface="Arial" pitchFamily="34" charset="-122"/>
                <a:cs typeface="Arial" pitchFamily="34" charset="-120"/>
              </a:rPr>
              <a:t>ROADMAP</a:t>
            </a:r>
            <a:endParaRPr lang="en-US" sz="800" dirty="0"/>
          </a:p>
        </p:txBody>
      </p:sp>
      <p:sp>
        <p:nvSpPr>
          <p:cNvPr id="32" name="Text 30"/>
          <p:cNvSpPr/>
          <p:nvPr/>
        </p:nvSpPr>
        <p:spPr>
          <a:xfrm>
            <a:off x="6492240" y="3291840"/>
            <a:ext cx="365760" cy="274320"/>
          </a:xfrm>
          <a:prstGeom prst="rect">
            <a:avLst/>
          </a:prstGeom>
          <a:noFill/>
          <a:ln/>
        </p:spPr>
        <p:txBody>
          <a:bodyPr wrap="square" rtlCol="0" anchor="ctr"/>
          <a:lstStyle/>
          <a:p>
            <a:pPr indent="0" marL="0">
              <a:buNone/>
            </a:pPr>
            <a:r>
              <a:rPr lang="en-US" sz="1000" b="1" dirty="0">
                <a:solidFill>
                  <a:srgbClr val="1A2B4A"/>
                </a:solidFill>
                <a:latin typeface="Arial" pitchFamily="34" charset="0"/>
                <a:ea typeface="Arial" pitchFamily="34" charset="-122"/>
                <a:cs typeface="Arial" pitchFamily="34" charset="-120"/>
              </a:rPr>
              <a:t>L5</a:t>
            </a:r>
            <a:endParaRPr lang="en-US" sz="1000" dirty="0"/>
          </a:p>
        </p:txBody>
      </p:sp>
      <p:sp>
        <p:nvSpPr>
          <p:cNvPr id="33" name="Text 31"/>
          <p:cNvSpPr/>
          <p:nvPr/>
        </p:nvSpPr>
        <p:spPr>
          <a:xfrm>
            <a:off x="6949440" y="3291840"/>
            <a:ext cx="3200400" cy="274320"/>
          </a:xfrm>
          <a:prstGeom prst="rect">
            <a:avLst/>
          </a:prstGeom>
          <a:noFill/>
          <a:ln/>
        </p:spPr>
        <p:txBody>
          <a:bodyPr wrap="square" rtlCol="0" anchor="ctr"/>
          <a:lstStyle/>
          <a:p>
            <a:pPr indent="0" marL="0">
              <a:buNone/>
            </a:pPr>
            <a:r>
              <a:rPr lang="en-US" sz="900" dirty="0">
                <a:solidFill>
                  <a:srgbClr val="4A4A4A"/>
                </a:solidFill>
                <a:latin typeface="Arial" pitchFamily="34" charset="0"/>
                <a:ea typeface="Arial" pitchFamily="34" charset="-122"/>
                <a:cs typeface="Arial" pitchFamily="34" charset="-120"/>
              </a:rPr>
              <a:t>Database Revoke</a:t>
            </a:r>
            <a:endParaRPr lang="en-US" sz="900" dirty="0"/>
          </a:p>
        </p:txBody>
      </p:sp>
      <p:sp>
        <p:nvSpPr>
          <p:cNvPr id="34" name="Text 32"/>
          <p:cNvSpPr/>
          <p:nvPr/>
        </p:nvSpPr>
        <p:spPr>
          <a:xfrm>
            <a:off x="10241280" y="3291840"/>
            <a:ext cx="1188720" cy="274320"/>
          </a:xfrm>
          <a:prstGeom prst="rect">
            <a:avLst/>
          </a:prstGeom>
          <a:noFill/>
          <a:ln/>
        </p:spPr>
        <p:txBody>
          <a:bodyPr wrap="square" rtlCol="0" anchor="ctr"/>
          <a:lstStyle/>
          <a:p>
            <a:pPr algn="r" indent="0" marL="0">
              <a:buNone/>
            </a:pPr>
            <a:r>
              <a:rPr lang="en-US" sz="800" b="1" dirty="0">
                <a:solidFill>
                  <a:srgbClr val="6B6B6B"/>
                </a:solidFill>
                <a:latin typeface="Arial" pitchFamily="34" charset="0"/>
                <a:ea typeface="Arial" pitchFamily="34" charset="-122"/>
                <a:cs typeface="Arial" pitchFamily="34" charset="-120"/>
              </a:rPr>
              <a:t>ROADMAP</a:t>
            </a:r>
            <a:endParaRPr lang="en-US" sz="800" dirty="0"/>
          </a:p>
        </p:txBody>
      </p:sp>
      <p:sp>
        <p:nvSpPr>
          <p:cNvPr id="35" name="Text 33"/>
          <p:cNvSpPr/>
          <p:nvPr/>
        </p:nvSpPr>
        <p:spPr>
          <a:xfrm>
            <a:off x="6492240" y="3749040"/>
            <a:ext cx="4937760" cy="182880"/>
          </a:xfrm>
          <a:prstGeom prst="rect">
            <a:avLst/>
          </a:prstGeom>
          <a:noFill/>
          <a:ln/>
        </p:spPr>
        <p:txBody>
          <a:bodyPr wrap="square" rtlCol="0" anchor="ctr"/>
          <a:lstStyle/>
          <a:p>
            <a:pPr indent="0" marL="0">
              <a:buNone/>
            </a:pPr>
            <a:r>
              <a:rPr lang="en-US" sz="800" dirty="0">
                <a:solidFill>
                  <a:srgbClr val="4A4A4A"/>
                </a:solidFill>
                <a:latin typeface="Arial" pitchFamily="34" charset="0"/>
                <a:ea typeface="Arial" pitchFamily="34" charset="-122"/>
                <a:cs typeface="Arial" pitchFamily="34" charset="-120"/>
              </a:rPr>
              <a:t>Published SDK: @haiec/kill-switch v0.3.0</a:t>
            </a:r>
            <a:endParaRPr lang="en-US" sz="800" dirty="0"/>
          </a:p>
        </p:txBody>
      </p:sp>
      <p:sp>
        <p:nvSpPr>
          <p:cNvPr id="36" name="Text 34"/>
          <p:cNvSpPr/>
          <p:nvPr/>
        </p:nvSpPr>
        <p:spPr>
          <a:xfrm>
            <a:off x="548640" y="4206240"/>
            <a:ext cx="10972800" cy="365760"/>
          </a:xfrm>
          <a:prstGeom prst="rect">
            <a:avLst/>
          </a:prstGeom>
          <a:noFill/>
          <a:ln/>
        </p:spPr>
        <p:txBody>
          <a:bodyPr wrap="square" rtlCol="0" anchor="t"/>
          <a:lstStyle/>
          <a:p>
            <a:pPr algn="l" indent="0" marL="0">
              <a:lnSpc>
                <a:spcPct val="115000"/>
              </a:lnSpc>
              <a:buNone/>
            </a:pPr>
            <a:r>
              <a:rPr lang="en-US" sz="1100" b="1" dirty="0">
                <a:solidFill>
                  <a:srgbClr val="1A2B4A"/>
                </a:solidFill>
                <a:latin typeface="Arial" pitchFamily="34" charset="0"/>
                <a:ea typeface="Arial" pitchFamily="34" charset="-122"/>
                <a:cs typeface="Arial" pitchFamily="34" charset="-120"/>
              </a:rPr>
              <a:t>Compliance Twin maintains a live digital twin of regulatory state. Kill Switch provides emergency shutdown. Together: continuous assurance with enforcement capability.</a:t>
            </a:r>
            <a:endParaRPr lang="en-US" sz="1100" dirty="0"/>
          </a:p>
        </p:txBody>
      </p:sp>
      <p:sp>
        <p:nvSpPr>
          <p:cNvPr id="37" name="Shape 35"/>
          <p:cNvSpPr/>
          <p:nvPr/>
        </p:nvSpPr>
        <p:spPr>
          <a:xfrm>
            <a:off x="548640" y="4754880"/>
            <a:ext cx="11064240" cy="1371600"/>
          </a:xfrm>
          <a:prstGeom prst="rect">
            <a:avLst/>
          </a:prstGeom>
          <a:solidFill>
            <a:srgbClr val="F5F5F5"/>
          </a:solidFill>
          <a:ln w="6350">
            <a:solidFill>
              <a:srgbClr val="1A2B4A"/>
            </a:solidFill>
            <a:prstDash val="solid"/>
          </a:ln>
        </p:spPr>
      </p:sp>
      <p:sp>
        <p:nvSpPr>
          <p:cNvPr id="38" name="Text 36"/>
          <p:cNvSpPr/>
          <p:nvPr/>
        </p:nvSpPr>
        <p:spPr>
          <a:xfrm>
            <a:off x="731520" y="4846320"/>
            <a:ext cx="10698480" cy="274320"/>
          </a:xfrm>
          <a:prstGeom prst="rect">
            <a:avLst/>
          </a:prstGeom>
          <a:noFill/>
          <a:ln/>
        </p:spPr>
        <p:txBody>
          <a:bodyPr wrap="square" rtlCol="0" anchor="t"/>
          <a:lstStyle/>
          <a:p>
            <a:pPr algn="l" indent="0" marL="0">
              <a:lnSpc>
                <a:spcPct val="115000"/>
              </a:lnSpc>
              <a:buNone/>
            </a:pPr>
            <a:r>
              <a:rPr lang="en-US" sz="1000" b="1" dirty="0">
                <a:solidFill>
                  <a:srgbClr val="1A1A1A"/>
                </a:solidFill>
                <a:latin typeface="Arial" pitchFamily="34" charset="0"/>
                <a:ea typeface="Arial" pitchFamily="34" charset="-122"/>
                <a:cs typeface="Arial" pitchFamily="34" charset="-120"/>
              </a:rPr>
              <a:t>Maturity Notes:</a:t>
            </a:r>
            <a:endParaRPr lang="en-US" sz="1000" dirty="0"/>
          </a:p>
        </p:txBody>
      </p:sp>
      <p:sp>
        <p:nvSpPr>
          <p:cNvPr id="39" name="Text 37"/>
          <p:cNvSpPr/>
          <p:nvPr/>
        </p:nvSpPr>
        <p:spPr>
          <a:xfrm>
            <a:off x="731520" y="5120640"/>
            <a:ext cx="10698480" cy="914400"/>
          </a:xfrm>
          <a:prstGeom prst="rect">
            <a:avLst/>
          </a:prstGeom>
          <a:noFill/>
          <a:ln/>
        </p:spPr>
        <p:txBody>
          <a:bodyPr wrap="square" rtlCol="0" anchor="t"/>
          <a:lstStyle/>
          <a:p>
            <a:pPr algn="l" indent="0" marL="0">
              <a:lnSpc>
                <a:spcPct val="115000"/>
              </a:lnSpc>
              <a:buNone/>
            </a:pPr>
            <a:r>
              <a:rPr lang="en-US" sz="900" dirty="0">
                <a:solidFill>
                  <a:srgbClr val="4A4A4A"/>
                </a:solidFill>
                <a:latin typeface="Arial" pitchFamily="34" charset="0"/>
                <a:ea typeface="Arial" pitchFamily="34" charset="-122"/>
                <a:cs typeface="Arial" pitchFamily="34" charset="-120"/>
              </a:rPr>
              <a:t>•  Compliance Twin: Substantive implemented subsystem (17 files, 17 API routes, 8 DB models). Full lifecycle management across 6 jurisdictions.</a:t>
            </a:r>
            <a:endParaRPr lang="en-US" sz="900" dirty="0"/>
          </a:p>
          <a:p>
            <a:pPr algn="l" indent="0" marL="0">
              <a:lnSpc>
                <a:spcPct val="115000"/>
              </a:lnSpc>
              <a:buNone/>
            </a:pPr>
            <a:r>
              <a:rPr lang="en-US" sz="900" dirty="0">
                <a:solidFill>
                  <a:srgbClr val="4A4A4A"/>
                </a:solidFill>
                <a:latin typeface="Arial" pitchFamily="34" charset="0"/>
                <a:ea typeface="Arial" pitchFamily="34" charset="-122"/>
                <a:cs typeface="Arial" pitchFamily="34" charset="-120"/>
              </a:rPr>
              <a:t>•  Kill Switch: Layers 1–3 available (rate limiting, circuit breaker, AI execution stop). Layers 4–5 (network block, database revoke) in development. SDK published as npm package.</a:t>
            </a:r>
            <a:endParaRPr lang="en-US" sz="900" dirty="0"/>
          </a:p>
        </p:txBody>
      </p:sp>
      <p:sp>
        <p:nvSpPr>
          <p:cNvPr id="40" name="Shape 38"/>
          <p:cNvSpPr/>
          <p:nvPr/>
        </p:nvSpPr>
        <p:spPr>
          <a:xfrm>
            <a:off x="457200" y="6473952"/>
            <a:ext cx="11277295" cy="0"/>
          </a:xfrm>
          <a:prstGeom prst="line">
            <a:avLst/>
          </a:prstGeom>
          <a:noFill/>
          <a:ln w="6350">
            <a:solidFill>
              <a:srgbClr val="CCCCCC"/>
            </a:solidFill>
            <a:prstDash val="solid"/>
          </a:ln>
        </p:spPr>
      </p:sp>
      <p:sp>
        <p:nvSpPr>
          <p:cNvPr id="41" name="Text 39"/>
          <p:cNvSpPr/>
          <p:nvPr/>
        </p:nvSpPr>
        <p:spPr>
          <a:xfrm>
            <a:off x="457200" y="6537960"/>
            <a:ext cx="7315200" cy="228600"/>
          </a:xfrm>
          <a:prstGeom prst="rect">
            <a:avLst/>
          </a:prstGeom>
          <a:noFill/>
          <a:ln/>
        </p:spPr>
        <p:txBody>
          <a:bodyPr wrap="square" rtlCol="0" anchor="ctr"/>
          <a:lstStyle/>
          <a:p>
            <a:pPr indent="0" marL="0">
              <a:buNone/>
            </a:pPr>
            <a:r>
              <a:rPr lang="en-US" sz="800" dirty="0">
                <a:solidFill>
                  <a:srgbClr val="6B6B6B"/>
                </a:solidFill>
                <a:latin typeface="Arial" pitchFamily="34" charset="0"/>
                <a:ea typeface="Arial" pitchFamily="34" charset="-122"/>
                <a:cs typeface="Arial" pitchFamily="34" charset="-120"/>
              </a:rPr>
              <a:t>HAIEC  ·  Confidential Discussion Brief  ·  10/15</a:t>
            </a:r>
            <a:endParaRPr lang="en-US" sz="800" dirty="0"/>
          </a:p>
        </p:txBody>
      </p:sp>
      <p:sp>
        <p:nvSpPr>
          <p:cNvPr id="42" name="Text 40"/>
          <p:cNvSpPr/>
          <p:nvPr/>
        </p:nvSpPr>
        <p:spPr>
          <a:xfrm>
            <a:off x="8991295" y="6537960"/>
            <a:ext cx="2743200" cy="228600"/>
          </a:xfrm>
          <a:prstGeom prst="rect">
            <a:avLst/>
          </a:prstGeom>
          <a:noFill/>
          <a:ln/>
        </p:spPr>
        <p:txBody>
          <a:bodyPr wrap="square" rtlCol="0" anchor="ctr"/>
          <a:lstStyle/>
          <a:p>
            <a:pPr algn="r" indent="0" marL="0">
              <a:buNone/>
            </a:pPr>
            <a:r>
              <a:rPr lang="en-US" sz="800" dirty="0">
                <a:solidFill>
                  <a:srgbClr val="6B6B6B"/>
                </a:solidFill>
                <a:latin typeface="Arial" pitchFamily="34" charset="0"/>
                <a:ea typeface="Arial" pitchFamily="34" charset="-122"/>
                <a:cs typeface="Arial" pitchFamily="34" charset="-120"/>
              </a:rPr>
              <a:t>v1.0  ·  2026-07-31</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57200"/>
            <a:ext cx="11277295" cy="548640"/>
          </a:xfrm>
          <a:prstGeom prst="rect">
            <a:avLst/>
          </a:prstGeom>
          <a:noFill/>
          <a:ln/>
        </p:spPr>
        <p:txBody>
          <a:bodyPr wrap="square" rtlCol="0" anchor="ctr"/>
          <a:lstStyle/>
          <a:p>
            <a:pPr algn="l" indent="0" marL="0">
              <a:buNone/>
            </a:pPr>
            <a:r>
              <a:rPr lang="en-US" sz="2200" b="1" dirty="0">
                <a:solidFill>
                  <a:srgbClr val="1A2B4A"/>
                </a:solidFill>
                <a:latin typeface="Arial" pitchFamily="34" charset="0"/>
                <a:ea typeface="Arial" pitchFamily="34" charset="-122"/>
                <a:cs typeface="Arial" pitchFamily="34" charset="-120"/>
              </a:rPr>
              <a:t>The defensibility compounds across the evidence lifecycle.</a:t>
            </a:r>
            <a:endParaRPr lang="en-US" sz="2200" dirty="0"/>
          </a:p>
        </p:txBody>
      </p:sp>
      <p:sp>
        <p:nvSpPr>
          <p:cNvPr id="3" name="Shape 1"/>
          <p:cNvSpPr/>
          <p:nvPr/>
        </p:nvSpPr>
        <p:spPr>
          <a:xfrm>
            <a:off x="457200" y="1051560"/>
            <a:ext cx="11277295" cy="0"/>
          </a:xfrm>
          <a:prstGeom prst="line">
            <a:avLst/>
          </a:prstGeom>
          <a:noFill/>
          <a:ln w="12700">
            <a:solidFill>
              <a:srgbClr val="1A2B4A"/>
            </a:solidFill>
            <a:prstDash val="solid"/>
          </a:ln>
        </p:spPr>
      </p:sp>
      <p:sp>
        <p:nvSpPr>
          <p:cNvPr id="4" name="Shape 2"/>
          <p:cNvSpPr/>
          <p:nvPr/>
        </p:nvSpPr>
        <p:spPr>
          <a:xfrm>
            <a:off x="548640" y="1188720"/>
            <a:ext cx="7315200" cy="475488"/>
          </a:xfrm>
          <a:prstGeom prst="rect">
            <a:avLst/>
          </a:prstGeom>
          <a:solidFill>
            <a:srgbClr val="F5F5F5"/>
          </a:solidFill>
          <a:ln w="6350">
            <a:solidFill>
              <a:srgbClr val="D0D0D0"/>
            </a:solidFill>
            <a:prstDash val="solid"/>
          </a:ln>
        </p:spPr>
      </p:sp>
      <p:sp>
        <p:nvSpPr>
          <p:cNvPr id="5" name="Text 3"/>
          <p:cNvSpPr/>
          <p:nvPr/>
        </p:nvSpPr>
        <p:spPr>
          <a:xfrm>
            <a:off x="731520" y="1234440"/>
            <a:ext cx="2286000" cy="365760"/>
          </a:xfrm>
          <a:prstGeom prst="rect">
            <a:avLst/>
          </a:prstGeom>
          <a:noFill/>
          <a:ln/>
        </p:spPr>
        <p:txBody>
          <a:bodyPr wrap="square" rtlCol="0" anchor="ctr"/>
          <a:lstStyle/>
          <a:p>
            <a:pPr indent="0" marL="0">
              <a:buNone/>
            </a:pPr>
            <a:r>
              <a:rPr lang="en-US" sz="1000" b="1" dirty="0">
                <a:solidFill>
                  <a:srgbClr val="1A2B4A"/>
                </a:solidFill>
                <a:latin typeface="Arial" pitchFamily="34" charset="0"/>
                <a:ea typeface="Arial" pitchFamily="34" charset="-122"/>
                <a:cs typeface="Arial" pitchFamily="34" charset="-120"/>
              </a:rPr>
              <a:t>1. Rule Depth</a:t>
            </a:r>
            <a:endParaRPr lang="en-US" sz="1000" dirty="0"/>
          </a:p>
        </p:txBody>
      </p:sp>
      <p:sp>
        <p:nvSpPr>
          <p:cNvPr id="6" name="Text 4"/>
          <p:cNvSpPr/>
          <p:nvPr/>
        </p:nvSpPr>
        <p:spPr>
          <a:xfrm>
            <a:off x="3017520" y="1234440"/>
            <a:ext cx="4754880" cy="365760"/>
          </a:xfrm>
          <a:prstGeom prst="rect">
            <a:avLst/>
          </a:prstGeom>
          <a:noFill/>
          <a:ln/>
        </p:spPr>
        <p:txBody>
          <a:bodyPr wrap="square" rtlCol="0" anchor="t"/>
          <a:lstStyle/>
          <a:p>
            <a:pPr algn="l" indent="0" marL="0">
              <a:lnSpc>
                <a:spcPct val="115000"/>
              </a:lnSpc>
              <a:buNone/>
            </a:pPr>
            <a:r>
              <a:rPr lang="en-US" sz="900" dirty="0">
                <a:solidFill>
                  <a:srgbClr val="1A1A1A"/>
                </a:solidFill>
                <a:latin typeface="Arial" pitchFamily="34" charset="0"/>
                <a:ea typeface="Arial" pitchFamily="34" charset="-122"/>
                <a:cs typeface="Arial" pitchFamily="34" charset="-120"/>
              </a:rPr>
              <a:t>91 Semgrep + 15 TS + 82 rulepack records. 269 attack templates. Multi-language, multi-provider, multi-domain.</a:t>
            </a:r>
            <a:endParaRPr lang="en-US" sz="900" dirty="0"/>
          </a:p>
        </p:txBody>
      </p:sp>
      <p:sp>
        <p:nvSpPr>
          <p:cNvPr id="7" name="Shape 5"/>
          <p:cNvSpPr/>
          <p:nvPr/>
        </p:nvSpPr>
        <p:spPr>
          <a:xfrm>
            <a:off x="548640" y="1755648"/>
            <a:ext cx="7315200" cy="475488"/>
          </a:xfrm>
          <a:prstGeom prst="rect">
            <a:avLst/>
          </a:prstGeom>
          <a:solidFill>
            <a:srgbClr val="F5F5F5"/>
          </a:solidFill>
          <a:ln w="6350">
            <a:solidFill>
              <a:srgbClr val="D0D0D0"/>
            </a:solidFill>
            <a:prstDash val="solid"/>
          </a:ln>
        </p:spPr>
      </p:sp>
      <p:sp>
        <p:nvSpPr>
          <p:cNvPr id="8" name="Text 6"/>
          <p:cNvSpPr/>
          <p:nvPr/>
        </p:nvSpPr>
        <p:spPr>
          <a:xfrm>
            <a:off x="731520" y="1801368"/>
            <a:ext cx="2286000" cy="365760"/>
          </a:xfrm>
          <a:prstGeom prst="rect">
            <a:avLst/>
          </a:prstGeom>
          <a:noFill/>
          <a:ln/>
        </p:spPr>
        <p:txBody>
          <a:bodyPr wrap="square" rtlCol="0" anchor="ctr"/>
          <a:lstStyle/>
          <a:p>
            <a:pPr indent="0" marL="0">
              <a:buNone/>
            </a:pPr>
            <a:r>
              <a:rPr lang="en-US" sz="1000" b="1" dirty="0">
                <a:solidFill>
                  <a:srgbClr val="1A2B4A"/>
                </a:solidFill>
                <a:latin typeface="Arial" pitchFamily="34" charset="0"/>
                <a:ea typeface="Arial" pitchFamily="34" charset="-122"/>
                <a:cs typeface="Arial" pitchFamily="34" charset="-120"/>
              </a:rPr>
              <a:t>2. Evidence Architecture</a:t>
            </a:r>
            <a:endParaRPr lang="en-US" sz="1000" dirty="0"/>
          </a:p>
        </p:txBody>
      </p:sp>
      <p:sp>
        <p:nvSpPr>
          <p:cNvPr id="9" name="Text 7"/>
          <p:cNvSpPr/>
          <p:nvPr/>
        </p:nvSpPr>
        <p:spPr>
          <a:xfrm>
            <a:off x="3017520" y="1801368"/>
            <a:ext cx="4754880" cy="365760"/>
          </a:xfrm>
          <a:prstGeom prst="rect">
            <a:avLst/>
          </a:prstGeom>
          <a:noFill/>
          <a:ln/>
        </p:spPr>
        <p:txBody>
          <a:bodyPr wrap="square" rtlCol="0" anchor="t"/>
          <a:lstStyle/>
          <a:p>
            <a:pPr algn="l" indent="0" marL="0">
              <a:lnSpc>
                <a:spcPct val="115000"/>
              </a:lnSpc>
              <a:buNone/>
            </a:pPr>
            <a:r>
              <a:rPr lang="en-US" sz="900" dirty="0">
                <a:solidFill>
                  <a:srgbClr val="1A1A1A"/>
                </a:solidFill>
                <a:latin typeface="Arial" pitchFamily="34" charset="0"/>
                <a:ea typeface="Arial" pitchFamily="34" charset="-122"/>
                <a:cs typeface="Arial" pitchFamily="34" charset="-120"/>
              </a:rPr>
              <a:t>Finding → manifest → fingerprint → audit package → trust artifact. Hash-chained, version-pinned.</a:t>
            </a:r>
            <a:endParaRPr lang="en-US" sz="900" dirty="0"/>
          </a:p>
        </p:txBody>
      </p:sp>
      <p:sp>
        <p:nvSpPr>
          <p:cNvPr id="10" name="Shape 8"/>
          <p:cNvSpPr/>
          <p:nvPr/>
        </p:nvSpPr>
        <p:spPr>
          <a:xfrm>
            <a:off x="548640" y="2322576"/>
            <a:ext cx="7315200" cy="475488"/>
          </a:xfrm>
          <a:prstGeom prst="rect">
            <a:avLst/>
          </a:prstGeom>
          <a:solidFill>
            <a:srgbClr val="F5F5F5"/>
          </a:solidFill>
          <a:ln w="6350">
            <a:solidFill>
              <a:srgbClr val="D0D0D0"/>
            </a:solidFill>
            <a:prstDash val="solid"/>
          </a:ln>
        </p:spPr>
      </p:sp>
      <p:sp>
        <p:nvSpPr>
          <p:cNvPr id="11" name="Text 9"/>
          <p:cNvSpPr/>
          <p:nvPr/>
        </p:nvSpPr>
        <p:spPr>
          <a:xfrm>
            <a:off x="731520" y="2368296"/>
            <a:ext cx="2286000" cy="365760"/>
          </a:xfrm>
          <a:prstGeom prst="rect">
            <a:avLst/>
          </a:prstGeom>
          <a:noFill/>
          <a:ln/>
        </p:spPr>
        <p:txBody>
          <a:bodyPr wrap="square" rtlCol="0" anchor="ctr"/>
          <a:lstStyle/>
          <a:p>
            <a:pPr indent="0" marL="0">
              <a:buNone/>
            </a:pPr>
            <a:r>
              <a:rPr lang="en-US" sz="1000" b="1" dirty="0">
                <a:solidFill>
                  <a:srgbClr val="1A2B4A"/>
                </a:solidFill>
                <a:latin typeface="Arial" pitchFamily="34" charset="0"/>
                <a:ea typeface="Arial" pitchFamily="34" charset="-122"/>
                <a:cs typeface="Arial" pitchFamily="34" charset="-120"/>
              </a:rPr>
              <a:t>3. Framework Mapping</a:t>
            </a:r>
            <a:endParaRPr lang="en-US" sz="1000" dirty="0"/>
          </a:p>
        </p:txBody>
      </p:sp>
      <p:sp>
        <p:nvSpPr>
          <p:cNvPr id="12" name="Text 10"/>
          <p:cNvSpPr/>
          <p:nvPr/>
        </p:nvSpPr>
        <p:spPr>
          <a:xfrm>
            <a:off x="3017520" y="2368296"/>
            <a:ext cx="4754880" cy="365760"/>
          </a:xfrm>
          <a:prstGeom prst="rect">
            <a:avLst/>
          </a:prstGeom>
          <a:noFill/>
          <a:ln/>
        </p:spPr>
        <p:txBody>
          <a:bodyPr wrap="square" rtlCol="0" anchor="t"/>
          <a:lstStyle/>
          <a:p>
            <a:pPr algn="l" indent="0" marL="0">
              <a:lnSpc>
                <a:spcPct val="115000"/>
              </a:lnSpc>
              <a:buNone/>
            </a:pPr>
            <a:r>
              <a:rPr lang="en-US" sz="900" dirty="0">
                <a:solidFill>
                  <a:srgbClr val="1A1A1A"/>
                </a:solidFill>
                <a:latin typeface="Arial" pitchFamily="34" charset="0"/>
                <a:ea typeface="Arial" pitchFamily="34" charset="-122"/>
                <a:cs typeface="Arial" pitchFamily="34" charset="-120"/>
              </a:rPr>
              <a:t>13 compliance frameworks mapped from 82 unique rule IDs. One remediation → reusable evidence across frameworks.</a:t>
            </a:r>
            <a:endParaRPr lang="en-US" sz="900" dirty="0"/>
          </a:p>
        </p:txBody>
      </p:sp>
      <p:sp>
        <p:nvSpPr>
          <p:cNvPr id="13" name="Shape 11"/>
          <p:cNvSpPr/>
          <p:nvPr/>
        </p:nvSpPr>
        <p:spPr>
          <a:xfrm>
            <a:off x="548640" y="2889504"/>
            <a:ext cx="7315200" cy="475488"/>
          </a:xfrm>
          <a:prstGeom prst="rect">
            <a:avLst/>
          </a:prstGeom>
          <a:solidFill>
            <a:srgbClr val="F5F5F5"/>
          </a:solidFill>
          <a:ln w="6350">
            <a:solidFill>
              <a:srgbClr val="D0D0D0"/>
            </a:solidFill>
            <a:prstDash val="solid"/>
          </a:ln>
        </p:spPr>
      </p:sp>
      <p:sp>
        <p:nvSpPr>
          <p:cNvPr id="14" name="Text 12"/>
          <p:cNvSpPr/>
          <p:nvPr/>
        </p:nvSpPr>
        <p:spPr>
          <a:xfrm>
            <a:off x="731520" y="2935224"/>
            <a:ext cx="2286000" cy="365760"/>
          </a:xfrm>
          <a:prstGeom prst="rect">
            <a:avLst/>
          </a:prstGeom>
          <a:noFill/>
          <a:ln/>
        </p:spPr>
        <p:txBody>
          <a:bodyPr wrap="square" rtlCol="0" anchor="ctr"/>
          <a:lstStyle/>
          <a:p>
            <a:pPr indent="0" marL="0">
              <a:buNone/>
            </a:pPr>
            <a:r>
              <a:rPr lang="en-US" sz="1000" b="1" dirty="0">
                <a:solidFill>
                  <a:srgbClr val="1A2B4A"/>
                </a:solidFill>
                <a:latin typeface="Arial" pitchFamily="34" charset="0"/>
                <a:ea typeface="Arial" pitchFamily="34" charset="-122"/>
                <a:cs typeface="Arial" pitchFamily="34" charset="-120"/>
              </a:rPr>
              <a:t>4. Orchestrated Workflow</a:t>
            </a:r>
            <a:endParaRPr lang="en-US" sz="1000" dirty="0"/>
          </a:p>
        </p:txBody>
      </p:sp>
      <p:sp>
        <p:nvSpPr>
          <p:cNvPr id="15" name="Text 13"/>
          <p:cNvSpPr/>
          <p:nvPr/>
        </p:nvSpPr>
        <p:spPr>
          <a:xfrm>
            <a:off x="3017520" y="2935224"/>
            <a:ext cx="4754880" cy="365760"/>
          </a:xfrm>
          <a:prstGeom prst="rect">
            <a:avLst/>
          </a:prstGeom>
          <a:noFill/>
          <a:ln/>
        </p:spPr>
        <p:txBody>
          <a:bodyPr wrap="square" rtlCol="0" anchor="t"/>
          <a:lstStyle/>
          <a:p>
            <a:pPr algn="l" indent="0" marL="0">
              <a:lnSpc>
                <a:spcPct val="115000"/>
              </a:lnSpc>
              <a:buNone/>
            </a:pPr>
            <a:r>
              <a:rPr lang="en-US" sz="900" dirty="0">
                <a:solidFill>
                  <a:srgbClr val="1A1A1A"/>
                </a:solidFill>
                <a:latin typeface="Arial" pitchFamily="34" charset="0"/>
                <a:ea typeface="Arial" pitchFamily="34" charset="-122"/>
                <a:cs typeface="Arial" pitchFamily="34" charset="-120"/>
              </a:rPr>
              <a:t>State machine, contract validation, hash-chained event log. DB as source of truth.</a:t>
            </a:r>
            <a:endParaRPr lang="en-US" sz="900" dirty="0"/>
          </a:p>
        </p:txBody>
      </p:sp>
      <p:sp>
        <p:nvSpPr>
          <p:cNvPr id="16" name="Shape 14"/>
          <p:cNvSpPr/>
          <p:nvPr/>
        </p:nvSpPr>
        <p:spPr>
          <a:xfrm>
            <a:off x="548640" y="3456432"/>
            <a:ext cx="7315200" cy="475488"/>
          </a:xfrm>
          <a:prstGeom prst="rect">
            <a:avLst/>
          </a:prstGeom>
          <a:solidFill>
            <a:srgbClr val="F5F5F5"/>
          </a:solidFill>
          <a:ln w="6350">
            <a:solidFill>
              <a:srgbClr val="D0D0D0"/>
            </a:solidFill>
            <a:prstDash val="solid"/>
          </a:ln>
        </p:spPr>
      </p:sp>
      <p:sp>
        <p:nvSpPr>
          <p:cNvPr id="17" name="Text 15"/>
          <p:cNvSpPr/>
          <p:nvPr/>
        </p:nvSpPr>
        <p:spPr>
          <a:xfrm>
            <a:off x="731520" y="3502152"/>
            <a:ext cx="2286000" cy="365760"/>
          </a:xfrm>
          <a:prstGeom prst="rect">
            <a:avLst/>
          </a:prstGeom>
          <a:noFill/>
          <a:ln/>
        </p:spPr>
        <p:txBody>
          <a:bodyPr wrap="square" rtlCol="0" anchor="ctr"/>
          <a:lstStyle/>
          <a:p>
            <a:pPr indent="0" marL="0">
              <a:buNone/>
            </a:pPr>
            <a:r>
              <a:rPr lang="en-US" sz="1000" b="1" dirty="0">
                <a:solidFill>
                  <a:srgbClr val="1A2B4A"/>
                </a:solidFill>
                <a:latin typeface="Arial" pitchFamily="34" charset="0"/>
                <a:ea typeface="Arial" pitchFamily="34" charset="-122"/>
                <a:cs typeface="Arial" pitchFamily="34" charset="-120"/>
              </a:rPr>
              <a:t>5. Decision Pipeline</a:t>
            </a:r>
            <a:endParaRPr lang="en-US" sz="1000" dirty="0"/>
          </a:p>
        </p:txBody>
      </p:sp>
      <p:sp>
        <p:nvSpPr>
          <p:cNvPr id="18" name="Text 16"/>
          <p:cNvSpPr/>
          <p:nvPr/>
        </p:nvSpPr>
        <p:spPr>
          <a:xfrm>
            <a:off x="3017520" y="3502152"/>
            <a:ext cx="4754880" cy="365760"/>
          </a:xfrm>
          <a:prstGeom prst="rect">
            <a:avLst/>
          </a:prstGeom>
          <a:noFill/>
          <a:ln/>
        </p:spPr>
        <p:txBody>
          <a:bodyPr wrap="square" rtlCol="0" anchor="t"/>
          <a:lstStyle/>
          <a:p>
            <a:pPr algn="l" indent="0" marL="0">
              <a:lnSpc>
                <a:spcPct val="115000"/>
              </a:lnSpc>
              <a:buNone/>
            </a:pPr>
            <a:r>
              <a:rPr lang="en-US" sz="900" dirty="0">
                <a:solidFill>
                  <a:srgbClr val="1A1A1A"/>
                </a:solidFill>
                <a:latin typeface="Arial" pitchFamily="34" charset="0"/>
                <a:ea typeface="Arial" pitchFamily="34" charset="-122"/>
                <a:cs typeface="Arial" pitchFamily="34" charset="-120"/>
              </a:rPr>
              <a:t>6-node DIS, NIST AI RMF 1.0 breakdown, audit eligibility, human review sign-off.</a:t>
            </a:r>
            <a:endParaRPr lang="en-US" sz="900" dirty="0"/>
          </a:p>
        </p:txBody>
      </p:sp>
      <p:sp>
        <p:nvSpPr>
          <p:cNvPr id="19" name="Shape 17"/>
          <p:cNvSpPr/>
          <p:nvPr/>
        </p:nvSpPr>
        <p:spPr>
          <a:xfrm>
            <a:off x="548640" y="4023360"/>
            <a:ext cx="7315200" cy="475488"/>
          </a:xfrm>
          <a:prstGeom prst="rect">
            <a:avLst/>
          </a:prstGeom>
          <a:solidFill>
            <a:srgbClr val="F5F5F5"/>
          </a:solidFill>
          <a:ln w="6350">
            <a:solidFill>
              <a:srgbClr val="D0D0D0"/>
            </a:solidFill>
            <a:prstDash val="solid"/>
          </a:ln>
        </p:spPr>
      </p:sp>
      <p:sp>
        <p:nvSpPr>
          <p:cNvPr id="20" name="Text 18"/>
          <p:cNvSpPr/>
          <p:nvPr/>
        </p:nvSpPr>
        <p:spPr>
          <a:xfrm>
            <a:off x="731520" y="4069080"/>
            <a:ext cx="2286000" cy="365760"/>
          </a:xfrm>
          <a:prstGeom prst="rect">
            <a:avLst/>
          </a:prstGeom>
          <a:noFill/>
          <a:ln/>
        </p:spPr>
        <p:txBody>
          <a:bodyPr wrap="square" rtlCol="0" anchor="ctr"/>
          <a:lstStyle/>
          <a:p>
            <a:pPr indent="0" marL="0">
              <a:buNone/>
            </a:pPr>
            <a:r>
              <a:rPr lang="en-US" sz="1000" b="1" dirty="0">
                <a:solidFill>
                  <a:srgbClr val="1A2B4A"/>
                </a:solidFill>
                <a:latin typeface="Arial" pitchFamily="34" charset="0"/>
                <a:ea typeface="Arial" pitchFamily="34" charset="-122"/>
                <a:cs typeface="Arial" pitchFamily="34" charset="-120"/>
              </a:rPr>
              <a:t>6. Continuous Assurance</a:t>
            </a:r>
            <a:endParaRPr lang="en-US" sz="1000" dirty="0"/>
          </a:p>
        </p:txBody>
      </p:sp>
      <p:sp>
        <p:nvSpPr>
          <p:cNvPr id="21" name="Text 19"/>
          <p:cNvSpPr/>
          <p:nvPr/>
        </p:nvSpPr>
        <p:spPr>
          <a:xfrm>
            <a:off x="3017520" y="4069080"/>
            <a:ext cx="4754880" cy="365760"/>
          </a:xfrm>
          <a:prstGeom prst="rect">
            <a:avLst/>
          </a:prstGeom>
          <a:noFill/>
          <a:ln/>
        </p:spPr>
        <p:txBody>
          <a:bodyPr wrap="square" rtlCol="0" anchor="t"/>
          <a:lstStyle/>
          <a:p>
            <a:pPr algn="l" indent="0" marL="0">
              <a:lnSpc>
                <a:spcPct val="115000"/>
              </a:lnSpc>
              <a:buNone/>
            </a:pPr>
            <a:r>
              <a:rPr lang="en-US" sz="900" dirty="0">
                <a:solidFill>
                  <a:srgbClr val="1A1A1A"/>
                </a:solidFill>
                <a:latin typeface="Arial" pitchFamily="34" charset="0"/>
                <a:ea typeface="Arial" pitchFamily="34" charset="-122"/>
                <a:cs typeface="Arial" pitchFamily="34" charset="-120"/>
              </a:rPr>
              <a:t>Compliance Twin drift detection, scheduled re-verification, regression testing.</a:t>
            </a:r>
            <a:endParaRPr lang="en-US" sz="900" dirty="0"/>
          </a:p>
        </p:txBody>
      </p:sp>
      <p:sp>
        <p:nvSpPr>
          <p:cNvPr id="22" name="Shape 20"/>
          <p:cNvSpPr/>
          <p:nvPr/>
        </p:nvSpPr>
        <p:spPr>
          <a:xfrm>
            <a:off x="548640" y="4590288"/>
            <a:ext cx="7315200" cy="475488"/>
          </a:xfrm>
          <a:prstGeom prst="rect">
            <a:avLst/>
          </a:prstGeom>
          <a:solidFill>
            <a:srgbClr val="F5F5F5"/>
          </a:solidFill>
          <a:ln w="6350">
            <a:solidFill>
              <a:srgbClr val="D0D0D0"/>
            </a:solidFill>
            <a:prstDash val="solid"/>
          </a:ln>
        </p:spPr>
      </p:sp>
      <p:sp>
        <p:nvSpPr>
          <p:cNvPr id="23" name="Text 21"/>
          <p:cNvSpPr/>
          <p:nvPr/>
        </p:nvSpPr>
        <p:spPr>
          <a:xfrm>
            <a:off x="731520" y="4636008"/>
            <a:ext cx="2286000" cy="365760"/>
          </a:xfrm>
          <a:prstGeom prst="rect">
            <a:avLst/>
          </a:prstGeom>
          <a:noFill/>
          <a:ln/>
        </p:spPr>
        <p:txBody>
          <a:bodyPr wrap="square" rtlCol="0" anchor="ctr"/>
          <a:lstStyle/>
          <a:p>
            <a:pPr indent="0" marL="0">
              <a:buNone/>
            </a:pPr>
            <a:r>
              <a:rPr lang="en-US" sz="1000" b="1" dirty="0">
                <a:solidFill>
                  <a:srgbClr val="1A2B4A"/>
                </a:solidFill>
                <a:latin typeface="Arial" pitchFamily="34" charset="0"/>
                <a:ea typeface="Arial" pitchFamily="34" charset="-122"/>
                <a:cs typeface="Arial" pitchFamily="34" charset="-120"/>
              </a:rPr>
              <a:t>7. Distribution</a:t>
            </a:r>
            <a:endParaRPr lang="en-US" sz="1000" dirty="0"/>
          </a:p>
        </p:txBody>
      </p:sp>
      <p:sp>
        <p:nvSpPr>
          <p:cNvPr id="24" name="Text 22"/>
          <p:cNvSpPr/>
          <p:nvPr/>
        </p:nvSpPr>
        <p:spPr>
          <a:xfrm>
            <a:off x="3017520" y="4636008"/>
            <a:ext cx="4754880" cy="365760"/>
          </a:xfrm>
          <a:prstGeom prst="rect">
            <a:avLst/>
          </a:prstGeom>
          <a:noFill/>
          <a:ln/>
        </p:spPr>
        <p:txBody>
          <a:bodyPr wrap="square" rtlCol="0" anchor="t"/>
          <a:lstStyle/>
          <a:p>
            <a:pPr algn="l" indent="0" marL="0">
              <a:lnSpc>
                <a:spcPct val="115000"/>
              </a:lnSpc>
              <a:buNone/>
            </a:pPr>
            <a:r>
              <a:rPr lang="en-US" sz="900" dirty="0">
                <a:solidFill>
                  <a:srgbClr val="1A1A1A"/>
                </a:solidFill>
                <a:latin typeface="Arial" pitchFamily="34" charset="0"/>
                <a:ea typeface="Arial" pitchFamily="34" charset="-122"/>
                <a:cs typeface="Arial" pitchFamily="34" charset="-120"/>
              </a:rPr>
              <a:t>Trust artifacts, verification API, CI integration, enterprise V1 API.</a:t>
            </a:r>
            <a:endParaRPr lang="en-US" sz="900" dirty="0"/>
          </a:p>
        </p:txBody>
      </p:sp>
      <p:sp>
        <p:nvSpPr>
          <p:cNvPr id="25" name="Shape 23"/>
          <p:cNvSpPr/>
          <p:nvPr/>
        </p:nvSpPr>
        <p:spPr>
          <a:xfrm>
            <a:off x="7955280" y="3200400"/>
            <a:ext cx="274320" cy="0"/>
          </a:xfrm>
          <a:prstGeom prst="line">
            <a:avLst/>
          </a:prstGeom>
          <a:noFill/>
          <a:ln w="12700">
            <a:solidFill>
              <a:srgbClr val="999999"/>
            </a:solidFill>
            <a:prstDash val="solid"/>
            <a:tailEnd type="triangle"/>
          </a:ln>
        </p:spPr>
      </p:sp>
      <p:sp>
        <p:nvSpPr>
          <p:cNvPr id="26" name="Shape 24"/>
          <p:cNvSpPr/>
          <p:nvPr/>
        </p:nvSpPr>
        <p:spPr>
          <a:xfrm>
            <a:off x="8321040" y="1371600"/>
            <a:ext cx="3291840" cy="1188720"/>
          </a:xfrm>
          <a:prstGeom prst="rect">
            <a:avLst/>
          </a:prstGeom>
          <a:solidFill>
            <a:srgbClr val="F5F5F5"/>
          </a:solidFill>
          <a:ln w="6350">
            <a:solidFill>
              <a:srgbClr val="1A2B4A"/>
            </a:solidFill>
            <a:prstDash val="solid"/>
          </a:ln>
        </p:spPr>
      </p:sp>
      <p:sp>
        <p:nvSpPr>
          <p:cNvPr id="27" name="Shape 25"/>
          <p:cNvSpPr/>
          <p:nvPr/>
        </p:nvSpPr>
        <p:spPr>
          <a:xfrm>
            <a:off x="8321040" y="1371600"/>
            <a:ext cx="54864" cy="1188720"/>
          </a:xfrm>
          <a:prstGeom prst="rect">
            <a:avLst/>
          </a:prstGeom>
          <a:solidFill>
            <a:srgbClr val="1A2B4A"/>
          </a:solidFill>
          <a:ln/>
        </p:spPr>
      </p:sp>
      <p:sp>
        <p:nvSpPr>
          <p:cNvPr id="28" name="Text 26"/>
          <p:cNvSpPr/>
          <p:nvPr/>
        </p:nvSpPr>
        <p:spPr>
          <a:xfrm>
            <a:off x="8503920" y="1463040"/>
            <a:ext cx="2926080" cy="320040"/>
          </a:xfrm>
          <a:prstGeom prst="rect">
            <a:avLst/>
          </a:prstGeom>
          <a:noFill/>
          <a:ln/>
        </p:spPr>
        <p:txBody>
          <a:bodyPr wrap="square" rtlCol="0" anchor="ctr"/>
          <a:lstStyle/>
          <a:p>
            <a:pPr indent="0" marL="0">
              <a:buNone/>
            </a:pPr>
            <a:r>
              <a:rPr lang="en-US" sz="1200" b="1" dirty="0">
                <a:solidFill>
                  <a:srgbClr val="0F1D33"/>
                </a:solidFill>
                <a:latin typeface="Arial" pitchFamily="34" charset="0"/>
                <a:ea typeface="Arial" pitchFamily="34" charset="-122"/>
                <a:cs typeface="Arial" pitchFamily="34" charset="-120"/>
              </a:rPr>
              <a:t>Switching Costs</a:t>
            </a:r>
            <a:endParaRPr lang="en-US" sz="1200" dirty="0"/>
          </a:p>
        </p:txBody>
      </p:sp>
      <p:sp>
        <p:nvSpPr>
          <p:cNvPr id="29" name="Text 27"/>
          <p:cNvSpPr/>
          <p:nvPr/>
        </p:nvSpPr>
        <p:spPr>
          <a:xfrm>
            <a:off x="8503920" y="1828800"/>
            <a:ext cx="2926080" cy="640080"/>
          </a:xfrm>
          <a:prstGeom prst="rect">
            <a:avLst/>
          </a:prstGeom>
          <a:noFill/>
          <a:ln/>
        </p:spPr>
        <p:txBody>
          <a:bodyPr wrap="square" rtlCol="0" anchor="t"/>
          <a:lstStyle/>
          <a:p>
            <a:pPr algn="l" indent="0" marL="0">
              <a:lnSpc>
                <a:spcPct val="115000"/>
              </a:lnSpc>
              <a:buNone/>
            </a:pPr>
            <a:r>
              <a:rPr lang="en-US" sz="900" dirty="0">
                <a:solidFill>
                  <a:srgbClr val="4A4A4A"/>
                </a:solidFill>
                <a:latin typeface="Arial" pitchFamily="34" charset="0"/>
                <a:ea typeface="Arial" pitchFamily="34" charset="-122"/>
                <a:cs typeface="Arial" pitchFamily="34" charset="-120"/>
              </a:rPr>
              <a:t>Switching costs increase as CI integrations, historical evidence, framework mappings and revalidation records accumulate.</a:t>
            </a:r>
            <a:endParaRPr lang="en-US" sz="900" dirty="0"/>
          </a:p>
        </p:txBody>
      </p:sp>
      <p:sp>
        <p:nvSpPr>
          <p:cNvPr id="30" name="Shape 28"/>
          <p:cNvSpPr/>
          <p:nvPr/>
        </p:nvSpPr>
        <p:spPr>
          <a:xfrm>
            <a:off x="8321040" y="2743200"/>
            <a:ext cx="3291840" cy="1188720"/>
          </a:xfrm>
          <a:prstGeom prst="rect">
            <a:avLst/>
          </a:prstGeom>
          <a:solidFill>
            <a:srgbClr val="F5F5F5"/>
          </a:solidFill>
          <a:ln w="6350">
            <a:solidFill>
              <a:srgbClr val="1A2B4A"/>
            </a:solidFill>
            <a:prstDash val="solid"/>
          </a:ln>
        </p:spPr>
      </p:sp>
      <p:sp>
        <p:nvSpPr>
          <p:cNvPr id="31" name="Shape 29"/>
          <p:cNvSpPr/>
          <p:nvPr/>
        </p:nvSpPr>
        <p:spPr>
          <a:xfrm>
            <a:off x="8321040" y="2743200"/>
            <a:ext cx="54864" cy="1188720"/>
          </a:xfrm>
          <a:prstGeom prst="rect">
            <a:avLst/>
          </a:prstGeom>
          <a:solidFill>
            <a:srgbClr val="1A2B4A"/>
          </a:solidFill>
          <a:ln/>
        </p:spPr>
      </p:sp>
      <p:sp>
        <p:nvSpPr>
          <p:cNvPr id="32" name="Text 30"/>
          <p:cNvSpPr/>
          <p:nvPr/>
        </p:nvSpPr>
        <p:spPr>
          <a:xfrm>
            <a:off x="8503920" y="2834640"/>
            <a:ext cx="2926080" cy="320040"/>
          </a:xfrm>
          <a:prstGeom prst="rect">
            <a:avLst/>
          </a:prstGeom>
          <a:noFill/>
          <a:ln/>
        </p:spPr>
        <p:txBody>
          <a:bodyPr wrap="square" rtlCol="0" anchor="ctr"/>
          <a:lstStyle/>
          <a:p>
            <a:pPr indent="0" marL="0">
              <a:buNone/>
            </a:pPr>
            <a:r>
              <a:rPr lang="en-US" sz="1200" b="1" dirty="0">
                <a:solidFill>
                  <a:srgbClr val="0F1D33"/>
                </a:solidFill>
                <a:latin typeface="Arial" pitchFamily="34" charset="0"/>
                <a:ea typeface="Arial" pitchFamily="34" charset="-122"/>
                <a:cs typeface="Arial" pitchFamily="34" charset="-120"/>
              </a:rPr>
              <a:t>Coverage &amp; Learning Effects</a:t>
            </a:r>
            <a:endParaRPr lang="en-US" sz="1200" dirty="0"/>
          </a:p>
        </p:txBody>
      </p:sp>
      <p:sp>
        <p:nvSpPr>
          <p:cNvPr id="33" name="Text 31"/>
          <p:cNvSpPr/>
          <p:nvPr/>
        </p:nvSpPr>
        <p:spPr>
          <a:xfrm>
            <a:off x="8503920" y="3200400"/>
            <a:ext cx="2926080" cy="640080"/>
          </a:xfrm>
          <a:prstGeom prst="rect">
            <a:avLst/>
          </a:prstGeom>
          <a:noFill/>
          <a:ln/>
        </p:spPr>
        <p:txBody>
          <a:bodyPr wrap="square" rtlCol="0" anchor="t"/>
          <a:lstStyle/>
          <a:p>
            <a:pPr algn="l" indent="0" marL="0">
              <a:lnSpc>
                <a:spcPct val="115000"/>
              </a:lnSpc>
              <a:buNone/>
            </a:pPr>
            <a:r>
              <a:rPr lang="en-US" sz="900" dirty="0">
                <a:solidFill>
                  <a:srgbClr val="4A4A4A"/>
                </a:solidFill>
                <a:latin typeface="Arial" pitchFamily="34" charset="0"/>
                <a:ea typeface="Arial" pitchFamily="34" charset="-122"/>
                <a:cs typeface="Arial" pitchFamily="34" charset="-120"/>
              </a:rPr>
              <a:t>More systems tested can improve attack coverage, remediation patterns and framework mappings - subject to privacy, tenancy and data-use constraints.</a:t>
            </a:r>
            <a:endParaRPr lang="en-US" sz="900" dirty="0"/>
          </a:p>
        </p:txBody>
      </p:sp>
      <p:sp>
        <p:nvSpPr>
          <p:cNvPr id="34" name="Shape 32"/>
          <p:cNvSpPr/>
          <p:nvPr/>
        </p:nvSpPr>
        <p:spPr>
          <a:xfrm>
            <a:off x="8321040" y="4114800"/>
            <a:ext cx="3291840" cy="1188720"/>
          </a:xfrm>
          <a:prstGeom prst="rect">
            <a:avLst/>
          </a:prstGeom>
          <a:solidFill>
            <a:srgbClr val="F5F5F5"/>
          </a:solidFill>
          <a:ln w="6350">
            <a:solidFill>
              <a:srgbClr val="1A2B4A"/>
            </a:solidFill>
            <a:prstDash val="solid"/>
          </a:ln>
        </p:spPr>
      </p:sp>
      <p:sp>
        <p:nvSpPr>
          <p:cNvPr id="35" name="Shape 33"/>
          <p:cNvSpPr/>
          <p:nvPr/>
        </p:nvSpPr>
        <p:spPr>
          <a:xfrm>
            <a:off x="8321040" y="4114800"/>
            <a:ext cx="54864" cy="1188720"/>
          </a:xfrm>
          <a:prstGeom prst="rect">
            <a:avLst/>
          </a:prstGeom>
          <a:solidFill>
            <a:srgbClr val="1A2B4A"/>
          </a:solidFill>
          <a:ln/>
        </p:spPr>
      </p:sp>
      <p:sp>
        <p:nvSpPr>
          <p:cNvPr id="36" name="Text 34"/>
          <p:cNvSpPr/>
          <p:nvPr/>
        </p:nvSpPr>
        <p:spPr>
          <a:xfrm>
            <a:off x="8503920" y="4206240"/>
            <a:ext cx="2926080" cy="320040"/>
          </a:xfrm>
          <a:prstGeom prst="rect">
            <a:avLst/>
          </a:prstGeom>
          <a:noFill/>
          <a:ln/>
        </p:spPr>
        <p:txBody>
          <a:bodyPr wrap="square" rtlCol="0" anchor="ctr"/>
          <a:lstStyle/>
          <a:p>
            <a:pPr indent="0" marL="0">
              <a:buNone/>
            </a:pPr>
            <a:r>
              <a:rPr lang="en-US" sz="1200" b="1" dirty="0">
                <a:solidFill>
                  <a:srgbClr val="0F1D33"/>
                </a:solidFill>
                <a:latin typeface="Arial" pitchFamily="34" charset="0"/>
                <a:ea typeface="Arial" pitchFamily="34" charset="-122"/>
                <a:cs typeface="Arial" pitchFamily="34" charset="-120"/>
              </a:rPr>
              <a:t>Evidence-Graph Advantage</a:t>
            </a:r>
            <a:endParaRPr lang="en-US" sz="1200" dirty="0"/>
          </a:p>
        </p:txBody>
      </p:sp>
      <p:sp>
        <p:nvSpPr>
          <p:cNvPr id="37" name="Text 35"/>
          <p:cNvSpPr/>
          <p:nvPr/>
        </p:nvSpPr>
        <p:spPr>
          <a:xfrm>
            <a:off x="8503920" y="4572000"/>
            <a:ext cx="2926080" cy="640080"/>
          </a:xfrm>
          <a:prstGeom prst="rect">
            <a:avLst/>
          </a:prstGeom>
          <a:noFill/>
          <a:ln/>
        </p:spPr>
        <p:txBody>
          <a:bodyPr wrap="square" rtlCol="0" anchor="t"/>
          <a:lstStyle/>
          <a:p>
            <a:pPr algn="l" indent="0" marL="0">
              <a:lnSpc>
                <a:spcPct val="115000"/>
              </a:lnSpc>
              <a:buNone/>
            </a:pPr>
            <a:r>
              <a:rPr lang="en-US" sz="900" dirty="0">
                <a:solidFill>
                  <a:srgbClr val="4A4A4A"/>
                </a:solidFill>
                <a:latin typeface="Arial" pitchFamily="34" charset="0"/>
                <a:ea typeface="Arial" pitchFamily="34" charset="-122"/>
                <a:cs typeface="Arial" pitchFamily="34" charset="-120"/>
              </a:rPr>
              <a:t>The defensibility grows from versioned relationships among systems, tests, findings, remediations, controls and historical outcomes.</a:t>
            </a:r>
            <a:endParaRPr lang="en-US" sz="900" dirty="0"/>
          </a:p>
        </p:txBody>
      </p:sp>
      <p:sp>
        <p:nvSpPr>
          <p:cNvPr id="38" name="Text 36"/>
          <p:cNvSpPr/>
          <p:nvPr/>
        </p:nvSpPr>
        <p:spPr>
          <a:xfrm>
            <a:off x="548640" y="5486400"/>
            <a:ext cx="10972800" cy="274320"/>
          </a:xfrm>
          <a:prstGeom prst="rect">
            <a:avLst/>
          </a:prstGeom>
          <a:noFill/>
          <a:ln/>
        </p:spPr>
        <p:txBody>
          <a:bodyPr wrap="square" rtlCol="0" anchor="t"/>
          <a:lstStyle/>
          <a:p>
            <a:pPr algn="l" indent="0" marL="0">
              <a:lnSpc>
                <a:spcPct val="115000"/>
              </a:lnSpc>
              <a:buNone/>
            </a:pPr>
            <a:r>
              <a:rPr lang="en-US" sz="1100" b="1" dirty="0">
                <a:solidFill>
                  <a:srgbClr val="1A2B4A"/>
                </a:solidFill>
                <a:latin typeface="Arial" pitchFamily="34" charset="0"/>
                <a:ea typeface="Arial" pitchFamily="34" charset="-122"/>
                <a:cs typeface="Arial" pitchFamily="34" charset="-120"/>
              </a:rPr>
              <a:t>Each layer reinforces the next. The evidence relationship - not any single scanner - is the defensible asset.</a:t>
            </a:r>
            <a:endParaRPr lang="en-US" sz="1100" dirty="0"/>
          </a:p>
        </p:txBody>
      </p:sp>
      <p:sp>
        <p:nvSpPr>
          <p:cNvPr id="39" name="Shape 37"/>
          <p:cNvSpPr/>
          <p:nvPr/>
        </p:nvSpPr>
        <p:spPr>
          <a:xfrm>
            <a:off x="548640" y="5852160"/>
            <a:ext cx="11064240" cy="640080"/>
          </a:xfrm>
          <a:prstGeom prst="rect">
            <a:avLst/>
          </a:prstGeom>
          <a:solidFill>
            <a:srgbClr val="F5F5F5"/>
          </a:solidFill>
          <a:ln w="6350">
            <a:solidFill>
              <a:srgbClr val="1A2B4A"/>
            </a:solidFill>
            <a:prstDash val="solid"/>
          </a:ln>
        </p:spPr>
      </p:sp>
      <p:sp>
        <p:nvSpPr>
          <p:cNvPr id="40" name="Text 38"/>
          <p:cNvSpPr/>
          <p:nvPr/>
        </p:nvSpPr>
        <p:spPr>
          <a:xfrm>
            <a:off x="731520" y="5852160"/>
            <a:ext cx="10698480" cy="640080"/>
          </a:xfrm>
          <a:prstGeom prst="rect">
            <a:avLst/>
          </a:prstGeom>
          <a:noFill/>
          <a:ln/>
        </p:spPr>
        <p:txBody>
          <a:bodyPr wrap="square" rtlCol="0" anchor="ctr"/>
          <a:lstStyle/>
          <a:p>
            <a:pPr algn="ctr" indent="0" marL="0">
              <a:buNone/>
            </a:pPr>
            <a:r>
              <a:rPr lang="en-US" sz="900" i="1" dirty="0">
                <a:solidFill>
                  <a:srgbClr val="4A4A4A"/>
                </a:solidFill>
                <a:latin typeface="Arial" pitchFamily="34" charset="0"/>
                <a:ea typeface="Arial" pitchFamily="34" charset="-122"/>
                <a:cs typeface="Arial" pitchFamily="34" charset="-120"/>
              </a:rPr>
              <a:t>Discussion:  What is the strongest initial product wedge?  ·  Which compliance framework drives the most urgent demand?  ·  Where does HAIEC create the most switching cost?</a:t>
            </a:r>
            <a:endParaRPr lang="en-US" sz="900" dirty="0"/>
          </a:p>
        </p:txBody>
      </p:sp>
      <p:sp>
        <p:nvSpPr>
          <p:cNvPr id="41" name="Shape 39"/>
          <p:cNvSpPr/>
          <p:nvPr/>
        </p:nvSpPr>
        <p:spPr>
          <a:xfrm>
            <a:off x="457200" y="6473952"/>
            <a:ext cx="11277295" cy="0"/>
          </a:xfrm>
          <a:prstGeom prst="line">
            <a:avLst/>
          </a:prstGeom>
          <a:noFill/>
          <a:ln w="6350">
            <a:solidFill>
              <a:srgbClr val="CCCCCC"/>
            </a:solidFill>
            <a:prstDash val="solid"/>
          </a:ln>
        </p:spPr>
      </p:sp>
      <p:sp>
        <p:nvSpPr>
          <p:cNvPr id="42" name="Text 40"/>
          <p:cNvSpPr/>
          <p:nvPr/>
        </p:nvSpPr>
        <p:spPr>
          <a:xfrm>
            <a:off x="457200" y="6537960"/>
            <a:ext cx="7315200" cy="228600"/>
          </a:xfrm>
          <a:prstGeom prst="rect">
            <a:avLst/>
          </a:prstGeom>
          <a:noFill/>
          <a:ln/>
        </p:spPr>
        <p:txBody>
          <a:bodyPr wrap="square" rtlCol="0" anchor="ctr"/>
          <a:lstStyle/>
          <a:p>
            <a:pPr indent="0" marL="0">
              <a:buNone/>
            </a:pPr>
            <a:r>
              <a:rPr lang="en-US" sz="800" dirty="0">
                <a:solidFill>
                  <a:srgbClr val="6B6B6B"/>
                </a:solidFill>
                <a:latin typeface="Arial" pitchFamily="34" charset="0"/>
                <a:ea typeface="Arial" pitchFamily="34" charset="-122"/>
                <a:cs typeface="Arial" pitchFamily="34" charset="-120"/>
              </a:rPr>
              <a:t>HAIEC  ·  Confidential Discussion Brief  ·  11/15</a:t>
            </a:r>
            <a:endParaRPr lang="en-US" sz="800" dirty="0"/>
          </a:p>
        </p:txBody>
      </p:sp>
      <p:sp>
        <p:nvSpPr>
          <p:cNvPr id="43" name="Text 41"/>
          <p:cNvSpPr/>
          <p:nvPr/>
        </p:nvSpPr>
        <p:spPr>
          <a:xfrm>
            <a:off x="8991295" y="6537960"/>
            <a:ext cx="2743200" cy="228600"/>
          </a:xfrm>
          <a:prstGeom prst="rect">
            <a:avLst/>
          </a:prstGeom>
          <a:noFill/>
          <a:ln/>
        </p:spPr>
        <p:txBody>
          <a:bodyPr wrap="square" rtlCol="0" anchor="ctr"/>
          <a:lstStyle/>
          <a:p>
            <a:pPr algn="r" indent="0" marL="0">
              <a:buNone/>
            </a:pPr>
            <a:r>
              <a:rPr lang="en-US" sz="800" dirty="0">
                <a:solidFill>
                  <a:srgbClr val="6B6B6B"/>
                </a:solidFill>
                <a:latin typeface="Arial" pitchFamily="34" charset="0"/>
                <a:ea typeface="Arial" pitchFamily="34" charset="-122"/>
                <a:cs typeface="Arial" pitchFamily="34" charset="-120"/>
              </a:rPr>
              <a:t>v1.0  ·  2026-07-31</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57200"/>
            <a:ext cx="11277295" cy="548640"/>
          </a:xfrm>
          <a:prstGeom prst="rect">
            <a:avLst/>
          </a:prstGeom>
          <a:noFill/>
          <a:ln/>
        </p:spPr>
        <p:txBody>
          <a:bodyPr wrap="square" rtlCol="0" anchor="ctr"/>
          <a:lstStyle/>
          <a:p>
            <a:pPr algn="l" indent="0" marL="0">
              <a:buNone/>
            </a:pPr>
            <a:r>
              <a:rPr lang="en-US" sz="2200" b="1" dirty="0">
                <a:solidFill>
                  <a:srgbClr val="1A2B4A"/>
                </a:solidFill>
                <a:latin typeface="Arial" pitchFamily="34" charset="0"/>
                <a:ea typeface="Arial" pitchFamily="34" charset="-122"/>
                <a:cs typeface="Arial" pitchFamily="34" charset="-120"/>
              </a:rPr>
              <a:t>What can be demonstrated today.</a:t>
            </a:r>
            <a:endParaRPr lang="en-US" sz="2200" dirty="0"/>
          </a:p>
        </p:txBody>
      </p:sp>
      <p:sp>
        <p:nvSpPr>
          <p:cNvPr id="3" name="Shape 1"/>
          <p:cNvSpPr/>
          <p:nvPr/>
        </p:nvSpPr>
        <p:spPr>
          <a:xfrm>
            <a:off x="457200" y="1051560"/>
            <a:ext cx="11277295" cy="0"/>
          </a:xfrm>
          <a:prstGeom prst="line">
            <a:avLst/>
          </a:prstGeom>
          <a:noFill/>
          <a:ln w="12700">
            <a:solidFill>
              <a:srgbClr val="1A2B4A"/>
            </a:solidFill>
            <a:prstDash val="solid"/>
          </a:ln>
        </p:spPr>
      </p:sp>
      <p:sp>
        <p:nvSpPr>
          <p:cNvPr id="4" name="Text 2"/>
          <p:cNvSpPr/>
          <p:nvPr/>
        </p:nvSpPr>
        <p:spPr>
          <a:xfrm>
            <a:off x="548640" y="1097280"/>
            <a:ext cx="10972800" cy="365760"/>
          </a:xfrm>
          <a:prstGeom prst="rect">
            <a:avLst/>
          </a:prstGeom>
          <a:noFill/>
          <a:ln/>
        </p:spPr>
        <p:txBody>
          <a:bodyPr wrap="square" rtlCol="0" anchor="t"/>
          <a:lstStyle/>
          <a:p>
            <a:pPr algn="l" indent="0" marL="0">
              <a:lnSpc>
                <a:spcPct val="115000"/>
              </a:lnSpc>
              <a:buNone/>
            </a:pPr>
            <a:r>
              <a:rPr lang="en-US" sz="1200" dirty="0">
                <a:solidFill>
                  <a:srgbClr val="4A4A4A"/>
                </a:solidFill>
                <a:latin typeface="Arial" pitchFamily="34" charset="0"/>
                <a:ea typeface="Arial" pitchFamily="34" charset="-122"/>
                <a:cs typeface="Arial" pitchFamily="34" charset="-120"/>
              </a:rPr>
              <a:t>The following capabilities are operational and can be shown live in a working session.</a:t>
            </a:r>
            <a:endParaRPr lang="en-US" sz="1200" dirty="0"/>
          </a:p>
        </p:txBody>
      </p:sp>
      <p:sp>
        <p:nvSpPr>
          <p:cNvPr id="5" name="Shape 3"/>
          <p:cNvSpPr/>
          <p:nvPr/>
        </p:nvSpPr>
        <p:spPr>
          <a:xfrm>
            <a:off x="548640" y="1645920"/>
            <a:ext cx="5394960" cy="1280160"/>
          </a:xfrm>
          <a:prstGeom prst="rect">
            <a:avLst/>
          </a:prstGeom>
          <a:solidFill>
            <a:srgbClr val="F5F5F5"/>
          </a:solidFill>
          <a:ln w="6350">
            <a:solidFill>
              <a:srgbClr val="D0D0D0"/>
            </a:solidFill>
            <a:prstDash val="solid"/>
          </a:ln>
        </p:spPr>
      </p:sp>
      <p:sp>
        <p:nvSpPr>
          <p:cNvPr id="6" name="Text 4"/>
          <p:cNvSpPr/>
          <p:nvPr/>
        </p:nvSpPr>
        <p:spPr>
          <a:xfrm>
            <a:off x="685800" y="1783080"/>
            <a:ext cx="365760" cy="365760"/>
          </a:xfrm>
          <a:prstGeom prst="rect">
            <a:avLst/>
          </a:prstGeom>
          <a:noFill/>
          <a:ln/>
        </p:spPr>
        <p:txBody>
          <a:bodyPr wrap="square" rtlCol="0" anchor="ctr"/>
          <a:lstStyle/>
          <a:p>
            <a:pPr algn="l" indent="0" marL="0">
              <a:buNone/>
            </a:pPr>
            <a:r>
              <a:rPr lang="en-US" sz="1800" b="1" dirty="0">
                <a:solidFill>
                  <a:srgbClr val="1A2B4A"/>
                </a:solidFill>
                <a:latin typeface="Arial" pitchFamily="34" charset="0"/>
                <a:ea typeface="Arial" pitchFamily="34" charset="-122"/>
                <a:cs typeface="Arial" pitchFamily="34" charset="-120"/>
              </a:rPr>
              <a:t>1</a:t>
            </a:r>
            <a:endParaRPr lang="en-US" sz="1800" dirty="0"/>
          </a:p>
        </p:txBody>
      </p:sp>
      <p:sp>
        <p:nvSpPr>
          <p:cNvPr id="7" name="Text 5"/>
          <p:cNvSpPr/>
          <p:nvPr/>
        </p:nvSpPr>
        <p:spPr>
          <a:xfrm>
            <a:off x="1188720" y="1783080"/>
            <a:ext cx="4572000" cy="320040"/>
          </a:xfrm>
          <a:prstGeom prst="rect">
            <a:avLst/>
          </a:prstGeom>
          <a:noFill/>
          <a:ln/>
        </p:spPr>
        <p:txBody>
          <a:bodyPr wrap="square" rtlCol="0" anchor="ctr"/>
          <a:lstStyle/>
          <a:p>
            <a:pPr indent="0" marL="0">
              <a:buNone/>
            </a:pPr>
            <a:r>
              <a:rPr lang="en-US" sz="1200" b="1" dirty="0">
                <a:solidFill>
                  <a:srgbClr val="1A2B4A"/>
                </a:solidFill>
                <a:latin typeface="Arial" pitchFamily="34" charset="0"/>
                <a:ea typeface="Arial" pitchFamily="34" charset="-122"/>
                <a:cs typeface="Arial" pitchFamily="34" charset="-120"/>
              </a:rPr>
              <a:t>Repository Connected</a:t>
            </a:r>
            <a:endParaRPr lang="en-US" sz="1200" dirty="0"/>
          </a:p>
        </p:txBody>
      </p:sp>
      <p:sp>
        <p:nvSpPr>
          <p:cNvPr id="8" name="Text 6"/>
          <p:cNvSpPr/>
          <p:nvPr/>
        </p:nvSpPr>
        <p:spPr>
          <a:xfrm>
            <a:off x="1188720" y="2148840"/>
            <a:ext cx="4572000" cy="731520"/>
          </a:xfrm>
          <a:prstGeom prst="rect">
            <a:avLst/>
          </a:prstGeom>
          <a:noFill/>
          <a:ln/>
        </p:spPr>
        <p:txBody>
          <a:bodyPr wrap="square" rtlCol="0" anchor="t"/>
          <a:lstStyle/>
          <a:p>
            <a:pPr algn="l" indent="0" marL="0">
              <a:lnSpc>
                <a:spcPct val="115000"/>
              </a:lnSpc>
              <a:buNone/>
            </a:pPr>
            <a:r>
              <a:rPr lang="en-US" sz="900" dirty="0">
                <a:solidFill>
                  <a:srgbClr val="4A4A4A"/>
                </a:solidFill>
                <a:latin typeface="Arial" pitchFamily="34" charset="0"/>
                <a:ea typeface="Arial" pitchFamily="34" charset="-122"/>
                <a:cs typeface="Arial" pitchFamily="34" charset="-120"/>
              </a:rPr>
              <a:t>AI system registered in inventory with API key sync and system metadata. Git integration active.</a:t>
            </a:r>
            <a:endParaRPr lang="en-US" sz="900" dirty="0"/>
          </a:p>
        </p:txBody>
      </p:sp>
      <p:sp>
        <p:nvSpPr>
          <p:cNvPr id="9" name="Shape 7"/>
          <p:cNvSpPr/>
          <p:nvPr/>
        </p:nvSpPr>
        <p:spPr>
          <a:xfrm>
            <a:off x="6217920" y="1645920"/>
            <a:ext cx="5394960" cy="1280160"/>
          </a:xfrm>
          <a:prstGeom prst="rect">
            <a:avLst/>
          </a:prstGeom>
          <a:solidFill>
            <a:srgbClr val="F5F5F5"/>
          </a:solidFill>
          <a:ln w="6350">
            <a:solidFill>
              <a:srgbClr val="D0D0D0"/>
            </a:solidFill>
            <a:prstDash val="solid"/>
          </a:ln>
        </p:spPr>
      </p:sp>
      <p:sp>
        <p:nvSpPr>
          <p:cNvPr id="10" name="Text 8"/>
          <p:cNvSpPr/>
          <p:nvPr/>
        </p:nvSpPr>
        <p:spPr>
          <a:xfrm>
            <a:off x="6355080" y="1783080"/>
            <a:ext cx="365760" cy="365760"/>
          </a:xfrm>
          <a:prstGeom prst="rect">
            <a:avLst/>
          </a:prstGeom>
          <a:noFill/>
          <a:ln/>
        </p:spPr>
        <p:txBody>
          <a:bodyPr wrap="square" rtlCol="0" anchor="ctr"/>
          <a:lstStyle/>
          <a:p>
            <a:pPr algn="l" indent="0" marL="0">
              <a:buNone/>
            </a:pPr>
            <a:r>
              <a:rPr lang="en-US" sz="1800" b="1" dirty="0">
                <a:solidFill>
                  <a:srgbClr val="1A2B4A"/>
                </a:solidFill>
                <a:latin typeface="Arial" pitchFamily="34" charset="0"/>
                <a:ea typeface="Arial" pitchFamily="34" charset="-122"/>
                <a:cs typeface="Arial" pitchFamily="34" charset="-120"/>
              </a:rPr>
              <a:t>2</a:t>
            </a:r>
            <a:endParaRPr lang="en-US" sz="1800" dirty="0"/>
          </a:p>
        </p:txBody>
      </p:sp>
      <p:sp>
        <p:nvSpPr>
          <p:cNvPr id="11" name="Text 9"/>
          <p:cNvSpPr/>
          <p:nvPr/>
        </p:nvSpPr>
        <p:spPr>
          <a:xfrm>
            <a:off x="6858000" y="1783080"/>
            <a:ext cx="4572000" cy="320040"/>
          </a:xfrm>
          <a:prstGeom prst="rect">
            <a:avLst/>
          </a:prstGeom>
          <a:noFill/>
          <a:ln/>
        </p:spPr>
        <p:txBody>
          <a:bodyPr wrap="square" rtlCol="0" anchor="ctr"/>
          <a:lstStyle/>
          <a:p>
            <a:pPr indent="0" marL="0">
              <a:buNone/>
            </a:pPr>
            <a:r>
              <a:rPr lang="en-US" sz="1200" b="1" dirty="0">
                <a:solidFill>
                  <a:srgbClr val="1A2B4A"/>
                </a:solidFill>
                <a:latin typeface="Arial" pitchFamily="34" charset="0"/>
                <a:ea typeface="Arial" pitchFamily="34" charset="-122"/>
                <a:cs typeface="Arial" pitchFamily="34" charset="-120"/>
              </a:rPr>
              <a:t>AI-Specific Finding with File and Line</a:t>
            </a:r>
            <a:endParaRPr lang="en-US" sz="1200" dirty="0"/>
          </a:p>
        </p:txBody>
      </p:sp>
      <p:sp>
        <p:nvSpPr>
          <p:cNvPr id="12" name="Text 10"/>
          <p:cNvSpPr/>
          <p:nvPr/>
        </p:nvSpPr>
        <p:spPr>
          <a:xfrm>
            <a:off x="6858000" y="2148840"/>
            <a:ext cx="4572000" cy="731520"/>
          </a:xfrm>
          <a:prstGeom prst="rect">
            <a:avLst/>
          </a:prstGeom>
          <a:noFill/>
          <a:ln/>
        </p:spPr>
        <p:txBody>
          <a:bodyPr wrap="square" rtlCol="0" anchor="t"/>
          <a:lstStyle/>
          <a:p>
            <a:pPr algn="l" indent="0" marL="0">
              <a:lnSpc>
                <a:spcPct val="115000"/>
              </a:lnSpc>
              <a:buNone/>
            </a:pPr>
            <a:r>
              <a:rPr lang="en-US" sz="900" dirty="0">
                <a:solidFill>
                  <a:srgbClr val="4A4A4A"/>
                </a:solidFill>
                <a:latin typeface="Arial" pitchFamily="34" charset="0"/>
                <a:ea typeface="Arial" pitchFamily="34" charset="-122"/>
                <a:cs typeface="Arial" pitchFamily="34" charset="-120"/>
              </a:rPr>
              <a:t>Static scan produces findings with rule ID, code path, line number, and the missing guard. SHA256 fingerprint attached.</a:t>
            </a:r>
            <a:endParaRPr lang="en-US" sz="900" dirty="0"/>
          </a:p>
        </p:txBody>
      </p:sp>
      <p:sp>
        <p:nvSpPr>
          <p:cNvPr id="13" name="Shape 11"/>
          <p:cNvSpPr/>
          <p:nvPr/>
        </p:nvSpPr>
        <p:spPr>
          <a:xfrm>
            <a:off x="548640" y="3108960"/>
            <a:ext cx="5394960" cy="1280160"/>
          </a:xfrm>
          <a:prstGeom prst="rect">
            <a:avLst/>
          </a:prstGeom>
          <a:solidFill>
            <a:srgbClr val="F5F5F5"/>
          </a:solidFill>
          <a:ln w="6350">
            <a:solidFill>
              <a:srgbClr val="D0D0D0"/>
            </a:solidFill>
            <a:prstDash val="solid"/>
          </a:ln>
        </p:spPr>
      </p:sp>
      <p:sp>
        <p:nvSpPr>
          <p:cNvPr id="14" name="Text 12"/>
          <p:cNvSpPr/>
          <p:nvPr/>
        </p:nvSpPr>
        <p:spPr>
          <a:xfrm>
            <a:off x="685800" y="3246120"/>
            <a:ext cx="365760" cy="365760"/>
          </a:xfrm>
          <a:prstGeom prst="rect">
            <a:avLst/>
          </a:prstGeom>
          <a:noFill/>
          <a:ln/>
        </p:spPr>
        <p:txBody>
          <a:bodyPr wrap="square" rtlCol="0" anchor="ctr"/>
          <a:lstStyle/>
          <a:p>
            <a:pPr algn="l" indent="0" marL="0">
              <a:buNone/>
            </a:pPr>
            <a:r>
              <a:rPr lang="en-US" sz="1800" b="1" dirty="0">
                <a:solidFill>
                  <a:srgbClr val="1A2B4A"/>
                </a:solidFill>
                <a:latin typeface="Arial" pitchFamily="34" charset="0"/>
                <a:ea typeface="Arial" pitchFamily="34" charset="-122"/>
                <a:cs typeface="Arial" pitchFamily="34" charset="-120"/>
              </a:rPr>
              <a:t>3</a:t>
            </a:r>
            <a:endParaRPr lang="en-US" sz="1800" dirty="0"/>
          </a:p>
        </p:txBody>
      </p:sp>
      <p:sp>
        <p:nvSpPr>
          <p:cNvPr id="15" name="Text 13"/>
          <p:cNvSpPr/>
          <p:nvPr/>
        </p:nvSpPr>
        <p:spPr>
          <a:xfrm>
            <a:off x="1188720" y="3246120"/>
            <a:ext cx="4572000" cy="320040"/>
          </a:xfrm>
          <a:prstGeom prst="rect">
            <a:avLst/>
          </a:prstGeom>
          <a:noFill/>
          <a:ln/>
        </p:spPr>
        <p:txBody>
          <a:bodyPr wrap="square" rtlCol="0" anchor="ctr"/>
          <a:lstStyle/>
          <a:p>
            <a:pPr indent="0" marL="0">
              <a:buNone/>
            </a:pPr>
            <a:r>
              <a:rPr lang="en-US" sz="1200" b="1" dirty="0">
                <a:solidFill>
                  <a:srgbClr val="1A2B4A"/>
                </a:solidFill>
                <a:latin typeface="Arial" pitchFamily="34" charset="0"/>
                <a:ea typeface="Arial" pitchFamily="34" charset="-122"/>
                <a:cs typeface="Arial" pitchFamily="34" charset="-120"/>
              </a:rPr>
              <a:t>Runtime Attack and Captured Response</a:t>
            </a:r>
            <a:endParaRPr lang="en-US" sz="1200" dirty="0"/>
          </a:p>
        </p:txBody>
      </p:sp>
      <p:sp>
        <p:nvSpPr>
          <p:cNvPr id="16" name="Text 14"/>
          <p:cNvSpPr/>
          <p:nvPr/>
        </p:nvSpPr>
        <p:spPr>
          <a:xfrm>
            <a:off x="1188720" y="3611880"/>
            <a:ext cx="4572000" cy="731520"/>
          </a:xfrm>
          <a:prstGeom prst="rect">
            <a:avLst/>
          </a:prstGeom>
          <a:noFill/>
          <a:ln/>
        </p:spPr>
        <p:txBody>
          <a:bodyPr wrap="square" rtlCol="0" anchor="t"/>
          <a:lstStyle/>
          <a:p>
            <a:pPr algn="l" indent="0" marL="0">
              <a:lnSpc>
                <a:spcPct val="115000"/>
              </a:lnSpc>
              <a:buNone/>
            </a:pPr>
            <a:r>
              <a:rPr lang="en-US" sz="900" dirty="0">
                <a:solidFill>
                  <a:srgbClr val="4A4A4A"/>
                </a:solidFill>
                <a:latin typeface="Arial" pitchFamily="34" charset="0"/>
                <a:ea typeface="Arial" pitchFamily="34" charset="-122"/>
                <a:cs typeface="Arial" pitchFamily="34" charset="-120"/>
              </a:rPr>
              <a:t>Adversarial template executed against live endpoint. Response captured, safety property evaluated, result recorded.</a:t>
            </a:r>
            <a:endParaRPr lang="en-US" sz="900" dirty="0"/>
          </a:p>
        </p:txBody>
      </p:sp>
      <p:sp>
        <p:nvSpPr>
          <p:cNvPr id="17" name="Shape 15"/>
          <p:cNvSpPr/>
          <p:nvPr/>
        </p:nvSpPr>
        <p:spPr>
          <a:xfrm>
            <a:off x="6217920" y="3108960"/>
            <a:ext cx="5394960" cy="1280160"/>
          </a:xfrm>
          <a:prstGeom prst="rect">
            <a:avLst/>
          </a:prstGeom>
          <a:solidFill>
            <a:srgbClr val="F5F5F5"/>
          </a:solidFill>
          <a:ln w="6350">
            <a:solidFill>
              <a:srgbClr val="D0D0D0"/>
            </a:solidFill>
            <a:prstDash val="solid"/>
          </a:ln>
        </p:spPr>
      </p:sp>
      <p:sp>
        <p:nvSpPr>
          <p:cNvPr id="18" name="Text 16"/>
          <p:cNvSpPr/>
          <p:nvPr/>
        </p:nvSpPr>
        <p:spPr>
          <a:xfrm>
            <a:off x="6355080" y="3246120"/>
            <a:ext cx="365760" cy="365760"/>
          </a:xfrm>
          <a:prstGeom prst="rect">
            <a:avLst/>
          </a:prstGeom>
          <a:noFill/>
          <a:ln/>
        </p:spPr>
        <p:txBody>
          <a:bodyPr wrap="square" rtlCol="0" anchor="ctr"/>
          <a:lstStyle/>
          <a:p>
            <a:pPr algn="l" indent="0" marL="0">
              <a:buNone/>
            </a:pPr>
            <a:r>
              <a:rPr lang="en-US" sz="1800" b="1" dirty="0">
                <a:solidFill>
                  <a:srgbClr val="1A2B4A"/>
                </a:solidFill>
                <a:latin typeface="Arial" pitchFamily="34" charset="0"/>
                <a:ea typeface="Arial" pitchFamily="34" charset="-122"/>
                <a:cs typeface="Arial" pitchFamily="34" charset="-120"/>
              </a:rPr>
              <a:t>4</a:t>
            </a:r>
            <a:endParaRPr lang="en-US" sz="1800" dirty="0"/>
          </a:p>
        </p:txBody>
      </p:sp>
      <p:sp>
        <p:nvSpPr>
          <p:cNvPr id="19" name="Text 17"/>
          <p:cNvSpPr/>
          <p:nvPr/>
        </p:nvSpPr>
        <p:spPr>
          <a:xfrm>
            <a:off x="6858000" y="3246120"/>
            <a:ext cx="4572000" cy="320040"/>
          </a:xfrm>
          <a:prstGeom prst="rect">
            <a:avLst/>
          </a:prstGeom>
          <a:noFill/>
          <a:ln/>
        </p:spPr>
        <p:txBody>
          <a:bodyPr wrap="square" rtlCol="0" anchor="ctr"/>
          <a:lstStyle/>
          <a:p>
            <a:pPr indent="0" marL="0">
              <a:buNone/>
            </a:pPr>
            <a:r>
              <a:rPr lang="en-US" sz="1200" b="1" dirty="0">
                <a:solidFill>
                  <a:srgbClr val="1A2B4A"/>
                </a:solidFill>
                <a:latin typeface="Arial" pitchFamily="34" charset="0"/>
                <a:ea typeface="Arial" pitchFamily="34" charset="-122"/>
                <a:cs typeface="Arial" pitchFamily="34" charset="-120"/>
              </a:rPr>
              <a:t>Framework-Control Mapping</a:t>
            </a:r>
            <a:endParaRPr lang="en-US" sz="1200" dirty="0"/>
          </a:p>
        </p:txBody>
      </p:sp>
      <p:sp>
        <p:nvSpPr>
          <p:cNvPr id="20" name="Text 18"/>
          <p:cNvSpPr/>
          <p:nvPr/>
        </p:nvSpPr>
        <p:spPr>
          <a:xfrm>
            <a:off x="6858000" y="3611880"/>
            <a:ext cx="4572000" cy="731520"/>
          </a:xfrm>
          <a:prstGeom prst="rect">
            <a:avLst/>
          </a:prstGeom>
          <a:noFill/>
          <a:ln/>
        </p:spPr>
        <p:txBody>
          <a:bodyPr wrap="square" rtlCol="0" anchor="t"/>
          <a:lstStyle/>
          <a:p>
            <a:pPr algn="l" indent="0" marL="0">
              <a:lnSpc>
                <a:spcPct val="115000"/>
              </a:lnSpc>
              <a:buNone/>
            </a:pPr>
            <a:r>
              <a:rPr lang="en-US" sz="900" dirty="0">
                <a:solidFill>
                  <a:srgbClr val="4A4A4A"/>
                </a:solidFill>
                <a:latin typeface="Arial" pitchFamily="34" charset="0"/>
                <a:ea typeface="Arial" pitchFamily="34" charset="-122"/>
                <a:cs typeface="Arial" pitchFamily="34" charset="-120"/>
              </a:rPr>
              <a:t>Finding automatically mapped to OWASP LLM01:2025, SOC 2 CC7.2, ISO 27001:2022 A.8.8, NIST AI RMF 1.0, EU AI Act, ISO 42001:2023.</a:t>
            </a:r>
            <a:endParaRPr lang="en-US" sz="900" dirty="0"/>
          </a:p>
        </p:txBody>
      </p:sp>
      <p:sp>
        <p:nvSpPr>
          <p:cNvPr id="21" name="Shape 19"/>
          <p:cNvSpPr/>
          <p:nvPr/>
        </p:nvSpPr>
        <p:spPr>
          <a:xfrm>
            <a:off x="548640" y="4572000"/>
            <a:ext cx="5394960" cy="1280160"/>
          </a:xfrm>
          <a:prstGeom prst="rect">
            <a:avLst/>
          </a:prstGeom>
          <a:solidFill>
            <a:srgbClr val="F5F5F5"/>
          </a:solidFill>
          <a:ln w="6350">
            <a:solidFill>
              <a:srgbClr val="D0D0D0"/>
            </a:solidFill>
            <a:prstDash val="solid"/>
          </a:ln>
        </p:spPr>
      </p:sp>
      <p:sp>
        <p:nvSpPr>
          <p:cNvPr id="22" name="Text 20"/>
          <p:cNvSpPr/>
          <p:nvPr/>
        </p:nvSpPr>
        <p:spPr>
          <a:xfrm>
            <a:off x="685800" y="4709160"/>
            <a:ext cx="365760" cy="365760"/>
          </a:xfrm>
          <a:prstGeom prst="rect">
            <a:avLst/>
          </a:prstGeom>
          <a:noFill/>
          <a:ln/>
        </p:spPr>
        <p:txBody>
          <a:bodyPr wrap="square" rtlCol="0" anchor="ctr"/>
          <a:lstStyle/>
          <a:p>
            <a:pPr algn="l" indent="0" marL="0">
              <a:buNone/>
            </a:pPr>
            <a:r>
              <a:rPr lang="en-US" sz="1800" b="1" dirty="0">
                <a:solidFill>
                  <a:srgbClr val="1A2B4A"/>
                </a:solidFill>
                <a:latin typeface="Arial" pitchFamily="34" charset="0"/>
                <a:ea typeface="Arial" pitchFamily="34" charset="-122"/>
                <a:cs typeface="Arial" pitchFamily="34" charset="-120"/>
              </a:rPr>
              <a:t>5</a:t>
            </a:r>
            <a:endParaRPr lang="en-US" sz="1800" dirty="0"/>
          </a:p>
        </p:txBody>
      </p:sp>
      <p:sp>
        <p:nvSpPr>
          <p:cNvPr id="23" name="Text 21"/>
          <p:cNvSpPr/>
          <p:nvPr/>
        </p:nvSpPr>
        <p:spPr>
          <a:xfrm>
            <a:off x="1188720" y="4709160"/>
            <a:ext cx="4572000" cy="320040"/>
          </a:xfrm>
          <a:prstGeom prst="rect">
            <a:avLst/>
          </a:prstGeom>
          <a:noFill/>
          <a:ln/>
        </p:spPr>
        <p:txBody>
          <a:bodyPr wrap="square" rtlCol="0" anchor="ctr"/>
          <a:lstStyle/>
          <a:p>
            <a:pPr indent="0" marL="0">
              <a:buNone/>
            </a:pPr>
            <a:r>
              <a:rPr lang="en-US" sz="1200" b="1" dirty="0">
                <a:solidFill>
                  <a:srgbClr val="1A2B4A"/>
                </a:solidFill>
                <a:latin typeface="Arial" pitchFamily="34" charset="0"/>
                <a:ea typeface="Arial" pitchFamily="34" charset="-122"/>
                <a:cs typeface="Arial" pitchFamily="34" charset="-120"/>
              </a:rPr>
              <a:t>Audit Evidence Package</a:t>
            </a:r>
            <a:endParaRPr lang="en-US" sz="1200" dirty="0"/>
          </a:p>
        </p:txBody>
      </p:sp>
      <p:sp>
        <p:nvSpPr>
          <p:cNvPr id="24" name="Text 22"/>
          <p:cNvSpPr/>
          <p:nvPr/>
        </p:nvSpPr>
        <p:spPr>
          <a:xfrm>
            <a:off x="1188720" y="5074920"/>
            <a:ext cx="4572000" cy="731520"/>
          </a:xfrm>
          <a:prstGeom prst="rect">
            <a:avLst/>
          </a:prstGeom>
          <a:noFill/>
          <a:ln/>
        </p:spPr>
        <p:txBody>
          <a:bodyPr wrap="square" rtlCol="0" anchor="t"/>
          <a:lstStyle/>
          <a:p>
            <a:pPr algn="l" indent="0" marL="0">
              <a:lnSpc>
                <a:spcPct val="115000"/>
              </a:lnSpc>
              <a:buNone/>
            </a:pPr>
            <a:r>
              <a:rPr lang="en-US" sz="900" dirty="0">
                <a:solidFill>
                  <a:srgbClr val="4A4A4A"/>
                </a:solidFill>
                <a:latin typeface="Arial" pitchFamily="34" charset="0"/>
                <a:ea typeface="Arial" pitchFamily="34" charset="-122"/>
                <a:cs typeface="Arial" pitchFamily="34" charset="-120"/>
              </a:rPr>
              <a:t>Canonical evidence manifest with DIS score, per-node breakdown, framework mappings, and review sign-off chain. Exported as JSON.</a:t>
            </a:r>
            <a:endParaRPr lang="en-US" sz="900" dirty="0"/>
          </a:p>
        </p:txBody>
      </p:sp>
      <p:sp>
        <p:nvSpPr>
          <p:cNvPr id="25" name="Shape 23"/>
          <p:cNvSpPr/>
          <p:nvPr/>
        </p:nvSpPr>
        <p:spPr>
          <a:xfrm>
            <a:off x="6217920" y="4572000"/>
            <a:ext cx="5394960" cy="1280160"/>
          </a:xfrm>
          <a:prstGeom prst="rect">
            <a:avLst/>
          </a:prstGeom>
          <a:solidFill>
            <a:srgbClr val="F5F5F5"/>
          </a:solidFill>
          <a:ln w="6350">
            <a:solidFill>
              <a:srgbClr val="D0D0D0"/>
            </a:solidFill>
            <a:prstDash val="solid"/>
          </a:ln>
        </p:spPr>
      </p:sp>
      <p:sp>
        <p:nvSpPr>
          <p:cNvPr id="26" name="Text 24"/>
          <p:cNvSpPr/>
          <p:nvPr/>
        </p:nvSpPr>
        <p:spPr>
          <a:xfrm>
            <a:off x="6355080" y="4709160"/>
            <a:ext cx="365760" cy="365760"/>
          </a:xfrm>
          <a:prstGeom prst="rect">
            <a:avLst/>
          </a:prstGeom>
          <a:noFill/>
          <a:ln/>
        </p:spPr>
        <p:txBody>
          <a:bodyPr wrap="square" rtlCol="0" anchor="ctr"/>
          <a:lstStyle/>
          <a:p>
            <a:pPr algn="l" indent="0" marL="0">
              <a:buNone/>
            </a:pPr>
            <a:r>
              <a:rPr lang="en-US" sz="1800" b="1" dirty="0">
                <a:solidFill>
                  <a:srgbClr val="1A2B4A"/>
                </a:solidFill>
                <a:latin typeface="Arial" pitchFamily="34" charset="0"/>
                <a:ea typeface="Arial" pitchFamily="34" charset="-122"/>
                <a:cs typeface="Arial" pitchFamily="34" charset="-120"/>
              </a:rPr>
              <a:t>6</a:t>
            </a:r>
            <a:endParaRPr lang="en-US" sz="1800" dirty="0"/>
          </a:p>
        </p:txBody>
      </p:sp>
      <p:sp>
        <p:nvSpPr>
          <p:cNvPr id="27" name="Text 25"/>
          <p:cNvSpPr/>
          <p:nvPr/>
        </p:nvSpPr>
        <p:spPr>
          <a:xfrm>
            <a:off x="6858000" y="4709160"/>
            <a:ext cx="4572000" cy="320040"/>
          </a:xfrm>
          <a:prstGeom prst="rect">
            <a:avLst/>
          </a:prstGeom>
          <a:noFill/>
          <a:ln/>
        </p:spPr>
        <p:txBody>
          <a:bodyPr wrap="square" rtlCol="0" anchor="ctr"/>
          <a:lstStyle/>
          <a:p>
            <a:pPr indent="0" marL="0">
              <a:buNone/>
            </a:pPr>
            <a:r>
              <a:rPr lang="en-US" sz="1200" b="1" dirty="0">
                <a:solidFill>
                  <a:srgbClr val="1A2B4A"/>
                </a:solidFill>
                <a:latin typeface="Arial" pitchFamily="34" charset="0"/>
                <a:ea typeface="Arial" pitchFamily="34" charset="-122"/>
                <a:cs typeface="Arial" pitchFamily="34" charset="-120"/>
              </a:rPr>
              <a:t>Public Trust Artifact Verification</a:t>
            </a:r>
            <a:endParaRPr lang="en-US" sz="1200" dirty="0"/>
          </a:p>
        </p:txBody>
      </p:sp>
      <p:sp>
        <p:nvSpPr>
          <p:cNvPr id="28" name="Text 26"/>
          <p:cNvSpPr/>
          <p:nvPr/>
        </p:nvSpPr>
        <p:spPr>
          <a:xfrm>
            <a:off x="6858000" y="5074920"/>
            <a:ext cx="4572000" cy="731520"/>
          </a:xfrm>
          <a:prstGeom prst="rect">
            <a:avLst/>
          </a:prstGeom>
          <a:noFill/>
          <a:ln/>
        </p:spPr>
        <p:txBody>
          <a:bodyPr wrap="square" rtlCol="0" anchor="t"/>
          <a:lstStyle/>
          <a:p>
            <a:pPr algn="l" indent="0" marL="0">
              <a:lnSpc>
                <a:spcPct val="115000"/>
              </a:lnSpc>
              <a:buNone/>
            </a:pPr>
            <a:r>
              <a:rPr lang="en-US" sz="900" dirty="0">
                <a:solidFill>
                  <a:srgbClr val="4A4A4A"/>
                </a:solidFill>
                <a:latin typeface="Arial" pitchFamily="34" charset="0"/>
                <a:ea typeface="Arial" pitchFamily="34" charset="-122"/>
                <a:cs typeface="Arial" pitchFamily="34" charset="-120"/>
              </a:rPr>
              <a:t>GET /api/verify/[artifactId] returns HMAC-SHA256 signed response with artifact status, scope, and validity window.</a:t>
            </a:r>
            <a:endParaRPr lang="en-US" sz="900" dirty="0"/>
          </a:p>
        </p:txBody>
      </p:sp>
      <p:sp>
        <p:nvSpPr>
          <p:cNvPr id="29" name="Text 27"/>
          <p:cNvSpPr/>
          <p:nvPr/>
        </p:nvSpPr>
        <p:spPr>
          <a:xfrm>
            <a:off x="548640" y="6126480"/>
            <a:ext cx="10972800" cy="274320"/>
          </a:xfrm>
          <a:prstGeom prst="rect">
            <a:avLst/>
          </a:prstGeom>
          <a:noFill/>
          <a:ln/>
        </p:spPr>
        <p:txBody>
          <a:bodyPr wrap="square" rtlCol="0" anchor="t"/>
          <a:lstStyle/>
          <a:p>
            <a:pPr algn="l" indent="0" marL="0">
              <a:lnSpc>
                <a:spcPct val="115000"/>
              </a:lnSpc>
              <a:buNone/>
            </a:pPr>
            <a:r>
              <a:rPr lang="en-US" sz="1000" b="1" dirty="0">
                <a:solidFill>
                  <a:srgbClr val="1A2B4A"/>
                </a:solidFill>
                <a:latin typeface="Arial" pitchFamily="34" charset="0"/>
                <a:ea typeface="Arial" pitchFamily="34" charset="-122"/>
                <a:cs typeface="Arial" pitchFamily="34" charset="-120"/>
              </a:rPr>
              <a:t>These demonstrations are more persuasive than counts or API-route tables. Available for live walkthrough on request.</a:t>
            </a:r>
            <a:endParaRPr lang="en-US" sz="1000" dirty="0"/>
          </a:p>
        </p:txBody>
      </p:sp>
      <p:sp>
        <p:nvSpPr>
          <p:cNvPr id="30" name="Shape 28"/>
          <p:cNvSpPr/>
          <p:nvPr/>
        </p:nvSpPr>
        <p:spPr>
          <a:xfrm>
            <a:off x="457200" y="6473952"/>
            <a:ext cx="11277295" cy="0"/>
          </a:xfrm>
          <a:prstGeom prst="line">
            <a:avLst/>
          </a:prstGeom>
          <a:noFill/>
          <a:ln w="6350">
            <a:solidFill>
              <a:srgbClr val="CCCCCC"/>
            </a:solidFill>
            <a:prstDash val="solid"/>
          </a:ln>
        </p:spPr>
      </p:sp>
      <p:sp>
        <p:nvSpPr>
          <p:cNvPr id="31" name="Text 29"/>
          <p:cNvSpPr/>
          <p:nvPr/>
        </p:nvSpPr>
        <p:spPr>
          <a:xfrm>
            <a:off x="457200" y="6537960"/>
            <a:ext cx="7315200" cy="228600"/>
          </a:xfrm>
          <a:prstGeom prst="rect">
            <a:avLst/>
          </a:prstGeom>
          <a:noFill/>
          <a:ln/>
        </p:spPr>
        <p:txBody>
          <a:bodyPr wrap="square" rtlCol="0" anchor="ctr"/>
          <a:lstStyle/>
          <a:p>
            <a:pPr indent="0" marL="0">
              <a:buNone/>
            </a:pPr>
            <a:r>
              <a:rPr lang="en-US" sz="800" dirty="0">
                <a:solidFill>
                  <a:srgbClr val="6B6B6B"/>
                </a:solidFill>
                <a:latin typeface="Arial" pitchFamily="34" charset="0"/>
                <a:ea typeface="Arial" pitchFamily="34" charset="-122"/>
                <a:cs typeface="Arial" pitchFamily="34" charset="-120"/>
              </a:rPr>
              <a:t>HAIEC  ·  Confidential Discussion Brief  ·  12/15</a:t>
            </a:r>
            <a:endParaRPr lang="en-US" sz="800" dirty="0"/>
          </a:p>
        </p:txBody>
      </p:sp>
      <p:sp>
        <p:nvSpPr>
          <p:cNvPr id="32" name="Text 30"/>
          <p:cNvSpPr/>
          <p:nvPr/>
        </p:nvSpPr>
        <p:spPr>
          <a:xfrm>
            <a:off x="8991295" y="6537960"/>
            <a:ext cx="2743200" cy="228600"/>
          </a:xfrm>
          <a:prstGeom prst="rect">
            <a:avLst/>
          </a:prstGeom>
          <a:noFill/>
          <a:ln/>
        </p:spPr>
        <p:txBody>
          <a:bodyPr wrap="square" rtlCol="0" anchor="ctr"/>
          <a:lstStyle/>
          <a:p>
            <a:pPr algn="r" indent="0" marL="0">
              <a:buNone/>
            </a:pPr>
            <a:r>
              <a:rPr lang="en-US" sz="800" dirty="0">
                <a:solidFill>
                  <a:srgbClr val="6B6B6B"/>
                </a:solidFill>
                <a:latin typeface="Arial" pitchFamily="34" charset="0"/>
                <a:ea typeface="Arial" pitchFamily="34" charset="-122"/>
                <a:cs typeface="Arial" pitchFamily="34" charset="-120"/>
              </a:rPr>
              <a:t>v1.0  ·  2026-07-31</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57200"/>
            <a:ext cx="11277295" cy="548640"/>
          </a:xfrm>
          <a:prstGeom prst="rect">
            <a:avLst/>
          </a:prstGeom>
          <a:noFill/>
          <a:ln/>
        </p:spPr>
        <p:txBody>
          <a:bodyPr wrap="square" rtlCol="0" anchor="ctr"/>
          <a:lstStyle/>
          <a:p>
            <a:pPr algn="l" indent="0" marL="0">
              <a:buNone/>
            </a:pPr>
            <a:r>
              <a:rPr lang="en-US" sz="2200" b="1" dirty="0">
                <a:solidFill>
                  <a:srgbClr val="1A2B4A"/>
                </a:solidFill>
                <a:latin typeface="Arial" pitchFamily="34" charset="0"/>
                <a:ea typeface="Arial" pitchFamily="34" charset="-122"/>
                <a:cs typeface="Arial" pitchFamily="34" charset="-120"/>
              </a:rPr>
              <a:t>Appendix A: Technical Maturity Matrix</a:t>
            </a:r>
            <a:endParaRPr lang="en-US" sz="2200" dirty="0"/>
          </a:p>
        </p:txBody>
      </p:sp>
      <p:sp>
        <p:nvSpPr>
          <p:cNvPr id="3" name="Shape 1"/>
          <p:cNvSpPr/>
          <p:nvPr/>
        </p:nvSpPr>
        <p:spPr>
          <a:xfrm>
            <a:off x="457200" y="1051560"/>
            <a:ext cx="11277295" cy="0"/>
          </a:xfrm>
          <a:prstGeom prst="line">
            <a:avLst/>
          </a:prstGeom>
          <a:noFill/>
          <a:ln w="12700">
            <a:solidFill>
              <a:srgbClr val="1A2B4A"/>
            </a:solidFill>
            <a:prstDash val="solid"/>
          </a:ln>
        </p:spPr>
      </p:sp>
      <p:sp>
        <p:nvSpPr>
          <p:cNvPr id="4" name="Shape 2"/>
          <p:cNvSpPr/>
          <p:nvPr/>
        </p:nvSpPr>
        <p:spPr>
          <a:xfrm>
            <a:off x="365760" y="1097280"/>
            <a:ext cx="11430000" cy="365760"/>
          </a:xfrm>
          <a:prstGeom prst="rect">
            <a:avLst/>
          </a:prstGeom>
          <a:solidFill>
            <a:srgbClr val="F5F5F5"/>
          </a:solidFill>
          <a:ln w="6350">
            <a:solidFill>
              <a:srgbClr val="1A2B4A"/>
            </a:solidFill>
            <a:prstDash val="solid"/>
          </a:ln>
        </p:spPr>
      </p:sp>
      <p:sp>
        <p:nvSpPr>
          <p:cNvPr id="5" name="Text 3"/>
          <p:cNvSpPr/>
          <p:nvPr/>
        </p:nvSpPr>
        <p:spPr>
          <a:xfrm>
            <a:off x="457200" y="1115568"/>
            <a:ext cx="2011680" cy="320040"/>
          </a:xfrm>
          <a:prstGeom prst="rect">
            <a:avLst/>
          </a:prstGeom>
          <a:noFill/>
          <a:ln/>
        </p:spPr>
        <p:txBody>
          <a:bodyPr wrap="square" rtlCol="0" anchor="ctr"/>
          <a:lstStyle/>
          <a:p>
            <a:pPr indent="0" marL="0">
              <a:buNone/>
            </a:pPr>
            <a:r>
              <a:rPr lang="en-US" sz="900" b="1" dirty="0">
                <a:solidFill>
                  <a:srgbClr val="1A2B4A"/>
                </a:solidFill>
                <a:latin typeface="Arial" pitchFamily="34" charset="0"/>
                <a:ea typeface="Arial" pitchFamily="34" charset="-122"/>
                <a:cs typeface="Arial" pitchFamily="34" charset="-120"/>
              </a:rPr>
              <a:t>Capability</a:t>
            </a:r>
            <a:endParaRPr lang="en-US" sz="900" dirty="0"/>
          </a:p>
        </p:txBody>
      </p:sp>
      <p:sp>
        <p:nvSpPr>
          <p:cNvPr id="6" name="Text 4"/>
          <p:cNvSpPr/>
          <p:nvPr/>
        </p:nvSpPr>
        <p:spPr>
          <a:xfrm>
            <a:off x="2560320" y="1115568"/>
            <a:ext cx="1920240" cy="320040"/>
          </a:xfrm>
          <a:prstGeom prst="rect">
            <a:avLst/>
          </a:prstGeom>
          <a:noFill/>
          <a:ln/>
        </p:spPr>
        <p:txBody>
          <a:bodyPr wrap="square" rtlCol="0" anchor="ctr"/>
          <a:lstStyle/>
          <a:p>
            <a:pPr indent="0" marL="0">
              <a:buNone/>
            </a:pPr>
            <a:r>
              <a:rPr lang="en-US" sz="900" b="1" dirty="0">
                <a:solidFill>
                  <a:srgbClr val="1A2B4A"/>
                </a:solidFill>
                <a:latin typeface="Arial" pitchFamily="34" charset="0"/>
                <a:ea typeface="Arial" pitchFamily="34" charset="-122"/>
                <a:cs typeface="Arial" pitchFamily="34" charset="-120"/>
              </a:rPr>
              <a:t>Current Status</a:t>
            </a:r>
            <a:endParaRPr lang="en-US" sz="900" dirty="0"/>
          </a:p>
        </p:txBody>
      </p:sp>
      <p:sp>
        <p:nvSpPr>
          <p:cNvPr id="7" name="Text 5"/>
          <p:cNvSpPr/>
          <p:nvPr/>
        </p:nvSpPr>
        <p:spPr>
          <a:xfrm>
            <a:off x="4572000" y="1115568"/>
            <a:ext cx="2468880" cy="320040"/>
          </a:xfrm>
          <a:prstGeom prst="rect">
            <a:avLst/>
          </a:prstGeom>
          <a:noFill/>
          <a:ln/>
        </p:spPr>
        <p:txBody>
          <a:bodyPr wrap="square" rtlCol="0" anchor="ctr"/>
          <a:lstStyle/>
          <a:p>
            <a:pPr indent="0" marL="0">
              <a:buNone/>
            </a:pPr>
            <a:r>
              <a:rPr lang="en-US" sz="900" b="1" dirty="0">
                <a:solidFill>
                  <a:srgbClr val="1A2B4A"/>
                </a:solidFill>
                <a:latin typeface="Arial" pitchFamily="34" charset="0"/>
                <a:ea typeface="Arial" pitchFamily="34" charset="-122"/>
                <a:cs typeface="Arial" pitchFamily="34" charset="-120"/>
              </a:rPr>
              <a:t>Source Proof</a:t>
            </a:r>
            <a:endParaRPr lang="en-US" sz="900" dirty="0"/>
          </a:p>
        </p:txBody>
      </p:sp>
      <p:sp>
        <p:nvSpPr>
          <p:cNvPr id="8" name="Text 6"/>
          <p:cNvSpPr/>
          <p:nvPr/>
        </p:nvSpPr>
        <p:spPr>
          <a:xfrm>
            <a:off x="7132320" y="1115568"/>
            <a:ext cx="2194560" cy="320040"/>
          </a:xfrm>
          <a:prstGeom prst="rect">
            <a:avLst/>
          </a:prstGeom>
          <a:noFill/>
          <a:ln/>
        </p:spPr>
        <p:txBody>
          <a:bodyPr wrap="square" rtlCol="0" anchor="ctr"/>
          <a:lstStyle/>
          <a:p>
            <a:pPr indent="0" marL="0">
              <a:buNone/>
            </a:pPr>
            <a:r>
              <a:rPr lang="en-US" sz="900" b="1" dirty="0">
                <a:solidFill>
                  <a:srgbClr val="1A2B4A"/>
                </a:solidFill>
                <a:latin typeface="Arial" pitchFamily="34" charset="0"/>
                <a:ea typeface="Arial" pitchFamily="34" charset="-122"/>
                <a:cs typeface="Arial" pitchFamily="34" charset="-120"/>
              </a:rPr>
              <a:t>Strategic Value</a:t>
            </a:r>
            <a:endParaRPr lang="en-US" sz="900" dirty="0"/>
          </a:p>
        </p:txBody>
      </p:sp>
      <p:sp>
        <p:nvSpPr>
          <p:cNvPr id="9" name="Text 7"/>
          <p:cNvSpPr/>
          <p:nvPr/>
        </p:nvSpPr>
        <p:spPr>
          <a:xfrm>
            <a:off x="9418320" y="1115568"/>
            <a:ext cx="2011680" cy="320040"/>
          </a:xfrm>
          <a:prstGeom prst="rect">
            <a:avLst/>
          </a:prstGeom>
          <a:noFill/>
          <a:ln/>
        </p:spPr>
        <p:txBody>
          <a:bodyPr wrap="square" rtlCol="0" anchor="ctr"/>
          <a:lstStyle/>
          <a:p>
            <a:pPr indent="0" marL="0">
              <a:buNone/>
            </a:pPr>
            <a:r>
              <a:rPr lang="en-US" sz="900" b="1" dirty="0">
                <a:solidFill>
                  <a:srgbClr val="1A2B4A"/>
                </a:solidFill>
                <a:latin typeface="Arial" pitchFamily="34" charset="0"/>
                <a:ea typeface="Arial" pitchFamily="34" charset="-122"/>
                <a:cs typeface="Arial" pitchFamily="34" charset="-120"/>
              </a:rPr>
              <a:t>Next Evolution</a:t>
            </a:r>
            <a:endParaRPr lang="en-US" sz="900" dirty="0"/>
          </a:p>
        </p:txBody>
      </p:sp>
      <p:sp>
        <p:nvSpPr>
          <p:cNvPr id="10" name="Shape 8"/>
          <p:cNvSpPr/>
          <p:nvPr/>
        </p:nvSpPr>
        <p:spPr>
          <a:xfrm>
            <a:off x="365760" y="1508760"/>
            <a:ext cx="11430000" cy="530352"/>
          </a:xfrm>
          <a:prstGeom prst="rect">
            <a:avLst/>
          </a:prstGeom>
          <a:solidFill>
            <a:srgbClr val="FFFFFF"/>
          </a:solidFill>
          <a:ln w="6350">
            <a:solidFill>
              <a:srgbClr val="D0D0D0"/>
            </a:solidFill>
            <a:prstDash val="solid"/>
          </a:ln>
        </p:spPr>
      </p:sp>
      <p:sp>
        <p:nvSpPr>
          <p:cNvPr id="11" name="Text 9"/>
          <p:cNvSpPr/>
          <p:nvPr/>
        </p:nvSpPr>
        <p:spPr>
          <a:xfrm>
            <a:off x="457200" y="1527048"/>
            <a:ext cx="2011680" cy="502920"/>
          </a:xfrm>
          <a:prstGeom prst="rect">
            <a:avLst/>
          </a:prstGeom>
          <a:noFill/>
          <a:ln/>
        </p:spPr>
        <p:txBody>
          <a:bodyPr wrap="square" rtlCol="0" anchor="ctr"/>
          <a:lstStyle/>
          <a:p>
            <a:pPr indent="0" marL="0">
              <a:buNone/>
            </a:pPr>
            <a:r>
              <a:rPr lang="en-US" sz="800" b="1" dirty="0">
                <a:solidFill>
                  <a:srgbClr val="1A1A1A"/>
                </a:solidFill>
                <a:latin typeface="Arial" pitchFamily="34" charset="0"/>
                <a:ea typeface="Arial" pitchFamily="34" charset="-122"/>
                <a:cs typeface="Arial" pitchFamily="34" charset="-120"/>
              </a:rPr>
              <a:t>Static AI Security</a:t>
            </a:r>
            <a:endParaRPr lang="en-US" sz="800" dirty="0"/>
          </a:p>
        </p:txBody>
      </p:sp>
      <p:sp>
        <p:nvSpPr>
          <p:cNvPr id="12" name="Text 10"/>
          <p:cNvSpPr/>
          <p:nvPr/>
        </p:nvSpPr>
        <p:spPr>
          <a:xfrm>
            <a:off x="2560320" y="1527048"/>
            <a:ext cx="1920240" cy="502920"/>
          </a:xfrm>
          <a:prstGeom prst="rect">
            <a:avLst/>
          </a:prstGeom>
          <a:noFill/>
          <a:ln/>
        </p:spPr>
        <p:txBody>
          <a:bodyPr wrap="square" rtlCol="0" anchor="ctr"/>
          <a:lstStyle/>
          <a:p>
            <a:pPr indent="0" marL="0">
              <a:buNone/>
            </a:pPr>
            <a:r>
              <a:rPr lang="en-US" sz="700" dirty="0">
                <a:solidFill>
                  <a:srgbClr val="1A2B4A"/>
                </a:solidFill>
                <a:latin typeface="Arial" pitchFamily="34" charset="0"/>
                <a:ea typeface="Arial" pitchFamily="34" charset="-122"/>
                <a:cs typeface="Arial" pitchFamily="34" charset="-120"/>
              </a:rPr>
              <a:t>Implemented</a:t>
            </a:r>
            <a:endParaRPr lang="en-US" sz="700" dirty="0"/>
          </a:p>
        </p:txBody>
      </p:sp>
      <p:sp>
        <p:nvSpPr>
          <p:cNvPr id="13" name="Text 11"/>
          <p:cNvSpPr/>
          <p:nvPr/>
        </p:nvSpPr>
        <p:spPr>
          <a:xfrm>
            <a:off x="4572000" y="1527048"/>
            <a:ext cx="2468880" cy="502920"/>
          </a:xfrm>
          <a:prstGeom prst="rect">
            <a:avLst/>
          </a:prstGeom>
          <a:noFill/>
          <a:ln/>
        </p:spPr>
        <p:txBody>
          <a:bodyPr wrap="square" rtlCol="0" anchor="ctr"/>
          <a:lstStyle/>
          <a:p>
            <a:pPr indent="0" marL="0">
              <a:buNone/>
            </a:pPr>
            <a:r>
              <a:rPr lang="en-US" sz="700" dirty="0">
                <a:solidFill>
                  <a:srgbClr val="4A4A4A"/>
                </a:solidFill>
                <a:latin typeface="Arial" pitchFamily="34" charset="0"/>
                <a:ea typeface="Arial" pitchFamily="34" charset="-122"/>
                <a:cs typeface="Arial" pitchFamily="34" charset="-120"/>
              </a:rPr>
              <a:t>91 Semgrep + 15 TS + 82 rulepack, Modal Python scanner, 31 API routes, 8 DB models</a:t>
            </a:r>
            <a:endParaRPr lang="en-US" sz="700" dirty="0"/>
          </a:p>
        </p:txBody>
      </p:sp>
      <p:sp>
        <p:nvSpPr>
          <p:cNvPr id="14" name="Text 12"/>
          <p:cNvSpPr/>
          <p:nvPr/>
        </p:nvSpPr>
        <p:spPr>
          <a:xfrm>
            <a:off x="7132320" y="1527048"/>
            <a:ext cx="2194560" cy="502920"/>
          </a:xfrm>
          <a:prstGeom prst="rect">
            <a:avLst/>
          </a:prstGeom>
          <a:noFill/>
          <a:ln/>
        </p:spPr>
        <p:txBody>
          <a:bodyPr wrap="square" rtlCol="0" anchor="ctr"/>
          <a:lstStyle/>
          <a:p>
            <a:pPr indent="0" marL="0">
              <a:buNone/>
            </a:pPr>
            <a:r>
              <a:rPr lang="en-US" sz="700" dirty="0">
                <a:solidFill>
                  <a:srgbClr val="1A1A1A"/>
                </a:solidFill>
                <a:latin typeface="Arial" pitchFamily="34" charset="0"/>
                <a:ea typeface="Arial" pitchFamily="34" charset="-122"/>
                <a:cs typeface="Arial" pitchFamily="34" charset="-120"/>
              </a:rPr>
              <a:t>Deterministic, audit-grade findings with fingerprints</a:t>
            </a:r>
            <a:endParaRPr lang="en-US" sz="700" dirty="0"/>
          </a:p>
        </p:txBody>
      </p:sp>
      <p:sp>
        <p:nvSpPr>
          <p:cNvPr id="15" name="Text 13"/>
          <p:cNvSpPr/>
          <p:nvPr/>
        </p:nvSpPr>
        <p:spPr>
          <a:xfrm>
            <a:off x="9418320" y="1527048"/>
            <a:ext cx="2011680" cy="502920"/>
          </a:xfrm>
          <a:prstGeom prst="rect">
            <a:avLst/>
          </a:prstGeom>
          <a:noFill/>
          <a:ln/>
        </p:spPr>
        <p:txBody>
          <a:bodyPr wrap="square" rtlCol="0" anchor="ctr"/>
          <a:lstStyle/>
          <a:p>
            <a:pPr indent="0" marL="0">
              <a:buNone/>
            </a:pPr>
            <a:r>
              <a:rPr lang="en-US" sz="700" dirty="0">
                <a:solidFill>
                  <a:srgbClr val="1A2B4A"/>
                </a:solidFill>
                <a:latin typeface="Arial" pitchFamily="34" charset="0"/>
                <a:ea typeface="Arial" pitchFamily="34" charset="-122"/>
                <a:cs typeface="Arial" pitchFamily="34" charset="-120"/>
              </a:rPr>
              <a:t>Multi-language sidecar expansion (Go, Rust)</a:t>
            </a:r>
            <a:endParaRPr lang="en-US" sz="700" dirty="0"/>
          </a:p>
        </p:txBody>
      </p:sp>
      <p:sp>
        <p:nvSpPr>
          <p:cNvPr id="16" name="Shape 14"/>
          <p:cNvSpPr/>
          <p:nvPr/>
        </p:nvSpPr>
        <p:spPr>
          <a:xfrm>
            <a:off x="365760" y="2075688"/>
            <a:ext cx="11430000" cy="530352"/>
          </a:xfrm>
          <a:prstGeom prst="rect">
            <a:avLst/>
          </a:prstGeom>
          <a:solidFill>
            <a:srgbClr val="F5F5F5"/>
          </a:solidFill>
          <a:ln w="6350">
            <a:solidFill>
              <a:srgbClr val="D0D0D0"/>
            </a:solidFill>
            <a:prstDash val="solid"/>
          </a:ln>
        </p:spPr>
      </p:sp>
      <p:sp>
        <p:nvSpPr>
          <p:cNvPr id="17" name="Text 15"/>
          <p:cNvSpPr/>
          <p:nvPr/>
        </p:nvSpPr>
        <p:spPr>
          <a:xfrm>
            <a:off x="457200" y="2093976"/>
            <a:ext cx="2011680" cy="502920"/>
          </a:xfrm>
          <a:prstGeom prst="rect">
            <a:avLst/>
          </a:prstGeom>
          <a:noFill/>
          <a:ln/>
        </p:spPr>
        <p:txBody>
          <a:bodyPr wrap="square" rtlCol="0" anchor="ctr"/>
          <a:lstStyle/>
          <a:p>
            <a:pPr indent="0" marL="0">
              <a:buNone/>
            </a:pPr>
            <a:r>
              <a:rPr lang="en-US" sz="800" b="1" dirty="0">
                <a:solidFill>
                  <a:srgbClr val="1A1A1A"/>
                </a:solidFill>
                <a:latin typeface="Arial" pitchFamily="34" charset="0"/>
                <a:ea typeface="Arial" pitchFamily="34" charset="-122"/>
                <a:cs typeface="Arial" pitchFamily="34" charset="-120"/>
              </a:rPr>
              <a:t>Runtime Adversarial Testing</a:t>
            </a:r>
            <a:endParaRPr lang="en-US" sz="800" dirty="0"/>
          </a:p>
        </p:txBody>
      </p:sp>
      <p:sp>
        <p:nvSpPr>
          <p:cNvPr id="18" name="Text 16"/>
          <p:cNvSpPr/>
          <p:nvPr/>
        </p:nvSpPr>
        <p:spPr>
          <a:xfrm>
            <a:off x="2560320" y="2093976"/>
            <a:ext cx="1920240" cy="502920"/>
          </a:xfrm>
          <a:prstGeom prst="rect">
            <a:avLst/>
          </a:prstGeom>
          <a:noFill/>
          <a:ln/>
        </p:spPr>
        <p:txBody>
          <a:bodyPr wrap="square" rtlCol="0" anchor="ctr"/>
          <a:lstStyle/>
          <a:p>
            <a:pPr indent="0" marL="0">
              <a:buNone/>
            </a:pPr>
            <a:r>
              <a:rPr lang="en-US" sz="700" dirty="0">
                <a:solidFill>
                  <a:srgbClr val="1A2B4A"/>
                </a:solidFill>
                <a:latin typeface="Arial" pitchFamily="34" charset="0"/>
                <a:ea typeface="Arial" pitchFamily="34" charset="-122"/>
                <a:cs typeface="Arial" pitchFamily="34" charset="-120"/>
              </a:rPr>
              <a:t>Active development</a:t>
            </a:r>
            <a:endParaRPr lang="en-US" sz="700" dirty="0"/>
          </a:p>
        </p:txBody>
      </p:sp>
      <p:sp>
        <p:nvSpPr>
          <p:cNvPr id="19" name="Text 17"/>
          <p:cNvSpPr/>
          <p:nvPr/>
        </p:nvSpPr>
        <p:spPr>
          <a:xfrm>
            <a:off x="4572000" y="2093976"/>
            <a:ext cx="2468880" cy="502920"/>
          </a:xfrm>
          <a:prstGeom prst="rect">
            <a:avLst/>
          </a:prstGeom>
          <a:noFill/>
          <a:ln/>
        </p:spPr>
        <p:txBody>
          <a:bodyPr wrap="square" rtlCol="0" anchor="ctr"/>
          <a:lstStyle/>
          <a:p>
            <a:pPr indent="0" marL="0">
              <a:buNone/>
            </a:pPr>
            <a:r>
              <a:rPr lang="en-US" sz="700" dirty="0">
                <a:solidFill>
                  <a:srgbClr val="4A4A4A"/>
                </a:solidFill>
                <a:latin typeface="Arial" pitchFamily="34" charset="0"/>
                <a:ea typeface="Arial" pitchFamily="34" charset="-122"/>
                <a:cs typeface="Arial" pitchFamily="34" charset="-120"/>
              </a:rPr>
              <a:t>269 templates, 14 safety properties, 22 API routes</a:t>
            </a:r>
            <a:endParaRPr lang="en-US" sz="700" dirty="0"/>
          </a:p>
        </p:txBody>
      </p:sp>
      <p:sp>
        <p:nvSpPr>
          <p:cNvPr id="20" name="Text 18"/>
          <p:cNvSpPr/>
          <p:nvPr/>
        </p:nvSpPr>
        <p:spPr>
          <a:xfrm>
            <a:off x="7132320" y="2093976"/>
            <a:ext cx="2194560" cy="502920"/>
          </a:xfrm>
          <a:prstGeom prst="rect">
            <a:avLst/>
          </a:prstGeom>
          <a:noFill/>
          <a:ln/>
        </p:spPr>
        <p:txBody>
          <a:bodyPr wrap="square" rtlCol="0" anchor="ctr"/>
          <a:lstStyle/>
          <a:p>
            <a:pPr indent="0" marL="0">
              <a:buNone/>
            </a:pPr>
            <a:r>
              <a:rPr lang="en-US" sz="700" dirty="0">
                <a:solidFill>
                  <a:srgbClr val="1A1A1A"/>
                </a:solidFill>
                <a:latin typeface="Arial" pitchFamily="34" charset="0"/>
                <a:ea typeface="Arial" pitchFamily="34" charset="-122"/>
                <a:cs typeface="Arial" pitchFamily="34" charset="-120"/>
              </a:rPr>
              <a:t>Active testing of live AI endpoints with safety validation</a:t>
            </a:r>
            <a:endParaRPr lang="en-US" sz="700" dirty="0"/>
          </a:p>
        </p:txBody>
      </p:sp>
      <p:sp>
        <p:nvSpPr>
          <p:cNvPr id="21" name="Text 19"/>
          <p:cNvSpPr/>
          <p:nvPr/>
        </p:nvSpPr>
        <p:spPr>
          <a:xfrm>
            <a:off x="9418320" y="2093976"/>
            <a:ext cx="2011680" cy="502920"/>
          </a:xfrm>
          <a:prstGeom prst="rect">
            <a:avLst/>
          </a:prstGeom>
          <a:noFill/>
          <a:ln/>
        </p:spPr>
        <p:txBody>
          <a:bodyPr wrap="square" rtlCol="0" anchor="ctr"/>
          <a:lstStyle/>
          <a:p>
            <a:pPr indent="0" marL="0">
              <a:buNone/>
            </a:pPr>
            <a:r>
              <a:rPr lang="en-US" sz="700" dirty="0">
                <a:solidFill>
                  <a:srgbClr val="1A2B4A"/>
                </a:solidFill>
                <a:latin typeface="Arial" pitchFamily="34" charset="0"/>
                <a:ea typeface="Arial" pitchFamily="34" charset="-122"/>
                <a:cs typeface="Arial" pitchFamily="34" charset="-120"/>
              </a:rPr>
              <a:t>Production scale-out and additional domain packs</a:t>
            </a:r>
            <a:endParaRPr lang="en-US" sz="700" dirty="0"/>
          </a:p>
        </p:txBody>
      </p:sp>
      <p:sp>
        <p:nvSpPr>
          <p:cNvPr id="22" name="Shape 20"/>
          <p:cNvSpPr/>
          <p:nvPr/>
        </p:nvSpPr>
        <p:spPr>
          <a:xfrm>
            <a:off x="365760" y="2642616"/>
            <a:ext cx="11430000" cy="530352"/>
          </a:xfrm>
          <a:prstGeom prst="rect">
            <a:avLst/>
          </a:prstGeom>
          <a:solidFill>
            <a:srgbClr val="FFFFFF"/>
          </a:solidFill>
          <a:ln w="6350">
            <a:solidFill>
              <a:srgbClr val="D0D0D0"/>
            </a:solidFill>
            <a:prstDash val="solid"/>
          </a:ln>
        </p:spPr>
      </p:sp>
      <p:sp>
        <p:nvSpPr>
          <p:cNvPr id="23" name="Text 21"/>
          <p:cNvSpPr/>
          <p:nvPr/>
        </p:nvSpPr>
        <p:spPr>
          <a:xfrm>
            <a:off x="457200" y="2660904"/>
            <a:ext cx="2011680" cy="502920"/>
          </a:xfrm>
          <a:prstGeom prst="rect">
            <a:avLst/>
          </a:prstGeom>
          <a:noFill/>
          <a:ln/>
        </p:spPr>
        <p:txBody>
          <a:bodyPr wrap="square" rtlCol="0" anchor="ctr"/>
          <a:lstStyle/>
          <a:p>
            <a:pPr indent="0" marL="0">
              <a:buNone/>
            </a:pPr>
            <a:r>
              <a:rPr lang="en-US" sz="800" b="1" dirty="0">
                <a:solidFill>
                  <a:srgbClr val="1A1A1A"/>
                </a:solidFill>
                <a:latin typeface="Arial" pitchFamily="34" charset="0"/>
                <a:ea typeface="Arial" pitchFamily="34" charset="-122"/>
                <a:cs typeface="Arial" pitchFamily="34" charset="-120"/>
              </a:rPr>
              <a:t>Audit Orchestrator</a:t>
            </a:r>
            <a:endParaRPr lang="en-US" sz="800" dirty="0"/>
          </a:p>
        </p:txBody>
      </p:sp>
      <p:sp>
        <p:nvSpPr>
          <p:cNvPr id="24" name="Text 22"/>
          <p:cNvSpPr/>
          <p:nvPr/>
        </p:nvSpPr>
        <p:spPr>
          <a:xfrm>
            <a:off x="2560320" y="2660904"/>
            <a:ext cx="1920240" cy="502920"/>
          </a:xfrm>
          <a:prstGeom prst="rect">
            <a:avLst/>
          </a:prstGeom>
          <a:noFill/>
          <a:ln/>
        </p:spPr>
        <p:txBody>
          <a:bodyPr wrap="square" rtlCol="0" anchor="ctr"/>
          <a:lstStyle/>
          <a:p>
            <a:pPr indent="0" marL="0">
              <a:buNone/>
            </a:pPr>
            <a:r>
              <a:rPr lang="en-US" sz="700" dirty="0">
                <a:solidFill>
                  <a:srgbClr val="1A2B4A"/>
                </a:solidFill>
                <a:latin typeface="Arial" pitchFamily="34" charset="0"/>
                <a:ea typeface="Arial" pitchFamily="34" charset="-122"/>
                <a:cs typeface="Arial" pitchFamily="34" charset="-120"/>
              </a:rPr>
              <a:t>Implemented</a:t>
            </a:r>
            <a:endParaRPr lang="en-US" sz="700" dirty="0"/>
          </a:p>
        </p:txBody>
      </p:sp>
      <p:sp>
        <p:nvSpPr>
          <p:cNvPr id="25" name="Text 23"/>
          <p:cNvSpPr/>
          <p:nvPr/>
        </p:nvSpPr>
        <p:spPr>
          <a:xfrm>
            <a:off x="4572000" y="2660904"/>
            <a:ext cx="2468880" cy="502920"/>
          </a:xfrm>
          <a:prstGeom prst="rect">
            <a:avLst/>
          </a:prstGeom>
          <a:noFill/>
          <a:ln/>
        </p:spPr>
        <p:txBody>
          <a:bodyPr wrap="square" rtlCol="0" anchor="ctr"/>
          <a:lstStyle/>
          <a:p>
            <a:pPr indent="0" marL="0">
              <a:buNone/>
            </a:pPr>
            <a:r>
              <a:rPr lang="en-US" sz="700" dirty="0">
                <a:solidFill>
                  <a:srgbClr val="4A4A4A"/>
                </a:solidFill>
                <a:latin typeface="Arial" pitchFamily="34" charset="0"/>
                <a:ea typeface="Arial" pitchFamily="34" charset="-122"/>
                <a:cs typeface="Arial" pitchFamily="34" charset="-120"/>
              </a:rPr>
              <a:t>State machine, hash-chained event log, contract validation, 12 routes</a:t>
            </a:r>
            <a:endParaRPr lang="en-US" sz="700" dirty="0"/>
          </a:p>
        </p:txBody>
      </p:sp>
      <p:sp>
        <p:nvSpPr>
          <p:cNvPr id="26" name="Text 24"/>
          <p:cNvSpPr/>
          <p:nvPr/>
        </p:nvSpPr>
        <p:spPr>
          <a:xfrm>
            <a:off x="7132320" y="2660904"/>
            <a:ext cx="2194560" cy="502920"/>
          </a:xfrm>
          <a:prstGeom prst="rect">
            <a:avLst/>
          </a:prstGeom>
          <a:noFill/>
          <a:ln/>
        </p:spPr>
        <p:txBody>
          <a:bodyPr wrap="square" rtlCol="0" anchor="ctr"/>
          <a:lstStyle/>
          <a:p>
            <a:pPr indent="0" marL="0">
              <a:buNone/>
            </a:pPr>
            <a:r>
              <a:rPr lang="en-US" sz="700" dirty="0">
                <a:solidFill>
                  <a:srgbClr val="1A1A1A"/>
                </a:solidFill>
                <a:latin typeface="Arial" pitchFamily="34" charset="0"/>
                <a:ea typeface="Arial" pitchFamily="34" charset="-122"/>
                <a:cs typeface="Arial" pitchFamily="34" charset="-120"/>
              </a:rPr>
              <a:t>Sequential engine execution with tamper-evident audit trail</a:t>
            </a:r>
            <a:endParaRPr lang="en-US" sz="700" dirty="0"/>
          </a:p>
        </p:txBody>
      </p:sp>
      <p:sp>
        <p:nvSpPr>
          <p:cNvPr id="27" name="Text 25"/>
          <p:cNvSpPr/>
          <p:nvPr/>
        </p:nvSpPr>
        <p:spPr>
          <a:xfrm>
            <a:off x="9418320" y="2660904"/>
            <a:ext cx="2011680" cy="502920"/>
          </a:xfrm>
          <a:prstGeom prst="rect">
            <a:avLst/>
          </a:prstGeom>
          <a:noFill/>
          <a:ln/>
        </p:spPr>
        <p:txBody>
          <a:bodyPr wrap="square" rtlCol="0" anchor="ctr"/>
          <a:lstStyle/>
          <a:p>
            <a:pPr indent="0" marL="0">
              <a:buNone/>
            </a:pPr>
            <a:r>
              <a:rPr lang="en-US" sz="700" dirty="0">
                <a:solidFill>
                  <a:srgbClr val="1A2B4A"/>
                </a:solidFill>
                <a:latin typeface="Arial" pitchFamily="34" charset="0"/>
                <a:ea typeface="Arial" pitchFamily="34" charset="-122"/>
                <a:cs typeface="Arial" pitchFamily="34" charset="-120"/>
              </a:rPr>
              <a:t>Engine contract version pinning for all engines</a:t>
            </a:r>
            <a:endParaRPr lang="en-US" sz="700" dirty="0"/>
          </a:p>
        </p:txBody>
      </p:sp>
      <p:sp>
        <p:nvSpPr>
          <p:cNvPr id="28" name="Shape 26"/>
          <p:cNvSpPr/>
          <p:nvPr/>
        </p:nvSpPr>
        <p:spPr>
          <a:xfrm>
            <a:off x="365760" y="3209544"/>
            <a:ext cx="11430000" cy="530352"/>
          </a:xfrm>
          <a:prstGeom prst="rect">
            <a:avLst/>
          </a:prstGeom>
          <a:solidFill>
            <a:srgbClr val="F5F5F5"/>
          </a:solidFill>
          <a:ln w="6350">
            <a:solidFill>
              <a:srgbClr val="D0D0D0"/>
            </a:solidFill>
            <a:prstDash val="solid"/>
          </a:ln>
        </p:spPr>
      </p:sp>
      <p:sp>
        <p:nvSpPr>
          <p:cNvPr id="29" name="Text 27"/>
          <p:cNvSpPr/>
          <p:nvPr/>
        </p:nvSpPr>
        <p:spPr>
          <a:xfrm>
            <a:off x="457200" y="3227832"/>
            <a:ext cx="2011680" cy="502920"/>
          </a:xfrm>
          <a:prstGeom prst="rect">
            <a:avLst/>
          </a:prstGeom>
          <a:noFill/>
          <a:ln/>
        </p:spPr>
        <p:txBody>
          <a:bodyPr wrap="square" rtlCol="0" anchor="ctr"/>
          <a:lstStyle/>
          <a:p>
            <a:pPr indent="0" marL="0">
              <a:buNone/>
            </a:pPr>
            <a:r>
              <a:rPr lang="en-US" sz="800" b="1" dirty="0">
                <a:solidFill>
                  <a:srgbClr val="1A1A1A"/>
                </a:solidFill>
                <a:latin typeface="Arial" pitchFamily="34" charset="0"/>
                <a:ea typeface="Arial" pitchFamily="34" charset="-122"/>
                <a:cs typeface="Arial" pitchFamily="34" charset="-120"/>
              </a:rPr>
              <a:t>Decision Pipeline</a:t>
            </a:r>
            <a:endParaRPr lang="en-US" sz="800" dirty="0"/>
          </a:p>
        </p:txBody>
      </p:sp>
      <p:sp>
        <p:nvSpPr>
          <p:cNvPr id="30" name="Text 28"/>
          <p:cNvSpPr/>
          <p:nvPr/>
        </p:nvSpPr>
        <p:spPr>
          <a:xfrm>
            <a:off x="2560320" y="3227832"/>
            <a:ext cx="1920240" cy="502920"/>
          </a:xfrm>
          <a:prstGeom prst="rect">
            <a:avLst/>
          </a:prstGeom>
          <a:noFill/>
          <a:ln/>
        </p:spPr>
        <p:txBody>
          <a:bodyPr wrap="square" rtlCol="0" anchor="ctr"/>
          <a:lstStyle/>
          <a:p>
            <a:pPr indent="0" marL="0">
              <a:buNone/>
            </a:pPr>
            <a:r>
              <a:rPr lang="en-US" sz="700" dirty="0">
                <a:solidFill>
                  <a:srgbClr val="1A2B4A"/>
                </a:solidFill>
                <a:latin typeface="Arial" pitchFamily="34" charset="0"/>
                <a:ea typeface="Arial" pitchFamily="34" charset="-122"/>
                <a:cs typeface="Arial" pitchFamily="34" charset="-120"/>
              </a:rPr>
              <a:t>Implemented (scoring); active development</a:t>
            </a:r>
            <a:endParaRPr lang="en-US" sz="700" dirty="0"/>
          </a:p>
        </p:txBody>
      </p:sp>
      <p:sp>
        <p:nvSpPr>
          <p:cNvPr id="31" name="Text 29"/>
          <p:cNvSpPr/>
          <p:nvPr/>
        </p:nvSpPr>
        <p:spPr>
          <a:xfrm>
            <a:off x="4572000" y="3227832"/>
            <a:ext cx="2468880" cy="502920"/>
          </a:xfrm>
          <a:prstGeom prst="rect">
            <a:avLst/>
          </a:prstGeom>
          <a:noFill/>
          <a:ln/>
        </p:spPr>
        <p:txBody>
          <a:bodyPr wrap="square" rtlCol="0" anchor="ctr"/>
          <a:lstStyle/>
          <a:p>
            <a:pPr indent="0" marL="0">
              <a:buNone/>
            </a:pPr>
            <a:r>
              <a:rPr lang="en-US" sz="700" dirty="0">
                <a:solidFill>
                  <a:srgbClr val="4A4A4A"/>
                </a:solidFill>
                <a:latin typeface="Arial" pitchFamily="34" charset="0"/>
                <a:ea typeface="Arial" pitchFamily="34" charset="-122"/>
                <a:cs typeface="Arial" pitchFamily="34" charset="-120"/>
              </a:rPr>
              <a:t>6 nodes, DIS v1.0, 14 API routes, NIST RMF mapping</a:t>
            </a:r>
            <a:endParaRPr lang="en-US" sz="700" dirty="0"/>
          </a:p>
        </p:txBody>
      </p:sp>
      <p:sp>
        <p:nvSpPr>
          <p:cNvPr id="32" name="Text 30"/>
          <p:cNvSpPr/>
          <p:nvPr/>
        </p:nvSpPr>
        <p:spPr>
          <a:xfrm>
            <a:off x="7132320" y="3227832"/>
            <a:ext cx="2194560" cy="502920"/>
          </a:xfrm>
          <a:prstGeom prst="rect">
            <a:avLst/>
          </a:prstGeom>
          <a:noFill/>
          <a:ln/>
        </p:spPr>
        <p:txBody>
          <a:bodyPr wrap="square" rtlCol="0" anchor="ctr"/>
          <a:lstStyle/>
          <a:p>
            <a:pPr indent="0" marL="0">
              <a:buNone/>
            </a:pPr>
            <a:r>
              <a:rPr lang="en-US" sz="700" dirty="0">
                <a:solidFill>
                  <a:srgbClr val="1A1A1A"/>
                </a:solidFill>
                <a:latin typeface="Arial" pitchFamily="34" charset="0"/>
                <a:ea typeface="Arial" pitchFamily="34" charset="-122"/>
                <a:cs typeface="Arial" pitchFamily="34" charset="-120"/>
              </a:rPr>
              <a:t>Composite scoring with audit eligibility and human review</a:t>
            </a:r>
            <a:endParaRPr lang="en-US" sz="700" dirty="0"/>
          </a:p>
        </p:txBody>
      </p:sp>
      <p:sp>
        <p:nvSpPr>
          <p:cNvPr id="33" name="Text 31"/>
          <p:cNvSpPr/>
          <p:nvPr/>
        </p:nvSpPr>
        <p:spPr>
          <a:xfrm>
            <a:off x="9418320" y="3227832"/>
            <a:ext cx="2011680" cy="502920"/>
          </a:xfrm>
          <a:prstGeom prst="rect">
            <a:avLst/>
          </a:prstGeom>
          <a:noFill/>
          <a:ln/>
        </p:spPr>
        <p:txBody>
          <a:bodyPr wrap="square" rtlCol="0" anchor="ctr"/>
          <a:lstStyle/>
          <a:p>
            <a:pPr indent="0" marL="0">
              <a:buNone/>
            </a:pPr>
            <a:r>
              <a:rPr lang="en-US" sz="700" dirty="0">
                <a:solidFill>
                  <a:srgbClr val="1A2B4A"/>
                </a:solidFill>
                <a:latin typeface="Arial" pitchFamily="34" charset="0"/>
                <a:ea typeface="Arial" pitchFamily="34" charset="-122"/>
                <a:cs typeface="Arial" pitchFamily="34" charset="-120"/>
              </a:rPr>
              <a:t>Findings-level blocker gate activation for eligibility</a:t>
            </a:r>
            <a:endParaRPr lang="en-US" sz="700" dirty="0"/>
          </a:p>
        </p:txBody>
      </p:sp>
      <p:sp>
        <p:nvSpPr>
          <p:cNvPr id="34" name="Shape 32"/>
          <p:cNvSpPr/>
          <p:nvPr/>
        </p:nvSpPr>
        <p:spPr>
          <a:xfrm>
            <a:off x="365760" y="3776472"/>
            <a:ext cx="11430000" cy="530352"/>
          </a:xfrm>
          <a:prstGeom prst="rect">
            <a:avLst/>
          </a:prstGeom>
          <a:solidFill>
            <a:srgbClr val="FFFFFF"/>
          </a:solidFill>
          <a:ln w="6350">
            <a:solidFill>
              <a:srgbClr val="D0D0D0"/>
            </a:solidFill>
            <a:prstDash val="solid"/>
          </a:ln>
        </p:spPr>
      </p:sp>
      <p:sp>
        <p:nvSpPr>
          <p:cNvPr id="35" name="Text 33"/>
          <p:cNvSpPr/>
          <p:nvPr/>
        </p:nvSpPr>
        <p:spPr>
          <a:xfrm>
            <a:off x="457200" y="3794760"/>
            <a:ext cx="2011680" cy="502920"/>
          </a:xfrm>
          <a:prstGeom prst="rect">
            <a:avLst/>
          </a:prstGeom>
          <a:noFill/>
          <a:ln/>
        </p:spPr>
        <p:txBody>
          <a:bodyPr wrap="square" rtlCol="0" anchor="ctr"/>
          <a:lstStyle/>
          <a:p>
            <a:pPr indent="0" marL="0">
              <a:buNone/>
            </a:pPr>
            <a:r>
              <a:rPr lang="en-US" sz="800" b="1" dirty="0">
                <a:solidFill>
                  <a:srgbClr val="1A1A1A"/>
                </a:solidFill>
                <a:latin typeface="Arial" pitchFamily="34" charset="0"/>
                <a:ea typeface="Arial" pitchFamily="34" charset="-122"/>
                <a:cs typeface="Arial" pitchFamily="34" charset="-120"/>
              </a:rPr>
              <a:t>Evidence Integrity</a:t>
            </a:r>
            <a:endParaRPr lang="en-US" sz="800" dirty="0"/>
          </a:p>
        </p:txBody>
      </p:sp>
      <p:sp>
        <p:nvSpPr>
          <p:cNvPr id="36" name="Text 34"/>
          <p:cNvSpPr/>
          <p:nvPr/>
        </p:nvSpPr>
        <p:spPr>
          <a:xfrm>
            <a:off x="2560320" y="3794760"/>
            <a:ext cx="1920240" cy="502920"/>
          </a:xfrm>
          <a:prstGeom prst="rect">
            <a:avLst/>
          </a:prstGeom>
          <a:noFill/>
          <a:ln/>
        </p:spPr>
        <p:txBody>
          <a:bodyPr wrap="square" rtlCol="0" anchor="ctr"/>
          <a:lstStyle/>
          <a:p>
            <a:pPr indent="0" marL="0">
              <a:buNone/>
            </a:pPr>
            <a:r>
              <a:rPr lang="en-US" sz="700" dirty="0">
                <a:solidFill>
                  <a:srgbClr val="1A2B4A"/>
                </a:solidFill>
                <a:latin typeface="Arial" pitchFamily="34" charset="0"/>
                <a:ea typeface="Arial" pitchFamily="34" charset="-122"/>
                <a:cs typeface="Arial" pitchFamily="34" charset="-120"/>
              </a:rPr>
              <a:t>Implemented</a:t>
            </a:r>
            <a:endParaRPr lang="en-US" sz="700" dirty="0"/>
          </a:p>
        </p:txBody>
      </p:sp>
      <p:sp>
        <p:nvSpPr>
          <p:cNvPr id="37" name="Text 35"/>
          <p:cNvSpPr/>
          <p:nvPr/>
        </p:nvSpPr>
        <p:spPr>
          <a:xfrm>
            <a:off x="4572000" y="3794760"/>
            <a:ext cx="2468880" cy="502920"/>
          </a:xfrm>
          <a:prstGeom prst="rect">
            <a:avLst/>
          </a:prstGeom>
          <a:noFill/>
          <a:ln/>
        </p:spPr>
        <p:txBody>
          <a:bodyPr wrap="square" rtlCol="0" anchor="ctr"/>
          <a:lstStyle/>
          <a:p>
            <a:pPr indent="0" marL="0">
              <a:buNone/>
            </a:pPr>
            <a:r>
              <a:rPr lang="en-US" sz="700" dirty="0">
                <a:solidFill>
                  <a:srgbClr val="4A4A4A"/>
                </a:solidFill>
                <a:latin typeface="Arial" pitchFamily="34" charset="0"/>
                <a:ea typeface="Arial" pitchFamily="34" charset="-122"/>
                <a:cs typeface="Arial" pitchFamily="34" charset="-120"/>
              </a:rPr>
              <a:t>HMAC-SHA256, key rotation, replay protection, /api/verify</a:t>
            </a:r>
            <a:endParaRPr lang="en-US" sz="700" dirty="0"/>
          </a:p>
        </p:txBody>
      </p:sp>
      <p:sp>
        <p:nvSpPr>
          <p:cNvPr id="38" name="Text 36"/>
          <p:cNvSpPr/>
          <p:nvPr/>
        </p:nvSpPr>
        <p:spPr>
          <a:xfrm>
            <a:off x="7132320" y="3794760"/>
            <a:ext cx="2194560" cy="502920"/>
          </a:xfrm>
          <a:prstGeom prst="rect">
            <a:avLst/>
          </a:prstGeom>
          <a:noFill/>
          <a:ln/>
        </p:spPr>
        <p:txBody>
          <a:bodyPr wrap="square" rtlCol="0" anchor="ctr"/>
          <a:lstStyle/>
          <a:p>
            <a:pPr indent="0" marL="0">
              <a:buNone/>
            </a:pPr>
            <a:r>
              <a:rPr lang="en-US" sz="700" dirty="0">
                <a:solidFill>
                  <a:srgbClr val="1A1A1A"/>
                </a:solidFill>
                <a:latin typeface="Arial" pitchFamily="34" charset="0"/>
                <a:ea typeface="Arial" pitchFamily="34" charset="-122"/>
                <a:cs typeface="Arial" pitchFamily="34" charset="-120"/>
              </a:rPr>
              <a:t>Integrity verification for evidence transit and storage</a:t>
            </a:r>
            <a:endParaRPr lang="en-US" sz="700" dirty="0"/>
          </a:p>
        </p:txBody>
      </p:sp>
      <p:sp>
        <p:nvSpPr>
          <p:cNvPr id="39" name="Text 37"/>
          <p:cNvSpPr/>
          <p:nvPr/>
        </p:nvSpPr>
        <p:spPr>
          <a:xfrm>
            <a:off x="9418320" y="3794760"/>
            <a:ext cx="2011680" cy="502920"/>
          </a:xfrm>
          <a:prstGeom prst="rect">
            <a:avLst/>
          </a:prstGeom>
          <a:noFill/>
          <a:ln/>
        </p:spPr>
        <p:txBody>
          <a:bodyPr wrap="square" rtlCol="0" anchor="ctr"/>
          <a:lstStyle/>
          <a:p>
            <a:pPr indent="0" marL="0">
              <a:buNone/>
            </a:pPr>
            <a:r>
              <a:rPr lang="en-US" sz="700" dirty="0">
                <a:solidFill>
                  <a:srgbClr val="1A2B4A"/>
                </a:solidFill>
                <a:latin typeface="Arial" pitchFamily="34" charset="0"/>
                <a:ea typeface="Arial" pitchFamily="34" charset="-122"/>
                <a:cs typeface="Arial" pitchFamily="34" charset="-120"/>
              </a:rPr>
              <a:t>Ed25519 public-key signatures for independent verification</a:t>
            </a:r>
            <a:endParaRPr lang="en-US" sz="700" dirty="0"/>
          </a:p>
        </p:txBody>
      </p:sp>
      <p:sp>
        <p:nvSpPr>
          <p:cNvPr id="40" name="Shape 38"/>
          <p:cNvSpPr/>
          <p:nvPr/>
        </p:nvSpPr>
        <p:spPr>
          <a:xfrm>
            <a:off x="365760" y="4343400"/>
            <a:ext cx="11430000" cy="530352"/>
          </a:xfrm>
          <a:prstGeom prst="rect">
            <a:avLst/>
          </a:prstGeom>
          <a:solidFill>
            <a:srgbClr val="F5F5F5"/>
          </a:solidFill>
          <a:ln w="6350">
            <a:solidFill>
              <a:srgbClr val="D0D0D0"/>
            </a:solidFill>
            <a:prstDash val="solid"/>
          </a:ln>
        </p:spPr>
      </p:sp>
      <p:sp>
        <p:nvSpPr>
          <p:cNvPr id="41" name="Text 39"/>
          <p:cNvSpPr/>
          <p:nvPr/>
        </p:nvSpPr>
        <p:spPr>
          <a:xfrm>
            <a:off x="457200" y="4361688"/>
            <a:ext cx="2011680" cy="502920"/>
          </a:xfrm>
          <a:prstGeom prst="rect">
            <a:avLst/>
          </a:prstGeom>
          <a:noFill/>
          <a:ln/>
        </p:spPr>
        <p:txBody>
          <a:bodyPr wrap="square" rtlCol="0" anchor="ctr"/>
          <a:lstStyle/>
          <a:p>
            <a:pPr indent="0" marL="0">
              <a:buNone/>
            </a:pPr>
            <a:r>
              <a:rPr lang="en-US" sz="800" b="1" dirty="0">
                <a:solidFill>
                  <a:srgbClr val="1A1A1A"/>
                </a:solidFill>
                <a:latin typeface="Arial" pitchFamily="34" charset="0"/>
                <a:ea typeface="Arial" pitchFamily="34" charset="-122"/>
                <a:cs typeface="Arial" pitchFamily="34" charset="-120"/>
              </a:rPr>
              <a:t>Trust Artifacts</a:t>
            </a:r>
            <a:endParaRPr lang="en-US" sz="800" dirty="0"/>
          </a:p>
        </p:txBody>
      </p:sp>
      <p:sp>
        <p:nvSpPr>
          <p:cNvPr id="42" name="Text 40"/>
          <p:cNvSpPr/>
          <p:nvPr/>
        </p:nvSpPr>
        <p:spPr>
          <a:xfrm>
            <a:off x="2560320" y="4361688"/>
            <a:ext cx="1920240" cy="502920"/>
          </a:xfrm>
          <a:prstGeom prst="rect">
            <a:avLst/>
          </a:prstGeom>
          <a:noFill/>
          <a:ln/>
        </p:spPr>
        <p:txBody>
          <a:bodyPr wrap="square" rtlCol="0" anchor="ctr"/>
          <a:lstStyle/>
          <a:p>
            <a:pPr indent="0" marL="0">
              <a:buNone/>
            </a:pPr>
            <a:r>
              <a:rPr lang="en-US" sz="700" dirty="0">
                <a:solidFill>
                  <a:srgbClr val="0F1D33"/>
                </a:solidFill>
                <a:latin typeface="Arial" pitchFamily="34" charset="0"/>
                <a:ea typeface="Arial" pitchFamily="34" charset="-122"/>
                <a:cs typeface="Arial" pitchFamily="34" charset="-120"/>
              </a:rPr>
              <a:t>Implemented foundation</a:t>
            </a:r>
            <a:endParaRPr lang="en-US" sz="700" dirty="0"/>
          </a:p>
        </p:txBody>
      </p:sp>
      <p:sp>
        <p:nvSpPr>
          <p:cNvPr id="43" name="Text 41"/>
          <p:cNvSpPr/>
          <p:nvPr/>
        </p:nvSpPr>
        <p:spPr>
          <a:xfrm>
            <a:off x="4572000" y="4361688"/>
            <a:ext cx="2468880" cy="502920"/>
          </a:xfrm>
          <a:prstGeom prst="rect">
            <a:avLst/>
          </a:prstGeom>
          <a:noFill/>
          <a:ln/>
        </p:spPr>
        <p:txBody>
          <a:bodyPr wrap="square" rtlCol="0" anchor="ctr"/>
          <a:lstStyle/>
          <a:p>
            <a:pPr indent="0" marL="0">
              <a:buNone/>
            </a:pPr>
            <a:r>
              <a:rPr lang="en-US" sz="700" dirty="0">
                <a:solidFill>
                  <a:srgbClr val="4A4A4A"/>
                </a:solidFill>
                <a:latin typeface="Arial" pitchFamily="34" charset="0"/>
                <a:ea typeface="Arial" pitchFamily="34" charset="-122"/>
                <a:cs typeface="Arial" pitchFamily="34" charset="-120"/>
              </a:rPr>
              <a:t>4 artifact types, 6 frameworks, revocation, verification API</a:t>
            </a:r>
            <a:endParaRPr lang="en-US" sz="700" dirty="0"/>
          </a:p>
        </p:txBody>
      </p:sp>
      <p:sp>
        <p:nvSpPr>
          <p:cNvPr id="44" name="Text 42"/>
          <p:cNvSpPr/>
          <p:nvPr/>
        </p:nvSpPr>
        <p:spPr>
          <a:xfrm>
            <a:off x="7132320" y="4361688"/>
            <a:ext cx="2194560" cy="502920"/>
          </a:xfrm>
          <a:prstGeom prst="rect">
            <a:avLst/>
          </a:prstGeom>
          <a:noFill/>
          <a:ln/>
        </p:spPr>
        <p:txBody>
          <a:bodyPr wrap="square" rtlCol="0" anchor="ctr"/>
          <a:lstStyle/>
          <a:p>
            <a:pPr indent="0" marL="0">
              <a:buNone/>
            </a:pPr>
            <a:r>
              <a:rPr lang="en-US" sz="700" dirty="0">
                <a:solidFill>
                  <a:srgbClr val="1A1A1A"/>
                </a:solidFill>
                <a:latin typeface="Arial" pitchFamily="34" charset="0"/>
                <a:ea typeface="Arial" pitchFamily="34" charset="-122"/>
                <a:cs typeface="Arial" pitchFamily="34" charset="-120"/>
              </a:rPr>
              <a:t>Verifiable status badges with scope and risk posture</a:t>
            </a:r>
            <a:endParaRPr lang="en-US" sz="700" dirty="0"/>
          </a:p>
        </p:txBody>
      </p:sp>
      <p:sp>
        <p:nvSpPr>
          <p:cNvPr id="45" name="Text 43"/>
          <p:cNvSpPr/>
          <p:nvPr/>
        </p:nvSpPr>
        <p:spPr>
          <a:xfrm>
            <a:off x="9418320" y="4361688"/>
            <a:ext cx="2011680" cy="502920"/>
          </a:xfrm>
          <a:prstGeom prst="rect">
            <a:avLst/>
          </a:prstGeom>
          <a:noFill/>
          <a:ln/>
        </p:spPr>
        <p:txBody>
          <a:bodyPr wrap="square" rtlCol="0" anchor="ctr"/>
          <a:lstStyle/>
          <a:p>
            <a:pPr indent="0" marL="0">
              <a:buNone/>
            </a:pPr>
            <a:r>
              <a:rPr lang="en-US" sz="700" dirty="0">
                <a:solidFill>
                  <a:srgbClr val="1A2B4A"/>
                </a:solidFill>
                <a:latin typeface="Arial" pitchFamily="34" charset="0"/>
                <a:ea typeface="Arial" pitchFamily="34" charset="-122"/>
                <a:cs typeface="Arial" pitchFamily="34" charset="-120"/>
              </a:rPr>
              <a:t>External badge display network and partner integrations</a:t>
            </a:r>
            <a:endParaRPr lang="en-US" sz="700" dirty="0"/>
          </a:p>
        </p:txBody>
      </p:sp>
      <p:sp>
        <p:nvSpPr>
          <p:cNvPr id="46" name="Shape 44"/>
          <p:cNvSpPr/>
          <p:nvPr/>
        </p:nvSpPr>
        <p:spPr>
          <a:xfrm>
            <a:off x="365760" y="4910328"/>
            <a:ext cx="11430000" cy="530352"/>
          </a:xfrm>
          <a:prstGeom prst="rect">
            <a:avLst/>
          </a:prstGeom>
          <a:solidFill>
            <a:srgbClr val="FFFFFF"/>
          </a:solidFill>
          <a:ln w="6350">
            <a:solidFill>
              <a:srgbClr val="D0D0D0"/>
            </a:solidFill>
            <a:prstDash val="solid"/>
          </a:ln>
        </p:spPr>
      </p:sp>
      <p:sp>
        <p:nvSpPr>
          <p:cNvPr id="47" name="Text 45"/>
          <p:cNvSpPr/>
          <p:nvPr/>
        </p:nvSpPr>
        <p:spPr>
          <a:xfrm>
            <a:off x="457200" y="4928616"/>
            <a:ext cx="2011680" cy="502920"/>
          </a:xfrm>
          <a:prstGeom prst="rect">
            <a:avLst/>
          </a:prstGeom>
          <a:noFill/>
          <a:ln/>
        </p:spPr>
        <p:txBody>
          <a:bodyPr wrap="square" rtlCol="0" anchor="ctr"/>
          <a:lstStyle/>
          <a:p>
            <a:pPr indent="0" marL="0">
              <a:buNone/>
            </a:pPr>
            <a:r>
              <a:rPr lang="en-US" sz="800" b="1" dirty="0">
                <a:solidFill>
                  <a:srgbClr val="1A1A1A"/>
                </a:solidFill>
                <a:latin typeface="Arial" pitchFamily="34" charset="0"/>
                <a:ea typeface="Arial" pitchFamily="34" charset="-122"/>
                <a:cs typeface="Arial" pitchFamily="34" charset="-120"/>
              </a:rPr>
              <a:t>Compliance Twin</a:t>
            </a:r>
            <a:endParaRPr lang="en-US" sz="800" dirty="0"/>
          </a:p>
        </p:txBody>
      </p:sp>
      <p:sp>
        <p:nvSpPr>
          <p:cNvPr id="48" name="Text 46"/>
          <p:cNvSpPr/>
          <p:nvPr/>
        </p:nvSpPr>
        <p:spPr>
          <a:xfrm>
            <a:off x="2560320" y="4928616"/>
            <a:ext cx="1920240" cy="502920"/>
          </a:xfrm>
          <a:prstGeom prst="rect">
            <a:avLst/>
          </a:prstGeom>
          <a:noFill/>
          <a:ln/>
        </p:spPr>
        <p:txBody>
          <a:bodyPr wrap="square" rtlCol="0" anchor="ctr"/>
          <a:lstStyle/>
          <a:p>
            <a:pPr indent="0" marL="0">
              <a:buNone/>
            </a:pPr>
            <a:r>
              <a:rPr lang="en-US" sz="700" dirty="0">
                <a:solidFill>
                  <a:srgbClr val="1A2B4A"/>
                </a:solidFill>
                <a:latin typeface="Arial" pitchFamily="34" charset="0"/>
                <a:ea typeface="Arial" pitchFamily="34" charset="-122"/>
                <a:cs typeface="Arial" pitchFamily="34" charset="-120"/>
              </a:rPr>
              <a:t>Substantive subsystem</a:t>
            </a:r>
            <a:endParaRPr lang="en-US" sz="700" dirty="0"/>
          </a:p>
        </p:txBody>
      </p:sp>
      <p:sp>
        <p:nvSpPr>
          <p:cNvPr id="49" name="Text 47"/>
          <p:cNvSpPr/>
          <p:nvPr/>
        </p:nvSpPr>
        <p:spPr>
          <a:xfrm>
            <a:off x="4572000" y="4928616"/>
            <a:ext cx="2468880" cy="502920"/>
          </a:xfrm>
          <a:prstGeom prst="rect">
            <a:avLst/>
          </a:prstGeom>
          <a:noFill/>
          <a:ln/>
        </p:spPr>
        <p:txBody>
          <a:bodyPr wrap="square" rtlCol="0" anchor="ctr"/>
          <a:lstStyle/>
          <a:p>
            <a:pPr indent="0" marL="0">
              <a:buNone/>
            </a:pPr>
            <a:r>
              <a:rPr lang="en-US" sz="700" dirty="0">
                <a:solidFill>
                  <a:srgbClr val="4A4A4A"/>
                </a:solidFill>
                <a:latin typeface="Arial" pitchFamily="34" charset="0"/>
                <a:ea typeface="Arial" pitchFamily="34" charset="-122"/>
                <a:cs typeface="Arial" pitchFamily="34" charset="-120"/>
              </a:rPr>
              <a:t>17 files, 17 API routes, 8 DB models, 6 jurisdictions</a:t>
            </a:r>
            <a:endParaRPr lang="en-US" sz="700" dirty="0"/>
          </a:p>
        </p:txBody>
      </p:sp>
      <p:sp>
        <p:nvSpPr>
          <p:cNvPr id="50" name="Text 48"/>
          <p:cNvSpPr/>
          <p:nvPr/>
        </p:nvSpPr>
        <p:spPr>
          <a:xfrm>
            <a:off x="7132320" y="4928616"/>
            <a:ext cx="2194560" cy="502920"/>
          </a:xfrm>
          <a:prstGeom prst="rect">
            <a:avLst/>
          </a:prstGeom>
          <a:noFill/>
          <a:ln/>
        </p:spPr>
        <p:txBody>
          <a:bodyPr wrap="square" rtlCol="0" anchor="ctr"/>
          <a:lstStyle/>
          <a:p>
            <a:pPr indent="0" marL="0">
              <a:buNone/>
            </a:pPr>
            <a:r>
              <a:rPr lang="en-US" sz="700" dirty="0">
                <a:solidFill>
                  <a:srgbClr val="1A1A1A"/>
                </a:solidFill>
                <a:latin typeface="Arial" pitchFamily="34" charset="0"/>
                <a:ea typeface="Arial" pitchFamily="34" charset="-122"/>
                <a:cs typeface="Arial" pitchFamily="34" charset="-120"/>
              </a:rPr>
              <a:t>Live compliance monitoring with drift detection</a:t>
            </a:r>
            <a:endParaRPr lang="en-US" sz="700" dirty="0"/>
          </a:p>
        </p:txBody>
      </p:sp>
      <p:sp>
        <p:nvSpPr>
          <p:cNvPr id="51" name="Text 49"/>
          <p:cNvSpPr/>
          <p:nvPr/>
        </p:nvSpPr>
        <p:spPr>
          <a:xfrm>
            <a:off x="9418320" y="4928616"/>
            <a:ext cx="2011680" cy="502920"/>
          </a:xfrm>
          <a:prstGeom prst="rect">
            <a:avLst/>
          </a:prstGeom>
          <a:noFill/>
          <a:ln/>
        </p:spPr>
        <p:txBody>
          <a:bodyPr wrap="square" rtlCol="0" anchor="ctr"/>
          <a:lstStyle/>
          <a:p>
            <a:pPr indent="0" marL="0">
              <a:buNone/>
            </a:pPr>
            <a:r>
              <a:rPr lang="en-US" sz="700" dirty="0">
                <a:solidFill>
                  <a:srgbClr val="1A2B4A"/>
                </a:solidFill>
                <a:latin typeface="Arial" pitchFamily="34" charset="0"/>
                <a:ea typeface="Arial" pitchFamily="34" charset="-122"/>
                <a:cs typeface="Arial" pitchFamily="34" charset="-120"/>
              </a:rPr>
              <a:t>Production deployment and additional jurisdiction rule packs</a:t>
            </a:r>
            <a:endParaRPr lang="en-US" sz="700" dirty="0"/>
          </a:p>
        </p:txBody>
      </p:sp>
      <p:sp>
        <p:nvSpPr>
          <p:cNvPr id="52" name="Shape 50"/>
          <p:cNvSpPr/>
          <p:nvPr/>
        </p:nvSpPr>
        <p:spPr>
          <a:xfrm>
            <a:off x="365760" y="5477256"/>
            <a:ext cx="11430000" cy="530352"/>
          </a:xfrm>
          <a:prstGeom prst="rect">
            <a:avLst/>
          </a:prstGeom>
          <a:solidFill>
            <a:srgbClr val="F5F5F5"/>
          </a:solidFill>
          <a:ln w="6350">
            <a:solidFill>
              <a:srgbClr val="D0D0D0"/>
            </a:solidFill>
            <a:prstDash val="solid"/>
          </a:ln>
        </p:spPr>
      </p:sp>
      <p:sp>
        <p:nvSpPr>
          <p:cNvPr id="53" name="Text 51"/>
          <p:cNvSpPr/>
          <p:nvPr/>
        </p:nvSpPr>
        <p:spPr>
          <a:xfrm>
            <a:off x="457200" y="5495544"/>
            <a:ext cx="2011680" cy="502920"/>
          </a:xfrm>
          <a:prstGeom prst="rect">
            <a:avLst/>
          </a:prstGeom>
          <a:noFill/>
          <a:ln/>
        </p:spPr>
        <p:txBody>
          <a:bodyPr wrap="square" rtlCol="0" anchor="ctr"/>
          <a:lstStyle/>
          <a:p>
            <a:pPr indent="0" marL="0">
              <a:buNone/>
            </a:pPr>
            <a:r>
              <a:rPr lang="en-US" sz="800" b="1" dirty="0">
                <a:solidFill>
                  <a:srgbClr val="1A1A1A"/>
                </a:solidFill>
                <a:latin typeface="Arial" pitchFamily="34" charset="0"/>
                <a:ea typeface="Arial" pitchFamily="34" charset="-122"/>
                <a:cs typeface="Arial" pitchFamily="34" charset="-120"/>
              </a:rPr>
              <a:t>Kill Switch</a:t>
            </a:r>
            <a:endParaRPr lang="en-US" sz="800" dirty="0"/>
          </a:p>
        </p:txBody>
      </p:sp>
      <p:sp>
        <p:nvSpPr>
          <p:cNvPr id="54" name="Text 52"/>
          <p:cNvSpPr/>
          <p:nvPr/>
        </p:nvSpPr>
        <p:spPr>
          <a:xfrm>
            <a:off x="2560320" y="5495544"/>
            <a:ext cx="1920240" cy="502920"/>
          </a:xfrm>
          <a:prstGeom prst="rect">
            <a:avLst/>
          </a:prstGeom>
          <a:noFill/>
          <a:ln/>
        </p:spPr>
        <p:txBody>
          <a:bodyPr wrap="square" rtlCol="0" anchor="ctr"/>
          <a:lstStyle/>
          <a:p>
            <a:pPr indent="0" marL="0">
              <a:buNone/>
            </a:pPr>
            <a:r>
              <a:rPr lang="en-US" sz="700" dirty="0">
                <a:solidFill>
                  <a:srgbClr val="1A2B4A"/>
                </a:solidFill>
                <a:latin typeface="Arial" pitchFamily="34" charset="0"/>
                <a:ea typeface="Arial" pitchFamily="34" charset="-122"/>
                <a:cs typeface="Arial" pitchFamily="34" charset="-120"/>
              </a:rPr>
              <a:t>Active development (L1–L3 available)</a:t>
            </a:r>
            <a:endParaRPr lang="en-US" sz="700" dirty="0"/>
          </a:p>
        </p:txBody>
      </p:sp>
      <p:sp>
        <p:nvSpPr>
          <p:cNvPr id="55" name="Text 53"/>
          <p:cNvSpPr/>
          <p:nvPr/>
        </p:nvSpPr>
        <p:spPr>
          <a:xfrm>
            <a:off x="4572000" y="5495544"/>
            <a:ext cx="2468880" cy="502920"/>
          </a:xfrm>
          <a:prstGeom prst="rect">
            <a:avLst/>
          </a:prstGeom>
          <a:noFill/>
          <a:ln/>
        </p:spPr>
        <p:txBody>
          <a:bodyPr wrap="square" rtlCol="0" anchor="ctr"/>
          <a:lstStyle/>
          <a:p>
            <a:pPr indent="0" marL="0">
              <a:buNone/>
            </a:pPr>
            <a:r>
              <a:rPr lang="en-US" sz="700" dirty="0">
                <a:solidFill>
                  <a:srgbClr val="4A4A4A"/>
                </a:solidFill>
                <a:latin typeface="Arial" pitchFamily="34" charset="0"/>
                <a:ea typeface="Arial" pitchFamily="34" charset="-122"/>
                <a:cs typeface="Arial" pitchFamily="34" charset="-120"/>
              </a:rPr>
              <a:t>Published SDK v0.3.0, execution guard, 19 API routes</a:t>
            </a:r>
            <a:endParaRPr lang="en-US" sz="700" dirty="0"/>
          </a:p>
        </p:txBody>
      </p:sp>
      <p:sp>
        <p:nvSpPr>
          <p:cNvPr id="56" name="Text 54"/>
          <p:cNvSpPr/>
          <p:nvPr/>
        </p:nvSpPr>
        <p:spPr>
          <a:xfrm>
            <a:off x="7132320" y="5495544"/>
            <a:ext cx="2194560" cy="502920"/>
          </a:xfrm>
          <a:prstGeom prst="rect">
            <a:avLst/>
          </a:prstGeom>
          <a:noFill/>
          <a:ln/>
        </p:spPr>
        <p:txBody>
          <a:bodyPr wrap="square" rtlCol="0" anchor="ctr"/>
          <a:lstStyle/>
          <a:p>
            <a:pPr indent="0" marL="0">
              <a:buNone/>
            </a:pPr>
            <a:r>
              <a:rPr lang="en-US" sz="700" dirty="0">
                <a:solidFill>
                  <a:srgbClr val="1A1A1A"/>
                </a:solidFill>
                <a:latin typeface="Arial" pitchFamily="34" charset="0"/>
                <a:ea typeface="Arial" pitchFamily="34" charset="-122"/>
                <a:cs typeface="Arial" pitchFamily="34" charset="-120"/>
              </a:rPr>
              <a:t>Emergency shutdown capability for AI systems</a:t>
            </a:r>
            <a:endParaRPr lang="en-US" sz="700" dirty="0"/>
          </a:p>
        </p:txBody>
      </p:sp>
      <p:sp>
        <p:nvSpPr>
          <p:cNvPr id="57" name="Text 55"/>
          <p:cNvSpPr/>
          <p:nvPr/>
        </p:nvSpPr>
        <p:spPr>
          <a:xfrm>
            <a:off x="9418320" y="5495544"/>
            <a:ext cx="2011680" cy="502920"/>
          </a:xfrm>
          <a:prstGeom prst="rect">
            <a:avLst/>
          </a:prstGeom>
          <a:noFill/>
          <a:ln/>
        </p:spPr>
        <p:txBody>
          <a:bodyPr wrap="square" rtlCol="0" anchor="ctr"/>
          <a:lstStyle/>
          <a:p>
            <a:pPr indent="0" marL="0">
              <a:buNone/>
            </a:pPr>
            <a:r>
              <a:rPr lang="en-US" sz="700" dirty="0">
                <a:solidFill>
                  <a:srgbClr val="1A2B4A"/>
                </a:solidFill>
                <a:latin typeface="Arial" pitchFamily="34" charset="0"/>
                <a:ea typeface="Arial" pitchFamily="34" charset="-122"/>
                <a:cs typeface="Arial" pitchFamily="34" charset="-120"/>
              </a:rPr>
              <a:t>Layers 4–5 (network block, database revoke) in development</a:t>
            </a:r>
            <a:endParaRPr lang="en-US" sz="700" dirty="0"/>
          </a:p>
        </p:txBody>
      </p:sp>
      <p:sp>
        <p:nvSpPr>
          <p:cNvPr id="58" name="Shape 56"/>
          <p:cNvSpPr/>
          <p:nvPr/>
        </p:nvSpPr>
        <p:spPr>
          <a:xfrm>
            <a:off x="457200" y="6473952"/>
            <a:ext cx="11277295" cy="0"/>
          </a:xfrm>
          <a:prstGeom prst="line">
            <a:avLst/>
          </a:prstGeom>
          <a:noFill/>
          <a:ln w="6350">
            <a:solidFill>
              <a:srgbClr val="CCCCCC"/>
            </a:solidFill>
            <a:prstDash val="solid"/>
          </a:ln>
        </p:spPr>
      </p:sp>
      <p:sp>
        <p:nvSpPr>
          <p:cNvPr id="59" name="Text 57"/>
          <p:cNvSpPr/>
          <p:nvPr/>
        </p:nvSpPr>
        <p:spPr>
          <a:xfrm>
            <a:off x="457200" y="6537960"/>
            <a:ext cx="7315200" cy="228600"/>
          </a:xfrm>
          <a:prstGeom prst="rect">
            <a:avLst/>
          </a:prstGeom>
          <a:noFill/>
          <a:ln/>
        </p:spPr>
        <p:txBody>
          <a:bodyPr wrap="square" rtlCol="0" anchor="ctr"/>
          <a:lstStyle/>
          <a:p>
            <a:pPr indent="0" marL="0">
              <a:buNone/>
            </a:pPr>
            <a:r>
              <a:rPr lang="en-US" sz="800" dirty="0">
                <a:solidFill>
                  <a:srgbClr val="6B6B6B"/>
                </a:solidFill>
                <a:latin typeface="Arial" pitchFamily="34" charset="0"/>
                <a:ea typeface="Arial" pitchFamily="34" charset="-122"/>
                <a:cs typeface="Arial" pitchFamily="34" charset="-120"/>
              </a:rPr>
              <a:t>HAIEC  ·  Confidential Discussion Brief  ·  13/15</a:t>
            </a:r>
            <a:endParaRPr lang="en-US" sz="800" dirty="0"/>
          </a:p>
        </p:txBody>
      </p:sp>
      <p:sp>
        <p:nvSpPr>
          <p:cNvPr id="60" name="Text 58"/>
          <p:cNvSpPr/>
          <p:nvPr/>
        </p:nvSpPr>
        <p:spPr>
          <a:xfrm>
            <a:off x="8991295" y="6537960"/>
            <a:ext cx="2743200" cy="228600"/>
          </a:xfrm>
          <a:prstGeom prst="rect">
            <a:avLst/>
          </a:prstGeom>
          <a:noFill/>
          <a:ln/>
        </p:spPr>
        <p:txBody>
          <a:bodyPr wrap="square" rtlCol="0" anchor="ctr"/>
          <a:lstStyle/>
          <a:p>
            <a:pPr algn="r" indent="0" marL="0">
              <a:buNone/>
            </a:pPr>
            <a:r>
              <a:rPr lang="en-US" sz="800" dirty="0">
                <a:solidFill>
                  <a:srgbClr val="6B6B6B"/>
                </a:solidFill>
                <a:latin typeface="Arial" pitchFamily="34" charset="0"/>
                <a:ea typeface="Arial" pitchFamily="34" charset="-122"/>
                <a:cs typeface="Arial" pitchFamily="34" charset="-120"/>
              </a:rPr>
              <a:t>v1.0  ·  2026-07-31</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57200"/>
            <a:ext cx="11277295" cy="548640"/>
          </a:xfrm>
          <a:prstGeom prst="rect">
            <a:avLst/>
          </a:prstGeom>
          <a:noFill/>
          <a:ln/>
        </p:spPr>
        <p:txBody>
          <a:bodyPr wrap="square" rtlCol="0" anchor="ctr"/>
          <a:lstStyle/>
          <a:p>
            <a:pPr algn="l" indent="0" marL="0">
              <a:buNone/>
            </a:pPr>
            <a:r>
              <a:rPr lang="en-US" sz="2200" b="1" dirty="0">
                <a:solidFill>
                  <a:srgbClr val="1A2B4A"/>
                </a:solidFill>
                <a:latin typeface="Arial" pitchFamily="34" charset="0"/>
                <a:ea typeface="Arial" pitchFamily="34" charset="-122"/>
                <a:cs typeface="Arial" pitchFamily="34" charset="-120"/>
              </a:rPr>
              <a:t>Appendix B: Capability Taxonomy</a:t>
            </a:r>
            <a:endParaRPr lang="en-US" sz="2200" dirty="0"/>
          </a:p>
        </p:txBody>
      </p:sp>
      <p:sp>
        <p:nvSpPr>
          <p:cNvPr id="3" name="Shape 1"/>
          <p:cNvSpPr/>
          <p:nvPr/>
        </p:nvSpPr>
        <p:spPr>
          <a:xfrm>
            <a:off x="457200" y="1051560"/>
            <a:ext cx="11277295" cy="0"/>
          </a:xfrm>
          <a:prstGeom prst="line">
            <a:avLst/>
          </a:prstGeom>
          <a:noFill/>
          <a:ln w="12700">
            <a:solidFill>
              <a:srgbClr val="1A2B4A"/>
            </a:solidFill>
            <a:prstDash val="solid"/>
          </a:ln>
        </p:spPr>
      </p:sp>
      <p:sp>
        <p:nvSpPr>
          <p:cNvPr id="4" name="Text 2"/>
          <p:cNvSpPr/>
          <p:nvPr/>
        </p:nvSpPr>
        <p:spPr>
          <a:xfrm>
            <a:off x="548640" y="1005840"/>
            <a:ext cx="7315200" cy="182880"/>
          </a:xfrm>
          <a:prstGeom prst="rect">
            <a:avLst/>
          </a:prstGeom>
          <a:noFill/>
          <a:ln/>
        </p:spPr>
        <p:txBody>
          <a:bodyPr wrap="square" rtlCol="0" anchor="ctr"/>
          <a:lstStyle/>
          <a:p>
            <a:pPr algn="l" indent="0" marL="0">
              <a:buNone/>
            </a:pPr>
            <a:r>
              <a:rPr lang="en-US" sz="800" b="1" dirty="0">
                <a:solidFill>
                  <a:srgbClr val="6B6B6B"/>
                </a:solidFill>
                <a:latin typeface="Arial" pitchFamily="34" charset="0"/>
                <a:ea typeface="Arial" pitchFamily="34" charset="-122"/>
                <a:cs typeface="Arial" pitchFamily="34" charset="-120"/>
              </a:rPr>
              <a:t>Generated: 2026-07-31  ·  Source commit: 70b7399</a:t>
            </a:r>
            <a:endParaRPr lang="en-US" sz="800" dirty="0"/>
          </a:p>
        </p:txBody>
      </p:sp>
      <p:sp>
        <p:nvSpPr>
          <p:cNvPr id="5" name="Shape 3"/>
          <p:cNvSpPr/>
          <p:nvPr/>
        </p:nvSpPr>
        <p:spPr>
          <a:xfrm>
            <a:off x="548640" y="1280160"/>
            <a:ext cx="3474720" cy="2286000"/>
          </a:xfrm>
          <a:prstGeom prst="rect">
            <a:avLst/>
          </a:prstGeom>
          <a:solidFill>
            <a:srgbClr val="F5F5F5"/>
          </a:solidFill>
          <a:ln w="6350">
            <a:solidFill>
              <a:srgbClr val="D0D0D0"/>
            </a:solidFill>
            <a:prstDash val="solid"/>
          </a:ln>
        </p:spPr>
      </p:sp>
      <p:sp>
        <p:nvSpPr>
          <p:cNvPr id="6" name="Text 4"/>
          <p:cNvSpPr/>
          <p:nvPr/>
        </p:nvSpPr>
        <p:spPr>
          <a:xfrm>
            <a:off x="731520" y="1371600"/>
            <a:ext cx="3108960" cy="274320"/>
          </a:xfrm>
          <a:prstGeom prst="rect">
            <a:avLst/>
          </a:prstGeom>
          <a:noFill/>
          <a:ln/>
        </p:spPr>
        <p:txBody>
          <a:bodyPr wrap="square" rtlCol="0" anchor="ctr"/>
          <a:lstStyle/>
          <a:p>
            <a:pPr indent="0" marL="0">
              <a:buNone/>
            </a:pPr>
            <a:r>
              <a:rPr lang="en-US" sz="1100" b="1" dirty="0">
                <a:solidFill>
                  <a:srgbClr val="1A2B4A"/>
                </a:solidFill>
                <a:latin typeface="Arial" pitchFamily="34" charset="0"/>
                <a:ea typeface="Arial" pitchFamily="34" charset="-122"/>
                <a:cs typeface="Arial" pitchFamily="34" charset="-120"/>
              </a:rPr>
              <a:t>Static Detection</a:t>
            </a:r>
            <a:endParaRPr lang="en-US" sz="1100" dirty="0"/>
          </a:p>
        </p:txBody>
      </p:sp>
      <p:sp>
        <p:nvSpPr>
          <p:cNvPr id="7" name="Text 5"/>
          <p:cNvSpPr/>
          <p:nvPr/>
        </p:nvSpPr>
        <p:spPr>
          <a:xfrm>
            <a:off x="731520" y="1691640"/>
            <a:ext cx="3108960" cy="164592"/>
          </a:xfrm>
          <a:prstGeom prst="rect">
            <a:avLst/>
          </a:prstGeom>
          <a:noFill/>
          <a:ln/>
        </p:spPr>
        <p:txBody>
          <a:bodyPr wrap="square" rtlCol="0" anchor="ctr"/>
          <a:lstStyle/>
          <a:p>
            <a:pPr indent="0" marL="0">
              <a:buNone/>
            </a:pPr>
            <a:r>
              <a:rPr lang="en-US" sz="800" dirty="0">
                <a:solidFill>
                  <a:srgbClr val="1A2B4A"/>
                </a:solidFill>
                <a:latin typeface="Arial" pitchFamily="34" charset="0"/>
                <a:ea typeface="Arial" pitchFamily="34" charset="-122"/>
                <a:cs typeface="Arial" pitchFamily="34" charset="-120"/>
              </a:rPr>
              <a:t>Semgrep YAML rules: 91</a:t>
            </a:r>
            <a:endParaRPr lang="en-US" sz="800" dirty="0"/>
          </a:p>
        </p:txBody>
      </p:sp>
      <p:sp>
        <p:nvSpPr>
          <p:cNvPr id="8" name="Text 6"/>
          <p:cNvSpPr/>
          <p:nvPr/>
        </p:nvSpPr>
        <p:spPr>
          <a:xfrm>
            <a:off x="731520" y="1865376"/>
            <a:ext cx="3108960" cy="164592"/>
          </a:xfrm>
          <a:prstGeom prst="rect">
            <a:avLst/>
          </a:prstGeom>
          <a:noFill/>
          <a:ln/>
        </p:spPr>
        <p:txBody>
          <a:bodyPr wrap="square" rtlCol="0" anchor="ctr"/>
          <a:lstStyle/>
          <a:p>
            <a:pPr indent="0" marL="0">
              <a:buNone/>
            </a:pPr>
            <a:r>
              <a:rPr lang="en-US" sz="800" dirty="0">
                <a:solidFill>
                  <a:srgbClr val="1A2B4A"/>
                </a:solidFill>
                <a:latin typeface="Arial" pitchFamily="34" charset="0"/>
                <a:ea typeface="Arial" pitchFamily="34" charset="-122"/>
                <a:cs typeface="Arial" pitchFamily="34" charset="-120"/>
              </a:rPr>
              <a:t>Core TS deterministic rules: 15</a:t>
            </a:r>
            <a:endParaRPr lang="en-US" sz="800" dirty="0"/>
          </a:p>
        </p:txBody>
      </p:sp>
      <p:sp>
        <p:nvSpPr>
          <p:cNvPr id="9" name="Text 7"/>
          <p:cNvSpPr/>
          <p:nvPr/>
        </p:nvSpPr>
        <p:spPr>
          <a:xfrm>
            <a:off x="731520" y="2039112"/>
            <a:ext cx="3108960" cy="164592"/>
          </a:xfrm>
          <a:prstGeom prst="rect">
            <a:avLst/>
          </a:prstGeom>
          <a:noFill/>
          <a:ln/>
        </p:spPr>
        <p:txBody>
          <a:bodyPr wrap="square" rtlCol="0" anchor="ctr"/>
          <a:lstStyle/>
          <a:p>
            <a:pPr indent="0" marL="0">
              <a:buNone/>
            </a:pPr>
            <a:r>
              <a:rPr lang="en-US" sz="800" dirty="0">
                <a:solidFill>
                  <a:srgbClr val="1A2B4A"/>
                </a:solidFill>
                <a:latin typeface="Arial" pitchFamily="34" charset="0"/>
                <a:ea typeface="Arial" pitchFamily="34" charset="-122"/>
                <a:cs typeface="Arial" pitchFamily="34" charset="-120"/>
              </a:rPr>
              <a:t>Rulepack mapping records: 82</a:t>
            </a:r>
            <a:endParaRPr lang="en-US" sz="800" dirty="0"/>
          </a:p>
        </p:txBody>
      </p:sp>
      <p:sp>
        <p:nvSpPr>
          <p:cNvPr id="10" name="Text 8"/>
          <p:cNvSpPr/>
          <p:nvPr/>
        </p:nvSpPr>
        <p:spPr>
          <a:xfrm>
            <a:off x="731520" y="2212848"/>
            <a:ext cx="3108960" cy="164592"/>
          </a:xfrm>
          <a:prstGeom prst="rect">
            <a:avLst/>
          </a:prstGeom>
          <a:noFill/>
          <a:ln/>
        </p:spPr>
        <p:txBody>
          <a:bodyPr wrap="square" rtlCol="0" anchor="ctr"/>
          <a:lstStyle/>
          <a:p>
            <a:pPr indent="0" marL="0">
              <a:buNone/>
            </a:pPr>
            <a:r>
              <a:rPr lang="en-US" sz="800" dirty="0">
                <a:solidFill>
                  <a:srgbClr val="1A2B4A"/>
                </a:solidFill>
                <a:latin typeface="Arial" pitchFamily="34" charset="0"/>
                <a:ea typeface="Arial" pitchFamily="34" charset="-122"/>
                <a:cs typeface="Arial" pitchFamily="34" charset="-120"/>
              </a:rPr>
              <a:t>Note: These are different representations</a:t>
            </a:r>
            <a:endParaRPr lang="en-US" sz="800" dirty="0"/>
          </a:p>
        </p:txBody>
      </p:sp>
      <p:sp>
        <p:nvSpPr>
          <p:cNvPr id="11" name="Text 9"/>
          <p:cNvSpPr/>
          <p:nvPr/>
        </p:nvSpPr>
        <p:spPr>
          <a:xfrm>
            <a:off x="731520" y="2386584"/>
            <a:ext cx="3108960" cy="164592"/>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(detectors, display IDs, mappings)</a:t>
            </a:r>
            <a:endParaRPr lang="en-US" sz="800" dirty="0"/>
          </a:p>
        </p:txBody>
      </p:sp>
      <p:sp>
        <p:nvSpPr>
          <p:cNvPr id="12" name="Text 10"/>
          <p:cNvSpPr/>
          <p:nvPr/>
        </p:nvSpPr>
        <p:spPr>
          <a:xfrm>
            <a:off x="731520" y="2560320"/>
            <a:ext cx="3108960" cy="164592"/>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Do not add to a combined total</a:t>
            </a:r>
            <a:endParaRPr lang="en-US" sz="800" dirty="0"/>
          </a:p>
        </p:txBody>
      </p:sp>
      <p:sp>
        <p:nvSpPr>
          <p:cNvPr id="13" name="Text 11"/>
          <p:cNvSpPr/>
          <p:nvPr/>
        </p:nvSpPr>
        <p:spPr>
          <a:xfrm>
            <a:off x="731520" y="2734056"/>
            <a:ext cx="3108960" cy="164592"/>
          </a:xfrm>
          <a:prstGeom prst="rect">
            <a:avLst/>
          </a:prstGeom>
          <a:noFill/>
          <a:ln/>
        </p:spPr>
        <p:txBody>
          <a:bodyPr wrap="square" rtlCol="0" anchor="ctr"/>
          <a:lstStyle/>
          <a:p>
            <a:pPr indent="0" marL="0">
              <a:buNone/>
            </a:pPr>
            <a:endParaRPr lang="en-US" sz="800" dirty="0"/>
          </a:p>
        </p:txBody>
      </p:sp>
      <p:sp>
        <p:nvSpPr>
          <p:cNvPr id="14" name="Text 12"/>
          <p:cNvSpPr/>
          <p:nvPr/>
        </p:nvSpPr>
        <p:spPr>
          <a:xfrm>
            <a:off x="731520" y="2907792"/>
            <a:ext cx="3108960" cy="164592"/>
          </a:xfrm>
          <a:prstGeom prst="rect">
            <a:avLst/>
          </a:prstGeom>
          <a:noFill/>
          <a:ln/>
        </p:spPr>
        <p:txBody>
          <a:bodyPr wrap="square" rtlCol="0" anchor="ctr"/>
          <a:lstStyle/>
          <a:p>
            <a:pPr indent="0" marL="0">
              <a:buNone/>
            </a:pPr>
            <a:r>
              <a:rPr lang="en-US" sz="800" dirty="0">
                <a:solidFill>
                  <a:srgbClr val="1A2B4A"/>
                </a:solidFill>
                <a:latin typeface="Arial" pitchFamily="34" charset="0"/>
                <a:ea typeface="Arial" pitchFamily="34" charset="-122"/>
                <a:cs typeface="Arial" pitchFamily="34" charset="-120"/>
              </a:rPr>
              <a:t>Rulepacks:</a:t>
            </a:r>
            <a:endParaRPr lang="en-US" sz="800" dirty="0"/>
          </a:p>
        </p:txBody>
      </p:sp>
      <p:sp>
        <p:nvSpPr>
          <p:cNvPr id="15" name="Text 13"/>
          <p:cNvSpPr/>
          <p:nvPr/>
        </p:nvSpPr>
        <p:spPr>
          <a:xfrm>
            <a:off x="731520" y="3081528"/>
            <a:ext cx="3108960" cy="164592"/>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Agentic (AGW-R): 12</a:t>
            </a:r>
            <a:endParaRPr lang="en-US" sz="800" dirty="0"/>
          </a:p>
        </p:txBody>
      </p:sp>
      <p:sp>
        <p:nvSpPr>
          <p:cNvPr id="16" name="Text 14"/>
          <p:cNvSpPr/>
          <p:nvPr/>
        </p:nvSpPr>
        <p:spPr>
          <a:xfrm>
            <a:off x="731520" y="3255264"/>
            <a:ext cx="3108960" cy="164592"/>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AI-Assisted Dev (AIC-R): 45</a:t>
            </a:r>
            <a:endParaRPr lang="en-US" sz="800" dirty="0"/>
          </a:p>
        </p:txBody>
      </p:sp>
      <p:sp>
        <p:nvSpPr>
          <p:cNvPr id="17" name="Text 15"/>
          <p:cNvSpPr/>
          <p:nvPr/>
        </p:nvSpPr>
        <p:spPr>
          <a:xfrm>
            <a:off x="731520" y="3429000"/>
            <a:ext cx="3108960" cy="164592"/>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Embedded SaaS (ESA-R): 10</a:t>
            </a:r>
            <a:endParaRPr lang="en-US" sz="800" dirty="0"/>
          </a:p>
        </p:txBody>
      </p:sp>
      <p:sp>
        <p:nvSpPr>
          <p:cNvPr id="18" name="Text 16"/>
          <p:cNvSpPr/>
          <p:nvPr/>
        </p:nvSpPr>
        <p:spPr>
          <a:xfrm>
            <a:off x="731520" y="3602736"/>
            <a:ext cx="3108960" cy="164592"/>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RAG Deep (RAG-R): 8</a:t>
            </a:r>
            <a:endParaRPr lang="en-US" sz="800" dirty="0"/>
          </a:p>
        </p:txBody>
      </p:sp>
      <p:sp>
        <p:nvSpPr>
          <p:cNvPr id="19" name="Text 17"/>
          <p:cNvSpPr/>
          <p:nvPr/>
        </p:nvSpPr>
        <p:spPr>
          <a:xfrm>
            <a:off x="731520" y="3776472"/>
            <a:ext cx="3108960" cy="164592"/>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Voice AI (VAI): 7</a:t>
            </a:r>
            <a:endParaRPr lang="en-US" sz="800" dirty="0"/>
          </a:p>
        </p:txBody>
      </p:sp>
      <p:sp>
        <p:nvSpPr>
          <p:cNvPr id="20" name="Shape 18"/>
          <p:cNvSpPr/>
          <p:nvPr/>
        </p:nvSpPr>
        <p:spPr>
          <a:xfrm>
            <a:off x="4206240" y="1280160"/>
            <a:ext cx="3474720" cy="2286000"/>
          </a:xfrm>
          <a:prstGeom prst="rect">
            <a:avLst/>
          </a:prstGeom>
          <a:solidFill>
            <a:srgbClr val="F5F5F5"/>
          </a:solidFill>
          <a:ln w="6350">
            <a:solidFill>
              <a:srgbClr val="D0D0D0"/>
            </a:solidFill>
            <a:prstDash val="solid"/>
          </a:ln>
        </p:spPr>
      </p:sp>
      <p:sp>
        <p:nvSpPr>
          <p:cNvPr id="21" name="Text 19"/>
          <p:cNvSpPr/>
          <p:nvPr/>
        </p:nvSpPr>
        <p:spPr>
          <a:xfrm>
            <a:off x="4389120" y="1371600"/>
            <a:ext cx="3108960" cy="274320"/>
          </a:xfrm>
          <a:prstGeom prst="rect">
            <a:avLst/>
          </a:prstGeom>
          <a:noFill/>
          <a:ln/>
        </p:spPr>
        <p:txBody>
          <a:bodyPr wrap="square" rtlCol="0" anchor="ctr"/>
          <a:lstStyle/>
          <a:p>
            <a:pPr indent="0" marL="0">
              <a:buNone/>
            </a:pPr>
            <a:r>
              <a:rPr lang="en-US" sz="1100" b="1" dirty="0">
                <a:solidFill>
                  <a:srgbClr val="1A2B4A"/>
                </a:solidFill>
                <a:latin typeface="Arial" pitchFamily="34" charset="0"/>
                <a:ea typeface="Arial" pitchFamily="34" charset="-122"/>
                <a:cs typeface="Arial" pitchFamily="34" charset="-120"/>
              </a:rPr>
              <a:t>Runtime Attack Templates</a:t>
            </a:r>
            <a:endParaRPr lang="en-US" sz="1100" dirty="0"/>
          </a:p>
        </p:txBody>
      </p:sp>
      <p:sp>
        <p:nvSpPr>
          <p:cNvPr id="22" name="Text 20"/>
          <p:cNvSpPr/>
          <p:nvPr/>
        </p:nvSpPr>
        <p:spPr>
          <a:xfrm>
            <a:off x="4389120" y="1691640"/>
            <a:ext cx="3108960" cy="164592"/>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Base templates: 234</a:t>
            </a:r>
            <a:endParaRPr lang="en-US" sz="800" dirty="0"/>
          </a:p>
        </p:txBody>
      </p:sp>
      <p:sp>
        <p:nvSpPr>
          <p:cNvPr id="23" name="Text 21"/>
          <p:cNvSpPr/>
          <p:nvPr/>
        </p:nvSpPr>
        <p:spPr>
          <a:xfrm>
            <a:off x="4389120" y="1865376"/>
            <a:ext cx="3108960" cy="164592"/>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Voice AI: 12</a:t>
            </a:r>
            <a:endParaRPr lang="en-US" sz="800" dirty="0"/>
          </a:p>
        </p:txBody>
      </p:sp>
      <p:sp>
        <p:nvSpPr>
          <p:cNvPr id="24" name="Text 22"/>
          <p:cNvSpPr/>
          <p:nvPr/>
        </p:nvSpPr>
        <p:spPr>
          <a:xfrm>
            <a:off x="4389120" y="2039112"/>
            <a:ext cx="3108960" cy="164592"/>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Embedded SaaS: 7</a:t>
            </a:r>
            <a:endParaRPr lang="en-US" sz="800" dirty="0"/>
          </a:p>
        </p:txBody>
      </p:sp>
      <p:sp>
        <p:nvSpPr>
          <p:cNvPr id="25" name="Text 23"/>
          <p:cNvSpPr/>
          <p:nvPr/>
        </p:nvSpPr>
        <p:spPr>
          <a:xfrm>
            <a:off x="4389120" y="2212848"/>
            <a:ext cx="3108960" cy="164592"/>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Agentic: 7</a:t>
            </a:r>
            <a:endParaRPr lang="en-US" sz="800" dirty="0"/>
          </a:p>
        </p:txBody>
      </p:sp>
      <p:sp>
        <p:nvSpPr>
          <p:cNvPr id="26" name="Text 24"/>
          <p:cNvSpPr/>
          <p:nvPr/>
        </p:nvSpPr>
        <p:spPr>
          <a:xfrm>
            <a:off x="4389120" y="2386584"/>
            <a:ext cx="3108960" cy="164592"/>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AI-Assisted Dev: 3</a:t>
            </a:r>
            <a:endParaRPr lang="en-US" sz="800" dirty="0"/>
          </a:p>
        </p:txBody>
      </p:sp>
      <p:sp>
        <p:nvSpPr>
          <p:cNvPr id="27" name="Text 25"/>
          <p:cNvSpPr/>
          <p:nvPr/>
        </p:nvSpPr>
        <p:spPr>
          <a:xfrm>
            <a:off x="4389120" y="2560320"/>
            <a:ext cx="3108960" cy="164592"/>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RAG Deep: 6</a:t>
            </a:r>
            <a:endParaRPr lang="en-US" sz="800" dirty="0"/>
          </a:p>
        </p:txBody>
      </p:sp>
      <p:sp>
        <p:nvSpPr>
          <p:cNvPr id="28" name="Text 26"/>
          <p:cNvSpPr/>
          <p:nvPr/>
        </p:nvSpPr>
        <p:spPr>
          <a:xfrm>
            <a:off x="4389120" y="2734056"/>
            <a:ext cx="3108960" cy="164592"/>
          </a:xfrm>
          <a:prstGeom prst="rect">
            <a:avLst/>
          </a:prstGeom>
          <a:noFill/>
          <a:ln/>
        </p:spPr>
        <p:txBody>
          <a:bodyPr wrap="square" rtlCol="0" anchor="ctr"/>
          <a:lstStyle/>
          <a:p>
            <a:pPr indent="0" marL="0">
              <a:buNone/>
            </a:pPr>
            <a:r>
              <a:rPr lang="en-US" sz="800" dirty="0">
                <a:solidFill>
                  <a:srgbClr val="1A2B4A"/>
                </a:solidFill>
                <a:latin typeface="Arial" pitchFamily="34" charset="0"/>
                <a:ea typeface="Arial" pitchFamily="34" charset="-122"/>
                <a:cs typeface="Arial" pitchFamily="34" charset="-120"/>
              </a:rPr>
              <a:t>Total templates: 269</a:t>
            </a:r>
            <a:endParaRPr lang="en-US" sz="800" dirty="0"/>
          </a:p>
        </p:txBody>
      </p:sp>
      <p:sp>
        <p:nvSpPr>
          <p:cNvPr id="29" name="Text 27"/>
          <p:cNvSpPr/>
          <p:nvPr/>
        </p:nvSpPr>
        <p:spPr>
          <a:xfrm>
            <a:off x="4389120" y="2907792"/>
            <a:ext cx="3108960" cy="164592"/>
          </a:xfrm>
          <a:prstGeom prst="rect">
            <a:avLst/>
          </a:prstGeom>
          <a:noFill/>
          <a:ln/>
        </p:spPr>
        <p:txBody>
          <a:bodyPr wrap="square" rtlCol="0" anchor="ctr"/>
          <a:lstStyle/>
          <a:p>
            <a:pPr indent="0" marL="0">
              <a:buNone/>
            </a:pPr>
            <a:endParaRPr lang="en-US" sz="800" dirty="0"/>
          </a:p>
        </p:txBody>
      </p:sp>
      <p:sp>
        <p:nvSpPr>
          <p:cNvPr id="30" name="Text 28"/>
          <p:cNvSpPr/>
          <p:nvPr/>
        </p:nvSpPr>
        <p:spPr>
          <a:xfrm>
            <a:off x="4389120" y="3081528"/>
            <a:ext cx="3108960" cy="164592"/>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Compliance tiers: 4</a:t>
            </a:r>
            <a:endParaRPr lang="en-US" sz="800" dirty="0"/>
          </a:p>
        </p:txBody>
      </p:sp>
      <p:sp>
        <p:nvSpPr>
          <p:cNvPr id="31" name="Text 29"/>
          <p:cNvSpPr/>
          <p:nvPr/>
        </p:nvSpPr>
        <p:spPr>
          <a:xfrm>
            <a:off x="4389120" y="3255264"/>
            <a:ext cx="3108960" cy="164592"/>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Phasing strategies: 4</a:t>
            </a:r>
            <a:endParaRPr lang="en-US" sz="800" dirty="0"/>
          </a:p>
        </p:txBody>
      </p:sp>
      <p:sp>
        <p:nvSpPr>
          <p:cNvPr id="32" name="Text 30"/>
          <p:cNvSpPr/>
          <p:nvPr/>
        </p:nvSpPr>
        <p:spPr>
          <a:xfrm>
            <a:off x="4389120" y="3429000"/>
            <a:ext cx="3108960" cy="164592"/>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Rate limit: 60 req/min, 2 req/sec</a:t>
            </a:r>
            <a:endParaRPr lang="en-US" sz="800" dirty="0"/>
          </a:p>
        </p:txBody>
      </p:sp>
      <p:sp>
        <p:nvSpPr>
          <p:cNvPr id="33" name="Shape 31"/>
          <p:cNvSpPr/>
          <p:nvPr/>
        </p:nvSpPr>
        <p:spPr>
          <a:xfrm>
            <a:off x="7863840" y="1280160"/>
            <a:ext cx="3749040" cy="2286000"/>
          </a:xfrm>
          <a:prstGeom prst="rect">
            <a:avLst/>
          </a:prstGeom>
          <a:solidFill>
            <a:srgbClr val="F5F5F5"/>
          </a:solidFill>
          <a:ln w="6350">
            <a:solidFill>
              <a:srgbClr val="D0D0D0"/>
            </a:solidFill>
            <a:prstDash val="solid"/>
          </a:ln>
        </p:spPr>
      </p:sp>
      <p:sp>
        <p:nvSpPr>
          <p:cNvPr id="34" name="Text 32"/>
          <p:cNvSpPr/>
          <p:nvPr/>
        </p:nvSpPr>
        <p:spPr>
          <a:xfrm>
            <a:off x="8046720" y="1371600"/>
            <a:ext cx="3383280" cy="274320"/>
          </a:xfrm>
          <a:prstGeom prst="rect">
            <a:avLst/>
          </a:prstGeom>
          <a:noFill/>
          <a:ln/>
        </p:spPr>
        <p:txBody>
          <a:bodyPr wrap="square" rtlCol="0" anchor="ctr"/>
          <a:lstStyle/>
          <a:p>
            <a:pPr indent="0" marL="0">
              <a:buNone/>
            </a:pPr>
            <a:r>
              <a:rPr lang="en-US" sz="1100" b="1" dirty="0">
                <a:solidFill>
                  <a:srgbClr val="1A2B4A"/>
                </a:solidFill>
                <a:latin typeface="Arial" pitchFamily="34" charset="0"/>
                <a:ea typeface="Arial" pitchFamily="34" charset="-122"/>
                <a:cs typeface="Arial" pitchFamily="34" charset="-120"/>
              </a:rPr>
              <a:t>Safety Properties &amp; Frameworks</a:t>
            </a:r>
            <a:endParaRPr lang="en-US" sz="1100" dirty="0"/>
          </a:p>
        </p:txBody>
      </p:sp>
      <p:sp>
        <p:nvSpPr>
          <p:cNvPr id="35" name="Text 33"/>
          <p:cNvSpPr/>
          <p:nvPr/>
        </p:nvSpPr>
        <p:spPr>
          <a:xfrm>
            <a:off x="8046720" y="1691640"/>
            <a:ext cx="3383280" cy="164592"/>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Safety properties: 14</a:t>
            </a:r>
            <a:endParaRPr lang="en-US" sz="800" dirty="0"/>
          </a:p>
        </p:txBody>
      </p:sp>
      <p:sp>
        <p:nvSpPr>
          <p:cNvPr id="36" name="Text 34"/>
          <p:cNvSpPr/>
          <p:nvPr/>
        </p:nvSpPr>
        <p:spPr>
          <a:xfrm>
            <a:off x="8046720" y="1865376"/>
            <a:ext cx="3383280" cy="164592"/>
          </a:xfrm>
          <a:prstGeom prst="rect">
            <a:avLst/>
          </a:prstGeom>
          <a:noFill/>
          <a:ln/>
        </p:spPr>
        <p:txBody>
          <a:bodyPr wrap="square" rtlCol="0" anchor="ctr"/>
          <a:lstStyle/>
          <a:p>
            <a:pPr indent="0" marL="0">
              <a:buNone/>
            </a:pPr>
            <a:r>
              <a:rPr lang="en-US" sz="800" dirty="0">
                <a:solidFill>
                  <a:srgbClr val="4A4A4A"/>
                </a:solidFill>
                <a:latin typeface="Arial" pitchFamily="34" charset="0"/>
                <a:ea typeface="Arial" pitchFamily="34" charset="-122"/>
                <a:cs typeface="Arial" pitchFamily="34" charset="-120"/>
              </a:rPr>
              <a:t>  Secret leakage: 5 (SP001-SP005)</a:t>
            </a:r>
            <a:endParaRPr lang="en-US" sz="800" dirty="0"/>
          </a:p>
        </p:txBody>
      </p:sp>
      <p:sp>
        <p:nvSpPr>
          <p:cNvPr id="37" name="Text 35"/>
          <p:cNvSpPr/>
          <p:nvPr/>
        </p:nvSpPr>
        <p:spPr>
          <a:xfrm>
            <a:off x="8046720" y="2039112"/>
            <a:ext cx="3383280" cy="164592"/>
          </a:xfrm>
          <a:prstGeom prst="rect">
            <a:avLst/>
          </a:prstGeom>
          <a:noFill/>
          <a:ln/>
        </p:spPr>
        <p:txBody>
          <a:bodyPr wrap="square" rtlCol="0" anchor="ctr"/>
          <a:lstStyle/>
          <a:p>
            <a:pPr indent="0" marL="0">
              <a:buNone/>
            </a:pPr>
            <a:r>
              <a:rPr lang="en-US" sz="800" dirty="0">
                <a:solidFill>
                  <a:srgbClr val="4A4A4A"/>
                </a:solidFill>
                <a:latin typeface="Arial" pitchFamily="34" charset="0"/>
                <a:ea typeface="Arial" pitchFamily="34" charset="-122"/>
                <a:cs typeface="Arial" pitchFamily="34" charset="-120"/>
              </a:rPr>
              <a:t>  Injection: 2 (SP010-SP011)</a:t>
            </a:r>
            <a:endParaRPr lang="en-US" sz="800" dirty="0"/>
          </a:p>
        </p:txBody>
      </p:sp>
      <p:sp>
        <p:nvSpPr>
          <p:cNvPr id="38" name="Text 36"/>
          <p:cNvSpPr/>
          <p:nvPr/>
        </p:nvSpPr>
        <p:spPr>
          <a:xfrm>
            <a:off x="8046720" y="2212848"/>
            <a:ext cx="3383280" cy="164592"/>
          </a:xfrm>
          <a:prstGeom prst="rect">
            <a:avLst/>
          </a:prstGeom>
          <a:noFill/>
          <a:ln/>
        </p:spPr>
        <p:txBody>
          <a:bodyPr wrap="square" rtlCol="0" anchor="ctr"/>
          <a:lstStyle/>
          <a:p>
            <a:pPr indent="0" marL="0">
              <a:buNone/>
            </a:pPr>
            <a:r>
              <a:rPr lang="en-US" sz="800" dirty="0">
                <a:solidFill>
                  <a:srgbClr val="4A4A4A"/>
                </a:solidFill>
                <a:latin typeface="Arial" pitchFamily="34" charset="0"/>
                <a:ea typeface="Arial" pitchFamily="34" charset="-122"/>
                <a:cs typeface="Arial" pitchFamily="34" charset="-120"/>
              </a:rPr>
              <a:t>  Prompt extraction: 2 (SP020-SP021)</a:t>
            </a:r>
            <a:endParaRPr lang="en-US" sz="800" dirty="0"/>
          </a:p>
        </p:txBody>
      </p:sp>
      <p:sp>
        <p:nvSpPr>
          <p:cNvPr id="39" name="Text 37"/>
          <p:cNvSpPr/>
          <p:nvPr/>
        </p:nvSpPr>
        <p:spPr>
          <a:xfrm>
            <a:off x="8046720" y="2386584"/>
            <a:ext cx="3383280" cy="164592"/>
          </a:xfrm>
          <a:prstGeom prst="rect">
            <a:avLst/>
          </a:prstGeom>
          <a:noFill/>
          <a:ln/>
        </p:spPr>
        <p:txBody>
          <a:bodyPr wrap="square" rtlCol="0" anchor="ctr"/>
          <a:lstStyle/>
          <a:p>
            <a:pPr indent="0" marL="0">
              <a:buNone/>
            </a:pPr>
            <a:r>
              <a:rPr lang="en-US" sz="800" dirty="0">
                <a:solidFill>
                  <a:srgbClr val="4A4A4A"/>
                </a:solidFill>
                <a:latin typeface="Arial" pitchFamily="34" charset="0"/>
                <a:ea typeface="Arial" pitchFamily="34" charset="-122"/>
                <a:cs typeface="Arial" pitchFamily="34" charset="-120"/>
              </a:rPr>
              <a:t>  Behavioral: 2 (SP030, SP040)</a:t>
            </a:r>
            <a:endParaRPr lang="en-US" sz="800" dirty="0"/>
          </a:p>
        </p:txBody>
      </p:sp>
      <p:sp>
        <p:nvSpPr>
          <p:cNvPr id="40" name="Text 38"/>
          <p:cNvSpPr/>
          <p:nvPr/>
        </p:nvSpPr>
        <p:spPr>
          <a:xfrm>
            <a:off x="8046720" y="2560320"/>
            <a:ext cx="3383280" cy="164592"/>
          </a:xfrm>
          <a:prstGeom prst="rect">
            <a:avLst/>
          </a:prstGeom>
          <a:noFill/>
          <a:ln/>
        </p:spPr>
        <p:txBody>
          <a:bodyPr wrap="square" rtlCol="0" anchor="ctr"/>
          <a:lstStyle/>
          <a:p>
            <a:pPr indent="0" marL="0">
              <a:buNone/>
            </a:pPr>
            <a:r>
              <a:rPr lang="en-US" sz="800" dirty="0">
                <a:solidFill>
                  <a:srgbClr val="4A4A4A"/>
                </a:solidFill>
                <a:latin typeface="Arial" pitchFamily="34" charset="0"/>
                <a:ea typeface="Arial" pitchFamily="34" charset="-122"/>
                <a:cs typeface="Arial" pitchFamily="34" charset="-120"/>
              </a:rPr>
              <a:t>  Performance: 2 (SP050-SP051)</a:t>
            </a:r>
            <a:endParaRPr lang="en-US" sz="800" dirty="0"/>
          </a:p>
        </p:txBody>
      </p:sp>
      <p:sp>
        <p:nvSpPr>
          <p:cNvPr id="41" name="Text 39"/>
          <p:cNvSpPr/>
          <p:nvPr/>
        </p:nvSpPr>
        <p:spPr>
          <a:xfrm>
            <a:off x="8046720" y="2734056"/>
            <a:ext cx="3383280" cy="164592"/>
          </a:xfrm>
          <a:prstGeom prst="rect">
            <a:avLst/>
          </a:prstGeom>
          <a:noFill/>
          <a:ln/>
        </p:spPr>
        <p:txBody>
          <a:bodyPr wrap="square" rtlCol="0" anchor="ctr"/>
          <a:lstStyle/>
          <a:p>
            <a:pPr indent="0" marL="0">
              <a:buNone/>
            </a:pPr>
            <a:r>
              <a:rPr lang="en-US" sz="800" dirty="0">
                <a:solidFill>
                  <a:srgbClr val="4A4A4A"/>
                </a:solidFill>
                <a:latin typeface="Arial" pitchFamily="34" charset="0"/>
                <a:ea typeface="Arial" pitchFamily="34" charset="-122"/>
                <a:cs typeface="Arial" pitchFamily="34" charset="-120"/>
              </a:rPr>
              <a:t>  Tool abuse: 1 (SP060)</a:t>
            </a:r>
            <a:endParaRPr lang="en-US" sz="800" dirty="0"/>
          </a:p>
        </p:txBody>
      </p:sp>
      <p:sp>
        <p:nvSpPr>
          <p:cNvPr id="42" name="Text 40"/>
          <p:cNvSpPr/>
          <p:nvPr/>
        </p:nvSpPr>
        <p:spPr>
          <a:xfrm>
            <a:off x="8046720" y="2907792"/>
            <a:ext cx="3383280" cy="164592"/>
          </a:xfrm>
          <a:prstGeom prst="rect">
            <a:avLst/>
          </a:prstGeom>
          <a:noFill/>
          <a:ln/>
        </p:spPr>
        <p:txBody>
          <a:bodyPr wrap="square" rtlCol="0" anchor="ctr"/>
          <a:lstStyle/>
          <a:p>
            <a:pPr indent="0" marL="0">
              <a:buNone/>
            </a:pPr>
            <a:endParaRPr lang="en-US" sz="800" dirty="0"/>
          </a:p>
        </p:txBody>
      </p:sp>
      <p:sp>
        <p:nvSpPr>
          <p:cNvPr id="43" name="Text 41"/>
          <p:cNvSpPr/>
          <p:nvPr/>
        </p:nvSpPr>
        <p:spPr>
          <a:xfrm>
            <a:off x="8046720" y="3081528"/>
            <a:ext cx="3383280" cy="164592"/>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Compliance frameworks: 13</a:t>
            </a:r>
            <a:endParaRPr lang="en-US" sz="800" dirty="0"/>
          </a:p>
        </p:txBody>
      </p:sp>
      <p:sp>
        <p:nvSpPr>
          <p:cNvPr id="44" name="Text 42"/>
          <p:cNvSpPr/>
          <p:nvPr/>
        </p:nvSpPr>
        <p:spPr>
          <a:xfrm>
            <a:off x="8046720" y="3255264"/>
            <a:ext cx="3383280" cy="164592"/>
          </a:xfrm>
          <a:prstGeom prst="rect">
            <a:avLst/>
          </a:prstGeom>
          <a:noFill/>
          <a:ln/>
        </p:spPr>
        <p:txBody>
          <a:bodyPr wrap="square" rtlCol="0" anchor="ctr"/>
          <a:lstStyle/>
          <a:p>
            <a:pPr indent="0" marL="0">
              <a:buNone/>
            </a:pPr>
            <a:r>
              <a:rPr lang="en-US" sz="800" dirty="0">
                <a:solidFill>
                  <a:srgbClr val="4A4A4A"/>
                </a:solidFill>
                <a:latin typeface="Arial" pitchFamily="34" charset="0"/>
                <a:ea typeface="Arial" pitchFamily="34" charset="-122"/>
                <a:cs typeface="Arial" pitchFamily="34" charset="-120"/>
              </a:rPr>
              <a:t>  SOC2, ISO27001, ISO42001, GDPR</a:t>
            </a:r>
            <a:endParaRPr lang="en-US" sz="800" dirty="0"/>
          </a:p>
        </p:txBody>
      </p:sp>
      <p:sp>
        <p:nvSpPr>
          <p:cNvPr id="45" name="Text 43"/>
          <p:cNvSpPr/>
          <p:nvPr/>
        </p:nvSpPr>
        <p:spPr>
          <a:xfrm>
            <a:off x="8046720" y="3429000"/>
            <a:ext cx="3383280" cy="164592"/>
          </a:xfrm>
          <a:prstGeom prst="rect">
            <a:avLst/>
          </a:prstGeom>
          <a:noFill/>
          <a:ln/>
        </p:spPr>
        <p:txBody>
          <a:bodyPr wrap="square" rtlCol="0" anchor="ctr"/>
          <a:lstStyle/>
          <a:p>
            <a:pPr indent="0" marL="0">
              <a:buNone/>
            </a:pPr>
            <a:r>
              <a:rPr lang="en-US" sz="800" dirty="0">
                <a:solidFill>
                  <a:srgbClr val="4A4A4A"/>
                </a:solidFill>
                <a:latin typeface="Arial" pitchFamily="34" charset="0"/>
                <a:ea typeface="Arial" pitchFamily="34" charset="-122"/>
                <a:cs typeface="Arial" pitchFamily="34" charset="-120"/>
              </a:rPr>
              <a:t>  HIPAA, OWASP, CWE, NIST AI RMF</a:t>
            </a:r>
            <a:endParaRPr lang="en-US" sz="800" dirty="0"/>
          </a:p>
        </p:txBody>
      </p:sp>
      <p:sp>
        <p:nvSpPr>
          <p:cNvPr id="46" name="Text 44"/>
          <p:cNvSpPr/>
          <p:nvPr/>
        </p:nvSpPr>
        <p:spPr>
          <a:xfrm>
            <a:off x="8046720" y="3602736"/>
            <a:ext cx="3383280" cy="164592"/>
          </a:xfrm>
          <a:prstGeom prst="rect">
            <a:avLst/>
          </a:prstGeom>
          <a:noFill/>
          <a:ln/>
        </p:spPr>
        <p:txBody>
          <a:bodyPr wrap="square" rtlCol="0" anchor="ctr"/>
          <a:lstStyle/>
          <a:p>
            <a:pPr indent="0" marL="0">
              <a:buNone/>
            </a:pPr>
            <a:r>
              <a:rPr lang="en-US" sz="800" dirty="0">
                <a:solidFill>
                  <a:srgbClr val="4A4A4A"/>
                </a:solidFill>
                <a:latin typeface="Arial" pitchFamily="34" charset="0"/>
                <a:ea typeface="Arial" pitchFamily="34" charset="-122"/>
                <a:cs typeface="Arial" pitchFamily="34" charset="-120"/>
              </a:rPr>
              <a:t>  EU AI Act, CCPA, NYC LL144, CO AI, FTC</a:t>
            </a:r>
            <a:endParaRPr lang="en-US" sz="800" dirty="0"/>
          </a:p>
        </p:txBody>
      </p:sp>
      <p:sp>
        <p:nvSpPr>
          <p:cNvPr id="47" name="Shape 45"/>
          <p:cNvSpPr/>
          <p:nvPr/>
        </p:nvSpPr>
        <p:spPr>
          <a:xfrm>
            <a:off x="548640" y="3749040"/>
            <a:ext cx="11064240" cy="2286000"/>
          </a:xfrm>
          <a:prstGeom prst="rect">
            <a:avLst/>
          </a:prstGeom>
          <a:solidFill>
            <a:srgbClr val="F5F5F5"/>
          </a:solidFill>
          <a:ln w="6350">
            <a:solidFill>
              <a:srgbClr val="D0D0D0"/>
            </a:solidFill>
            <a:prstDash val="solid"/>
          </a:ln>
        </p:spPr>
      </p:sp>
      <p:sp>
        <p:nvSpPr>
          <p:cNvPr id="48" name="Text 46"/>
          <p:cNvSpPr/>
          <p:nvPr/>
        </p:nvSpPr>
        <p:spPr>
          <a:xfrm>
            <a:off x="731520" y="3840480"/>
            <a:ext cx="10698480" cy="274320"/>
          </a:xfrm>
          <a:prstGeom prst="rect">
            <a:avLst/>
          </a:prstGeom>
          <a:noFill/>
          <a:ln/>
        </p:spPr>
        <p:txBody>
          <a:bodyPr wrap="square" rtlCol="0" anchor="ctr"/>
          <a:lstStyle/>
          <a:p>
            <a:pPr indent="0" marL="0">
              <a:buNone/>
            </a:pPr>
            <a:r>
              <a:rPr lang="en-US" sz="1100" b="1" dirty="0">
                <a:solidFill>
                  <a:srgbClr val="1A2B4A"/>
                </a:solidFill>
                <a:latin typeface="Arial" pitchFamily="34" charset="0"/>
                <a:ea typeface="Arial" pitchFamily="34" charset="-122"/>
                <a:cs typeface="Arial" pitchFamily="34" charset="-120"/>
              </a:rPr>
              <a:t>API Surface</a:t>
            </a:r>
            <a:endParaRPr lang="en-US" sz="1100" dirty="0"/>
          </a:p>
        </p:txBody>
      </p:sp>
      <p:sp>
        <p:nvSpPr>
          <p:cNvPr id="49" name="Text 47"/>
          <p:cNvSpPr/>
          <p:nvPr/>
        </p:nvSpPr>
        <p:spPr>
          <a:xfrm>
            <a:off x="731520" y="4206240"/>
            <a:ext cx="1645920" cy="228600"/>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Static Security</a:t>
            </a:r>
            <a:endParaRPr lang="en-US" sz="800" dirty="0"/>
          </a:p>
        </p:txBody>
      </p:sp>
      <p:sp>
        <p:nvSpPr>
          <p:cNvPr id="50" name="Text 48"/>
          <p:cNvSpPr/>
          <p:nvPr/>
        </p:nvSpPr>
        <p:spPr>
          <a:xfrm>
            <a:off x="2377440" y="4206240"/>
            <a:ext cx="914400" cy="228600"/>
          </a:xfrm>
          <a:prstGeom prst="rect">
            <a:avLst/>
          </a:prstGeom>
          <a:noFill/>
          <a:ln/>
        </p:spPr>
        <p:txBody>
          <a:bodyPr wrap="square" rtlCol="0" anchor="ctr"/>
          <a:lstStyle/>
          <a:p>
            <a:pPr indent="0" marL="0">
              <a:buNone/>
            </a:pPr>
            <a:r>
              <a:rPr lang="en-US" sz="800" dirty="0">
                <a:solidFill>
                  <a:srgbClr val="1A2B4A"/>
                </a:solidFill>
                <a:latin typeface="Arial" pitchFamily="34" charset="0"/>
                <a:ea typeface="Arial" pitchFamily="34" charset="-122"/>
                <a:cs typeface="Arial" pitchFamily="34" charset="-120"/>
              </a:rPr>
              <a:t>31 routes</a:t>
            </a:r>
            <a:endParaRPr lang="en-US" sz="800" dirty="0"/>
          </a:p>
        </p:txBody>
      </p:sp>
      <p:sp>
        <p:nvSpPr>
          <p:cNvPr id="51" name="Text 49"/>
          <p:cNvSpPr/>
          <p:nvPr/>
        </p:nvSpPr>
        <p:spPr>
          <a:xfrm>
            <a:off x="731520" y="4434840"/>
            <a:ext cx="2560320" cy="182880"/>
          </a:xfrm>
          <a:prstGeom prst="rect">
            <a:avLst/>
          </a:prstGeom>
          <a:noFill/>
          <a:ln/>
        </p:spPr>
        <p:txBody>
          <a:bodyPr wrap="square" rtlCol="0" anchor="ctr"/>
          <a:lstStyle/>
          <a:p>
            <a:pPr indent="0" marL="0">
              <a:buNone/>
            </a:pPr>
            <a:r>
              <a:rPr lang="en-US" sz="700" dirty="0">
                <a:solidFill>
                  <a:srgbClr val="4A4A4A"/>
                </a:solidFill>
                <a:latin typeface="Arial" pitchFamily="34" charset="0"/>
                <a:ea typeface="Arial" pitchFamily="34" charset="-122"/>
                <a:cs typeface="Arial" pitchFamily="34" charset="-120"/>
              </a:rPr>
              <a:t>/api/ai-security/</a:t>
            </a:r>
            <a:endParaRPr lang="en-US" sz="700" dirty="0"/>
          </a:p>
        </p:txBody>
      </p:sp>
      <p:sp>
        <p:nvSpPr>
          <p:cNvPr id="52" name="Text 50"/>
          <p:cNvSpPr/>
          <p:nvPr/>
        </p:nvSpPr>
        <p:spPr>
          <a:xfrm>
            <a:off x="3474720" y="4206240"/>
            <a:ext cx="1645920" cy="228600"/>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Runtime Security</a:t>
            </a:r>
            <a:endParaRPr lang="en-US" sz="800" dirty="0"/>
          </a:p>
        </p:txBody>
      </p:sp>
      <p:sp>
        <p:nvSpPr>
          <p:cNvPr id="53" name="Text 51"/>
          <p:cNvSpPr/>
          <p:nvPr/>
        </p:nvSpPr>
        <p:spPr>
          <a:xfrm>
            <a:off x="5120640" y="4206240"/>
            <a:ext cx="914400" cy="228600"/>
          </a:xfrm>
          <a:prstGeom prst="rect">
            <a:avLst/>
          </a:prstGeom>
          <a:noFill/>
          <a:ln/>
        </p:spPr>
        <p:txBody>
          <a:bodyPr wrap="square" rtlCol="0" anchor="ctr"/>
          <a:lstStyle/>
          <a:p>
            <a:pPr indent="0" marL="0">
              <a:buNone/>
            </a:pPr>
            <a:r>
              <a:rPr lang="en-US" sz="800" dirty="0">
                <a:solidFill>
                  <a:srgbClr val="1A2B4A"/>
                </a:solidFill>
                <a:latin typeface="Arial" pitchFamily="34" charset="0"/>
                <a:ea typeface="Arial" pitchFamily="34" charset="-122"/>
                <a:cs typeface="Arial" pitchFamily="34" charset="-120"/>
              </a:rPr>
              <a:t>22 routes</a:t>
            </a:r>
            <a:endParaRPr lang="en-US" sz="800" dirty="0"/>
          </a:p>
        </p:txBody>
      </p:sp>
      <p:sp>
        <p:nvSpPr>
          <p:cNvPr id="54" name="Text 52"/>
          <p:cNvSpPr/>
          <p:nvPr/>
        </p:nvSpPr>
        <p:spPr>
          <a:xfrm>
            <a:off x="3474720" y="4434840"/>
            <a:ext cx="2560320" cy="182880"/>
          </a:xfrm>
          <a:prstGeom prst="rect">
            <a:avLst/>
          </a:prstGeom>
          <a:noFill/>
          <a:ln/>
        </p:spPr>
        <p:txBody>
          <a:bodyPr wrap="square" rtlCol="0" anchor="ctr"/>
          <a:lstStyle/>
          <a:p>
            <a:pPr indent="0" marL="0">
              <a:buNone/>
            </a:pPr>
            <a:r>
              <a:rPr lang="en-US" sz="700" dirty="0">
                <a:solidFill>
                  <a:srgbClr val="4A4A4A"/>
                </a:solidFill>
                <a:latin typeface="Arial" pitchFamily="34" charset="0"/>
                <a:ea typeface="Arial" pitchFamily="34" charset="-122"/>
                <a:cs typeface="Arial" pitchFamily="34" charset="-120"/>
              </a:rPr>
              <a:t>/api/runtime-security/</a:t>
            </a:r>
            <a:endParaRPr lang="en-US" sz="700" dirty="0"/>
          </a:p>
        </p:txBody>
      </p:sp>
      <p:sp>
        <p:nvSpPr>
          <p:cNvPr id="55" name="Text 53"/>
          <p:cNvSpPr/>
          <p:nvPr/>
        </p:nvSpPr>
        <p:spPr>
          <a:xfrm>
            <a:off x="6217920" y="4206240"/>
            <a:ext cx="1645920" cy="228600"/>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Audit Orchestrator</a:t>
            </a:r>
            <a:endParaRPr lang="en-US" sz="800" dirty="0"/>
          </a:p>
        </p:txBody>
      </p:sp>
      <p:sp>
        <p:nvSpPr>
          <p:cNvPr id="56" name="Text 54"/>
          <p:cNvSpPr/>
          <p:nvPr/>
        </p:nvSpPr>
        <p:spPr>
          <a:xfrm>
            <a:off x="7863840" y="4206240"/>
            <a:ext cx="914400" cy="228600"/>
          </a:xfrm>
          <a:prstGeom prst="rect">
            <a:avLst/>
          </a:prstGeom>
          <a:noFill/>
          <a:ln/>
        </p:spPr>
        <p:txBody>
          <a:bodyPr wrap="square" rtlCol="0" anchor="ctr"/>
          <a:lstStyle/>
          <a:p>
            <a:pPr indent="0" marL="0">
              <a:buNone/>
            </a:pPr>
            <a:r>
              <a:rPr lang="en-US" sz="800" dirty="0">
                <a:solidFill>
                  <a:srgbClr val="1A2B4A"/>
                </a:solidFill>
                <a:latin typeface="Arial" pitchFamily="34" charset="0"/>
                <a:ea typeface="Arial" pitchFamily="34" charset="-122"/>
                <a:cs typeface="Arial" pitchFamily="34" charset="-120"/>
              </a:rPr>
              <a:t>12 routes</a:t>
            </a:r>
            <a:endParaRPr lang="en-US" sz="800" dirty="0"/>
          </a:p>
        </p:txBody>
      </p:sp>
      <p:sp>
        <p:nvSpPr>
          <p:cNvPr id="57" name="Text 55"/>
          <p:cNvSpPr/>
          <p:nvPr/>
        </p:nvSpPr>
        <p:spPr>
          <a:xfrm>
            <a:off x="6217920" y="4434840"/>
            <a:ext cx="2560320" cy="182880"/>
          </a:xfrm>
          <a:prstGeom prst="rect">
            <a:avLst/>
          </a:prstGeom>
          <a:noFill/>
          <a:ln/>
        </p:spPr>
        <p:txBody>
          <a:bodyPr wrap="square" rtlCol="0" anchor="ctr"/>
          <a:lstStyle/>
          <a:p>
            <a:pPr indent="0" marL="0">
              <a:buNone/>
            </a:pPr>
            <a:r>
              <a:rPr lang="en-US" sz="700" dirty="0">
                <a:solidFill>
                  <a:srgbClr val="4A4A4A"/>
                </a:solidFill>
                <a:latin typeface="Arial" pitchFamily="34" charset="0"/>
                <a:ea typeface="Arial" pitchFamily="34" charset="-122"/>
                <a:cs typeface="Arial" pitchFamily="34" charset="-120"/>
              </a:rPr>
              <a:t>/api/audit-orchestrator/</a:t>
            </a:r>
            <a:endParaRPr lang="en-US" sz="700" dirty="0"/>
          </a:p>
        </p:txBody>
      </p:sp>
      <p:sp>
        <p:nvSpPr>
          <p:cNvPr id="58" name="Text 56"/>
          <p:cNvSpPr/>
          <p:nvPr/>
        </p:nvSpPr>
        <p:spPr>
          <a:xfrm>
            <a:off x="8961120" y="4206240"/>
            <a:ext cx="1645920" cy="228600"/>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Compliance Twin</a:t>
            </a:r>
            <a:endParaRPr lang="en-US" sz="800" dirty="0"/>
          </a:p>
        </p:txBody>
      </p:sp>
      <p:sp>
        <p:nvSpPr>
          <p:cNvPr id="59" name="Text 57"/>
          <p:cNvSpPr/>
          <p:nvPr/>
        </p:nvSpPr>
        <p:spPr>
          <a:xfrm>
            <a:off x="10607040" y="4206240"/>
            <a:ext cx="914400" cy="228600"/>
          </a:xfrm>
          <a:prstGeom prst="rect">
            <a:avLst/>
          </a:prstGeom>
          <a:noFill/>
          <a:ln/>
        </p:spPr>
        <p:txBody>
          <a:bodyPr wrap="square" rtlCol="0" anchor="ctr"/>
          <a:lstStyle/>
          <a:p>
            <a:pPr indent="0" marL="0">
              <a:buNone/>
            </a:pPr>
            <a:r>
              <a:rPr lang="en-US" sz="800" dirty="0">
                <a:solidFill>
                  <a:srgbClr val="1A2B4A"/>
                </a:solidFill>
                <a:latin typeface="Arial" pitchFamily="34" charset="0"/>
                <a:ea typeface="Arial" pitchFamily="34" charset="-122"/>
                <a:cs typeface="Arial" pitchFamily="34" charset="-120"/>
              </a:rPr>
              <a:t>17 routes</a:t>
            </a:r>
            <a:endParaRPr lang="en-US" sz="800" dirty="0"/>
          </a:p>
        </p:txBody>
      </p:sp>
      <p:sp>
        <p:nvSpPr>
          <p:cNvPr id="60" name="Text 58"/>
          <p:cNvSpPr/>
          <p:nvPr/>
        </p:nvSpPr>
        <p:spPr>
          <a:xfrm>
            <a:off x="8961120" y="4434840"/>
            <a:ext cx="2560320" cy="182880"/>
          </a:xfrm>
          <a:prstGeom prst="rect">
            <a:avLst/>
          </a:prstGeom>
          <a:noFill/>
          <a:ln/>
        </p:spPr>
        <p:txBody>
          <a:bodyPr wrap="square" rtlCol="0" anchor="ctr"/>
          <a:lstStyle/>
          <a:p>
            <a:pPr indent="0" marL="0">
              <a:buNone/>
            </a:pPr>
            <a:r>
              <a:rPr lang="en-US" sz="700" dirty="0">
                <a:solidFill>
                  <a:srgbClr val="4A4A4A"/>
                </a:solidFill>
                <a:latin typeface="Arial" pitchFamily="34" charset="0"/>
                <a:ea typeface="Arial" pitchFamily="34" charset="-122"/>
                <a:cs typeface="Arial" pitchFamily="34" charset="-120"/>
              </a:rPr>
              <a:t>/api/compliance-twin/</a:t>
            </a:r>
            <a:endParaRPr lang="en-US" sz="700" dirty="0"/>
          </a:p>
        </p:txBody>
      </p:sp>
      <p:sp>
        <p:nvSpPr>
          <p:cNvPr id="61" name="Text 59"/>
          <p:cNvSpPr/>
          <p:nvPr/>
        </p:nvSpPr>
        <p:spPr>
          <a:xfrm>
            <a:off x="731520" y="4709160"/>
            <a:ext cx="1645920" cy="228600"/>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Kill Switch</a:t>
            </a:r>
            <a:endParaRPr lang="en-US" sz="800" dirty="0"/>
          </a:p>
        </p:txBody>
      </p:sp>
      <p:sp>
        <p:nvSpPr>
          <p:cNvPr id="62" name="Text 60"/>
          <p:cNvSpPr/>
          <p:nvPr/>
        </p:nvSpPr>
        <p:spPr>
          <a:xfrm>
            <a:off x="2377440" y="4709160"/>
            <a:ext cx="914400" cy="228600"/>
          </a:xfrm>
          <a:prstGeom prst="rect">
            <a:avLst/>
          </a:prstGeom>
          <a:noFill/>
          <a:ln/>
        </p:spPr>
        <p:txBody>
          <a:bodyPr wrap="square" rtlCol="0" anchor="ctr"/>
          <a:lstStyle/>
          <a:p>
            <a:pPr indent="0" marL="0">
              <a:buNone/>
            </a:pPr>
            <a:r>
              <a:rPr lang="en-US" sz="800" dirty="0">
                <a:solidFill>
                  <a:srgbClr val="1A2B4A"/>
                </a:solidFill>
                <a:latin typeface="Arial" pitchFamily="34" charset="0"/>
                <a:ea typeface="Arial" pitchFamily="34" charset="-122"/>
                <a:cs typeface="Arial" pitchFamily="34" charset="-120"/>
              </a:rPr>
              <a:t>19 routes</a:t>
            </a:r>
            <a:endParaRPr lang="en-US" sz="800" dirty="0"/>
          </a:p>
        </p:txBody>
      </p:sp>
      <p:sp>
        <p:nvSpPr>
          <p:cNvPr id="63" name="Text 61"/>
          <p:cNvSpPr/>
          <p:nvPr/>
        </p:nvSpPr>
        <p:spPr>
          <a:xfrm>
            <a:off x="731520" y="4937760"/>
            <a:ext cx="2560320" cy="182880"/>
          </a:xfrm>
          <a:prstGeom prst="rect">
            <a:avLst/>
          </a:prstGeom>
          <a:noFill/>
          <a:ln/>
        </p:spPr>
        <p:txBody>
          <a:bodyPr wrap="square" rtlCol="0" anchor="ctr"/>
          <a:lstStyle/>
          <a:p>
            <a:pPr indent="0" marL="0">
              <a:buNone/>
            </a:pPr>
            <a:r>
              <a:rPr lang="en-US" sz="700" dirty="0">
                <a:solidFill>
                  <a:srgbClr val="4A4A4A"/>
                </a:solidFill>
                <a:latin typeface="Arial" pitchFamily="34" charset="0"/>
                <a:ea typeface="Arial" pitchFamily="34" charset="-122"/>
                <a:cs typeface="Arial" pitchFamily="34" charset="-120"/>
              </a:rPr>
              <a:t>/api/kill-switch/</a:t>
            </a:r>
            <a:endParaRPr lang="en-US" sz="700" dirty="0"/>
          </a:p>
        </p:txBody>
      </p:sp>
      <p:sp>
        <p:nvSpPr>
          <p:cNvPr id="64" name="Text 62"/>
          <p:cNvSpPr/>
          <p:nvPr/>
        </p:nvSpPr>
        <p:spPr>
          <a:xfrm>
            <a:off x="3474720" y="4709160"/>
            <a:ext cx="1645920" cy="228600"/>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Pipeline (Dashboard)</a:t>
            </a:r>
            <a:endParaRPr lang="en-US" sz="800" dirty="0"/>
          </a:p>
        </p:txBody>
      </p:sp>
      <p:sp>
        <p:nvSpPr>
          <p:cNvPr id="65" name="Text 63"/>
          <p:cNvSpPr/>
          <p:nvPr/>
        </p:nvSpPr>
        <p:spPr>
          <a:xfrm>
            <a:off x="5120640" y="4709160"/>
            <a:ext cx="914400" cy="228600"/>
          </a:xfrm>
          <a:prstGeom prst="rect">
            <a:avLst/>
          </a:prstGeom>
          <a:noFill/>
          <a:ln/>
        </p:spPr>
        <p:txBody>
          <a:bodyPr wrap="square" rtlCol="0" anchor="ctr"/>
          <a:lstStyle/>
          <a:p>
            <a:pPr indent="0" marL="0">
              <a:buNone/>
            </a:pPr>
            <a:r>
              <a:rPr lang="en-US" sz="800" dirty="0">
                <a:solidFill>
                  <a:srgbClr val="1A2B4A"/>
                </a:solidFill>
                <a:latin typeface="Arial" pitchFamily="34" charset="0"/>
                <a:ea typeface="Arial" pitchFamily="34" charset="-122"/>
                <a:cs typeface="Arial" pitchFamily="34" charset="-120"/>
              </a:rPr>
              <a:t>12 routes</a:t>
            </a:r>
            <a:endParaRPr lang="en-US" sz="800" dirty="0"/>
          </a:p>
        </p:txBody>
      </p:sp>
      <p:sp>
        <p:nvSpPr>
          <p:cNvPr id="66" name="Text 64"/>
          <p:cNvSpPr/>
          <p:nvPr/>
        </p:nvSpPr>
        <p:spPr>
          <a:xfrm>
            <a:off x="3474720" y="4937760"/>
            <a:ext cx="2560320" cy="182880"/>
          </a:xfrm>
          <a:prstGeom prst="rect">
            <a:avLst/>
          </a:prstGeom>
          <a:noFill/>
          <a:ln/>
        </p:spPr>
        <p:txBody>
          <a:bodyPr wrap="square" rtlCol="0" anchor="ctr"/>
          <a:lstStyle/>
          <a:p>
            <a:pPr indent="0" marL="0">
              <a:buNone/>
            </a:pPr>
            <a:r>
              <a:rPr lang="en-US" sz="700" dirty="0">
                <a:solidFill>
                  <a:srgbClr val="4A4A4A"/>
                </a:solidFill>
                <a:latin typeface="Arial" pitchFamily="34" charset="0"/>
                <a:ea typeface="Arial" pitchFamily="34" charset="-122"/>
                <a:cs typeface="Arial" pitchFamily="34" charset="-120"/>
              </a:rPr>
              <a:t>/api/pipeline/</a:t>
            </a:r>
            <a:endParaRPr lang="en-US" sz="700" dirty="0"/>
          </a:p>
        </p:txBody>
      </p:sp>
      <p:sp>
        <p:nvSpPr>
          <p:cNvPr id="67" name="Text 65"/>
          <p:cNvSpPr/>
          <p:nvPr/>
        </p:nvSpPr>
        <p:spPr>
          <a:xfrm>
            <a:off x="6217920" y="4709160"/>
            <a:ext cx="1645920" cy="228600"/>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Pipeline (Enterprise V1)</a:t>
            </a:r>
            <a:endParaRPr lang="en-US" sz="800" dirty="0"/>
          </a:p>
        </p:txBody>
      </p:sp>
      <p:sp>
        <p:nvSpPr>
          <p:cNvPr id="68" name="Text 66"/>
          <p:cNvSpPr/>
          <p:nvPr/>
        </p:nvSpPr>
        <p:spPr>
          <a:xfrm>
            <a:off x="7863840" y="4709160"/>
            <a:ext cx="914400" cy="228600"/>
          </a:xfrm>
          <a:prstGeom prst="rect">
            <a:avLst/>
          </a:prstGeom>
          <a:noFill/>
          <a:ln/>
        </p:spPr>
        <p:txBody>
          <a:bodyPr wrap="square" rtlCol="0" anchor="ctr"/>
          <a:lstStyle/>
          <a:p>
            <a:pPr indent="0" marL="0">
              <a:buNone/>
            </a:pPr>
            <a:r>
              <a:rPr lang="en-US" sz="800" dirty="0">
                <a:solidFill>
                  <a:srgbClr val="1A2B4A"/>
                </a:solidFill>
                <a:latin typeface="Arial" pitchFamily="34" charset="0"/>
                <a:ea typeface="Arial" pitchFamily="34" charset="-122"/>
                <a:cs typeface="Arial" pitchFamily="34" charset="-120"/>
              </a:rPr>
              <a:t>2 routes</a:t>
            </a:r>
            <a:endParaRPr lang="en-US" sz="800" dirty="0"/>
          </a:p>
        </p:txBody>
      </p:sp>
      <p:sp>
        <p:nvSpPr>
          <p:cNvPr id="69" name="Text 67"/>
          <p:cNvSpPr/>
          <p:nvPr/>
        </p:nvSpPr>
        <p:spPr>
          <a:xfrm>
            <a:off x="6217920" y="4937760"/>
            <a:ext cx="2560320" cy="182880"/>
          </a:xfrm>
          <a:prstGeom prst="rect">
            <a:avLst/>
          </a:prstGeom>
          <a:noFill/>
          <a:ln/>
        </p:spPr>
        <p:txBody>
          <a:bodyPr wrap="square" rtlCol="0" anchor="ctr"/>
          <a:lstStyle/>
          <a:p>
            <a:pPr indent="0" marL="0">
              <a:buNone/>
            </a:pPr>
            <a:r>
              <a:rPr lang="en-US" sz="700" dirty="0">
                <a:solidFill>
                  <a:srgbClr val="4A4A4A"/>
                </a:solidFill>
                <a:latin typeface="Arial" pitchFamily="34" charset="0"/>
                <a:ea typeface="Arial" pitchFamily="34" charset="-122"/>
                <a:cs typeface="Arial" pitchFamily="34" charset="-120"/>
              </a:rPr>
              <a:t>/api/v1/pipeline/</a:t>
            </a:r>
            <a:endParaRPr lang="en-US" sz="700" dirty="0"/>
          </a:p>
        </p:txBody>
      </p:sp>
      <p:sp>
        <p:nvSpPr>
          <p:cNvPr id="70" name="Text 68"/>
          <p:cNvSpPr/>
          <p:nvPr/>
        </p:nvSpPr>
        <p:spPr>
          <a:xfrm>
            <a:off x="731520" y="5486400"/>
            <a:ext cx="4572000" cy="274320"/>
          </a:xfrm>
          <a:prstGeom prst="rect">
            <a:avLst/>
          </a:prstGeom>
          <a:noFill/>
          <a:ln/>
        </p:spPr>
        <p:txBody>
          <a:bodyPr wrap="square" rtlCol="0" anchor="ctr"/>
          <a:lstStyle/>
          <a:p>
            <a:pPr indent="0" marL="0">
              <a:buNone/>
            </a:pPr>
            <a:r>
              <a:rPr lang="en-US" sz="1000" b="1" dirty="0">
                <a:solidFill>
                  <a:srgbClr val="1A2B4A"/>
                </a:solidFill>
                <a:latin typeface="Arial" pitchFamily="34" charset="0"/>
                <a:ea typeface="Arial" pitchFamily="34" charset="-122"/>
                <a:cs typeface="Arial" pitchFamily="34" charset="-120"/>
              </a:rPr>
              <a:t>Total API routes: 115</a:t>
            </a:r>
            <a:endParaRPr lang="en-US" sz="1000" dirty="0"/>
          </a:p>
        </p:txBody>
      </p:sp>
      <p:sp>
        <p:nvSpPr>
          <p:cNvPr id="71" name="Text 69"/>
          <p:cNvSpPr/>
          <p:nvPr/>
        </p:nvSpPr>
        <p:spPr>
          <a:xfrm>
            <a:off x="5029200" y="5486400"/>
            <a:ext cx="6400800" cy="274320"/>
          </a:xfrm>
          <a:prstGeom prst="rect">
            <a:avLst/>
          </a:prstGeom>
          <a:noFill/>
          <a:ln/>
        </p:spPr>
        <p:txBody>
          <a:bodyPr wrap="square" rtlCol="0" anchor="ctr"/>
          <a:lstStyle/>
          <a:p>
            <a:pPr indent="0" marL="0">
              <a:buNone/>
            </a:pPr>
            <a:r>
              <a:rPr lang="en-US" sz="900" dirty="0">
                <a:solidFill>
                  <a:srgbClr val="4A4A4A"/>
                </a:solidFill>
                <a:latin typeface="Arial" pitchFamily="34" charset="0"/>
                <a:ea typeface="Arial" pitchFamily="34" charset="-122"/>
                <a:cs typeface="Arial" pitchFamily="34" charset="-120"/>
              </a:rPr>
              <a:t>Jurisdictions: 6  ·  Pipeline nodes: 6  ·  Seed rules: 23</a:t>
            </a:r>
            <a:endParaRPr lang="en-US" sz="900" dirty="0"/>
          </a:p>
        </p:txBody>
      </p:sp>
      <p:sp>
        <p:nvSpPr>
          <p:cNvPr id="72" name="Shape 70"/>
          <p:cNvSpPr/>
          <p:nvPr/>
        </p:nvSpPr>
        <p:spPr>
          <a:xfrm>
            <a:off x="457200" y="6473952"/>
            <a:ext cx="11277295" cy="0"/>
          </a:xfrm>
          <a:prstGeom prst="line">
            <a:avLst/>
          </a:prstGeom>
          <a:noFill/>
          <a:ln w="6350">
            <a:solidFill>
              <a:srgbClr val="CCCCCC"/>
            </a:solidFill>
            <a:prstDash val="solid"/>
          </a:ln>
        </p:spPr>
      </p:sp>
      <p:sp>
        <p:nvSpPr>
          <p:cNvPr id="73" name="Text 71"/>
          <p:cNvSpPr/>
          <p:nvPr/>
        </p:nvSpPr>
        <p:spPr>
          <a:xfrm>
            <a:off x="457200" y="6537960"/>
            <a:ext cx="7315200" cy="228600"/>
          </a:xfrm>
          <a:prstGeom prst="rect">
            <a:avLst/>
          </a:prstGeom>
          <a:noFill/>
          <a:ln/>
        </p:spPr>
        <p:txBody>
          <a:bodyPr wrap="square" rtlCol="0" anchor="ctr"/>
          <a:lstStyle/>
          <a:p>
            <a:pPr indent="0" marL="0">
              <a:buNone/>
            </a:pPr>
            <a:r>
              <a:rPr lang="en-US" sz="800" dirty="0">
                <a:solidFill>
                  <a:srgbClr val="6B6B6B"/>
                </a:solidFill>
                <a:latin typeface="Arial" pitchFamily="34" charset="0"/>
                <a:ea typeface="Arial" pitchFamily="34" charset="-122"/>
                <a:cs typeface="Arial" pitchFamily="34" charset="-120"/>
              </a:rPr>
              <a:t>HAIEC  ·  Confidential Discussion Brief  ·  14/15</a:t>
            </a:r>
            <a:endParaRPr lang="en-US" sz="800" dirty="0"/>
          </a:p>
        </p:txBody>
      </p:sp>
      <p:sp>
        <p:nvSpPr>
          <p:cNvPr id="74" name="Text 72"/>
          <p:cNvSpPr/>
          <p:nvPr/>
        </p:nvSpPr>
        <p:spPr>
          <a:xfrm>
            <a:off x="8991295" y="6537960"/>
            <a:ext cx="2743200" cy="228600"/>
          </a:xfrm>
          <a:prstGeom prst="rect">
            <a:avLst/>
          </a:prstGeom>
          <a:noFill/>
          <a:ln/>
        </p:spPr>
        <p:txBody>
          <a:bodyPr wrap="square" rtlCol="0" anchor="ctr"/>
          <a:lstStyle/>
          <a:p>
            <a:pPr algn="r" indent="0" marL="0">
              <a:buNone/>
            </a:pPr>
            <a:r>
              <a:rPr lang="en-US" sz="800" dirty="0">
                <a:solidFill>
                  <a:srgbClr val="6B6B6B"/>
                </a:solidFill>
                <a:latin typeface="Arial" pitchFamily="34" charset="0"/>
                <a:ea typeface="Arial" pitchFamily="34" charset="-122"/>
                <a:cs typeface="Arial" pitchFamily="34" charset="-120"/>
              </a:rPr>
              <a:t>v1.0  ·  2026-07-31</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57200"/>
            <a:ext cx="11277295" cy="548640"/>
          </a:xfrm>
          <a:prstGeom prst="rect">
            <a:avLst/>
          </a:prstGeom>
          <a:noFill/>
          <a:ln/>
        </p:spPr>
        <p:txBody>
          <a:bodyPr wrap="square" rtlCol="0" anchor="ctr"/>
          <a:lstStyle/>
          <a:p>
            <a:pPr algn="l" indent="0" marL="0">
              <a:buNone/>
            </a:pPr>
            <a:r>
              <a:rPr lang="en-US" sz="2200" b="1" dirty="0">
                <a:solidFill>
                  <a:srgbClr val="1A2B4A"/>
                </a:solidFill>
                <a:latin typeface="Arial" pitchFamily="34" charset="0"/>
                <a:ea typeface="Arial" pitchFamily="34" charset="-122"/>
                <a:cs typeface="Arial" pitchFamily="34" charset="-120"/>
              </a:rPr>
              <a:t>Appendix C: Evidence Trust Model</a:t>
            </a:r>
            <a:endParaRPr lang="en-US" sz="2200" dirty="0"/>
          </a:p>
        </p:txBody>
      </p:sp>
      <p:sp>
        <p:nvSpPr>
          <p:cNvPr id="3" name="Shape 1"/>
          <p:cNvSpPr/>
          <p:nvPr/>
        </p:nvSpPr>
        <p:spPr>
          <a:xfrm>
            <a:off x="457200" y="1051560"/>
            <a:ext cx="11277295" cy="0"/>
          </a:xfrm>
          <a:prstGeom prst="line">
            <a:avLst/>
          </a:prstGeom>
          <a:noFill/>
          <a:ln w="12700">
            <a:solidFill>
              <a:srgbClr val="1A2B4A"/>
            </a:solidFill>
            <a:prstDash val="solid"/>
          </a:ln>
        </p:spPr>
      </p:sp>
      <p:sp>
        <p:nvSpPr>
          <p:cNvPr id="4" name="Shape 2"/>
          <p:cNvSpPr/>
          <p:nvPr/>
        </p:nvSpPr>
        <p:spPr>
          <a:xfrm>
            <a:off x="548640" y="1097280"/>
            <a:ext cx="11064240" cy="2286000"/>
          </a:xfrm>
          <a:prstGeom prst="rect">
            <a:avLst/>
          </a:prstGeom>
          <a:solidFill>
            <a:srgbClr val="F5F5F5"/>
          </a:solidFill>
          <a:ln w="6350">
            <a:solidFill>
              <a:srgbClr val="D0D0D0"/>
            </a:solidFill>
            <a:prstDash val="solid"/>
          </a:ln>
        </p:spPr>
      </p:sp>
      <p:sp>
        <p:nvSpPr>
          <p:cNvPr id="5" name="Text 3"/>
          <p:cNvSpPr/>
          <p:nvPr/>
        </p:nvSpPr>
        <p:spPr>
          <a:xfrm>
            <a:off x="731520" y="1188720"/>
            <a:ext cx="10698480" cy="274320"/>
          </a:xfrm>
          <a:prstGeom prst="rect">
            <a:avLst/>
          </a:prstGeom>
          <a:noFill/>
          <a:ln/>
        </p:spPr>
        <p:txBody>
          <a:bodyPr wrap="square" rtlCol="0" anchor="ctr"/>
          <a:lstStyle/>
          <a:p>
            <a:pPr indent="0" marL="0">
              <a:buNone/>
            </a:pPr>
            <a:r>
              <a:rPr lang="en-US" sz="1200" b="1" dirty="0">
                <a:solidFill>
                  <a:srgbClr val="1A2B4A"/>
                </a:solidFill>
                <a:latin typeface="Arial" pitchFamily="34" charset="0"/>
                <a:ea typeface="Arial" pitchFamily="34" charset="-122"/>
                <a:cs typeface="Arial" pitchFamily="34" charset="-120"/>
              </a:rPr>
              <a:t>Evidence Integrity Chain</a:t>
            </a:r>
            <a:endParaRPr lang="en-US" sz="1200" dirty="0"/>
          </a:p>
        </p:txBody>
      </p:sp>
      <p:sp>
        <p:nvSpPr>
          <p:cNvPr id="6" name="Shape 4"/>
          <p:cNvSpPr/>
          <p:nvPr/>
        </p:nvSpPr>
        <p:spPr>
          <a:xfrm>
            <a:off x="731520" y="1554480"/>
            <a:ext cx="73152" cy="365760"/>
          </a:xfrm>
          <a:prstGeom prst="rect">
            <a:avLst/>
          </a:prstGeom>
          <a:solidFill>
            <a:srgbClr val="1A2B4A"/>
          </a:solidFill>
          <a:ln/>
        </p:spPr>
      </p:sp>
      <p:sp>
        <p:nvSpPr>
          <p:cNvPr id="7" name="Text 5"/>
          <p:cNvSpPr/>
          <p:nvPr/>
        </p:nvSpPr>
        <p:spPr>
          <a:xfrm>
            <a:off x="868680" y="1554480"/>
            <a:ext cx="5029200" cy="182880"/>
          </a:xfrm>
          <a:prstGeom prst="rect">
            <a:avLst/>
          </a:prstGeom>
          <a:noFill/>
          <a:ln/>
        </p:spPr>
        <p:txBody>
          <a:bodyPr wrap="square" rtlCol="0" anchor="ctr"/>
          <a:lstStyle/>
          <a:p>
            <a:pPr indent="0" marL="0">
              <a:buNone/>
            </a:pPr>
            <a:r>
              <a:rPr lang="en-US" sz="900" b="1" dirty="0">
                <a:solidFill>
                  <a:srgbClr val="1A1A1A"/>
                </a:solidFill>
                <a:latin typeface="Arial" pitchFamily="34" charset="0"/>
                <a:ea typeface="Arial" pitchFamily="34" charset="-122"/>
                <a:cs typeface="Arial" pitchFamily="34" charset="-120"/>
              </a:rPr>
              <a:t>Configuration Hash</a:t>
            </a:r>
            <a:endParaRPr lang="en-US" sz="900" dirty="0"/>
          </a:p>
        </p:txBody>
      </p:sp>
      <p:sp>
        <p:nvSpPr>
          <p:cNvPr id="8" name="Text 6"/>
          <p:cNvSpPr/>
          <p:nvPr/>
        </p:nvSpPr>
        <p:spPr>
          <a:xfrm>
            <a:off x="868680" y="1737360"/>
            <a:ext cx="5029200" cy="182880"/>
          </a:xfrm>
          <a:prstGeom prst="rect">
            <a:avLst/>
          </a:prstGeom>
          <a:noFill/>
          <a:ln/>
        </p:spPr>
        <p:txBody>
          <a:bodyPr wrap="square" rtlCol="0" anchor="ctr"/>
          <a:lstStyle/>
          <a:p>
            <a:pPr indent="0" marL="0">
              <a:buNone/>
            </a:pPr>
            <a:r>
              <a:rPr lang="en-US" sz="700" dirty="0">
                <a:solidFill>
                  <a:srgbClr val="4A4A4A"/>
                </a:solidFill>
                <a:latin typeface="Arial" pitchFamily="34" charset="0"/>
                <a:ea typeface="Arial" pitchFamily="34" charset="-122"/>
                <a:cs typeface="Arial" pitchFamily="34" charset="-120"/>
              </a:rPr>
              <a:t>SHA256 of run config snapshot frozen at run creation (R2-01). Includes engine versions, rulepack versions, compliance mapping versions.</a:t>
            </a:r>
            <a:endParaRPr lang="en-US" sz="700" dirty="0"/>
          </a:p>
        </p:txBody>
      </p:sp>
      <p:sp>
        <p:nvSpPr>
          <p:cNvPr id="9" name="Shape 7"/>
          <p:cNvSpPr/>
          <p:nvPr/>
        </p:nvSpPr>
        <p:spPr>
          <a:xfrm>
            <a:off x="6217920" y="1554480"/>
            <a:ext cx="73152" cy="365760"/>
          </a:xfrm>
          <a:prstGeom prst="rect">
            <a:avLst/>
          </a:prstGeom>
          <a:solidFill>
            <a:srgbClr val="1A2B4A"/>
          </a:solidFill>
          <a:ln/>
        </p:spPr>
      </p:sp>
      <p:sp>
        <p:nvSpPr>
          <p:cNvPr id="10" name="Text 8"/>
          <p:cNvSpPr/>
          <p:nvPr/>
        </p:nvSpPr>
        <p:spPr>
          <a:xfrm>
            <a:off x="6355080" y="1554480"/>
            <a:ext cx="5029200" cy="182880"/>
          </a:xfrm>
          <a:prstGeom prst="rect">
            <a:avLst/>
          </a:prstGeom>
          <a:noFill/>
          <a:ln/>
        </p:spPr>
        <p:txBody>
          <a:bodyPr wrap="square" rtlCol="0" anchor="ctr"/>
          <a:lstStyle/>
          <a:p>
            <a:pPr indent="0" marL="0">
              <a:buNone/>
            </a:pPr>
            <a:r>
              <a:rPr lang="en-US" sz="900" b="1" dirty="0">
                <a:solidFill>
                  <a:srgbClr val="1A1A1A"/>
                </a:solidFill>
                <a:latin typeface="Arial" pitchFamily="34" charset="0"/>
                <a:ea typeface="Arial" pitchFamily="34" charset="-122"/>
                <a:cs typeface="Arial" pitchFamily="34" charset="-120"/>
              </a:rPr>
              <a:t>Engine-Output Hash</a:t>
            </a:r>
            <a:endParaRPr lang="en-US" sz="900" dirty="0"/>
          </a:p>
        </p:txBody>
      </p:sp>
      <p:sp>
        <p:nvSpPr>
          <p:cNvPr id="11" name="Text 9"/>
          <p:cNvSpPr/>
          <p:nvPr/>
        </p:nvSpPr>
        <p:spPr>
          <a:xfrm>
            <a:off x="6355080" y="1737360"/>
            <a:ext cx="5029200" cy="182880"/>
          </a:xfrm>
          <a:prstGeom prst="rect">
            <a:avLst/>
          </a:prstGeom>
          <a:noFill/>
          <a:ln/>
        </p:spPr>
        <p:txBody>
          <a:bodyPr wrap="square" rtlCol="0" anchor="ctr"/>
          <a:lstStyle/>
          <a:p>
            <a:pPr indent="0" marL="0">
              <a:buNone/>
            </a:pPr>
            <a:r>
              <a:rPr lang="en-US" sz="700" dirty="0">
                <a:solidFill>
                  <a:srgbClr val="4A4A4A"/>
                </a:solidFill>
                <a:latin typeface="Arial" pitchFamily="34" charset="0"/>
                <a:ea typeface="Arial" pitchFamily="34" charset="-122"/>
                <a:cs typeface="Arial" pitchFamily="34" charset="-120"/>
              </a:rPr>
              <a:t>SHA256 of canonicalized engine output. Stable key ordering, UTF-8 encoding. Computed by contract-validator.ts.</a:t>
            </a:r>
            <a:endParaRPr lang="en-US" sz="700" dirty="0"/>
          </a:p>
        </p:txBody>
      </p:sp>
      <p:sp>
        <p:nvSpPr>
          <p:cNvPr id="12" name="Shape 10"/>
          <p:cNvSpPr/>
          <p:nvPr/>
        </p:nvSpPr>
        <p:spPr>
          <a:xfrm>
            <a:off x="731520" y="2011680"/>
            <a:ext cx="73152" cy="365760"/>
          </a:xfrm>
          <a:prstGeom prst="rect">
            <a:avLst/>
          </a:prstGeom>
          <a:solidFill>
            <a:srgbClr val="1A2B4A"/>
          </a:solidFill>
          <a:ln/>
        </p:spPr>
      </p:sp>
      <p:sp>
        <p:nvSpPr>
          <p:cNvPr id="13" name="Text 11"/>
          <p:cNvSpPr/>
          <p:nvPr/>
        </p:nvSpPr>
        <p:spPr>
          <a:xfrm>
            <a:off x="868680" y="2011680"/>
            <a:ext cx="5029200" cy="182880"/>
          </a:xfrm>
          <a:prstGeom prst="rect">
            <a:avLst/>
          </a:prstGeom>
          <a:noFill/>
          <a:ln/>
        </p:spPr>
        <p:txBody>
          <a:bodyPr wrap="square" rtlCol="0" anchor="ctr"/>
          <a:lstStyle/>
          <a:p>
            <a:pPr indent="0" marL="0">
              <a:buNone/>
            </a:pPr>
            <a:r>
              <a:rPr lang="en-US" sz="900" b="1" dirty="0">
                <a:solidFill>
                  <a:srgbClr val="1A1A1A"/>
                </a:solidFill>
                <a:latin typeface="Arial" pitchFamily="34" charset="0"/>
                <a:ea typeface="Arial" pitchFamily="34" charset="-122"/>
                <a:cs typeface="Arial" pitchFamily="34" charset="-120"/>
              </a:rPr>
              <a:t>Run Fingerprint</a:t>
            </a:r>
            <a:endParaRPr lang="en-US" sz="900" dirty="0"/>
          </a:p>
        </p:txBody>
      </p:sp>
      <p:sp>
        <p:nvSpPr>
          <p:cNvPr id="14" name="Text 12"/>
          <p:cNvSpPr/>
          <p:nvPr/>
        </p:nvSpPr>
        <p:spPr>
          <a:xfrm>
            <a:off x="868680" y="2194560"/>
            <a:ext cx="5029200" cy="182880"/>
          </a:xfrm>
          <a:prstGeom prst="rect">
            <a:avLst/>
          </a:prstGeom>
          <a:noFill/>
          <a:ln/>
        </p:spPr>
        <p:txBody>
          <a:bodyPr wrap="square" rtlCol="0" anchor="ctr"/>
          <a:lstStyle/>
          <a:p>
            <a:pPr indent="0" marL="0">
              <a:buNone/>
            </a:pPr>
            <a:r>
              <a:rPr lang="en-US" sz="700" dirty="0">
                <a:solidFill>
                  <a:srgbClr val="4A4A4A"/>
                </a:solidFill>
                <a:latin typeface="Arial" pitchFamily="34" charset="0"/>
                <a:ea typeface="Arial" pitchFamily="34" charset="-122"/>
                <a:cs typeface="Arial" pitchFamily="34" charset="-120"/>
              </a:rPr>
              <a:t>Per-run fingerprint combining all engine output hashes. Schema version 2. Detects version drift mid-run.</a:t>
            </a:r>
            <a:endParaRPr lang="en-US" sz="700" dirty="0"/>
          </a:p>
        </p:txBody>
      </p:sp>
      <p:sp>
        <p:nvSpPr>
          <p:cNvPr id="15" name="Shape 13"/>
          <p:cNvSpPr/>
          <p:nvPr/>
        </p:nvSpPr>
        <p:spPr>
          <a:xfrm>
            <a:off x="6217920" y="2011680"/>
            <a:ext cx="73152" cy="365760"/>
          </a:xfrm>
          <a:prstGeom prst="rect">
            <a:avLst/>
          </a:prstGeom>
          <a:solidFill>
            <a:srgbClr val="1A2B4A"/>
          </a:solidFill>
          <a:ln/>
        </p:spPr>
      </p:sp>
      <p:sp>
        <p:nvSpPr>
          <p:cNvPr id="16" name="Text 14"/>
          <p:cNvSpPr/>
          <p:nvPr/>
        </p:nvSpPr>
        <p:spPr>
          <a:xfrm>
            <a:off x="6355080" y="2011680"/>
            <a:ext cx="5029200" cy="182880"/>
          </a:xfrm>
          <a:prstGeom prst="rect">
            <a:avLst/>
          </a:prstGeom>
          <a:noFill/>
          <a:ln/>
        </p:spPr>
        <p:txBody>
          <a:bodyPr wrap="square" rtlCol="0" anchor="ctr"/>
          <a:lstStyle/>
          <a:p>
            <a:pPr indent="0" marL="0">
              <a:buNone/>
            </a:pPr>
            <a:r>
              <a:rPr lang="en-US" sz="900" b="1" dirty="0">
                <a:solidFill>
                  <a:srgbClr val="1A1A1A"/>
                </a:solidFill>
                <a:latin typeface="Arial" pitchFamily="34" charset="0"/>
                <a:ea typeface="Arial" pitchFamily="34" charset="-122"/>
                <a:cs typeface="Arial" pitchFamily="34" charset="-120"/>
              </a:rPr>
              <a:t>Event-Log Hash</a:t>
            </a:r>
            <a:endParaRPr lang="en-US" sz="900" dirty="0"/>
          </a:p>
        </p:txBody>
      </p:sp>
      <p:sp>
        <p:nvSpPr>
          <p:cNvPr id="17" name="Text 15"/>
          <p:cNvSpPr/>
          <p:nvPr/>
        </p:nvSpPr>
        <p:spPr>
          <a:xfrm>
            <a:off x="6355080" y="2194560"/>
            <a:ext cx="5029200" cy="182880"/>
          </a:xfrm>
          <a:prstGeom prst="rect">
            <a:avLst/>
          </a:prstGeom>
          <a:noFill/>
          <a:ln/>
        </p:spPr>
        <p:txBody>
          <a:bodyPr wrap="square" rtlCol="0" anchor="ctr"/>
          <a:lstStyle/>
          <a:p>
            <a:pPr indent="0" marL="0">
              <a:buNone/>
            </a:pPr>
            <a:r>
              <a:rPr lang="en-US" sz="700" dirty="0">
                <a:solidFill>
                  <a:srgbClr val="4A4A4A"/>
                </a:solidFill>
                <a:latin typeface="Arial" pitchFamily="34" charset="0"/>
                <a:ea typeface="Arial" pitchFamily="34" charset="-122"/>
                <a:cs typeface="Arial" pitchFamily="34" charset="-120"/>
              </a:rPr>
              <a:t>Hash-chained append-only event log. eventHash = SHA256(seq + eventType + payload + prevEventHash). Tamper-evident.</a:t>
            </a:r>
            <a:endParaRPr lang="en-US" sz="700" dirty="0"/>
          </a:p>
        </p:txBody>
      </p:sp>
      <p:sp>
        <p:nvSpPr>
          <p:cNvPr id="18" name="Shape 16"/>
          <p:cNvSpPr/>
          <p:nvPr/>
        </p:nvSpPr>
        <p:spPr>
          <a:xfrm>
            <a:off x="731520" y="2468880"/>
            <a:ext cx="73152" cy="365760"/>
          </a:xfrm>
          <a:prstGeom prst="rect">
            <a:avLst/>
          </a:prstGeom>
          <a:solidFill>
            <a:srgbClr val="1A2B4A"/>
          </a:solidFill>
          <a:ln/>
        </p:spPr>
      </p:sp>
      <p:sp>
        <p:nvSpPr>
          <p:cNvPr id="19" name="Text 17"/>
          <p:cNvSpPr/>
          <p:nvPr/>
        </p:nvSpPr>
        <p:spPr>
          <a:xfrm>
            <a:off x="868680" y="2468880"/>
            <a:ext cx="5029200" cy="182880"/>
          </a:xfrm>
          <a:prstGeom prst="rect">
            <a:avLst/>
          </a:prstGeom>
          <a:noFill/>
          <a:ln/>
        </p:spPr>
        <p:txBody>
          <a:bodyPr wrap="square" rtlCol="0" anchor="ctr"/>
          <a:lstStyle/>
          <a:p>
            <a:pPr indent="0" marL="0">
              <a:buNone/>
            </a:pPr>
            <a:r>
              <a:rPr lang="en-US" sz="900" b="1" dirty="0">
                <a:solidFill>
                  <a:srgbClr val="1A1A1A"/>
                </a:solidFill>
                <a:latin typeface="Arial" pitchFamily="34" charset="0"/>
                <a:ea typeface="Arial" pitchFamily="34" charset="-122"/>
                <a:cs typeface="Arial" pitchFamily="34" charset="-120"/>
              </a:rPr>
              <a:t>HMAC Issuer Signature</a:t>
            </a:r>
            <a:endParaRPr lang="en-US" sz="900" dirty="0"/>
          </a:p>
        </p:txBody>
      </p:sp>
      <p:sp>
        <p:nvSpPr>
          <p:cNvPr id="20" name="Text 18"/>
          <p:cNvSpPr/>
          <p:nvPr/>
        </p:nvSpPr>
        <p:spPr>
          <a:xfrm>
            <a:off x="868680" y="2651760"/>
            <a:ext cx="5029200" cy="182880"/>
          </a:xfrm>
          <a:prstGeom prst="rect">
            <a:avLst/>
          </a:prstGeom>
          <a:noFill/>
          <a:ln/>
        </p:spPr>
        <p:txBody>
          <a:bodyPr wrap="square" rtlCol="0" anchor="ctr"/>
          <a:lstStyle/>
          <a:p>
            <a:pPr indent="0" marL="0">
              <a:buNone/>
            </a:pPr>
            <a:r>
              <a:rPr lang="en-US" sz="700" dirty="0">
                <a:solidFill>
                  <a:srgbClr val="4A4A4A"/>
                </a:solidFill>
                <a:latin typeface="Arial" pitchFamily="34" charset="0"/>
                <a:ea typeface="Arial" pitchFamily="34" charset="-122"/>
                <a:cs typeface="Arial" pitchFamily="34" charset="-120"/>
              </a:rPr>
              <a:t>HMAC-SHA256 on verification responses. Algorithm version 1. Key rotation: primary, previous, legacy. Replay protection via nonces.</a:t>
            </a:r>
            <a:endParaRPr lang="en-US" sz="700" dirty="0"/>
          </a:p>
        </p:txBody>
      </p:sp>
      <p:sp>
        <p:nvSpPr>
          <p:cNvPr id="21" name="Shape 19"/>
          <p:cNvSpPr/>
          <p:nvPr/>
        </p:nvSpPr>
        <p:spPr>
          <a:xfrm>
            <a:off x="6217920" y="2468880"/>
            <a:ext cx="73152" cy="365760"/>
          </a:xfrm>
          <a:prstGeom prst="rect">
            <a:avLst/>
          </a:prstGeom>
          <a:solidFill>
            <a:srgbClr val="1A2B4A"/>
          </a:solidFill>
          <a:ln/>
        </p:spPr>
      </p:sp>
      <p:sp>
        <p:nvSpPr>
          <p:cNvPr id="22" name="Text 20"/>
          <p:cNvSpPr/>
          <p:nvPr/>
        </p:nvSpPr>
        <p:spPr>
          <a:xfrm>
            <a:off x="6355080" y="2468880"/>
            <a:ext cx="5029200" cy="182880"/>
          </a:xfrm>
          <a:prstGeom prst="rect">
            <a:avLst/>
          </a:prstGeom>
          <a:noFill/>
          <a:ln/>
        </p:spPr>
        <p:txBody>
          <a:bodyPr wrap="square" rtlCol="0" anchor="ctr"/>
          <a:lstStyle/>
          <a:p>
            <a:pPr indent="0" marL="0">
              <a:buNone/>
            </a:pPr>
            <a:r>
              <a:rPr lang="en-US" sz="900" b="1" dirty="0">
                <a:solidFill>
                  <a:srgbClr val="1A1A1A"/>
                </a:solidFill>
                <a:latin typeface="Arial" pitchFamily="34" charset="0"/>
                <a:ea typeface="Arial" pitchFamily="34" charset="-122"/>
                <a:cs typeface="Arial" pitchFamily="34" charset="-120"/>
              </a:rPr>
              <a:t>Validity Window</a:t>
            </a:r>
            <a:endParaRPr lang="en-US" sz="900" dirty="0"/>
          </a:p>
        </p:txBody>
      </p:sp>
      <p:sp>
        <p:nvSpPr>
          <p:cNvPr id="23" name="Text 21"/>
          <p:cNvSpPr/>
          <p:nvPr/>
        </p:nvSpPr>
        <p:spPr>
          <a:xfrm>
            <a:off x="6355080" y="2651760"/>
            <a:ext cx="5029200" cy="182880"/>
          </a:xfrm>
          <a:prstGeom prst="rect">
            <a:avLst/>
          </a:prstGeom>
          <a:noFill/>
          <a:ln/>
        </p:spPr>
        <p:txBody>
          <a:bodyPr wrap="square" rtlCol="0" anchor="ctr"/>
          <a:lstStyle/>
          <a:p>
            <a:pPr indent="0" marL="0">
              <a:buNone/>
            </a:pPr>
            <a:r>
              <a:rPr lang="en-US" sz="700" dirty="0">
                <a:solidFill>
                  <a:srgbClr val="4A4A4A"/>
                </a:solidFill>
                <a:latin typeface="Arial" pitchFamily="34" charset="0"/>
                <a:ea typeface="Arial" pitchFamily="34" charset="-122"/>
                <a:cs typeface="Arial" pitchFamily="34" charset="-120"/>
              </a:rPr>
              <a:t>Issued-at and expires-at timestamps. ArtifactValidityStatus: VALID, EXPIRED, REVOKED. Revocation events tracked.</a:t>
            </a:r>
            <a:endParaRPr lang="en-US" sz="700" dirty="0"/>
          </a:p>
        </p:txBody>
      </p:sp>
      <p:sp>
        <p:nvSpPr>
          <p:cNvPr id="24" name="Shape 22"/>
          <p:cNvSpPr/>
          <p:nvPr/>
        </p:nvSpPr>
        <p:spPr>
          <a:xfrm>
            <a:off x="731520" y="2926080"/>
            <a:ext cx="73152" cy="365760"/>
          </a:xfrm>
          <a:prstGeom prst="rect">
            <a:avLst/>
          </a:prstGeom>
          <a:solidFill>
            <a:srgbClr val="1A2B4A"/>
          </a:solidFill>
          <a:ln/>
        </p:spPr>
      </p:sp>
      <p:sp>
        <p:nvSpPr>
          <p:cNvPr id="25" name="Text 23"/>
          <p:cNvSpPr/>
          <p:nvPr/>
        </p:nvSpPr>
        <p:spPr>
          <a:xfrm>
            <a:off x="868680" y="2926080"/>
            <a:ext cx="5029200" cy="182880"/>
          </a:xfrm>
          <a:prstGeom prst="rect">
            <a:avLst/>
          </a:prstGeom>
          <a:noFill/>
          <a:ln/>
        </p:spPr>
        <p:txBody>
          <a:bodyPr wrap="square" rtlCol="0" anchor="ctr"/>
          <a:lstStyle/>
          <a:p>
            <a:pPr indent="0" marL="0">
              <a:buNone/>
            </a:pPr>
            <a:r>
              <a:rPr lang="en-US" sz="900" b="1" dirty="0">
                <a:solidFill>
                  <a:srgbClr val="1A1A1A"/>
                </a:solidFill>
                <a:latin typeface="Arial" pitchFamily="34" charset="0"/>
                <a:ea typeface="Arial" pitchFamily="34" charset="-122"/>
                <a:cs typeface="Arial" pitchFamily="34" charset="-120"/>
              </a:rPr>
              <a:t>Invalidation Triggers</a:t>
            </a:r>
            <a:endParaRPr lang="en-US" sz="900" dirty="0"/>
          </a:p>
        </p:txBody>
      </p:sp>
      <p:sp>
        <p:nvSpPr>
          <p:cNvPr id="26" name="Text 24"/>
          <p:cNvSpPr/>
          <p:nvPr/>
        </p:nvSpPr>
        <p:spPr>
          <a:xfrm>
            <a:off x="868680" y="3108960"/>
            <a:ext cx="5029200" cy="182880"/>
          </a:xfrm>
          <a:prstGeom prst="rect">
            <a:avLst/>
          </a:prstGeom>
          <a:noFill/>
          <a:ln/>
        </p:spPr>
        <p:txBody>
          <a:bodyPr wrap="square" rtlCol="0" anchor="ctr"/>
          <a:lstStyle/>
          <a:p>
            <a:pPr indent="0" marL="0">
              <a:buNone/>
            </a:pPr>
            <a:r>
              <a:rPr lang="en-US" sz="700" dirty="0">
                <a:solidFill>
                  <a:srgbClr val="4A4A4A"/>
                </a:solidFill>
                <a:latin typeface="Arial" pitchFamily="34" charset="0"/>
                <a:ea typeface="Arial" pitchFamily="34" charset="-122"/>
                <a:cs typeface="Arial" pitchFamily="34" charset="-120"/>
              </a:rPr>
              <a:t>New scan with critical findings, manual revocation, expiration, scope change detection via Compliance Twin delta engine.</a:t>
            </a:r>
            <a:endParaRPr lang="en-US" sz="700" dirty="0"/>
          </a:p>
        </p:txBody>
      </p:sp>
      <p:sp>
        <p:nvSpPr>
          <p:cNvPr id="27" name="Shape 25"/>
          <p:cNvSpPr/>
          <p:nvPr/>
        </p:nvSpPr>
        <p:spPr>
          <a:xfrm>
            <a:off x="6217920" y="2926080"/>
            <a:ext cx="73152" cy="365760"/>
          </a:xfrm>
          <a:prstGeom prst="rect">
            <a:avLst/>
          </a:prstGeom>
          <a:solidFill>
            <a:srgbClr val="1A2B4A"/>
          </a:solidFill>
          <a:ln/>
        </p:spPr>
      </p:sp>
      <p:sp>
        <p:nvSpPr>
          <p:cNvPr id="28" name="Text 26"/>
          <p:cNvSpPr/>
          <p:nvPr/>
        </p:nvSpPr>
        <p:spPr>
          <a:xfrm>
            <a:off x="6355080" y="2926080"/>
            <a:ext cx="5029200" cy="182880"/>
          </a:xfrm>
          <a:prstGeom prst="rect">
            <a:avLst/>
          </a:prstGeom>
          <a:noFill/>
          <a:ln/>
        </p:spPr>
        <p:txBody>
          <a:bodyPr wrap="square" rtlCol="0" anchor="ctr"/>
          <a:lstStyle/>
          <a:p>
            <a:pPr indent="0" marL="0">
              <a:buNone/>
            </a:pPr>
            <a:r>
              <a:rPr lang="en-US" sz="900" b="1" dirty="0">
                <a:solidFill>
                  <a:srgbClr val="1A1A1A"/>
                </a:solidFill>
                <a:latin typeface="Arial" pitchFamily="34" charset="0"/>
                <a:ea typeface="Arial" pitchFamily="34" charset="-122"/>
                <a:cs typeface="Arial" pitchFamily="34" charset="-120"/>
              </a:rPr>
              <a:t>HAIEC Verification Endpoint</a:t>
            </a:r>
            <a:endParaRPr lang="en-US" sz="900" dirty="0"/>
          </a:p>
        </p:txBody>
      </p:sp>
      <p:sp>
        <p:nvSpPr>
          <p:cNvPr id="29" name="Text 27"/>
          <p:cNvSpPr/>
          <p:nvPr/>
        </p:nvSpPr>
        <p:spPr>
          <a:xfrm>
            <a:off x="6355080" y="3108960"/>
            <a:ext cx="5029200" cy="182880"/>
          </a:xfrm>
          <a:prstGeom prst="rect">
            <a:avLst/>
          </a:prstGeom>
          <a:noFill/>
          <a:ln/>
        </p:spPr>
        <p:txBody>
          <a:bodyPr wrap="square" rtlCol="0" anchor="ctr"/>
          <a:lstStyle/>
          <a:p>
            <a:pPr indent="0" marL="0">
              <a:buNone/>
            </a:pPr>
            <a:r>
              <a:rPr lang="en-US" sz="700" dirty="0">
                <a:solidFill>
                  <a:srgbClr val="4A4A4A"/>
                </a:solidFill>
                <a:latin typeface="Arial" pitchFamily="34" charset="0"/>
                <a:ea typeface="Arial" pitchFamily="34" charset="-122"/>
                <a:cs typeface="Arial" pitchFamily="34" charset="-120"/>
              </a:rPr>
              <a:t>GET /api/verify/[artifactId] returns signed verification response. SignedVerificationResponse with data + issuerSignature + dataHash.</a:t>
            </a:r>
            <a:endParaRPr lang="en-US" sz="700" dirty="0"/>
          </a:p>
        </p:txBody>
      </p:sp>
      <p:sp>
        <p:nvSpPr>
          <p:cNvPr id="30" name="Shape 28"/>
          <p:cNvSpPr/>
          <p:nvPr/>
        </p:nvSpPr>
        <p:spPr>
          <a:xfrm>
            <a:off x="548640" y="3566160"/>
            <a:ext cx="5303520" cy="2286000"/>
          </a:xfrm>
          <a:prstGeom prst="rect">
            <a:avLst/>
          </a:prstGeom>
          <a:solidFill>
            <a:srgbClr val="F5F5F5"/>
          </a:solidFill>
          <a:ln w="6350">
            <a:solidFill>
              <a:srgbClr val="D0D0D0"/>
            </a:solidFill>
            <a:prstDash val="solid"/>
          </a:ln>
        </p:spPr>
      </p:sp>
      <p:sp>
        <p:nvSpPr>
          <p:cNvPr id="31" name="Text 29"/>
          <p:cNvSpPr/>
          <p:nvPr/>
        </p:nvSpPr>
        <p:spPr>
          <a:xfrm>
            <a:off x="731520" y="3657600"/>
            <a:ext cx="4937760" cy="274320"/>
          </a:xfrm>
          <a:prstGeom prst="rect">
            <a:avLst/>
          </a:prstGeom>
          <a:noFill/>
          <a:ln/>
        </p:spPr>
        <p:txBody>
          <a:bodyPr wrap="square" rtlCol="0" anchor="ctr"/>
          <a:lstStyle/>
          <a:p>
            <a:pPr indent="0" marL="0">
              <a:buNone/>
            </a:pPr>
            <a:r>
              <a:rPr lang="en-US" sz="1100" b="1" dirty="0">
                <a:solidFill>
                  <a:srgbClr val="1A1A1A"/>
                </a:solidFill>
                <a:latin typeface="Arial" pitchFamily="34" charset="0"/>
                <a:ea typeface="Arial" pitchFamily="34" charset="-122"/>
                <a:cs typeface="Arial" pitchFamily="34" charset="-120"/>
              </a:rPr>
              <a:t>Evidence Types</a:t>
            </a:r>
            <a:endParaRPr lang="en-US" sz="1100" dirty="0"/>
          </a:p>
        </p:txBody>
      </p:sp>
      <p:sp>
        <p:nvSpPr>
          <p:cNvPr id="32" name="Text 30"/>
          <p:cNvSpPr/>
          <p:nvPr/>
        </p:nvSpPr>
        <p:spPr>
          <a:xfrm>
            <a:off x="731520" y="4023360"/>
            <a:ext cx="2286000" cy="274320"/>
          </a:xfrm>
          <a:prstGeom prst="rect">
            <a:avLst/>
          </a:prstGeom>
          <a:noFill/>
          <a:ln/>
        </p:spPr>
        <p:txBody>
          <a:bodyPr wrap="square" rtlCol="0" anchor="ctr"/>
          <a:lstStyle/>
          <a:p>
            <a:pPr indent="0" marL="0">
              <a:buNone/>
            </a:pPr>
            <a:r>
              <a:rPr lang="en-US" sz="800" dirty="0">
                <a:solidFill>
                  <a:srgbClr val="1A2B4A"/>
                </a:solidFill>
                <a:latin typeface="Arial" pitchFamily="34" charset="0"/>
                <a:ea typeface="Arial" pitchFamily="34" charset="-122"/>
                <a:cs typeface="Arial" pitchFamily="34" charset="-120"/>
              </a:rPr>
              <a:t>ENGINE_GENERATED</a:t>
            </a:r>
            <a:endParaRPr lang="en-US" sz="800" dirty="0"/>
          </a:p>
        </p:txBody>
      </p:sp>
      <p:sp>
        <p:nvSpPr>
          <p:cNvPr id="33" name="Text 31"/>
          <p:cNvSpPr/>
          <p:nvPr/>
        </p:nvSpPr>
        <p:spPr>
          <a:xfrm>
            <a:off x="3017520" y="4023360"/>
            <a:ext cx="2651760" cy="274320"/>
          </a:xfrm>
          <a:prstGeom prst="rect">
            <a:avLst/>
          </a:prstGeom>
          <a:noFill/>
          <a:ln/>
        </p:spPr>
        <p:txBody>
          <a:bodyPr wrap="square" rtlCol="0" anchor="ctr"/>
          <a:lstStyle/>
          <a:p>
            <a:pPr indent="0" marL="0">
              <a:buNone/>
            </a:pPr>
            <a:r>
              <a:rPr lang="en-US" sz="800" dirty="0">
                <a:solidFill>
                  <a:srgbClr val="4A4A4A"/>
                </a:solidFill>
                <a:latin typeface="Arial" pitchFamily="34" charset="0"/>
                <a:ea typeface="Arial" pitchFamily="34" charset="-122"/>
                <a:cs typeface="Arial" pitchFamily="34" charset="-120"/>
              </a:rPr>
              <a:t>Static scan findings, runtime test results</a:t>
            </a:r>
            <a:endParaRPr lang="en-US" sz="800" dirty="0"/>
          </a:p>
        </p:txBody>
      </p:sp>
      <p:sp>
        <p:nvSpPr>
          <p:cNvPr id="34" name="Text 32"/>
          <p:cNvSpPr/>
          <p:nvPr/>
        </p:nvSpPr>
        <p:spPr>
          <a:xfrm>
            <a:off x="731520" y="4343400"/>
            <a:ext cx="2286000" cy="274320"/>
          </a:xfrm>
          <a:prstGeom prst="rect">
            <a:avLst/>
          </a:prstGeom>
          <a:noFill/>
          <a:ln/>
        </p:spPr>
        <p:txBody>
          <a:bodyPr wrap="square" rtlCol="0" anchor="ctr"/>
          <a:lstStyle/>
          <a:p>
            <a:pPr indent="0" marL="0">
              <a:buNone/>
            </a:pPr>
            <a:r>
              <a:rPr lang="en-US" sz="800" dirty="0">
                <a:solidFill>
                  <a:srgbClr val="1A2B4A"/>
                </a:solidFill>
                <a:latin typeface="Arial" pitchFamily="34" charset="0"/>
                <a:ea typeface="Arial" pitchFamily="34" charset="-122"/>
                <a:cs typeface="Arial" pitchFamily="34" charset="-120"/>
              </a:rPr>
              <a:t>SELF_REPORTED</a:t>
            </a:r>
            <a:endParaRPr lang="en-US" sz="800" dirty="0"/>
          </a:p>
        </p:txBody>
      </p:sp>
      <p:sp>
        <p:nvSpPr>
          <p:cNvPr id="35" name="Text 33"/>
          <p:cNvSpPr/>
          <p:nvPr/>
        </p:nvSpPr>
        <p:spPr>
          <a:xfrm>
            <a:off x="3017520" y="4343400"/>
            <a:ext cx="2651760" cy="274320"/>
          </a:xfrm>
          <a:prstGeom prst="rect">
            <a:avLst/>
          </a:prstGeom>
          <a:noFill/>
          <a:ln/>
        </p:spPr>
        <p:txBody>
          <a:bodyPr wrap="square" rtlCol="0" anchor="ctr"/>
          <a:lstStyle/>
          <a:p>
            <a:pPr indent="0" marL="0">
              <a:buNone/>
            </a:pPr>
            <a:r>
              <a:rPr lang="en-US" sz="800" dirty="0">
                <a:solidFill>
                  <a:srgbClr val="4A4A4A"/>
                </a:solidFill>
                <a:latin typeface="Arial" pitchFamily="34" charset="0"/>
                <a:ea typeface="Arial" pitchFamily="34" charset="-122"/>
                <a:cs typeface="Arial" pitchFamily="34" charset="-120"/>
              </a:rPr>
              <a:t>Wizard assessment responses</a:t>
            </a:r>
            <a:endParaRPr lang="en-US" sz="800" dirty="0"/>
          </a:p>
        </p:txBody>
      </p:sp>
      <p:sp>
        <p:nvSpPr>
          <p:cNvPr id="36" name="Text 34"/>
          <p:cNvSpPr/>
          <p:nvPr/>
        </p:nvSpPr>
        <p:spPr>
          <a:xfrm>
            <a:off x="731520" y="4663440"/>
            <a:ext cx="2286000" cy="274320"/>
          </a:xfrm>
          <a:prstGeom prst="rect">
            <a:avLst/>
          </a:prstGeom>
          <a:noFill/>
          <a:ln/>
        </p:spPr>
        <p:txBody>
          <a:bodyPr wrap="square" rtlCol="0" anchor="ctr"/>
          <a:lstStyle/>
          <a:p>
            <a:pPr indent="0" marL="0">
              <a:buNone/>
            </a:pPr>
            <a:r>
              <a:rPr lang="en-US" sz="800" dirty="0">
                <a:solidFill>
                  <a:srgbClr val="1A2B4A"/>
                </a:solidFill>
                <a:latin typeface="Arial" pitchFamily="34" charset="0"/>
                <a:ea typeface="Arial" pitchFamily="34" charset="-122"/>
                <a:cs typeface="Arial" pitchFamily="34" charset="-120"/>
              </a:rPr>
              <a:t>INFERRED</a:t>
            </a:r>
            <a:endParaRPr lang="en-US" sz="800" dirty="0"/>
          </a:p>
        </p:txBody>
      </p:sp>
      <p:sp>
        <p:nvSpPr>
          <p:cNvPr id="37" name="Text 35"/>
          <p:cNvSpPr/>
          <p:nvPr/>
        </p:nvSpPr>
        <p:spPr>
          <a:xfrm>
            <a:off x="3017520" y="4663440"/>
            <a:ext cx="2651760" cy="274320"/>
          </a:xfrm>
          <a:prstGeom prst="rect">
            <a:avLst/>
          </a:prstGeom>
          <a:noFill/>
          <a:ln/>
        </p:spPr>
        <p:txBody>
          <a:bodyPr wrap="square" rtlCol="0" anchor="ctr"/>
          <a:lstStyle/>
          <a:p>
            <a:pPr indent="0" marL="0">
              <a:buNone/>
            </a:pPr>
            <a:r>
              <a:rPr lang="en-US" sz="800" dirty="0">
                <a:solidFill>
                  <a:srgbClr val="4A4A4A"/>
                </a:solidFill>
                <a:latin typeface="Arial" pitchFamily="34" charset="0"/>
                <a:ea typeface="Arial" pitchFamily="34" charset="-122"/>
                <a:cs typeface="Arial" pitchFamily="34" charset="-120"/>
              </a:rPr>
              <a:t>Compliance Twin state, framework mappings</a:t>
            </a:r>
            <a:endParaRPr lang="en-US" sz="800" dirty="0"/>
          </a:p>
        </p:txBody>
      </p:sp>
      <p:sp>
        <p:nvSpPr>
          <p:cNvPr id="38" name="Shape 36"/>
          <p:cNvSpPr/>
          <p:nvPr/>
        </p:nvSpPr>
        <p:spPr>
          <a:xfrm>
            <a:off x="731520" y="5029200"/>
            <a:ext cx="4937760" cy="731520"/>
          </a:xfrm>
          <a:prstGeom prst="rect">
            <a:avLst/>
          </a:prstGeom>
          <a:solidFill>
            <a:srgbClr val="FFFFFF"/>
          </a:solidFill>
          <a:ln w="6350">
            <a:solidFill>
              <a:srgbClr val="1A2B4A"/>
            </a:solidFill>
            <a:prstDash val="solid"/>
          </a:ln>
        </p:spPr>
      </p:sp>
      <p:sp>
        <p:nvSpPr>
          <p:cNvPr id="39" name="Text 37"/>
          <p:cNvSpPr/>
          <p:nvPr/>
        </p:nvSpPr>
        <p:spPr>
          <a:xfrm>
            <a:off x="822960" y="5074920"/>
            <a:ext cx="4754880" cy="228600"/>
          </a:xfrm>
          <a:prstGeom prst="rect">
            <a:avLst/>
          </a:prstGeom>
          <a:noFill/>
          <a:ln/>
        </p:spPr>
        <p:txBody>
          <a:bodyPr wrap="square" rtlCol="0" anchor="ctr"/>
          <a:lstStyle/>
          <a:p>
            <a:pPr indent="0" marL="0">
              <a:buNone/>
            </a:pPr>
            <a:r>
              <a:rPr lang="en-US" sz="800" b="1" dirty="0">
                <a:solidFill>
                  <a:srgbClr val="1A2B4A"/>
                </a:solidFill>
                <a:latin typeface="Arial" pitchFamily="34" charset="0"/>
                <a:ea typeface="Arial" pitchFamily="34" charset="-122"/>
                <a:cs typeface="Arial" pitchFamily="34" charset="-120"/>
              </a:rPr>
              <a:t>Verification Architecture</a:t>
            </a:r>
            <a:endParaRPr lang="en-US" sz="800" dirty="0"/>
          </a:p>
        </p:txBody>
      </p:sp>
      <p:sp>
        <p:nvSpPr>
          <p:cNvPr id="40" name="Text 38"/>
          <p:cNvSpPr/>
          <p:nvPr/>
        </p:nvSpPr>
        <p:spPr>
          <a:xfrm>
            <a:off x="822960" y="5303520"/>
            <a:ext cx="4754880" cy="457200"/>
          </a:xfrm>
          <a:prstGeom prst="rect">
            <a:avLst/>
          </a:prstGeom>
          <a:noFill/>
          <a:ln/>
        </p:spPr>
        <p:txBody>
          <a:bodyPr wrap="square" rtlCol="0" anchor="ctr"/>
          <a:lstStyle/>
          <a:p>
            <a:pPr indent="0" marL="0">
              <a:buNone/>
            </a:pPr>
            <a:r>
              <a:rPr lang="en-US" sz="700" dirty="0">
                <a:solidFill>
                  <a:srgbClr val="4A4A4A"/>
                </a:solidFill>
                <a:latin typeface="Arial" pitchFamily="34" charset="0"/>
                <a:ea typeface="Arial" pitchFamily="34" charset="-122"/>
                <a:cs typeface="Arial" pitchFamily="34" charset="-120"/>
              </a:rPr>
              <a:t>HMAC-SHA256 provides integrity and authentication for verification responses. Verification via HAIEC /api/verify endpoint with key rotation and replay protection. Upgrade path: Ed25519 public-key signatures for independent verification. Stronger non-repudiation would additionally require identity-bound key custody and trusted timestamping.</a:t>
            </a:r>
            <a:endParaRPr lang="en-US" sz="700" dirty="0"/>
          </a:p>
        </p:txBody>
      </p:sp>
      <p:sp>
        <p:nvSpPr>
          <p:cNvPr id="41" name="Shape 39"/>
          <p:cNvSpPr/>
          <p:nvPr/>
        </p:nvSpPr>
        <p:spPr>
          <a:xfrm>
            <a:off x="6309360" y="3566160"/>
            <a:ext cx="5303520" cy="2286000"/>
          </a:xfrm>
          <a:prstGeom prst="rect">
            <a:avLst/>
          </a:prstGeom>
          <a:solidFill>
            <a:srgbClr val="F5F5F5"/>
          </a:solidFill>
          <a:ln w="6350">
            <a:solidFill>
              <a:srgbClr val="D0D0D0"/>
            </a:solidFill>
            <a:prstDash val="solid"/>
          </a:ln>
        </p:spPr>
      </p:sp>
      <p:sp>
        <p:nvSpPr>
          <p:cNvPr id="42" name="Text 40"/>
          <p:cNvSpPr/>
          <p:nvPr/>
        </p:nvSpPr>
        <p:spPr>
          <a:xfrm>
            <a:off x="6492240" y="3657600"/>
            <a:ext cx="4937760" cy="274320"/>
          </a:xfrm>
          <a:prstGeom prst="rect">
            <a:avLst/>
          </a:prstGeom>
          <a:noFill/>
          <a:ln/>
        </p:spPr>
        <p:txBody>
          <a:bodyPr wrap="square" rtlCol="0" anchor="ctr"/>
          <a:lstStyle/>
          <a:p>
            <a:pPr indent="0" marL="0">
              <a:buNone/>
            </a:pPr>
            <a:r>
              <a:rPr lang="en-US" sz="1100" b="1" dirty="0">
                <a:solidFill>
                  <a:srgbClr val="1A1A1A"/>
                </a:solidFill>
                <a:latin typeface="Arial" pitchFamily="34" charset="0"/>
                <a:ea typeface="Arial" pitchFamily="34" charset="-122"/>
                <a:cs typeface="Arial" pitchFamily="34" charset="-120"/>
              </a:rPr>
              <a:t>Trust Artifact Types</a:t>
            </a:r>
            <a:endParaRPr lang="en-US" sz="1100" dirty="0"/>
          </a:p>
        </p:txBody>
      </p:sp>
      <p:sp>
        <p:nvSpPr>
          <p:cNvPr id="43" name="Text 41"/>
          <p:cNvSpPr/>
          <p:nvPr/>
        </p:nvSpPr>
        <p:spPr>
          <a:xfrm>
            <a:off x="6492240" y="4023360"/>
            <a:ext cx="2743200" cy="274320"/>
          </a:xfrm>
          <a:prstGeom prst="rect">
            <a:avLst/>
          </a:prstGeom>
          <a:noFill/>
          <a:ln/>
        </p:spPr>
        <p:txBody>
          <a:bodyPr wrap="square" rtlCol="0" anchor="ctr"/>
          <a:lstStyle/>
          <a:p>
            <a:pPr indent="0" marL="0">
              <a:buNone/>
            </a:pPr>
            <a:r>
              <a:rPr lang="en-US" sz="700" dirty="0">
                <a:solidFill>
                  <a:srgbClr val="1A2B4A"/>
                </a:solidFill>
                <a:latin typeface="Arial" pitchFamily="34" charset="0"/>
                <a:ea typeface="Arial" pitchFamily="34" charset="-122"/>
                <a:cs typeface="Arial" pitchFamily="34" charset="-120"/>
              </a:rPr>
              <a:t>AI_SECURITY_ATTESTATION</a:t>
            </a:r>
            <a:endParaRPr lang="en-US" sz="700" dirty="0"/>
          </a:p>
        </p:txBody>
      </p:sp>
      <p:sp>
        <p:nvSpPr>
          <p:cNvPr id="44" name="Text 42"/>
          <p:cNvSpPr/>
          <p:nvPr/>
        </p:nvSpPr>
        <p:spPr>
          <a:xfrm>
            <a:off x="9235440" y="4023360"/>
            <a:ext cx="2194560" cy="274320"/>
          </a:xfrm>
          <a:prstGeom prst="rect">
            <a:avLst/>
          </a:prstGeom>
          <a:noFill/>
          <a:ln/>
        </p:spPr>
        <p:txBody>
          <a:bodyPr wrap="square" rtlCol="0" anchor="ctr"/>
          <a:lstStyle/>
          <a:p>
            <a:pPr indent="0" marL="0">
              <a:buNone/>
            </a:pPr>
            <a:r>
              <a:rPr lang="en-US" sz="700" dirty="0">
                <a:solidFill>
                  <a:srgbClr val="4A4A4A"/>
                </a:solidFill>
                <a:latin typeface="Arial" pitchFamily="34" charset="0"/>
                <a:ea typeface="Arial" pitchFamily="34" charset="-122"/>
                <a:cs typeface="Arial" pitchFamily="34" charset="-120"/>
              </a:rPr>
              <a:t>SCANNED → PROTECTED → SECURED</a:t>
            </a:r>
            <a:endParaRPr lang="en-US" sz="700" dirty="0"/>
          </a:p>
        </p:txBody>
      </p:sp>
      <p:sp>
        <p:nvSpPr>
          <p:cNvPr id="45" name="Text 43"/>
          <p:cNvSpPr/>
          <p:nvPr/>
        </p:nvSpPr>
        <p:spPr>
          <a:xfrm>
            <a:off x="6492240" y="4343400"/>
            <a:ext cx="2743200" cy="274320"/>
          </a:xfrm>
          <a:prstGeom prst="rect">
            <a:avLst/>
          </a:prstGeom>
          <a:noFill/>
          <a:ln/>
        </p:spPr>
        <p:txBody>
          <a:bodyPr wrap="square" rtlCol="0" anchor="ctr"/>
          <a:lstStyle/>
          <a:p>
            <a:pPr indent="0" marL="0">
              <a:buNone/>
            </a:pPr>
            <a:r>
              <a:rPr lang="en-US" sz="700" dirty="0">
                <a:solidFill>
                  <a:srgbClr val="1A2B4A"/>
                </a:solidFill>
                <a:latin typeface="Arial" pitchFamily="34" charset="0"/>
                <a:ea typeface="Arial" pitchFamily="34" charset="-122"/>
                <a:cs typeface="Arial" pitchFamily="34" charset="-120"/>
              </a:rPr>
              <a:t>COMPLIANCE_EVIDENCE_MARK</a:t>
            </a:r>
            <a:endParaRPr lang="en-US" sz="700" dirty="0"/>
          </a:p>
        </p:txBody>
      </p:sp>
      <p:sp>
        <p:nvSpPr>
          <p:cNvPr id="46" name="Text 44"/>
          <p:cNvSpPr/>
          <p:nvPr/>
        </p:nvSpPr>
        <p:spPr>
          <a:xfrm>
            <a:off x="9235440" y="4343400"/>
            <a:ext cx="2194560" cy="274320"/>
          </a:xfrm>
          <a:prstGeom prst="rect">
            <a:avLst/>
          </a:prstGeom>
          <a:noFill/>
          <a:ln/>
        </p:spPr>
        <p:txBody>
          <a:bodyPr wrap="square" rtlCol="0" anchor="ctr"/>
          <a:lstStyle/>
          <a:p>
            <a:pPr indent="0" marL="0">
              <a:buNone/>
            </a:pPr>
            <a:r>
              <a:rPr lang="en-US" sz="700" dirty="0">
                <a:solidFill>
                  <a:srgbClr val="4A4A4A"/>
                </a:solidFill>
                <a:latin typeface="Arial" pitchFamily="34" charset="0"/>
                <a:ea typeface="Arial" pitchFamily="34" charset="-122"/>
                <a:cs typeface="Arial" pitchFamily="34" charset="-120"/>
              </a:rPr>
              <a:t>EVIDENCE_READY / EVIDENCE_PARTIAL</a:t>
            </a:r>
            <a:endParaRPr lang="en-US" sz="700" dirty="0"/>
          </a:p>
        </p:txBody>
      </p:sp>
      <p:sp>
        <p:nvSpPr>
          <p:cNvPr id="47" name="Text 45"/>
          <p:cNvSpPr/>
          <p:nvPr/>
        </p:nvSpPr>
        <p:spPr>
          <a:xfrm>
            <a:off x="6492240" y="4663440"/>
            <a:ext cx="2743200" cy="274320"/>
          </a:xfrm>
          <a:prstGeom prst="rect">
            <a:avLst/>
          </a:prstGeom>
          <a:noFill/>
          <a:ln/>
        </p:spPr>
        <p:txBody>
          <a:bodyPr wrap="square" rtlCol="0" anchor="ctr"/>
          <a:lstStyle/>
          <a:p>
            <a:pPr indent="0" marL="0">
              <a:buNone/>
            </a:pPr>
            <a:r>
              <a:rPr lang="en-US" sz="700" dirty="0">
                <a:solidFill>
                  <a:srgbClr val="1A2B4A"/>
                </a:solidFill>
                <a:latin typeface="Arial" pitchFamily="34" charset="0"/>
                <a:ea typeface="Arial" pitchFamily="34" charset="-122"/>
                <a:cs typeface="Arial" pitchFamily="34" charset="-120"/>
              </a:rPr>
              <a:t>NYC_LL144_ATTESTATION</a:t>
            </a:r>
            <a:endParaRPr lang="en-US" sz="700" dirty="0"/>
          </a:p>
        </p:txBody>
      </p:sp>
      <p:sp>
        <p:nvSpPr>
          <p:cNvPr id="48" name="Text 46"/>
          <p:cNvSpPr/>
          <p:nvPr/>
        </p:nvSpPr>
        <p:spPr>
          <a:xfrm>
            <a:off x="9235440" y="4663440"/>
            <a:ext cx="2194560" cy="274320"/>
          </a:xfrm>
          <a:prstGeom prst="rect">
            <a:avLst/>
          </a:prstGeom>
          <a:noFill/>
          <a:ln/>
        </p:spPr>
        <p:txBody>
          <a:bodyPr wrap="square" rtlCol="0" anchor="ctr"/>
          <a:lstStyle/>
          <a:p>
            <a:pPr indent="0" marL="0">
              <a:buNone/>
            </a:pPr>
            <a:r>
              <a:rPr lang="en-US" sz="700" dirty="0">
                <a:solidFill>
                  <a:srgbClr val="4A4A4A"/>
                </a:solidFill>
                <a:latin typeface="Arial" pitchFamily="34" charset="0"/>
                <a:ea typeface="Arial" pitchFamily="34" charset="-122"/>
                <a:cs typeface="Arial" pitchFamily="34" charset="-120"/>
              </a:rPr>
              <a:t>AUDIT_READY / IN_PROGRESS / NOT_READY</a:t>
            </a:r>
            <a:endParaRPr lang="en-US" sz="700" dirty="0"/>
          </a:p>
        </p:txBody>
      </p:sp>
      <p:sp>
        <p:nvSpPr>
          <p:cNvPr id="49" name="Text 47"/>
          <p:cNvSpPr/>
          <p:nvPr/>
        </p:nvSpPr>
        <p:spPr>
          <a:xfrm>
            <a:off x="6492240" y="4983480"/>
            <a:ext cx="2743200" cy="274320"/>
          </a:xfrm>
          <a:prstGeom prst="rect">
            <a:avLst/>
          </a:prstGeom>
          <a:noFill/>
          <a:ln/>
        </p:spPr>
        <p:txBody>
          <a:bodyPr wrap="square" rtlCol="0" anchor="ctr"/>
          <a:lstStyle/>
          <a:p>
            <a:pPr indent="0" marL="0">
              <a:buNone/>
            </a:pPr>
            <a:r>
              <a:rPr lang="en-US" sz="700" dirty="0">
                <a:solidFill>
                  <a:srgbClr val="1A2B4A"/>
                </a:solidFill>
                <a:latin typeface="Arial" pitchFamily="34" charset="0"/>
                <a:ea typeface="Arial" pitchFamily="34" charset="-122"/>
                <a:cs typeface="Arial" pitchFamily="34" charset="-120"/>
              </a:rPr>
              <a:t>BIAS_AUDIT_ATTESTATION</a:t>
            </a:r>
            <a:endParaRPr lang="en-US" sz="700" dirty="0"/>
          </a:p>
        </p:txBody>
      </p:sp>
      <p:sp>
        <p:nvSpPr>
          <p:cNvPr id="50" name="Text 48"/>
          <p:cNvSpPr/>
          <p:nvPr/>
        </p:nvSpPr>
        <p:spPr>
          <a:xfrm>
            <a:off x="9235440" y="4983480"/>
            <a:ext cx="2194560" cy="274320"/>
          </a:xfrm>
          <a:prstGeom prst="rect">
            <a:avLst/>
          </a:prstGeom>
          <a:noFill/>
          <a:ln/>
        </p:spPr>
        <p:txBody>
          <a:bodyPr wrap="square" rtlCol="0" anchor="ctr"/>
          <a:lstStyle/>
          <a:p>
            <a:pPr indent="0" marL="0">
              <a:buNone/>
            </a:pPr>
            <a:r>
              <a:rPr lang="en-US" sz="700" dirty="0">
                <a:solidFill>
                  <a:srgbClr val="4A4A4A"/>
                </a:solidFill>
                <a:latin typeface="Arial" pitchFamily="34" charset="0"/>
                <a:ea typeface="Arial" pitchFamily="34" charset="-122"/>
                <a:cs typeface="Arial" pitchFamily="34" charset="-120"/>
              </a:rPr>
              <a:t>LOW_RISK / MEDIUM_RISK / HIGH_RISK</a:t>
            </a:r>
            <a:endParaRPr lang="en-US" sz="700" dirty="0"/>
          </a:p>
        </p:txBody>
      </p:sp>
      <p:sp>
        <p:nvSpPr>
          <p:cNvPr id="51" name="Shape 49"/>
          <p:cNvSpPr/>
          <p:nvPr/>
        </p:nvSpPr>
        <p:spPr>
          <a:xfrm>
            <a:off x="6492240" y="5029200"/>
            <a:ext cx="4937760" cy="731520"/>
          </a:xfrm>
          <a:prstGeom prst="rect">
            <a:avLst/>
          </a:prstGeom>
          <a:solidFill>
            <a:srgbClr val="FFFFFF"/>
          </a:solidFill>
          <a:ln w="6350">
            <a:solidFill>
              <a:srgbClr val="1A2B4A"/>
            </a:solidFill>
            <a:prstDash val="solid"/>
          </a:ln>
        </p:spPr>
      </p:sp>
      <p:sp>
        <p:nvSpPr>
          <p:cNvPr id="52" name="Text 50"/>
          <p:cNvSpPr/>
          <p:nvPr/>
        </p:nvSpPr>
        <p:spPr>
          <a:xfrm>
            <a:off x="6583680" y="5074920"/>
            <a:ext cx="4754880" cy="228600"/>
          </a:xfrm>
          <a:prstGeom prst="rect">
            <a:avLst/>
          </a:prstGeom>
          <a:noFill/>
          <a:ln/>
        </p:spPr>
        <p:txBody>
          <a:bodyPr wrap="square" rtlCol="0" anchor="ctr"/>
          <a:lstStyle/>
          <a:p>
            <a:pPr indent="0" marL="0">
              <a:buNone/>
            </a:pPr>
            <a:r>
              <a:rPr lang="en-US" sz="800" b="1" dirty="0">
                <a:solidFill>
                  <a:srgbClr val="1A2B4A"/>
                </a:solidFill>
                <a:latin typeface="Arial" pitchFamily="34" charset="0"/>
                <a:ea typeface="Arial" pitchFamily="34" charset="-122"/>
                <a:cs typeface="Arial" pitchFamily="34" charset="-120"/>
              </a:rPr>
              <a:t>Scope Verification</a:t>
            </a:r>
            <a:endParaRPr lang="en-US" sz="800" dirty="0"/>
          </a:p>
        </p:txBody>
      </p:sp>
      <p:sp>
        <p:nvSpPr>
          <p:cNvPr id="53" name="Text 51"/>
          <p:cNvSpPr/>
          <p:nvPr/>
        </p:nvSpPr>
        <p:spPr>
          <a:xfrm>
            <a:off x="6583680" y="5303520"/>
            <a:ext cx="4754880" cy="457200"/>
          </a:xfrm>
          <a:prstGeom prst="rect">
            <a:avLst/>
          </a:prstGeom>
          <a:noFill/>
          <a:ln/>
        </p:spPr>
        <p:txBody>
          <a:bodyPr wrap="square" rtlCol="0" anchor="ctr"/>
          <a:lstStyle/>
          <a:p>
            <a:pPr indent="0" marL="0">
              <a:buNone/>
            </a:pPr>
            <a:r>
              <a:rPr lang="en-US" sz="700" dirty="0">
                <a:solidFill>
                  <a:srgbClr val="4A4A4A"/>
                </a:solidFill>
                <a:latin typeface="Arial" pitchFamily="34" charset="0"/>
                <a:ea typeface="Arial" pitchFamily="34" charset="-122"/>
                <a:cs typeface="Arial" pitchFamily="34" charset="-120"/>
              </a:rPr>
              <a:t>Each artifact carries scopeVerified and scopeNotVerified arrays. Status labels (e.g., SECURED) reflect rule pass/fail posture within verified scope, providing precise, scoped assurance.</a:t>
            </a:r>
            <a:endParaRPr lang="en-US" sz="700" dirty="0"/>
          </a:p>
        </p:txBody>
      </p:sp>
      <p:sp>
        <p:nvSpPr>
          <p:cNvPr id="54" name="Shape 52"/>
          <p:cNvSpPr/>
          <p:nvPr/>
        </p:nvSpPr>
        <p:spPr>
          <a:xfrm>
            <a:off x="457200" y="6473952"/>
            <a:ext cx="11277295" cy="0"/>
          </a:xfrm>
          <a:prstGeom prst="line">
            <a:avLst/>
          </a:prstGeom>
          <a:noFill/>
          <a:ln w="6350">
            <a:solidFill>
              <a:srgbClr val="CCCCCC"/>
            </a:solidFill>
            <a:prstDash val="solid"/>
          </a:ln>
        </p:spPr>
      </p:sp>
      <p:sp>
        <p:nvSpPr>
          <p:cNvPr id="55" name="Text 53"/>
          <p:cNvSpPr/>
          <p:nvPr/>
        </p:nvSpPr>
        <p:spPr>
          <a:xfrm>
            <a:off x="457200" y="6537960"/>
            <a:ext cx="7315200" cy="228600"/>
          </a:xfrm>
          <a:prstGeom prst="rect">
            <a:avLst/>
          </a:prstGeom>
          <a:noFill/>
          <a:ln/>
        </p:spPr>
        <p:txBody>
          <a:bodyPr wrap="square" rtlCol="0" anchor="ctr"/>
          <a:lstStyle/>
          <a:p>
            <a:pPr indent="0" marL="0">
              <a:buNone/>
            </a:pPr>
            <a:r>
              <a:rPr lang="en-US" sz="800" dirty="0">
                <a:solidFill>
                  <a:srgbClr val="6B6B6B"/>
                </a:solidFill>
                <a:latin typeface="Arial" pitchFamily="34" charset="0"/>
                <a:ea typeface="Arial" pitchFamily="34" charset="-122"/>
                <a:cs typeface="Arial" pitchFamily="34" charset="-120"/>
              </a:rPr>
              <a:t>HAIEC  ·  Confidential Discussion Brief  ·  15/15</a:t>
            </a:r>
            <a:endParaRPr lang="en-US" sz="800" dirty="0"/>
          </a:p>
        </p:txBody>
      </p:sp>
      <p:sp>
        <p:nvSpPr>
          <p:cNvPr id="56" name="Text 54"/>
          <p:cNvSpPr/>
          <p:nvPr/>
        </p:nvSpPr>
        <p:spPr>
          <a:xfrm>
            <a:off x="8991295" y="6537960"/>
            <a:ext cx="2743200" cy="228600"/>
          </a:xfrm>
          <a:prstGeom prst="rect">
            <a:avLst/>
          </a:prstGeom>
          <a:noFill/>
          <a:ln/>
        </p:spPr>
        <p:txBody>
          <a:bodyPr wrap="square" rtlCol="0" anchor="ctr"/>
          <a:lstStyle/>
          <a:p>
            <a:pPr algn="r" indent="0" marL="0">
              <a:buNone/>
            </a:pPr>
            <a:r>
              <a:rPr lang="en-US" sz="800" dirty="0">
                <a:solidFill>
                  <a:srgbClr val="6B6B6B"/>
                </a:solidFill>
                <a:latin typeface="Arial" pitchFamily="34" charset="0"/>
                <a:ea typeface="Arial" pitchFamily="34" charset="-122"/>
                <a:cs typeface="Arial" pitchFamily="34" charset="-120"/>
              </a:rPr>
              <a:t>v1.0  ·  2026-07-31</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HAIEC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Evidence-Native Validation Infrastructure for AI Applications</dc:title>
  <dc:subject>HAIEC Technical Architecture, Defensibility and Strategic Value</dc:subject>
  <dc:creator>Subodh KC</dc:creator>
  <cp:lastModifiedBy>Subodh KC</cp:lastModifiedBy>
  <cp:revision>1</cp:revision>
  <dcterms:created xsi:type="dcterms:W3CDTF">2026-07-31T06:50:03Z</dcterms:created>
  <dcterms:modified xsi:type="dcterms:W3CDTF">2026-07-31T06:50:03Z</dcterms:modified>
</cp:coreProperties>
</file>